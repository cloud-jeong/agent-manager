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embeddedFontLst>
    <p:embeddedFont>
      <p:font typeface="JetBrains Mono" panose="02000009000000000000" pitchFamily="49" charset="0"/>
      <p:regular r:id="rId34"/>
      <p:bold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font" Target="fonts/font1.fntdata"/><Relationship Id="rId3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공개 저장소의 api(Flask 백엔드), web(Next.js), docker(Compose), dify-agent, dify-agent-runtime 코드와, 워크플로 엔진으로 쓰이는 graphon 0.8.0 패키지를 직접 읽고 정리했습니다. 플러그인 데몬(dify-plugin-daemon)과 코드 샌드박스(dify-sandbox)는 별도 저장소의 이미지라 이 저장소의 설정과 호출 코드 기준으로 설명합니다. 앞서 만든 Archestra 덱과 같은 구성입니다.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Archestra가 이미 있는 에이전트와 도구를 통제하는 거버넌스 계층이라면, Dify는 LLM 앱을 직접 만드는 빌더 계층입니다. 이 차이를 염두에 두고 보면 두 플랫폼의 설계 선택이 잘 비교됩니다. README의 최소 사양은 CPU 2코어, RAM 4GiB입니다.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AppMode에는 channel도 있으나 Service API의 generate 경로에서는 직접 실행 대상이 아닙니다. Chatflow와 Workflow는 blocking 호출이면 API 프로세스에서 동기로 실행하고, streaming 호출이면 API가 Redis 채널을 먼저 구독한 뒤 Celery 태스크(workflow_based_app_execution 큐)를 넣어 워커에서 실행합니다. 신규 agent 모드는 앱 1개가 roster의 Agent 1개와 1:1로 묶이고, 설정은 Agent Soul 스냅샷에 저장됩니다.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파란 박스는 dify-api 이미지 하나로 역할만 다르게 띄우는 프로세스(api, api_websocket, worker, worker_beat)이고, 주황 박스는 별도 이미지의 보조 서비스입니다. api_websocket은 프로필로 켜는 선택 서비스입니다. nginx가 /console/api, /api, /v1, /mcp, /triggers, /files 경로는 api로, 나머지는 web으로 보냅니다. 플러그인 데몬은 자체 데이터베이스(dify_plugin)를 쓰고, api와 서로 HTTP로 호출합니다(api → 데몬 dispatch, 데몬 → api inner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워크플로 실행 엔진은 Dify 저장소 밖의 graphon 패키지로 분리되어 있고, Dify의 api/core/workflow는 그 위에 노드 팩토리, 레이어, 영속화를 붙이는 어댑터 역할입니다. AGENTS.md는 api/core를 마이그레이션 전용 영역으로 지정해, 새 구현은 services와 도메인 모듈로 옮기는 중입니다. 외부 트레이싱 공급자는 Aliyun, Arize Phoenix, Langfuse, LangSmith, MLflow, Opik, Tencent, Weave입니다.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graphon의 Engine은 그래프를 받아 준비된 노드를 ready queue에 넣고, 고정 크기 워커 풀의 스레드가 노드를 실행해 결과를 dispatch 큐로 보냅니다. dispatcher가 엣지 조건을 평가해 다음 노드를 ready queue에 넣고, 모든 상태 변화는 GraphRunStarted, NodeRunSucceeded 같은 이벤트로 흘러나옵니다. Dify는 WorkflowEntry에서 엔진을 만들고 레이어를 붙인 뒤 이벤트를 받아 SSE 응답, DB 저장, 트레이싱으로 변환합니다. human-input 노드는 실행을 멈추고 workflow_pauses에 상태를 저장했다가 사람이 폼을 제출하면 resume_app_execution 태스크로 재개합니다. 코드 노드는 별도 dify-sandbox 컨테이너에서 실행됩니다.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예전에는 모델 공급자 코드가 api 안에 있었지만 지금은 전부 플러그인으로 빠져, api는 plugin/{tenant_id}/dispatch/llm/invoke 같은 HTTP 호출만 합니다. 데몬과 api는 서로 공유 키(SERVER_KEY, INNER_API_KEY)로 인증합니다. 역호출(backwards invocation) 경로는 /inner/api/invoke/llm, text-embedding, rerank, tts, speech2text, moderation, tool, parameter-extractor, question-classifier, app, encrypt, summary 등입니다. 플러그인이 호출할 때도 테넌트의 모델 설정과 할당량이 그대로 적용됩니다. 이 저장소의 Compose 설정에서는 로컬·디버그 런타임만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문서와 세그먼트 텍스트는 RDB(documents, document_segments, child_chunks)에, 벡터는 선택한 벡터 DB에 저장되고 index_node_id로 연결됩니다. 문서 임베딩은 embeddings 테이블에 모델·해시 기준으로 캐시되어 같은 문단을 다시 임베딩하지 않고, 질의 임베딩은 Redis에 10분간 캐시됩니다. 여러 데이터셋을 붙인 앱은 Function Call 또는 ReAct 라우터로 어느 데이터셋을 검색할지 고를 수 있습니다. 인덱싱 태스크는 테넌트별 큐(normal, priority)로 분리되어 한 테넌트의 대량 업로드가 다른 테넌트를 막지 않게 합니다. 권한은 데이터셋 단위(dataset_permissions)이며, 문서·청크 단위 원본 ACL 동기화는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신규 Agent 앱은 roster의 Agent 레코드와 1:1로 묶이고, 설정은 agent_config_drafts → revisions → snapshots로 버전 관리됩니다. api는 agent_backend에 실행을 요청하고 이벤트를 받아 기존 SSE 형식으로 바꿔 클라이언트에 전달합니다. dify-agent 모듈의 config는 실행 중 읽기 전용, state는 모듈이 소유하며 JSON으로 저장됩니다. 셸 잡은 pty 모드(대화형)와 stdio 모드(기계 판독용)로 나뉩니다. 워크플로 안에서도 agent 노드가 이 새 런타임을 쓸 수 있도록 workflow_agent_node_bindings 테이블이 추가되어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api/AGENTS.md는 테넌트 소유 데이터를 읽고 쓸 때 소유 체인 전체로 범위를 좁히고 tenant_id를 모든 계층에 전파하라고 규정하며, 외부 HTTP는 반드시 core.helper.ssrf_proxy를 거치게 합니다. 자격증명 암호화는 키 제공자 인터페이스(기본 RSAKeyProvider) 뒤에 있어 KMS 등으로 바꿀 수 있는 구조입니다. Archestra와 달리 LLM 호출 단위의 정책 가드레일은 없고, 콘텐츠 모더레이션(OpenAI Moderation 또는 키워드)과 민감어 회피 기능이 앱 설정에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docs/ADVANCED_SETUP.md는 고가용성 구성을 위해 커뮤니티가 만든 Helm 차트와 YAML을 안내합니다(공식 차트 아님). DEPLOYMENT_EDITION이 CLOUD이면 workflow 큐가 workflow_professional, workflow_team, workflow_sandbox로 요금제별로 쪼개집니다. 대량 문서 적재가 있는 환경은 dataset·priority_dataset 큐 전용 워커를, 장시간 워크플로가 많은 환경은 workflow_based_app_execution 전용 워커를 두는 식으로 분리하면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LICENSE에는 기여자가 동의하는 조건(제작사가 라이선스를 더 엄격하거나 느슨하게 바꿀 수 있음, 기여 코드의 상업적 사용)과 인터랙션 디자인이 디자인 특허로 보호된다는 문구도 있습니다. 법률 자문이 아니므로 실제 사업 적용 전에는 라이선스 원문과 법무 검토로 확인해야 합니다. Archestra(AGPL + 엔터프라이즈 라이선스)와 비교하면, Dify는 소스 공개 의무는 약하지만 사용 형태(멀티테넌트)에 직접 제한을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분석을 바탕으로 한 해석입니다. Dify는 앱을 만드는 경험(캔버스, 디버그, 게시)이 강하고, Archestra는 이미 존재하는 에이전트·도구 호출을 통제하는 데 강합니다. Kamaji 기반 테넌트별 컨트롤 플레인 위에 빌더와 게이트웨이를 함께 제공하면 두 제품 어느 쪽과도 겹치지 않는 포지션이 됩니다. 폐쇄망 설치, 벡터 DB 선택권, 코드·셸 샌드박스 격리는 Dify가 이미 갖춘 수준이므로, 반도체 고객 대상 플랫폼이라면 기본 요건으로 봐야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분석 대상: api/services/app_generate_service.py, core/app/apps, core/workflow, core/plugin, core/rag, controllers(service_api, web, trigger, inner_api), tasks, schedule, models(SQLAlchemy, 약 150개 테이블), 그리고 graphon 0.8.0 패키지.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표면이 액터별로 나뉘어 있습니다. 콘솔은 /console/api, 웹앱은 /api, Service API는 /v1, 트리거는 /triggers, MCP는 /mcp, 플러그인 데몬 전용은 /inner/api입니다. 워크스페이스 역할은 owner, admin, editor, normal, dataset_operator 다섯 가지이고, dataset_operator는 지식베이스만 다룰 수 있는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워크플로는 같은 workflows 테이블에 version이 draft인 행과 게시된 버전 행이 함께 있습니다. 콘솔은 draft와 게시 버전을 함께 나열하고, 실행 시에는 workflow_id를 지정하지 않으면 최신 게시본을 씁니다. Service API의 user 값은 앱 범위의 end_users 레코드로 매핑되며, API 키는 앱당 최대 10개입니다.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economy 인덱싱은 임베딩 없이 키워드 인덱스만 만들어 비용이 들지 않는 방식이고, high_quality는 임베딩 모델로 벡터 인덱스를 만듭니다. 어노테이션 응답은 미리 등록한 질문과 유사하면 LLM을 부르지 않고 저장된 답을 돌려주는 기능입니다. 공급자 자격증명은 provider_credentials에 테넌트 키로 암호화되어 저장되고, 같은 모델에 여러 키를 걸어 로드밸런싱할 수 있습니다(load_balancing_model_configs).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대상: chat, completion, agent-chat 모드. 1단계 POST /v1/chat-messages는 Bearer app- 키로 인증하고, 요청 본문의 user 값으로 앱 범위 end_user를 찾거나 만듭니다. 3단계 RateLimit은 앱의 max_active_requests를 Redis로 세어 초과 시 거부합니다. 5단계에서 API 프로세스 안에 생성 스레드를 띄우고, 메인 요청 스레드는 큐 매니저에서 이벤트를 꺼내 SSE로 흘려 보냅니다. 큐 매니저는 작업 소유자와 중지 플래그를 Redis에 두어 다른 API 인스턴스에서 들어온 중지 요청도 처리합니다. 6단계에는 대화 메모리, 지식베이스 검색(데이터셋 연결 시), 입력 모더레이션, 어노테이션 응답 확인이 포함됩니다. agent-chat이면 7~8단계가 도구 호출 루프(Function Calling 또는 ReAct)로 반복되고 각 단계가 message_agent_thoughts에 저장됩니다.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대상: workflow, advanced-chat(Chatflow)의 streaming 호출. 3단계 채널 키는 channel:{app_mode}:{workflow_run_id}입니다. API는 실행 파라미터를 JSON으로 직렬화해 두었다가 구독이 성립한 순간에만 workflow_based_app_execution_task를 Celery에 넣으므로, 클라이언트가 이벤트를 놓치지 않습니다. 워커는 WorkflowRunAgg가 실행 시도 하나의 영속화, 일시정지, 인덱스를 책임지고, WorkflowEntry가 graphon Engine에 ExecutionLimits·ExecutionContext·Observability 레이어를 붙여 실행합니다. 노드 실행 기록은 workflow_node_executions에 저장되며 큰 입출력은 스토리지로 offload됩니다. blocking 호출이면 같은 흐름을 API 프로세스에서 동기로 실행하고 JSON을 반환합니다. human-input 노드에서 멈추면 workflow_pauses에 상태를 남기고, 폼 제출 시 resume_app_execution 태스크로 이어서 실행합니다.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 요청 경로는 plugin/{tenant_id}/dispatch/tool/invoke이며, api가 테넌트별로 복호화한 자격증명을 요청 본문에 실어 보냅니다. 데몬은 플러그인이 설치되어 있는지 확인하고 로컬 프로세스(필요하면 새로 기동) 또는 원격 디버그 세션으로 요청을 보냅니다. 6~11단계가 역호출(backwards invocation)입니다. 플러그인이 LLM을 직접 부르지 않고 데몬을 거쳐 api의 /inner/api/invoke/llm을 호출하므로, 어떤 모델·키·할당량을 쓸지는 항상 api(테넌트 설정)가 결정합니다. api는 다시 일반 경로(dispatch/llm/invoke)로 LLM 플러그인을 실행합니다. 같은 방식으로 tool, app, parameter-extractor, question-classifier, encrypt 등도 역호출할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3단계 인덱싱 태스크는 테넌트 큐(normal_document_indexing_task 또는 priority_document_indexing_task)를 거쳐 dataset 계열 Celery 큐로 갑니다. 4단계는 먼저 상태를 parsing으로 기록하고 락을 푼 뒤 느린 추출과 벡터 작업을 진행하며, 단계마다 documents.indexing_status가 cleaning, splitting, indexing으로 바뀌고 마지막에 completed가 됩니다. 5단계 문서 임베딩은 embeddings 테이블에 모델명·텍스트 해시로 캐시되어 있으면 건너뜁니다. 검색은 실행 위치(API 스레드 또는 워크플로 워커)에서 바로 수행됩니다. 8단계 질의 임베딩은 Redis에 10분간 캐시됩니다. 11단계에서 dataset_queries에 질의를 남기고 걸린 세그먼트의 hit_count를 올립니다.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웹훅은 POST /triggers/webhook/{id}로 들어오며 실제 실행은 Celery에 맡기고, 워크플로의 webhook 노드에 설정된 응답 본문과 상태 코드를 즉시 돌려줍니다. 할당량을 넘으면 429를 반환합니다. 스케줄은 worker_beat가 주기적으로 poll_workflow_schedules(schedule_poller 큐)를 실행해 workflow_schedule_plans에서 next_run_at이 지난 계획을 찾고 schedule_executor 큐로 실행을 넘기며, next_run_at은 cron 식과 타임존으로 다시 계산됩니다. 플러그인 트리거(예: SaaS 이벤트 구독)는 trigger_subscriptions와 triggered_workflow_dispatcher 큐를 통해 같은 실행 경로로 합류합니다. 실행 이력은 workflow_trigger_logs와 workflow_runs에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플러그인 설치·런타임 정보는 Dify 메인 DB가 아니라 plugin_daemon이 소유한 dify_plugin 데이터베이스에 있습니다. 벡터 본체도 메인 DB 밖(선택한 벡터 DB)에 있습니다. 이름이 직관과 다른 테이블: 앱 실행 로그 목록은 workflow_app_logs, 대화형 레거시 앱 설정은 app_model_configs, 공급자 자격증명은 provider_credentials입니다. 새 모델은 TypeBase를 상속하도록 강제되어 있어(ast-grep 가드) 레거시 Base 모델과 신규 모델이 섞여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apps가 중심이며 모드에 따라 설정이 다른 곳에 있습니다. 대화형 레거시 앱은 apps.app_model_config_id가 가리키는 app_model_configs에, Chatflow·Workflow는 apps.workflow_id가 가리키는 workflows의 graph에 정의가 들어 있습니다. messages.workflow_run_id로 Chatflow의 한 턴과 워크플로 실행이 연결됩니다. Dify 모델은 DB 레벨 외래키 제약보다 tenant_id, app_id 같은 참조 컬럼과 서비스 계층의 소유 체인 검사에 의존하는 편입니다. tenants.encrypt_public_key는 테넌트별 자격증명 암호화에 쓰는 RSA 공개키입니다.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doc_form은 분할 방식(일반 텍스트, 부모-자식, QA)을 나타냅니다. 부모-자식 분할에서는 검색은 child_chunks로 하고 LLM에는 부모 segment를 넘겨 정밀도와 문맥을 함께 얻습니다. index_node_hash는 내용 변경 감지용입니다. collection_binding_id는 같은 임베딩 모델을 쓰는 데이터셋끼리 벡터 컬렉션을 공유할 때 씁니다. Archestra가 청크까지 ACL을 비정규화해 원본 권한을 따르는 것과 달리, Dify는 데이터셋 접근 권한만 관리합니다.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workflows 테이블에는 앱마다 version이 draft인 행 하나와 게시할 때마다 생기는 버전 행들이 함께 있습니다. 디버그 중 노드별 변수 값은 workflow_draft_variables에 저장되어 다음 디버그 실행에서 재사용됩니다. 일시정지된 실행의 전체 상태는 DB가 아니라 스토리지 객체(state_object_key)로 저장되고, 재개 시 이를 읽어 엔진을 복원합니다. 오래된 실행 기록은 workflow_run_archive 관련 테이블과 retention 큐 작업으로 보관·삭제됩니다.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문단은 분석을 바탕으로 한 제안입니다. Archestra와 비교하면, Archestra는 단일 조직 안에서 personal·team·org scope로 나누고 Postgres 하나에 큐와 벡터까지 모으는 반면, Dify는 워크스페이스를 테넌트로 삼고 벡터·플러그인 데이터는 외부 저장소로 분리합니다. 고객사 폐쇄망에 단일 인스턴스로 설치하는 경우는 Archestra식 단순 구성이, 다수 고객을 하나의 SaaS로 운영하는 경우는 Dify식 테넌트 모델이 더 맞습니다(단, Dify 라이선스의 멀티테넌트 제한 유의).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31A2A"/>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43670"/>
            <a:ext cx="10566400" cy="4301530"/>
          </a:xfrm>
          <a:prstGeom prst="rect">
            <a:avLst/>
          </a:prstGeom>
          <a:noFill/>
          <a:ln/>
        </p:spPr>
        <p:txBody>
          <a:bodyPr wrap="square" lIns="0" tIns="0" rIns="0" bIns="0" rtlCol="0" anchor="t"/>
          <a:lstStyle>
            <a:lvl1pPr algn="l" indent="0" marL="0">
              <a:lnSpc>
                <a:spcPct val="140000"/>
              </a:lnSpc>
              <a:buNone/>
              <a:defRPr lang="en-US" sz="1600" dirty="0">
                <a:solidFill>
                  <a:srgbClr val="131A2A"/>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31A2A"/>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43670"/>
            <a:ext cx="10566400" cy="4301530"/>
          </a:xfrm>
          <a:prstGeom prst="rect">
            <a:avLst/>
          </a:prstGeom>
          <a:noFill/>
          <a:ln/>
        </p:spPr>
        <p:txBody>
          <a:bodyPr wrap="square" lIns="0" tIns="0" rIns="0" bIns="0" rtlCol="0" anchor="t"/>
          <a:lstStyle>
            <a:lvl1pPr algn="l" indent="0" marL="0">
              <a:lnSpc>
                <a:spcPct val="140000"/>
              </a:lnSpc>
              <a:buNone/>
              <a:defRPr lang="en-US" sz="1600" dirty="0">
                <a:solidFill>
                  <a:srgbClr val="131A2A"/>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slideLayout" Target="../slideLayouts/slideLayout2.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slideLayout" Target="../slideLayouts/slideLayout2.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2.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slideLayout" Target="../slideLayouts/slideLayout2.xml"/><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slideLayout" Target="../slideLayouts/slideLayout2.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slideLayout" Target="../slideLayouts/slideLayout2.xml"/><Relationship Id="rId1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8FB0F5"/>
                </a:solidFill>
                <a:latin typeface="JetBrains Mono" pitchFamily="49" charset="0"/>
                <a:ea typeface="JetBrains Mono" pitchFamily="49" charset="-122"/>
                <a:cs typeface="JetBrains Mono" pitchFamily="49" charset="-120"/>
              </a:rPr>
              <a:t>ARCHITECTURE REVIEW · 2026.10</a:t>
            </a:r>
            <a:endParaRPr lang="en-US" sz="1400" dirty="0"/>
          </a:p>
        </p:txBody>
      </p:sp>
      <p:sp>
        <p:nvSpPr>
          <p:cNvPr id="3" name="Text 1"/>
          <p:cNvSpPr/>
          <p:nvPr>
            <p:ph type="title"/>
          </p:nvPr>
        </p:nvSpPr>
        <p:spPr>
          <a:xfrm>
            <a:off x="812800" y="25806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4F3EE"/>
                </a:solidFill>
                <a:latin typeface="IBM Plex Sans KR" pitchFamily="34" charset="0"/>
                <a:ea typeface="IBM Plex Sans KR" pitchFamily="34" charset="-122"/>
                <a:cs typeface="IBM Plex Sans KR" pitchFamily="34" charset="-120"/>
              </a:rPr>
              <a:t>Dify 아키텍처</a:t>
            </a:r>
            <a:endParaRPr lang="en-US" sz="6000" dirty="0"/>
          </a:p>
        </p:txBody>
      </p:sp>
      <p:sp>
        <p:nvSpPr>
          <p:cNvPr id="4" name="Text 2"/>
          <p:cNvSpPr/>
          <p:nvPr/>
        </p:nvSpPr>
        <p:spPr>
          <a:xfrm>
            <a:off x="812800" y="3583930"/>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CEDA"/>
                </a:solidFill>
                <a:latin typeface="IBM Plex Sans KR" pitchFamily="34" charset="0"/>
                <a:ea typeface="IBM Plex Sans KR" pitchFamily="34" charset="-122"/>
                <a:cs typeface="IBM Plex Sans KR" pitchFamily="34" charset="-120"/>
              </a:rPr>
              <a:t>비주얼 워크플로·RAG 파이프라인·에이전트·모델 관리를 하나로 묶고, 만든 앱을 API로 내보내는 오픈소스 LLM 앱 개발 플랫폼</a:t>
            </a:r>
            <a:endParaRPr lang="en-US" sz="2000" dirty="0"/>
          </a:p>
        </p:txBody>
      </p:sp>
      <p:sp>
        <p:nvSpPr>
          <p:cNvPr id="5" name="Text 3"/>
          <p:cNvSpPr/>
          <p:nvPr/>
        </p:nvSpPr>
        <p:spPr>
          <a:xfrm>
            <a:off x="812800" y="5814070"/>
            <a:ext cx="452725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분석 기준: github.com/langgenius/dify main (2026-10-22)</a:t>
            </a:r>
            <a:endParaRPr lang="en-US" sz="1300" dirty="0"/>
          </a:p>
        </p:txBody>
      </p:sp>
      <p:sp>
        <p:nvSpPr>
          <p:cNvPr id="6" name="Text 4"/>
          <p:cNvSpPr/>
          <p:nvPr/>
        </p:nvSpPr>
        <p:spPr>
          <a:xfrm>
            <a:off x="5340052" y="5814070"/>
            <a:ext cx="98351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버전 1.17.1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01 · OVERVIEW</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캔버스에서 만들고, API로 내보낸다</a:t>
            </a:r>
            <a:endParaRPr lang="en-US" sz="3000" dirty="0"/>
          </a:p>
        </p:txBody>
      </p:sp>
      <p:sp>
        <p:nvSpPr>
          <p:cNvPr id="4" name="Text 2"/>
          <p:cNvSpPr/>
          <p:nvPr/>
        </p:nvSpPr>
        <p:spPr>
          <a:xfrm>
            <a:off x="812800" y="1692870"/>
            <a:ext cx="981075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4A5263"/>
                </a:solidFill>
                <a:latin typeface="IBM Plex Sans KR" pitchFamily="34" charset="0"/>
                <a:ea typeface="IBM Plex Sans KR" pitchFamily="34" charset="-122"/>
                <a:cs typeface="IBM Plex Sans KR" pitchFamily="34" charset="-120"/>
              </a:rPr>
              <a:t>프롬프트·워크플로·지식베이스·도구를 시각적으로 조립해 LLM 앱을 만들고, 그 앱을 웹앱·Service API·MCP 서버로 즉시 배포하는 셀프호스팅 가능한 앱 개발 플랫폼입니다.</a:t>
            </a:r>
            <a:endParaRPr lang="en-US" sz="1500" dirty="0"/>
          </a:p>
        </p:txBody>
      </p:sp>
      <p:sp>
        <p:nvSpPr>
          <p:cNvPr id="5" name="Shape 3"/>
          <p:cNvSpPr/>
          <p:nvPr/>
        </p:nvSpPr>
        <p:spPr>
          <a:xfrm>
            <a:off x="815975" y="2521545"/>
            <a:ext cx="2520950" cy="1708100"/>
          </a:xfrm>
          <a:prstGeom prst="roundRect">
            <a:avLst>
              <a:gd name="adj" fmla="val 5762"/>
            </a:avLst>
          </a:prstGeom>
          <a:solidFill>
            <a:srgbClr val="FBFAF7"/>
          </a:solidFill>
          <a:ln w="6350">
            <a:solidFill>
              <a:srgbClr val="DCD9CF"/>
            </a:solidFill>
            <a:prstDash val="solid"/>
          </a:ln>
        </p:spPr>
      </p:sp>
      <p:sp>
        <p:nvSpPr>
          <p:cNvPr id="6" name="Text 4"/>
          <p:cNvSpPr/>
          <p:nvPr/>
        </p:nvSpPr>
        <p:spPr>
          <a:xfrm>
            <a:off x="1022350" y="27279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앱 빌더</a:t>
            </a:r>
            <a:endParaRPr lang="en-US" sz="1200" dirty="0"/>
          </a:p>
        </p:txBody>
      </p:sp>
      <p:sp>
        <p:nvSpPr>
          <p:cNvPr id="7" name="Text 5"/>
          <p:cNvSpPr/>
          <p:nvPr/>
        </p:nvSpPr>
        <p:spPr>
          <a:xfrm>
            <a:off x="1022350" y="301744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Workflow · Chatflow</a:t>
            </a:r>
            <a:endParaRPr lang="en-US" sz="1600" dirty="0"/>
          </a:p>
        </p:txBody>
      </p:sp>
      <p:sp>
        <p:nvSpPr>
          <p:cNvPr id="8" name="Text 6"/>
          <p:cNvSpPr/>
          <p:nvPr/>
        </p:nvSpPr>
        <p:spPr>
          <a:xfrm>
            <a:off x="1022350" y="3337471"/>
            <a:ext cx="2171446"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노드 그래프로 LLM·지식 검색·도구·코드·분기를 조립, 즉시 디버그 실행</a:t>
            </a:r>
            <a:endParaRPr lang="en-US" sz="1200" dirty="0"/>
          </a:p>
        </p:txBody>
      </p:sp>
      <p:sp>
        <p:nvSpPr>
          <p:cNvPr id="9" name="Shape 7"/>
          <p:cNvSpPr/>
          <p:nvPr/>
        </p:nvSpPr>
        <p:spPr>
          <a:xfrm>
            <a:off x="3495675" y="2521545"/>
            <a:ext cx="2520950" cy="1708100"/>
          </a:xfrm>
          <a:prstGeom prst="roundRect">
            <a:avLst>
              <a:gd name="adj" fmla="val 5762"/>
            </a:avLst>
          </a:prstGeom>
          <a:solidFill>
            <a:srgbClr val="FBFAF7"/>
          </a:solidFill>
          <a:ln w="6350">
            <a:solidFill>
              <a:srgbClr val="DCD9CF"/>
            </a:solidFill>
            <a:prstDash val="solid"/>
          </a:ln>
        </p:spPr>
      </p:sp>
      <p:sp>
        <p:nvSpPr>
          <p:cNvPr id="10" name="Text 8"/>
          <p:cNvSpPr/>
          <p:nvPr/>
        </p:nvSpPr>
        <p:spPr>
          <a:xfrm>
            <a:off x="3702050" y="27279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개발자</a:t>
            </a:r>
            <a:endParaRPr lang="en-US" sz="1200" dirty="0"/>
          </a:p>
        </p:txBody>
      </p:sp>
      <p:sp>
        <p:nvSpPr>
          <p:cNvPr id="11" name="Text 9"/>
          <p:cNvSpPr/>
          <p:nvPr/>
        </p:nvSpPr>
        <p:spPr>
          <a:xfrm>
            <a:off x="3702050" y="3017441"/>
            <a:ext cx="231140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Backend-as-a-Service</a:t>
            </a:r>
            <a:endParaRPr lang="en-US" sz="1600" dirty="0"/>
          </a:p>
        </p:txBody>
      </p:sp>
      <p:sp>
        <p:nvSpPr>
          <p:cNvPr id="12" name="Text 10"/>
          <p:cNvSpPr/>
          <p:nvPr/>
        </p:nvSpPr>
        <p:spPr>
          <a:xfrm>
            <a:off x="3702050" y="3337471"/>
            <a:ext cx="217144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모든 앱에 Service API와 키 발급, 앱을 MCP 서버로도 노출</a:t>
            </a:r>
            <a:endParaRPr lang="en-US" sz="1200" dirty="0"/>
          </a:p>
        </p:txBody>
      </p:sp>
      <p:sp>
        <p:nvSpPr>
          <p:cNvPr id="13" name="Shape 11"/>
          <p:cNvSpPr/>
          <p:nvPr/>
        </p:nvSpPr>
        <p:spPr>
          <a:xfrm>
            <a:off x="6175375" y="2521545"/>
            <a:ext cx="2520950" cy="1708100"/>
          </a:xfrm>
          <a:prstGeom prst="roundRect">
            <a:avLst>
              <a:gd name="adj" fmla="val 5762"/>
            </a:avLst>
          </a:prstGeom>
          <a:solidFill>
            <a:srgbClr val="FBFAF7"/>
          </a:solidFill>
          <a:ln w="6350">
            <a:solidFill>
              <a:srgbClr val="DCD9CF"/>
            </a:solidFill>
            <a:prstDash val="solid"/>
          </a:ln>
        </p:spPr>
      </p:sp>
      <p:sp>
        <p:nvSpPr>
          <p:cNvPr id="14" name="Text 12"/>
          <p:cNvSpPr/>
          <p:nvPr/>
        </p:nvSpPr>
        <p:spPr>
          <a:xfrm>
            <a:off x="6381750" y="27279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데이터 담당</a:t>
            </a:r>
            <a:endParaRPr lang="en-US" sz="1200" dirty="0"/>
          </a:p>
        </p:txBody>
      </p:sp>
      <p:sp>
        <p:nvSpPr>
          <p:cNvPr id="15" name="Text 13"/>
          <p:cNvSpPr/>
          <p:nvPr/>
        </p:nvSpPr>
        <p:spPr>
          <a:xfrm>
            <a:off x="6381750" y="301744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RAG 파이프라인</a:t>
            </a:r>
            <a:endParaRPr lang="en-US" sz="1600" dirty="0"/>
          </a:p>
        </p:txBody>
      </p:sp>
      <p:sp>
        <p:nvSpPr>
          <p:cNvPr id="16" name="Text 14"/>
          <p:cNvSpPr/>
          <p:nvPr/>
        </p:nvSpPr>
        <p:spPr>
          <a:xfrm>
            <a:off x="6381750" y="3337471"/>
            <a:ext cx="217144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문서 추출·분할·임베딩, 하이브리드 검색·리랭크, 벡터 DB 32종</a:t>
            </a:r>
            <a:endParaRPr lang="en-US" sz="1200" dirty="0"/>
          </a:p>
        </p:txBody>
      </p:sp>
      <p:sp>
        <p:nvSpPr>
          <p:cNvPr id="17" name="Shape 15"/>
          <p:cNvSpPr/>
          <p:nvPr/>
        </p:nvSpPr>
        <p:spPr>
          <a:xfrm>
            <a:off x="8855075" y="2521545"/>
            <a:ext cx="2520950" cy="1708100"/>
          </a:xfrm>
          <a:prstGeom prst="roundRect">
            <a:avLst>
              <a:gd name="adj" fmla="val 5762"/>
            </a:avLst>
          </a:prstGeom>
          <a:solidFill>
            <a:srgbClr val="FBFAF7"/>
          </a:solidFill>
          <a:ln w="6350">
            <a:solidFill>
              <a:srgbClr val="DCD9CF"/>
            </a:solidFill>
            <a:prstDash val="solid"/>
          </a:ln>
        </p:spPr>
      </p:sp>
      <p:sp>
        <p:nvSpPr>
          <p:cNvPr id="18" name="Text 16"/>
          <p:cNvSpPr/>
          <p:nvPr/>
        </p:nvSpPr>
        <p:spPr>
          <a:xfrm>
            <a:off x="9061450" y="27279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운영</a:t>
            </a:r>
            <a:endParaRPr lang="en-US" sz="1200" dirty="0"/>
          </a:p>
        </p:txBody>
      </p:sp>
      <p:sp>
        <p:nvSpPr>
          <p:cNvPr id="19" name="Text 17"/>
          <p:cNvSpPr/>
          <p:nvPr/>
        </p:nvSpPr>
        <p:spPr>
          <a:xfrm>
            <a:off x="9061450" y="3017441"/>
            <a:ext cx="217144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1A2A"/>
                </a:solidFill>
                <a:latin typeface="IBM Plex Sans KR" pitchFamily="34" charset="0"/>
                <a:ea typeface="IBM Plex Sans KR" pitchFamily="34" charset="-122"/>
                <a:cs typeface="IBM Plex Sans KR" pitchFamily="34" charset="-120"/>
              </a:rPr>
              <a:t>LLMOps</a:t>
            </a:r>
            <a:endParaRPr lang="en-US" sz="1600" dirty="0"/>
          </a:p>
        </p:txBody>
      </p:sp>
      <p:sp>
        <p:nvSpPr>
          <p:cNvPr id="20" name="Text 18"/>
          <p:cNvSpPr/>
          <p:nvPr/>
        </p:nvSpPr>
        <p:spPr>
          <a:xfrm>
            <a:off x="9061450" y="3337471"/>
            <a:ext cx="217144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263"/>
                </a:solidFill>
                <a:latin typeface="IBM Plex Sans KR" pitchFamily="34" charset="0"/>
                <a:ea typeface="IBM Plex Sans KR" pitchFamily="34" charset="-122"/>
                <a:cs typeface="IBM Plex Sans KR" pitchFamily="34" charset="-120"/>
              </a:rPr>
              <a:t>실행 로그·어노테이션·피드백, Langfuse 등 외부 트레이싱 연동</a:t>
            </a:r>
            <a:endParaRPr lang="en-US" sz="1200" dirty="0"/>
          </a:p>
        </p:txBody>
      </p:sp>
      <p:sp>
        <p:nvSpPr>
          <p:cNvPr id="21" name="Text 19"/>
          <p:cNvSpPr/>
          <p:nvPr/>
        </p:nvSpPr>
        <p:spPr>
          <a:xfrm>
            <a:off x="812800" y="4486821"/>
            <a:ext cx="2512963" cy="365720"/>
          </a:xfrm>
          <a:prstGeom prst="roundRect">
            <a:avLst>
              <a:gd name="adj" fmla="val 50000"/>
            </a:avLst>
          </a:prstGeom>
          <a:solidFill>
            <a:srgbClr val="131A2A"/>
          </a:solidFill>
          <a:ln/>
        </p:spPr>
        <p:txBody>
          <a:bodyPr wrap="none" lIns="0" tIns="0" rIns="0" bIns="0" rtlCol="0" anchor="ctr">
            <a:normAutofit/>
          </a:bodyPr>
          <a:lstStyle/>
          <a:p>
            <a:pPr algn="ctr"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수정 Apache 2.0 (멀티테넌트 제한)</a:t>
            </a:r>
            <a:endParaRPr lang="en-US" sz="1200" dirty="0"/>
          </a:p>
        </p:txBody>
      </p:sp>
      <p:sp>
        <p:nvSpPr>
          <p:cNvPr id="22" name="Text 20"/>
          <p:cNvSpPr/>
          <p:nvPr/>
        </p:nvSpPr>
        <p:spPr>
          <a:xfrm>
            <a:off x="3478163" y="4486821"/>
            <a:ext cx="2193677" cy="365720"/>
          </a:xfrm>
          <a:prstGeom prst="roundRect">
            <a:avLst>
              <a:gd name="adj" fmla="val 50000"/>
            </a:avLst>
          </a:prstGeom>
          <a:solidFill>
            <a:srgbClr val="E6E3DA"/>
          </a:solidFill>
          <a:ln/>
        </p:spPr>
        <p:txBody>
          <a:bodyPr wrap="none" lIns="0" tIns="0" rIns="0" bIns="0" rtlCol="0" anchor="ctr">
            <a:normAutofit/>
          </a:bodyPr>
          <a:lstStyle/>
          <a:p>
            <a:pPr algn="ct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모델·도구는 플러그인으로 확장</a:t>
            </a:r>
            <a:endParaRPr lang="en-US" sz="1200" dirty="0"/>
          </a:p>
        </p:txBody>
      </p:sp>
      <p:sp>
        <p:nvSpPr>
          <p:cNvPr id="23" name="Text 21"/>
          <p:cNvSpPr/>
          <p:nvPr/>
        </p:nvSpPr>
        <p:spPr>
          <a:xfrm>
            <a:off x="5824240" y="4486821"/>
            <a:ext cx="2439491" cy="365720"/>
          </a:xfrm>
          <a:prstGeom prst="roundRect">
            <a:avLst>
              <a:gd name="adj" fmla="val 50000"/>
            </a:avLst>
          </a:prstGeom>
          <a:solidFill>
            <a:srgbClr val="E6E3DA"/>
          </a:solidFill>
          <a:ln/>
        </p:spPr>
        <p:txBody>
          <a:bodyPr wrap="none" lIns="0" tIns="0" rIns="0" bIns="0" rtlCol="0" anchor="ctr">
            <a:normAutofit/>
          </a:bodyPr>
          <a:lstStyle/>
          <a:p>
            <a:pPr algn="ct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Community · Cloud · Enterprise</a:t>
            </a:r>
            <a:endParaRPr lang="en-US" sz="1200" dirty="0"/>
          </a:p>
        </p:txBody>
      </p:sp>
      <p:sp>
        <p:nvSpPr>
          <p:cNvPr id="24" name="Text 2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02 · 출처: README.md, LICENSE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02 · APP TYPES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앱 유형마다 실행 경로가 다르다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2661444"/>
        </p:xfrm>
        <a:graphic>
          <a:graphicData uri="http://schemas.openxmlformats.org/drawingml/2006/table">
            <a:tbl>
              <a:tblPr/>
              <a:tblGrid>
                <a:gridCol w="2110740"/>
                <a:gridCol w="2321814"/>
                <a:gridCol w="3166110"/>
                <a:gridCol w="2955036"/>
              </a:tblGrid>
              <a:tr h="332680">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AppMode</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화면 이름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31925"/>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실행 위치</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31925"/>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정의 저장</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31925"/>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completion</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텍스트 생성</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API 프로세스 내 스레드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app_model_configs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chat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챗봇</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API 프로세스 내 스레드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app_model_configs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agent-chat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에이전트 (레거시)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API 스레드, ReAct·Function Call</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app_model_configs.agent_mode</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advanced-chat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Chatflow</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Celery 워커 (스트리밍 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workflows (graph)</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workflow</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워크플로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Celery 워커 (스트리밍 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workflows (graph)</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agent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Agent (신규)</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dify-agent 백엔드 + 샌드박스</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agents · config snapshots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rag-pipeline</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지식 파이프라인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Celery pipeline 큐</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pipelines · workflows</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bl>
          </a:graphicData>
        </a:graphic>
      </p:graphicFrame>
      <p:sp>
        <p:nvSpPr>
          <p:cNvPr id="5" name="Text 2"/>
          <p:cNvSpPr/>
          <p:nvPr/>
        </p:nvSpPr>
        <p:spPr>
          <a:xfrm>
            <a:off x="812800" y="4570214"/>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IBM Plex Sans KR" pitchFamily="34" charset="0"/>
                <a:ea typeface="IBM Plex Sans KR" pitchFamily="34" charset="-122"/>
                <a:cs typeface="IBM Plex Sans KR" pitchFamily="34" charset="-120"/>
              </a:rPr>
              <a:t>요청 진입은 모두 </a:t>
            </a:r>
            <a:r>
              <a:rPr lang="en-US" sz="1300" b="1" dirty="0">
                <a:solidFill>
                  <a:srgbClr val="131A2A"/>
                </a:solidFill>
                <a:latin typeface="IBM Plex Sans KR" pitchFamily="34" charset="0"/>
                <a:ea typeface="IBM Plex Sans KR" pitchFamily="34" charset="-122"/>
                <a:cs typeface="IBM Plex Sans KR" pitchFamily="34" charset="-120"/>
              </a:rPr>
              <a:t>AppGenerateService.generate()</a:t>
            </a:r>
            <a:r>
              <a:rPr lang="en-US" sz="1300" dirty="0">
                <a:solidFill>
                  <a:srgbClr val="4A5263"/>
                </a:solidFill>
                <a:latin typeface="IBM Plex Sans KR" pitchFamily="34" charset="0"/>
                <a:ea typeface="IBM Plex Sans KR" pitchFamily="34" charset="-122"/>
                <a:cs typeface="IBM Plex Sans KR" pitchFamily="34" charset="-120"/>
              </a:rPr>
              <a:t> 하나 → 모드별 Generator로 분기. 대화형 단순 앱은 API 안에서, 그래프 앱은 워커에서 돈다.</a:t>
            </a:r>
            <a:endParaRPr lang="en-US" sz="13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03 · 출처: api/models/model.py (AppMode), services/app_generate_service.py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03 · SYSTEM VIEW</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전체 구성도: 역할별 컨테이너 + 선택형 벡터 DB</a:t>
            </a:r>
            <a:endParaRPr lang="en-US" sz="3000" dirty="0"/>
          </a:p>
        </p:txBody>
      </p:sp>
      <p:sp>
        <p:nvSpPr>
          <p:cNvPr id="4" name="Text 2"/>
          <p:cNvSpPr/>
          <p:nvPr/>
        </p:nvSpPr>
        <p:spPr>
          <a:xfrm>
            <a:off x="812800" y="194558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CLIENTS</a:t>
            </a:r>
            <a:endParaRPr lang="en-US" sz="1200" dirty="0"/>
          </a:p>
        </p:txBody>
      </p:sp>
      <p:sp>
        <p:nvSpPr>
          <p:cNvPr id="5" name="Text 3"/>
          <p:cNvSpPr/>
          <p:nvPr/>
        </p:nvSpPr>
        <p:spPr>
          <a:xfrm>
            <a:off x="815975" y="2225576"/>
            <a:ext cx="2025650" cy="397470"/>
          </a:xfrm>
          <a:prstGeom prst="roundRect">
            <a:avLst>
              <a:gd name="adj" fmla="val 15177"/>
            </a:avLst>
          </a:prstGeom>
          <a:solidFill>
            <a:srgbClr val="FBFAF7"/>
          </a:solidFill>
          <a:ln w="6350">
            <a:solidFill>
              <a:srgbClr val="DCD9CF"/>
            </a:solidFill>
            <a:prstDash val="solid"/>
          </a:ln>
        </p:spPr>
        <p:txBody>
          <a:bodyPr wrap="square" lIns="99806" tIns="74406" rIns="46085"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콘솔 (앱 빌더)</a:t>
            </a:r>
            <a:endParaRPr lang="en-US" sz="1200" dirty="0"/>
          </a:p>
        </p:txBody>
      </p:sp>
      <p:sp>
        <p:nvSpPr>
          <p:cNvPr id="6" name="Text 4"/>
          <p:cNvSpPr/>
          <p:nvPr/>
        </p:nvSpPr>
        <p:spPr>
          <a:xfrm>
            <a:off x="815975" y="2692896"/>
            <a:ext cx="2025650" cy="397470"/>
          </a:xfrm>
          <a:prstGeom prst="roundRect">
            <a:avLst>
              <a:gd name="adj" fmla="val 15177"/>
            </a:avLst>
          </a:prstGeom>
          <a:solidFill>
            <a:srgbClr val="FBFAF7"/>
          </a:solidFill>
          <a:ln w="6350">
            <a:solidFill>
              <a:srgbClr val="DCD9CF"/>
            </a:solidFill>
            <a:prstDash val="solid"/>
          </a:ln>
        </p:spPr>
        <p:txBody>
          <a:bodyPr wrap="square" lIns="99806" tIns="74406" rIns="46085"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웹앱 · 임베드</a:t>
            </a:r>
            <a:endParaRPr lang="en-US" sz="1200" dirty="0"/>
          </a:p>
        </p:txBody>
      </p:sp>
      <p:sp>
        <p:nvSpPr>
          <p:cNvPr id="7" name="Text 5"/>
          <p:cNvSpPr/>
          <p:nvPr/>
        </p:nvSpPr>
        <p:spPr>
          <a:xfrm>
            <a:off x="815975" y="3160216"/>
            <a:ext cx="2025650" cy="397470"/>
          </a:xfrm>
          <a:prstGeom prst="roundRect">
            <a:avLst>
              <a:gd name="adj" fmla="val 15177"/>
            </a:avLst>
          </a:prstGeom>
          <a:solidFill>
            <a:srgbClr val="FBFAF7"/>
          </a:solidFill>
          <a:ln w="6350">
            <a:solidFill>
              <a:srgbClr val="DCD9CF"/>
            </a:solidFill>
            <a:prstDash val="solid"/>
          </a:ln>
        </p:spPr>
        <p:txBody>
          <a:bodyPr wrap="square" lIns="99806" tIns="74406" rIns="46085"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Service API · SDK</a:t>
            </a:r>
            <a:endParaRPr lang="en-US" sz="1200" dirty="0"/>
          </a:p>
        </p:txBody>
      </p:sp>
      <p:sp>
        <p:nvSpPr>
          <p:cNvPr id="8" name="Text 6"/>
          <p:cNvSpPr/>
          <p:nvPr/>
        </p:nvSpPr>
        <p:spPr>
          <a:xfrm>
            <a:off x="815975" y="3627537"/>
            <a:ext cx="2025650" cy="397470"/>
          </a:xfrm>
          <a:prstGeom prst="roundRect">
            <a:avLst>
              <a:gd name="adj" fmla="val 15177"/>
            </a:avLst>
          </a:prstGeom>
          <a:solidFill>
            <a:srgbClr val="FBFAF7"/>
          </a:solidFill>
          <a:ln w="6350">
            <a:solidFill>
              <a:srgbClr val="DCD9CF"/>
            </a:solidFill>
            <a:prstDash val="solid"/>
          </a:ln>
        </p:spPr>
        <p:txBody>
          <a:bodyPr wrap="square" lIns="99806" tIns="74406" rIns="46085"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MCP 클라이언트 · 웹훅</a:t>
            </a:r>
            <a:endParaRPr lang="en-US" sz="1200" dirty="0"/>
          </a:p>
        </p:txBody>
      </p:sp>
      <p:pic>
        <p:nvPicPr>
          <p:cNvPr id="9" name="Image 0" descr="arrow-right">    </p:cNvPr>
          <p:cNvPicPr>
            <a:picLocks noChangeAspect="1"/>
          </p:cNvPicPr>
          <p:nvPr/>
        </p:nvPicPr>
        <p:blipFill>
          <a:blip r:embed="rId1"/>
          <a:srcRect l="0" r="0" t="0" b="0"/>
          <a:stretch/>
        </p:blipFill>
        <p:spPr>
          <a:xfrm>
            <a:off x="2921000" y="2897981"/>
            <a:ext cx="330200" cy="177800"/>
          </a:xfrm>
          <a:prstGeom prst="rect">
            <a:avLst/>
          </a:prstGeom>
        </p:spPr>
      </p:pic>
      <p:sp>
        <p:nvSpPr>
          <p:cNvPr id="10" name="Shape 7"/>
          <p:cNvSpPr/>
          <p:nvPr/>
        </p:nvSpPr>
        <p:spPr>
          <a:xfrm>
            <a:off x="3327400" y="1616670"/>
            <a:ext cx="5664200" cy="2740422"/>
          </a:xfrm>
          <a:prstGeom prst="roundRect">
            <a:avLst>
              <a:gd name="adj" fmla="val 4171"/>
            </a:avLst>
          </a:prstGeom>
          <a:solidFill>
            <a:srgbClr val="131A2A"/>
          </a:solidFill>
          <a:ln/>
        </p:spPr>
      </p:sp>
      <p:sp>
        <p:nvSpPr>
          <p:cNvPr id="11" name="Text 8"/>
          <p:cNvSpPr/>
          <p:nvPr/>
        </p:nvSpPr>
        <p:spPr>
          <a:xfrm>
            <a:off x="3479800" y="1769070"/>
            <a:ext cx="5359400" cy="365720"/>
          </a:xfrm>
          <a:prstGeom prst="roundRect">
            <a:avLst>
              <a:gd name="adj" fmla="val 17363"/>
            </a:avLst>
          </a:prstGeom>
          <a:solidFill>
            <a:srgbClr val="26304A"/>
          </a:solidFill>
          <a:ln/>
        </p:spPr>
        <p:txBody>
          <a:bodyPr wrap="square" lIns="95701" tIns="57601" rIns="0" bIns="322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nginx → web · Next.js </a:t>
            </a:r>
            <a:r>
              <a:rPr lang="en-US" sz="1200" dirty="0">
                <a:solidFill>
                  <a:srgbClr val="9AA3B5"/>
                </a:solidFill>
                <a:latin typeface="IBM Plex Sans KR" pitchFamily="34" charset="0"/>
                <a:ea typeface="IBM Plex Sans KR" pitchFamily="34" charset="-122"/>
                <a:cs typeface="IBM Plex Sans KR" pitchFamily="34" charset="-120"/>
              </a:rPr>
              <a:t>(:3000)</a:t>
            </a:r>
            <a:r>
              <a:rPr lang="en-US" sz="1200" dirty="0">
                <a:solidFill>
                  <a:srgbClr val="F4F3EE"/>
                </a:solidFill>
                <a:latin typeface="IBM Plex Sans KR" pitchFamily="34" charset="0"/>
                <a:ea typeface="IBM Plex Sans KR" pitchFamily="34" charset="-122"/>
                <a:cs typeface="IBM Plex Sans KR" pitchFamily="34" charset="-120"/>
              </a:rPr>
              <a:t> / api 경로 라우팅</a:t>
            </a:r>
            <a:endParaRPr lang="en-US" sz="1200" dirty="0"/>
          </a:p>
        </p:txBody>
      </p:sp>
      <p:sp>
        <p:nvSpPr>
          <p:cNvPr id="12" name="Text 9"/>
          <p:cNvSpPr/>
          <p:nvPr/>
        </p:nvSpPr>
        <p:spPr>
          <a:xfrm>
            <a:off x="3479800" y="2210991"/>
            <a:ext cx="2647950" cy="340320"/>
          </a:xfrm>
          <a:prstGeom prst="roundRect">
            <a:avLst>
              <a:gd name="adj" fmla="val 14927"/>
            </a:avLst>
          </a:prstGeom>
          <a:solidFill>
            <a:srgbClr val="8FB0F5"/>
          </a:solidFill>
          <a:ln/>
        </p:spPr>
        <p:txBody>
          <a:bodyPr wrap="square" lIns="74021" tIns="48621" rIns="0"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api · Flask + gunicorn</a:t>
            </a:r>
            <a:endParaRPr lang="en-US" sz="1200" dirty="0"/>
          </a:p>
        </p:txBody>
      </p:sp>
      <p:sp>
        <p:nvSpPr>
          <p:cNvPr id="13" name="Text 10"/>
          <p:cNvSpPr/>
          <p:nvPr/>
        </p:nvSpPr>
        <p:spPr>
          <a:xfrm>
            <a:off x="6191250" y="2210991"/>
            <a:ext cx="2647950" cy="340320"/>
          </a:xfrm>
          <a:prstGeom prst="roundRect">
            <a:avLst>
              <a:gd name="adj" fmla="val 14927"/>
            </a:avLst>
          </a:prstGeom>
          <a:solidFill>
            <a:srgbClr val="8FB0F5"/>
          </a:solidFill>
          <a:ln/>
        </p:spPr>
        <p:txBody>
          <a:bodyPr wrap="square" lIns="74021" tIns="48621" rIns="0"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worker · Celery</a:t>
            </a:r>
            <a:endParaRPr lang="en-US" sz="1200" dirty="0"/>
          </a:p>
        </p:txBody>
      </p:sp>
      <p:sp>
        <p:nvSpPr>
          <p:cNvPr id="14" name="Text 11"/>
          <p:cNvSpPr/>
          <p:nvPr/>
        </p:nvSpPr>
        <p:spPr>
          <a:xfrm>
            <a:off x="3479800" y="2614811"/>
            <a:ext cx="2647950" cy="340320"/>
          </a:xfrm>
          <a:prstGeom prst="roundRect">
            <a:avLst>
              <a:gd name="adj" fmla="val 14927"/>
            </a:avLst>
          </a:prstGeom>
          <a:solidFill>
            <a:srgbClr val="8FB0F5"/>
          </a:solidFill>
          <a:ln/>
        </p:spPr>
        <p:txBody>
          <a:bodyPr wrap="square" lIns="74021" tIns="48621" rIns="0"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api_websocket · 협업</a:t>
            </a:r>
            <a:endParaRPr lang="en-US" sz="1200" dirty="0"/>
          </a:p>
        </p:txBody>
      </p:sp>
      <p:sp>
        <p:nvSpPr>
          <p:cNvPr id="15" name="Text 12"/>
          <p:cNvSpPr/>
          <p:nvPr/>
        </p:nvSpPr>
        <p:spPr>
          <a:xfrm>
            <a:off x="6191250" y="2614811"/>
            <a:ext cx="2647950" cy="340320"/>
          </a:xfrm>
          <a:prstGeom prst="roundRect">
            <a:avLst>
              <a:gd name="adj" fmla="val 14927"/>
            </a:avLst>
          </a:prstGeom>
          <a:solidFill>
            <a:srgbClr val="8FB0F5"/>
          </a:solidFill>
          <a:ln/>
        </p:spPr>
        <p:txBody>
          <a:bodyPr wrap="square" lIns="74021" tIns="48621" rIns="0"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worker_beat · 스케줄</a:t>
            </a:r>
            <a:endParaRPr lang="en-US" sz="1200" dirty="0"/>
          </a:p>
        </p:txBody>
      </p:sp>
      <p:sp>
        <p:nvSpPr>
          <p:cNvPr id="16" name="Text 13"/>
          <p:cNvSpPr/>
          <p:nvPr/>
        </p:nvSpPr>
        <p:spPr>
          <a:xfrm>
            <a:off x="3479800" y="3018631"/>
            <a:ext cx="2647950" cy="340320"/>
          </a:xfrm>
          <a:prstGeom prst="roundRect">
            <a:avLst>
              <a:gd name="adj" fmla="val 14927"/>
            </a:avLst>
          </a:prstGeom>
          <a:solidFill>
            <a:srgbClr val="F0B48A"/>
          </a:solidFill>
          <a:ln/>
        </p:spPr>
        <p:txBody>
          <a:bodyPr wrap="square" lIns="74021" tIns="48621" rIns="0"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plugin_daemon · Go</a:t>
            </a:r>
            <a:endParaRPr lang="en-US" sz="1200" dirty="0"/>
          </a:p>
        </p:txBody>
      </p:sp>
      <p:sp>
        <p:nvSpPr>
          <p:cNvPr id="17" name="Text 14"/>
          <p:cNvSpPr/>
          <p:nvPr/>
        </p:nvSpPr>
        <p:spPr>
          <a:xfrm>
            <a:off x="6191250" y="3018631"/>
            <a:ext cx="2647950" cy="340320"/>
          </a:xfrm>
          <a:prstGeom prst="roundRect">
            <a:avLst>
              <a:gd name="adj" fmla="val 14927"/>
            </a:avLst>
          </a:prstGeom>
          <a:solidFill>
            <a:srgbClr val="F0B48A"/>
          </a:solidFill>
          <a:ln/>
        </p:spPr>
        <p:txBody>
          <a:bodyPr wrap="square" lIns="74021" tIns="48621" rIns="0"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sandbox · 코드 노드</a:t>
            </a:r>
            <a:endParaRPr lang="en-US" sz="1200" dirty="0"/>
          </a:p>
        </p:txBody>
      </p:sp>
      <p:sp>
        <p:nvSpPr>
          <p:cNvPr id="18" name="Text 15"/>
          <p:cNvSpPr/>
          <p:nvPr/>
        </p:nvSpPr>
        <p:spPr>
          <a:xfrm>
            <a:off x="3479800" y="3422452"/>
            <a:ext cx="2647950" cy="340320"/>
          </a:xfrm>
          <a:prstGeom prst="roundRect">
            <a:avLst>
              <a:gd name="adj" fmla="val 14927"/>
            </a:avLst>
          </a:prstGeom>
          <a:solidFill>
            <a:srgbClr val="F0B48A"/>
          </a:solidFill>
          <a:ln/>
        </p:spPr>
        <p:txBody>
          <a:bodyPr wrap="square" lIns="74021" tIns="48621" rIns="0"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agent_backend · 신규 Agent</a:t>
            </a:r>
            <a:endParaRPr lang="en-US" sz="1200" dirty="0"/>
          </a:p>
        </p:txBody>
      </p:sp>
      <p:sp>
        <p:nvSpPr>
          <p:cNvPr id="19" name="Text 16"/>
          <p:cNvSpPr/>
          <p:nvPr/>
        </p:nvSpPr>
        <p:spPr>
          <a:xfrm>
            <a:off x="6191250" y="3422452"/>
            <a:ext cx="2647950" cy="340320"/>
          </a:xfrm>
          <a:prstGeom prst="roundRect">
            <a:avLst>
              <a:gd name="adj" fmla="val 14927"/>
            </a:avLst>
          </a:prstGeom>
          <a:solidFill>
            <a:srgbClr val="F0B48A"/>
          </a:solidFill>
          <a:ln/>
        </p:spPr>
        <p:txBody>
          <a:bodyPr wrap="square" lIns="74021" tIns="48621" rIns="0" bIns="2322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local_sandbox · shellctl</a:t>
            </a:r>
            <a:endParaRPr lang="en-US" sz="1200" dirty="0"/>
          </a:p>
        </p:txBody>
      </p:sp>
      <p:sp>
        <p:nvSpPr>
          <p:cNvPr id="20" name="Text 17"/>
          <p:cNvSpPr/>
          <p:nvPr/>
        </p:nvSpPr>
        <p:spPr>
          <a:xfrm>
            <a:off x="3479800" y="3838972"/>
            <a:ext cx="5359400" cy="365720"/>
          </a:xfrm>
          <a:prstGeom prst="roundRect">
            <a:avLst>
              <a:gd name="adj" fmla="val 17363"/>
            </a:avLst>
          </a:prstGeom>
          <a:solidFill>
            <a:srgbClr val="26304A"/>
          </a:solidFill>
          <a:ln/>
        </p:spPr>
        <p:txBody>
          <a:bodyPr wrap="square" lIns="95701" tIns="57601" rIns="0" bIns="322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ssrf_proxy · agent_ssrf_proxy (Squid): 모든 외부 HTTP 출구</a:t>
            </a:r>
            <a:endParaRPr lang="en-US" sz="1200" dirty="0"/>
          </a:p>
        </p:txBody>
      </p:sp>
      <p:pic>
        <p:nvPicPr>
          <p:cNvPr id="21" name="Image 1" descr="arrow-right">    </p:cNvPr>
          <p:cNvPicPr>
            <a:picLocks noChangeAspect="1"/>
          </p:cNvPicPr>
          <p:nvPr/>
        </p:nvPicPr>
        <p:blipFill>
          <a:blip r:embed="rId2"/>
          <a:srcRect l="0" r="0" t="0" b="0"/>
          <a:stretch/>
        </p:blipFill>
        <p:spPr>
          <a:xfrm>
            <a:off x="9067800" y="2897981"/>
            <a:ext cx="330200" cy="177800"/>
          </a:xfrm>
          <a:prstGeom prst="rect">
            <a:avLst/>
          </a:prstGeom>
        </p:spPr>
      </p:pic>
      <p:sp>
        <p:nvSpPr>
          <p:cNvPr id="22" name="Text 18"/>
          <p:cNvSpPr/>
          <p:nvPr/>
        </p:nvSpPr>
        <p:spPr>
          <a:xfrm>
            <a:off x="9474200" y="2072580"/>
            <a:ext cx="19359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UPSTREAM</a:t>
            </a:r>
            <a:endParaRPr lang="en-US" sz="1200" dirty="0"/>
          </a:p>
        </p:txBody>
      </p:sp>
      <p:sp>
        <p:nvSpPr>
          <p:cNvPr id="23" name="Text 19"/>
          <p:cNvSpPr/>
          <p:nvPr/>
        </p:nvSpPr>
        <p:spPr>
          <a:xfrm>
            <a:off x="9477375" y="2352576"/>
            <a:ext cx="1873250" cy="610791"/>
          </a:xfrm>
          <a:prstGeom prst="roundRect">
            <a:avLst>
              <a:gd name="adj" fmla="val 9877"/>
            </a:avLst>
          </a:prstGeom>
          <a:solidFill>
            <a:srgbClr val="FBFAF7"/>
          </a:solidFill>
          <a:ln w="6350">
            <a:solidFill>
              <a:srgbClr val="DCD9CF"/>
            </a:solidFill>
            <a:prstDash val="solid"/>
          </a:ln>
        </p:spPr>
        <p:txBody>
          <a:bodyPr wrap="square" lIns="99806" tIns="74406" rIns="49006"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LLM 프로바이더 (플러그인 경유)</a:t>
            </a:r>
            <a:endParaRPr lang="en-US" sz="1200" dirty="0"/>
          </a:p>
        </p:txBody>
      </p:sp>
      <p:sp>
        <p:nvSpPr>
          <p:cNvPr id="24" name="Text 20"/>
          <p:cNvSpPr/>
          <p:nvPr/>
        </p:nvSpPr>
        <p:spPr>
          <a:xfrm>
            <a:off x="9477375" y="3033216"/>
            <a:ext cx="1873250" cy="397470"/>
          </a:xfrm>
          <a:prstGeom prst="roundRect">
            <a:avLst>
              <a:gd name="adj" fmla="val 15177"/>
            </a:avLst>
          </a:prstGeom>
          <a:solidFill>
            <a:srgbClr val="FBFAF7"/>
          </a:solidFill>
          <a:ln w="6350">
            <a:solidFill>
              <a:srgbClr val="DCD9CF"/>
            </a:solidFill>
            <a:prstDash val="solid"/>
          </a:ln>
        </p:spPr>
        <p:txBody>
          <a:bodyPr wrap="square" lIns="99806" tIns="74406" rIns="49006"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외부 API · MCP 서버</a:t>
            </a:r>
            <a:endParaRPr lang="en-US" sz="1200" dirty="0"/>
          </a:p>
        </p:txBody>
      </p:sp>
      <p:sp>
        <p:nvSpPr>
          <p:cNvPr id="25" name="Text 21"/>
          <p:cNvSpPr/>
          <p:nvPr/>
        </p:nvSpPr>
        <p:spPr>
          <a:xfrm>
            <a:off x="9477375" y="3500537"/>
            <a:ext cx="1873250" cy="397470"/>
          </a:xfrm>
          <a:prstGeom prst="roundRect">
            <a:avLst>
              <a:gd name="adj" fmla="val 15177"/>
            </a:avLst>
          </a:prstGeom>
          <a:solidFill>
            <a:srgbClr val="FBFAF7"/>
          </a:solidFill>
          <a:ln w="6350">
            <a:solidFill>
              <a:srgbClr val="DCD9CF"/>
            </a:solidFill>
            <a:prstDash val="solid"/>
          </a:ln>
        </p:spPr>
        <p:txBody>
          <a:bodyPr wrap="square" lIns="99806" tIns="74406" rIns="49006" bIns="490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Marketplace</a:t>
            </a:r>
            <a:endParaRPr lang="en-US" sz="1200" dirty="0"/>
          </a:p>
        </p:txBody>
      </p:sp>
      <p:sp>
        <p:nvSpPr>
          <p:cNvPr id="26" name="Text 22"/>
          <p:cNvSpPr/>
          <p:nvPr/>
        </p:nvSpPr>
        <p:spPr>
          <a:xfrm>
            <a:off x="812800" y="4534892"/>
            <a:ext cx="2565400" cy="589260"/>
          </a:xfrm>
          <a:prstGeom prst="roundRect">
            <a:avLst>
              <a:gd name="adj" fmla="val 10776"/>
            </a:avLst>
          </a:prstGeom>
          <a:solidFill>
            <a:srgbClr val="E6E3DA"/>
          </a:solidFill>
          <a:ln/>
        </p:spPr>
        <p:txBody>
          <a:bodyPr wrap="square" lIns="95701" tIns="70301" rIns="25597" bIns="44901" rtlCol="0" anchor="t">
            <a:normAutofit/>
          </a:bodyPr>
          <a:lstStyle/>
          <a:p>
            <a:pPr algn="l" indent="0" marL="0">
              <a:lnSpc>
                <a:spcPts val="1620"/>
              </a:lnSpc>
              <a:buNone/>
            </a:pPr>
            <a:r>
              <a:rPr lang="en-US" sz="1200" b="1" dirty="0">
                <a:solidFill>
                  <a:srgbClr val="131A2A"/>
                </a:solidFill>
                <a:latin typeface="IBM Plex Sans KR" pitchFamily="34" charset="0"/>
                <a:ea typeface="IBM Plex Sans KR" pitchFamily="34" charset="-122"/>
                <a:cs typeface="IBM Plex Sans KR" pitchFamily="34" charset="-120"/>
              </a:rPr>
              <a:t>PostgreSQL / MySQL</a:t>
            </a:r>
            <a:endParaRPr lang="en-US" sz="1200" dirty="0"/>
          </a:p>
          <a:p>
            <a:pPr algn="l" indent="0" marL="0">
              <a:lnSpc>
                <a:spcPts val="1620"/>
              </a:lnSpc>
              <a:buNone/>
            </a:pPr>
            <a:r>
              <a:rPr lang="en-US" sz="1200" dirty="0">
                <a:solidFill>
                  <a:srgbClr val="131A2A"/>
                </a:solidFill>
                <a:latin typeface="IBM Plex Sans KR" pitchFamily="34" charset="0"/>
                <a:ea typeface="IBM Plex Sans KR" pitchFamily="34" charset="-122"/>
                <a:cs typeface="IBM Plex Sans KR" pitchFamily="34" charset="-120"/>
              </a:rPr>
              <a:t>dify + dify_plugin DB</a:t>
            </a:r>
            <a:endParaRPr lang="en-US" sz="1200" dirty="0"/>
          </a:p>
        </p:txBody>
      </p:sp>
      <p:sp>
        <p:nvSpPr>
          <p:cNvPr id="27" name="Text 23"/>
          <p:cNvSpPr/>
          <p:nvPr/>
        </p:nvSpPr>
        <p:spPr>
          <a:xfrm>
            <a:off x="3479800" y="4534892"/>
            <a:ext cx="2565400" cy="589260"/>
          </a:xfrm>
          <a:prstGeom prst="roundRect">
            <a:avLst>
              <a:gd name="adj" fmla="val 10776"/>
            </a:avLst>
          </a:prstGeom>
          <a:solidFill>
            <a:srgbClr val="E6E3DA"/>
          </a:solidFill>
          <a:ln/>
        </p:spPr>
        <p:txBody>
          <a:bodyPr wrap="square" lIns="95701" tIns="70301" rIns="25597" bIns="44901" rtlCol="0" anchor="t">
            <a:normAutofit/>
          </a:bodyPr>
          <a:lstStyle/>
          <a:p>
            <a:pPr algn="l" indent="0" marL="0">
              <a:lnSpc>
                <a:spcPts val="1620"/>
              </a:lnSpc>
              <a:buNone/>
            </a:pPr>
            <a:r>
              <a:rPr lang="en-US" sz="1200" b="1" dirty="0">
                <a:solidFill>
                  <a:srgbClr val="131A2A"/>
                </a:solidFill>
                <a:latin typeface="IBM Plex Sans KR" pitchFamily="34" charset="0"/>
                <a:ea typeface="IBM Plex Sans KR" pitchFamily="34" charset="-122"/>
                <a:cs typeface="IBM Plex Sans KR" pitchFamily="34" charset="-120"/>
              </a:rPr>
              <a:t>Redis</a:t>
            </a:r>
            <a:endParaRPr lang="en-US" sz="1200" dirty="0"/>
          </a:p>
          <a:p>
            <a:pPr algn="l" indent="0" marL="0">
              <a:lnSpc>
                <a:spcPts val="1620"/>
              </a:lnSpc>
              <a:buNone/>
            </a:pPr>
            <a:r>
              <a:rPr lang="en-US" sz="1200" dirty="0">
                <a:solidFill>
                  <a:srgbClr val="131A2A"/>
                </a:solidFill>
                <a:latin typeface="IBM Plex Sans KR" pitchFamily="34" charset="0"/>
                <a:ea typeface="IBM Plex Sans KR" pitchFamily="34" charset="-122"/>
                <a:cs typeface="IBM Plex Sans KR" pitchFamily="34" charset="-120"/>
              </a:rPr>
              <a:t>브로커 · 캐시 · pub/sub</a:t>
            </a:r>
            <a:endParaRPr lang="en-US" sz="1200" dirty="0"/>
          </a:p>
        </p:txBody>
      </p:sp>
      <p:sp>
        <p:nvSpPr>
          <p:cNvPr id="28" name="Text 24"/>
          <p:cNvSpPr/>
          <p:nvPr/>
        </p:nvSpPr>
        <p:spPr>
          <a:xfrm>
            <a:off x="6146800" y="4534892"/>
            <a:ext cx="2565400" cy="589260"/>
          </a:xfrm>
          <a:prstGeom prst="roundRect">
            <a:avLst>
              <a:gd name="adj" fmla="val 10776"/>
            </a:avLst>
          </a:prstGeom>
          <a:solidFill>
            <a:srgbClr val="E6E3DA"/>
          </a:solidFill>
          <a:ln/>
        </p:spPr>
        <p:txBody>
          <a:bodyPr wrap="square" lIns="95701" tIns="70301" rIns="25597" bIns="44901" rtlCol="0" anchor="t">
            <a:normAutofit/>
          </a:bodyPr>
          <a:lstStyle/>
          <a:p>
            <a:pPr algn="l" indent="0" marL="0">
              <a:lnSpc>
                <a:spcPts val="1620"/>
              </a:lnSpc>
              <a:buNone/>
            </a:pPr>
            <a:r>
              <a:rPr lang="en-US" sz="1200" b="1" dirty="0">
                <a:solidFill>
                  <a:srgbClr val="131A2A"/>
                </a:solidFill>
                <a:latin typeface="IBM Plex Sans KR" pitchFamily="34" charset="0"/>
                <a:ea typeface="IBM Plex Sans KR" pitchFamily="34" charset="-122"/>
                <a:cs typeface="IBM Plex Sans KR" pitchFamily="34" charset="-120"/>
              </a:rPr>
              <a:t>벡터 DB</a:t>
            </a:r>
            <a:endParaRPr lang="en-US" sz="1200" dirty="0"/>
          </a:p>
          <a:p>
            <a:pPr algn="l" indent="0" marL="0">
              <a:lnSpc>
                <a:spcPts val="1620"/>
              </a:lnSpc>
              <a:buNone/>
            </a:pPr>
            <a:r>
              <a:rPr lang="en-US" sz="1200" dirty="0">
                <a:solidFill>
                  <a:srgbClr val="131A2A"/>
                </a:solidFill>
                <a:latin typeface="IBM Plex Sans KR" pitchFamily="34" charset="0"/>
                <a:ea typeface="IBM Plex Sans KR" pitchFamily="34" charset="-122"/>
                <a:cs typeface="IBM Plex Sans KR" pitchFamily="34" charset="-120"/>
              </a:rPr>
              <a:t>Weaviate 기본, 32종</a:t>
            </a:r>
            <a:endParaRPr lang="en-US" sz="1200" dirty="0"/>
          </a:p>
        </p:txBody>
      </p:sp>
      <p:sp>
        <p:nvSpPr>
          <p:cNvPr id="29" name="Text 25"/>
          <p:cNvSpPr/>
          <p:nvPr/>
        </p:nvSpPr>
        <p:spPr>
          <a:xfrm>
            <a:off x="8813800" y="4534892"/>
            <a:ext cx="2565400" cy="589260"/>
          </a:xfrm>
          <a:prstGeom prst="roundRect">
            <a:avLst>
              <a:gd name="adj" fmla="val 10776"/>
            </a:avLst>
          </a:prstGeom>
          <a:solidFill>
            <a:srgbClr val="E6E3DA"/>
          </a:solidFill>
          <a:ln/>
        </p:spPr>
        <p:txBody>
          <a:bodyPr wrap="square" lIns="95701" tIns="70301" rIns="25597" bIns="44901" rtlCol="0" anchor="t">
            <a:normAutofit/>
          </a:bodyPr>
          <a:lstStyle/>
          <a:p>
            <a:pPr algn="l" indent="0" marL="0">
              <a:lnSpc>
                <a:spcPts val="1620"/>
              </a:lnSpc>
              <a:buNone/>
            </a:pPr>
            <a:r>
              <a:rPr lang="en-US" sz="1200" b="1" dirty="0">
                <a:solidFill>
                  <a:srgbClr val="131A2A"/>
                </a:solidFill>
                <a:latin typeface="IBM Plex Sans KR" pitchFamily="34" charset="0"/>
                <a:ea typeface="IBM Plex Sans KR" pitchFamily="34" charset="-122"/>
                <a:cs typeface="IBM Plex Sans KR" pitchFamily="34" charset="-120"/>
              </a:rPr>
              <a:t>파일 스토리지</a:t>
            </a:r>
            <a:endParaRPr lang="en-US" sz="1200" dirty="0"/>
          </a:p>
          <a:p>
            <a:pPr algn="l" indent="0" marL="0">
              <a:lnSpc>
                <a:spcPts val="1620"/>
              </a:lnSpc>
              <a:buNone/>
            </a:pPr>
            <a:r>
              <a:rPr lang="en-US" sz="1200" dirty="0">
                <a:solidFill>
                  <a:srgbClr val="131A2A"/>
                </a:solidFill>
                <a:latin typeface="IBM Plex Sans KR" pitchFamily="34" charset="0"/>
                <a:ea typeface="IBM Plex Sans KR" pitchFamily="34" charset="-122"/>
                <a:cs typeface="IBM Plex Sans KR" pitchFamily="34" charset="-120"/>
              </a:rPr>
              <a:t>로컬 · S3 · OSS 등</a:t>
            </a:r>
            <a:endParaRPr lang="en-US" sz="1200" dirty="0"/>
          </a:p>
        </p:txBody>
      </p:sp>
      <p:sp>
        <p:nvSpPr>
          <p:cNvPr id="30"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04 · 출처: docker/docker-compose-template.yaml, docker/nginx</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04 · TECH STACK</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Python 백엔드 + Go 보조 서비스 + Next.js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3326805"/>
        </p:xfrm>
        <a:graphic>
          <a:graphicData uri="http://schemas.openxmlformats.org/drawingml/2006/table">
            <a:tbl>
              <a:tblPr/>
              <a:tblGrid>
                <a:gridCol w="1794129"/>
                <a:gridCol w="4960239"/>
                <a:gridCol w="3799332"/>
              </a:tblGrid>
              <a:tr h="332680">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영역</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기술</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31925"/>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c>
                  <a:txBody>
                    <a:bodyPr/>
                    <a:lstStyle/>
                    <a:p>
                      <a:pPr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메모</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131925"/>
                      </a:solidFill>
                      <a:prstDash val="solid"/>
                      <a:round/>
                      <a:headEnd type="none" w="med" len="med"/>
                      <a:tailEnd type="none" w="med" len="med"/>
                    </a:lnL>
                    <a:lnR w="12700" cap="flat" cmpd="sng" algn="ctr">
                      <a:solidFill>
                        <a:srgbClr val="131925"/>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131925"/>
                      </a:solidFill>
                      <a:prstDash val="solid"/>
                      <a:round/>
                      <a:headEnd type="none" w="med" len="med"/>
                      <a:tailEnd type="none" w="med" len="med"/>
                    </a:lnB>
                    <a:solidFill>
                      <a:srgbClr val="131A2A"/>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Frontend</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Next.js 16, React 19, ReactFlow, Zustand</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콘솔과 웹앱이 같은 web 이미지</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131925"/>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Backend API</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Python 3.13, Flask, flask-restx, Pydantic v2</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gunicorn + gevent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비동기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Celery 5 + Redis 브로커, Celery Beat</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20여 개 큐로 작업 격리</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워크플로 엔진</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graphon 0.8 (분리된 패키지)</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큐 기반 그래프 실행기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데이터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PostgreSQL 또는 MySQL, SQLAlchemy, Alembic</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약 150개 테이블</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벡터</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Weaviate 기본, pgvector·Qdrant·Milvus 등</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32종, 팩토리로 교체</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플러그인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dify-plugin-daemon (Go), Python 플러그인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자체 DB · 패키지 저장소</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에이전트</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dify-agent (FastAPI + Pydantic AI), shellctl (Go)</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신규 Agent 앱 전용</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12700" cap="flat" cmpd="sng" algn="ctr">
                      <a:solidFill>
                        <a:srgbClr val="C3C2BE"/>
                      </a:solidFill>
                      <a:prstDash val="solid"/>
                      <a:round/>
                      <a:headEnd type="none" w="med" len="med"/>
                      <a:tailEnd type="none" w="med" len="med"/>
                    </a:lnT>
                    <a:lnB w="12700" cap="flat" cmpd="sng" algn="ctr">
                      <a:solidFill>
                        <a:srgbClr val="BCB9B3"/>
                      </a:solidFill>
                      <a:prstDash val="solid"/>
                      <a:round/>
                      <a:headEnd type="none" w="med" len="med"/>
                      <a:tailEnd type="none" w="med" len="med"/>
                    </a:lnB>
                    <a:solidFill>
                      <a:srgbClr val="EBE8E0"/>
                    </a:solidFill>
                  </a:tcPr>
                </a:tc>
              </a:tr>
              <a:tr h="332680">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관측</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OpenTelemetry, Sentry, Langfuse·LangSmith·Opik 등</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c>
                  <a:txBody>
                    <a:bodyPr/>
                    <a:lstStyle/>
                    <a:p>
                      <a:pPr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앱 단위 외부 트레이싱 8종</a:t>
                      </a:r>
                      <a:endParaRPr lang="en-US" sz="1200" dirty="0">
                        <a:latin typeface="IBM Plex Sans KR" charset="0"/>
                        <a:ea typeface="IBM Plex Sans KR" charset="0"/>
                        <a:cs typeface="IBM Plex Sans KR" charset="0"/>
                      </a:endParaRPr>
                    </a:p>
                  </a:txBody>
                  <a:tcPr marL="53340" marR="53340" marT="53340" marB="53340" anchor="t">
                    <a:lnL w="12700" cap="flat" cmpd="sng" algn="ctr">
                      <a:solidFill>
                        <a:srgbClr val="C3C2BE"/>
                      </a:solidFill>
                      <a:prstDash val="solid"/>
                      <a:round/>
                      <a:headEnd type="none" w="med" len="med"/>
                      <a:tailEnd type="none" w="med" len="med"/>
                    </a:lnL>
                    <a:lnR w="12700" cap="flat" cmpd="sng" algn="ctr">
                      <a:solidFill>
                        <a:srgbClr val="C3C2BE"/>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3C2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05 · 출처: api/pyproject.toml, pnpm-workspace.yaml, docker-compose-template.yaml, api/providers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05 · WORKFLOW ENGINE</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워크플로 엔진: 큐 기반 그래프 실행기 graphon</a:t>
            </a:r>
            <a:endParaRPr lang="en-US" sz="3000" dirty="0"/>
          </a:p>
        </p:txBody>
      </p:sp>
      <p:sp>
        <p:nvSpPr>
          <p:cNvPr id="4" name="Text 2"/>
          <p:cNvSpPr/>
          <p:nvPr/>
        </p:nvSpPr>
        <p:spPr>
          <a:xfrm>
            <a:off x="815975" y="1670645"/>
            <a:ext cx="1263650" cy="422870"/>
          </a:xfrm>
          <a:prstGeom prst="roundRect">
            <a:avLst>
              <a:gd name="adj" fmla="val 14266"/>
            </a:avLst>
          </a:prstGeom>
          <a:solidFill>
            <a:srgbClr val="FBFAF7"/>
          </a:solidFill>
          <a:ln w="6350">
            <a:solidFill>
              <a:srgbClr val="DCD9CF"/>
            </a:solidFill>
            <a:prstDash val="solid"/>
          </a:ln>
        </p:spPr>
        <p:txBody>
          <a:bodyPr wrap="square" lIns="87106" tIns="87106" rIns="36306"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graph JSON</a:t>
            </a:r>
            <a:endParaRPr lang="en-US" sz="1200" dirty="0"/>
          </a:p>
        </p:txBody>
      </p:sp>
      <p:pic>
        <p:nvPicPr>
          <p:cNvPr id="5" name="Image 0" descr="arrow-right">    </p:cNvPr>
          <p:cNvPicPr>
            <a:picLocks noChangeAspect="1"/>
          </p:cNvPicPr>
          <p:nvPr/>
        </p:nvPicPr>
        <p:blipFill>
          <a:blip r:embed="rId1"/>
          <a:srcRect l="0" r="0" t="0" b="0"/>
          <a:stretch/>
        </p:blipFill>
        <p:spPr>
          <a:xfrm>
            <a:off x="2146300" y="1818580"/>
            <a:ext cx="228600" cy="127000"/>
          </a:xfrm>
          <a:prstGeom prst="rect">
            <a:avLst/>
          </a:prstGeom>
        </p:spPr>
      </p:pic>
      <p:sp>
        <p:nvSpPr>
          <p:cNvPr id="6" name="Text 3"/>
          <p:cNvSpPr/>
          <p:nvPr/>
        </p:nvSpPr>
        <p:spPr>
          <a:xfrm>
            <a:off x="2438400" y="1673820"/>
            <a:ext cx="1270000" cy="416520"/>
          </a:xfrm>
          <a:prstGeom prst="roundRect">
            <a:avLst>
              <a:gd name="adj" fmla="val 15245"/>
            </a:avLst>
          </a:prstGeom>
          <a:solidFill>
            <a:srgbClr val="131A2A"/>
          </a:solidFill>
          <a:ln/>
        </p:spPr>
        <p:txBody>
          <a:bodyPr wrap="square" lIns="83001" tIns="83001" rIns="322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ready queue</a:t>
            </a:r>
            <a:endParaRPr lang="en-US" sz="1200" dirty="0"/>
          </a:p>
        </p:txBody>
      </p:sp>
      <p:pic>
        <p:nvPicPr>
          <p:cNvPr id="7" name="Image 1" descr="arrow-right">    </p:cNvPr>
          <p:cNvPicPr>
            <a:picLocks noChangeAspect="1"/>
          </p:cNvPicPr>
          <p:nvPr/>
        </p:nvPicPr>
        <p:blipFill>
          <a:blip r:embed="rId2"/>
          <a:srcRect l="0" r="0" t="0" b="0"/>
          <a:stretch/>
        </p:blipFill>
        <p:spPr>
          <a:xfrm>
            <a:off x="3771900" y="1818580"/>
            <a:ext cx="228600" cy="127000"/>
          </a:xfrm>
          <a:prstGeom prst="rect">
            <a:avLst/>
          </a:prstGeom>
        </p:spPr>
      </p:pic>
      <p:sp>
        <p:nvSpPr>
          <p:cNvPr id="8" name="Text 4"/>
          <p:cNvSpPr/>
          <p:nvPr/>
        </p:nvSpPr>
        <p:spPr>
          <a:xfrm>
            <a:off x="4064000" y="1673820"/>
            <a:ext cx="1651000" cy="416520"/>
          </a:xfrm>
          <a:prstGeom prst="roundRect">
            <a:avLst>
              <a:gd name="adj" fmla="val 15245"/>
            </a:avLst>
          </a:prstGeom>
          <a:solidFill>
            <a:srgbClr val="131A2A"/>
          </a:solidFill>
          <a:ln/>
        </p:spPr>
        <p:txBody>
          <a:bodyPr wrap="square" lIns="83001" tIns="83001" rIns="322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워커 풀 (스레드)</a:t>
            </a:r>
            <a:endParaRPr lang="en-US" sz="1200" dirty="0"/>
          </a:p>
        </p:txBody>
      </p:sp>
      <p:sp>
        <p:nvSpPr>
          <p:cNvPr id="9" name="Text 5"/>
          <p:cNvSpPr/>
          <p:nvPr/>
        </p:nvSpPr>
        <p:spPr>
          <a:xfrm>
            <a:off x="812800" y="2185591"/>
            <a:ext cx="1270000" cy="416520"/>
          </a:xfrm>
          <a:prstGeom prst="roundRect">
            <a:avLst>
              <a:gd name="adj" fmla="val 15245"/>
            </a:avLst>
          </a:prstGeom>
          <a:solidFill>
            <a:srgbClr val="2F5BB7"/>
          </a:solidFill>
          <a:ln/>
        </p:spPr>
        <p:txBody>
          <a:bodyPr wrap="square" lIns="83001" tIns="83001" rIns="322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이벤트 스트림</a:t>
            </a:r>
            <a:endParaRPr lang="en-US" sz="1200" dirty="0"/>
          </a:p>
        </p:txBody>
      </p:sp>
      <p:pic>
        <p:nvPicPr>
          <p:cNvPr id="10" name="Image 2" descr="arrow-left">    </p:cNvPr>
          <p:cNvPicPr>
            <a:picLocks noChangeAspect="1"/>
          </p:cNvPicPr>
          <p:nvPr/>
        </p:nvPicPr>
        <p:blipFill>
          <a:blip r:embed="rId3"/>
          <a:srcRect l="0" r="0" t="0" b="0"/>
          <a:stretch/>
        </p:blipFill>
        <p:spPr>
          <a:xfrm>
            <a:off x="2146300" y="2330351"/>
            <a:ext cx="228600" cy="127000"/>
          </a:xfrm>
          <a:prstGeom prst="rect">
            <a:avLst/>
          </a:prstGeom>
        </p:spPr>
      </p:pic>
      <p:sp>
        <p:nvSpPr>
          <p:cNvPr id="11" name="Text 6"/>
          <p:cNvSpPr/>
          <p:nvPr/>
        </p:nvSpPr>
        <p:spPr>
          <a:xfrm>
            <a:off x="2438400" y="2185591"/>
            <a:ext cx="1270000" cy="416520"/>
          </a:xfrm>
          <a:prstGeom prst="roundRect">
            <a:avLst>
              <a:gd name="adj" fmla="val 15245"/>
            </a:avLst>
          </a:prstGeom>
          <a:solidFill>
            <a:srgbClr val="131A2A"/>
          </a:solidFill>
          <a:ln/>
        </p:spPr>
        <p:txBody>
          <a:bodyPr wrap="square" lIns="83001" tIns="83001" rIns="322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dispatcher</a:t>
            </a:r>
            <a:endParaRPr lang="en-US" sz="1200" dirty="0"/>
          </a:p>
        </p:txBody>
      </p:sp>
      <p:pic>
        <p:nvPicPr>
          <p:cNvPr id="12" name="Image 3" descr="arrow-left">    </p:cNvPr>
          <p:cNvPicPr>
            <a:picLocks noChangeAspect="1"/>
          </p:cNvPicPr>
          <p:nvPr/>
        </p:nvPicPr>
        <p:blipFill>
          <a:blip r:embed="rId4"/>
          <a:srcRect l="0" r="0" t="0" b="0"/>
          <a:stretch/>
        </p:blipFill>
        <p:spPr>
          <a:xfrm>
            <a:off x="3771900" y="2330351"/>
            <a:ext cx="228600" cy="127000"/>
          </a:xfrm>
          <a:prstGeom prst="rect">
            <a:avLst/>
          </a:prstGeom>
        </p:spPr>
      </p:pic>
      <p:sp>
        <p:nvSpPr>
          <p:cNvPr id="13" name="Text 7"/>
          <p:cNvSpPr/>
          <p:nvPr/>
        </p:nvSpPr>
        <p:spPr>
          <a:xfrm>
            <a:off x="4064000" y="2185591"/>
            <a:ext cx="1651000" cy="416520"/>
          </a:xfrm>
          <a:prstGeom prst="roundRect">
            <a:avLst>
              <a:gd name="adj" fmla="val 15245"/>
            </a:avLst>
          </a:prstGeom>
          <a:solidFill>
            <a:srgbClr val="131A2A"/>
          </a:solidFill>
          <a:ln/>
        </p:spPr>
        <p:txBody>
          <a:bodyPr wrap="square" lIns="83001" tIns="83001" rIns="322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노드 실행 결과</a:t>
            </a:r>
            <a:endParaRPr lang="en-US" sz="1200" dirty="0"/>
          </a:p>
        </p:txBody>
      </p:sp>
      <p:sp>
        <p:nvSpPr>
          <p:cNvPr id="14" name="Shape 8"/>
          <p:cNvSpPr/>
          <p:nvPr/>
        </p:nvSpPr>
        <p:spPr>
          <a:xfrm>
            <a:off x="815975" y="2694186"/>
            <a:ext cx="4946650" cy="1271191"/>
          </a:xfrm>
          <a:prstGeom prst="roundRect">
            <a:avLst>
              <a:gd name="adj" fmla="val 5745"/>
            </a:avLst>
          </a:prstGeom>
          <a:solidFill>
            <a:srgbClr val="DCE6FA"/>
          </a:solidFill>
          <a:ln w="6350">
            <a:solidFill>
              <a:srgbClr val="2F5BB7"/>
            </a:solidFill>
            <a:prstDash val="solid"/>
          </a:ln>
        </p:spPr>
      </p:sp>
      <p:sp>
        <p:nvSpPr>
          <p:cNvPr id="15" name="Text 9"/>
          <p:cNvSpPr/>
          <p:nvPr/>
        </p:nvSpPr>
        <p:spPr>
          <a:xfrm>
            <a:off x="971550" y="2824361"/>
            <a:ext cx="4774565"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31A2A"/>
                </a:solidFill>
                <a:latin typeface="IBM Plex Sans KR" pitchFamily="34" charset="0"/>
                <a:ea typeface="IBM Plex Sans KR" pitchFamily="34" charset="-122"/>
                <a:cs typeface="IBM Plex Sans KR" pitchFamily="34" charset="-120"/>
              </a:rPr>
              <a:t>Layer</a:t>
            </a:r>
            <a:r>
              <a:rPr lang="en-US" sz="1200" dirty="0">
                <a:solidFill>
                  <a:srgbClr val="131A2A"/>
                </a:solidFill>
                <a:latin typeface="IBM Plex Sans KR" pitchFamily="34" charset="0"/>
                <a:ea typeface="IBM Plex Sans KR" pitchFamily="34" charset="-122"/>
                <a:cs typeface="IBM Plex Sans KR" pitchFamily="34" charset="-120"/>
              </a:rPr>
              <a:t> — ExecutionLimits(시간·스텝) · ExecutionContext · Observability(OTel) · 영속화 · 일시정지 상태</a:t>
            </a:r>
            <a:endParaRPr lang="en-US" sz="1200" dirty="0"/>
          </a:p>
        </p:txBody>
      </p:sp>
      <p:sp>
        <p:nvSpPr>
          <p:cNvPr id="16" name="Text 10"/>
          <p:cNvSpPr/>
          <p:nvPr/>
        </p:nvSpPr>
        <p:spPr>
          <a:xfrm>
            <a:off x="971550" y="3329781"/>
            <a:ext cx="4774565"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31A2A"/>
                </a:solidFill>
                <a:latin typeface="IBM Plex Sans KR" pitchFamily="34" charset="0"/>
                <a:ea typeface="IBM Plex Sans KR" pitchFamily="34" charset="-122"/>
                <a:cs typeface="IBM Plex Sans KR" pitchFamily="34" charset="-120"/>
              </a:rPr>
              <a:t>Command channel</a:t>
            </a:r>
            <a:r>
              <a:rPr lang="en-US" sz="1200" dirty="0">
                <a:solidFill>
                  <a:srgbClr val="131A2A"/>
                </a:solidFill>
                <a:latin typeface="IBM Plex Sans KR" pitchFamily="34" charset="0"/>
                <a:ea typeface="IBM Plex Sans KR" pitchFamily="34" charset="-122"/>
                <a:cs typeface="IBM Plex Sans KR" pitchFamily="34" charset="-120"/>
              </a:rPr>
              <a:t> — 중지·일시정지 명령을 실행 중 엔진에 전달</a:t>
            </a:r>
            <a:endParaRPr lang="en-US" sz="1200" dirty="0"/>
          </a:p>
        </p:txBody>
      </p:sp>
      <p:sp>
        <p:nvSpPr>
          <p:cNvPr id="17" name="Text 11"/>
          <p:cNvSpPr/>
          <p:nvPr/>
        </p:nvSpPr>
        <p:spPr>
          <a:xfrm>
            <a:off x="971550" y="3614241"/>
            <a:ext cx="4774565"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31A2A"/>
                </a:solidFill>
                <a:latin typeface="IBM Plex Sans KR" pitchFamily="34" charset="0"/>
                <a:ea typeface="IBM Plex Sans KR" pitchFamily="34" charset="-122"/>
                <a:cs typeface="IBM Plex Sans KR" pitchFamily="34" charset="-120"/>
              </a:rPr>
              <a:t>Container</a:t>
            </a:r>
            <a:r>
              <a:rPr lang="en-US" sz="1200" dirty="0">
                <a:solidFill>
                  <a:srgbClr val="131A2A"/>
                </a:solidFill>
                <a:latin typeface="IBM Plex Sans KR" pitchFamily="34" charset="0"/>
                <a:ea typeface="IBM Plex Sans KR" pitchFamily="34" charset="-122"/>
                <a:cs typeface="IBM Plex Sans KR" pitchFamily="34" charset="-120"/>
              </a:rPr>
              <a:t> — iteration · loop는 하위 그래프를 프레임으로 실행</a:t>
            </a:r>
            <a:endParaRPr lang="en-US" sz="1200" dirty="0"/>
          </a:p>
        </p:txBody>
      </p:sp>
      <p:sp>
        <p:nvSpPr>
          <p:cNvPr id="18" name="Text 12"/>
          <p:cNvSpPr/>
          <p:nvPr/>
        </p:nvSpPr>
        <p:spPr>
          <a:xfrm>
            <a:off x="5969000" y="1667470"/>
            <a:ext cx="55725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NODE TYPES</a:t>
            </a:r>
            <a:endParaRPr lang="en-US" sz="1200" dirty="0"/>
          </a:p>
        </p:txBody>
      </p:sp>
      <p:sp>
        <p:nvSpPr>
          <p:cNvPr id="19" name="Text 13"/>
          <p:cNvSpPr/>
          <p:nvPr/>
        </p:nvSpPr>
        <p:spPr>
          <a:xfrm>
            <a:off x="5969000" y="1969691"/>
            <a:ext cx="5572506"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31A2A"/>
                </a:solidFill>
                <a:latin typeface="IBM Plex Sans KR" pitchFamily="34" charset="0"/>
                <a:ea typeface="IBM Plex Sans KR" pitchFamily="34" charset="-122"/>
                <a:cs typeface="IBM Plex Sans KR" pitchFamily="34" charset="-120"/>
              </a:rPr>
              <a:t>제어</a:t>
            </a:r>
            <a:r>
              <a:rPr lang="en-US" sz="1200" dirty="0">
                <a:solidFill>
                  <a:srgbClr val="131A2A"/>
                </a:solidFill>
                <a:latin typeface="IBM Plex Sans KR" pitchFamily="34" charset="0"/>
                <a:ea typeface="IBM Plex Sans KR" pitchFamily="34" charset="-122"/>
                <a:cs typeface="IBM Plex Sans KR" pitchFamily="34" charset="-120"/>
              </a:rPr>
              <a:t> start · end · answer · if-else · iteration · loop · variable-aggregator · assigner</a:t>
            </a:r>
            <a:endParaRPr lang="en-US" sz="1200" dirty="0"/>
          </a:p>
        </p:txBody>
      </p:sp>
      <p:sp>
        <p:nvSpPr>
          <p:cNvPr id="20" name="Text 14"/>
          <p:cNvSpPr/>
          <p:nvPr/>
        </p:nvSpPr>
        <p:spPr>
          <a:xfrm>
            <a:off x="5969000" y="2500511"/>
            <a:ext cx="6223000" cy="24636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31A2A"/>
                </a:solidFill>
                <a:latin typeface="IBM Plex Sans KR" pitchFamily="34" charset="0"/>
                <a:ea typeface="IBM Plex Sans KR" pitchFamily="34" charset="-122"/>
                <a:cs typeface="IBM Plex Sans KR" pitchFamily="34" charset="-120"/>
              </a:rPr>
              <a:t>AI</a:t>
            </a:r>
            <a:r>
              <a:rPr lang="en-US" sz="1200" dirty="0">
                <a:solidFill>
                  <a:srgbClr val="131A2A"/>
                </a:solidFill>
                <a:latin typeface="IBM Plex Sans KR" pitchFamily="34" charset="0"/>
                <a:ea typeface="IBM Plex Sans KR" pitchFamily="34" charset="-122"/>
                <a:cs typeface="IBM Plex Sans KR" pitchFamily="34" charset="-120"/>
              </a:rPr>
              <a:t> llm · question-classifier · parameter-extractor · agent · knowledge-retrieval</a:t>
            </a:r>
            <a:endParaRPr lang="en-US" sz="1200" dirty="0"/>
          </a:p>
        </p:txBody>
      </p:sp>
      <p:sp>
        <p:nvSpPr>
          <p:cNvPr id="21" name="Text 15"/>
          <p:cNvSpPr/>
          <p:nvPr/>
        </p:nvSpPr>
        <p:spPr>
          <a:xfrm>
            <a:off x="5969000" y="2810371"/>
            <a:ext cx="5572506"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31A2A"/>
                </a:solidFill>
                <a:latin typeface="IBM Plex Sans KR" pitchFamily="34" charset="0"/>
                <a:ea typeface="IBM Plex Sans KR" pitchFamily="34" charset="-122"/>
                <a:cs typeface="IBM Plex Sans KR" pitchFamily="34" charset="-120"/>
              </a:rPr>
              <a:t>통합</a:t>
            </a:r>
            <a:r>
              <a:rPr lang="en-US" sz="1200" dirty="0">
                <a:solidFill>
                  <a:srgbClr val="131A2A"/>
                </a:solidFill>
                <a:latin typeface="IBM Plex Sans KR" pitchFamily="34" charset="0"/>
                <a:ea typeface="IBM Plex Sans KR" pitchFamily="34" charset="-122"/>
                <a:cs typeface="IBM Plex Sans KR" pitchFamily="34" charset="-120"/>
              </a:rPr>
              <a:t> tool · http-request · code · template-transform · document-extractor · list-operator</a:t>
            </a:r>
            <a:endParaRPr lang="en-US" sz="1200" dirty="0"/>
          </a:p>
        </p:txBody>
      </p:sp>
      <p:sp>
        <p:nvSpPr>
          <p:cNvPr id="22" name="Text 16"/>
          <p:cNvSpPr/>
          <p:nvPr/>
        </p:nvSpPr>
        <p:spPr>
          <a:xfrm>
            <a:off x="5969000" y="3341191"/>
            <a:ext cx="5572506" cy="46732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131A2A"/>
                </a:solidFill>
                <a:latin typeface="IBM Plex Sans KR" pitchFamily="34" charset="0"/>
                <a:ea typeface="IBM Plex Sans KR" pitchFamily="34" charset="-122"/>
                <a:cs typeface="IBM Plex Sans KR" pitchFamily="34" charset="-120"/>
              </a:rPr>
              <a:t>Dify 확장</a:t>
            </a:r>
            <a:r>
              <a:rPr lang="en-US" sz="1200" dirty="0">
                <a:solidFill>
                  <a:srgbClr val="131A2A"/>
                </a:solidFill>
                <a:latin typeface="IBM Plex Sans KR" pitchFamily="34" charset="0"/>
                <a:ea typeface="IBM Plex Sans KR" pitchFamily="34" charset="-122"/>
                <a:cs typeface="IBM Plex Sans KR" pitchFamily="34" charset="-120"/>
              </a:rPr>
              <a:t> human-input · trigger(webhook·schedule·plugin) · datasource · knowledge-index</a:t>
            </a:r>
            <a:endParaRPr lang="en-US" sz="1200" dirty="0"/>
          </a:p>
        </p:txBody>
      </p:sp>
      <p:sp>
        <p:nvSpPr>
          <p:cNvPr id="23"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06 · 출처: graphon 0.8.0 (engine/, nodes/), api/core/workflow/workflow_entry.py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06 · PLUGIN SYSTEM</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모델·도구까지 전부 플러그인, 데몬이 격리 실행</a:t>
            </a:r>
            <a:endParaRPr lang="en-US" sz="3000" dirty="0"/>
          </a:p>
        </p:txBody>
      </p:sp>
      <p:sp>
        <p:nvSpPr>
          <p:cNvPr id="4" name="Shape 2"/>
          <p:cNvSpPr/>
          <p:nvPr/>
        </p:nvSpPr>
        <p:spPr>
          <a:xfrm>
            <a:off x="815975" y="1696045"/>
            <a:ext cx="5181600" cy="2418011"/>
          </a:xfrm>
          <a:prstGeom prst="roundRect">
            <a:avLst>
              <a:gd name="adj" fmla="val 4070"/>
            </a:avLst>
          </a:prstGeom>
          <a:solidFill>
            <a:srgbClr val="FBFAF7"/>
          </a:solidFill>
          <a:ln w="6350">
            <a:solidFill>
              <a:srgbClr val="DCD9CF"/>
            </a:solidFill>
            <a:prstDash val="solid"/>
          </a:ln>
        </p:spPr>
      </p:sp>
      <p:sp>
        <p:nvSpPr>
          <p:cNvPr id="5" name="Text 3"/>
          <p:cNvSpPr/>
          <p:nvPr/>
        </p:nvSpPr>
        <p:spPr>
          <a:xfrm>
            <a:off x="1047750" y="1927820"/>
            <a:ext cx="48595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api → plugin/{tenant}/dispatch/*</a:t>
            </a:r>
            <a:endParaRPr lang="en-US" sz="1200" dirty="0"/>
          </a:p>
        </p:txBody>
      </p:sp>
      <p:sp>
        <p:nvSpPr>
          <p:cNvPr id="6" name="Text 4"/>
          <p:cNvSpPr/>
          <p:nvPr/>
        </p:nvSpPr>
        <p:spPr>
          <a:xfrm>
            <a:off x="1047750" y="2255441"/>
            <a:ext cx="48595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1A2A"/>
                </a:solidFill>
                <a:latin typeface="IBM Plex Sans KR" pitchFamily="34" charset="0"/>
                <a:ea typeface="IBM Plex Sans KR" pitchFamily="34" charset="-122"/>
                <a:cs typeface="IBM Plex Sans KR" pitchFamily="34" charset="-120"/>
              </a:rPr>
              <a:t>무엇이 플러그인인가</a:t>
            </a:r>
            <a:endParaRPr lang="en-US" sz="1800" dirty="0"/>
          </a:p>
        </p:txBody>
      </p:sp>
      <p:sp>
        <p:nvSpPr>
          <p:cNvPr id="7" name="Text 5"/>
          <p:cNvSpPr/>
          <p:nvPr/>
        </p:nvSpPr>
        <p:spPr>
          <a:xfrm>
            <a:off x="1133094" y="2644031"/>
            <a:ext cx="4766628" cy="12636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모델 공급자: LLM · 임베딩 · 리랭크 · TTS · STT</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도구, 에이전트 전략, 데이터소스, 트리거</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엔드포인트: 플러그인이 HTTP 엔드포인트 제공</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설치원: Marketplace · GitHub · 로컬 패키지</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자격증명은 Dify가 테넌트별로 암호화 보관 후 호출 시 전달</a:t>
            </a:r>
            <a:endParaRPr lang="en-US" sz="1300" dirty="0"/>
          </a:p>
        </p:txBody>
      </p:sp>
      <p:sp>
        <p:nvSpPr>
          <p:cNvPr id="8" name="Shape 6"/>
          <p:cNvSpPr/>
          <p:nvPr/>
        </p:nvSpPr>
        <p:spPr>
          <a:xfrm>
            <a:off x="6203950" y="1692870"/>
            <a:ext cx="5175250" cy="2424361"/>
          </a:xfrm>
          <a:prstGeom prst="roundRect">
            <a:avLst>
              <a:gd name="adj" fmla="val 4191"/>
            </a:avLst>
          </a:prstGeom>
          <a:solidFill>
            <a:srgbClr val="131A2A"/>
          </a:solidFill>
          <a:ln/>
        </p:spPr>
      </p:sp>
      <p:sp>
        <p:nvSpPr>
          <p:cNvPr id="9" name="Text 7"/>
          <p:cNvSpPr/>
          <p:nvPr/>
        </p:nvSpPr>
        <p:spPr>
          <a:xfrm>
            <a:off x="6432550" y="1921470"/>
            <a:ext cx="48595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0F5"/>
                </a:solidFill>
                <a:latin typeface="JetBrains Mono" pitchFamily="49" charset="0"/>
                <a:ea typeface="JetBrains Mono" pitchFamily="49" charset="-122"/>
                <a:cs typeface="JetBrains Mono" pitchFamily="49" charset="-120"/>
              </a:rPr>
              <a:t>dify-plugin-daemon (Go :5002)</a:t>
            </a:r>
            <a:endParaRPr lang="en-US" sz="1200" dirty="0"/>
          </a:p>
        </p:txBody>
      </p:sp>
      <p:sp>
        <p:nvSpPr>
          <p:cNvPr id="10" name="Text 8"/>
          <p:cNvSpPr/>
          <p:nvPr/>
        </p:nvSpPr>
        <p:spPr>
          <a:xfrm>
            <a:off x="6432550" y="2249091"/>
            <a:ext cx="48595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3EE"/>
                </a:solidFill>
                <a:latin typeface="IBM Plex Sans KR" pitchFamily="34" charset="0"/>
                <a:ea typeface="IBM Plex Sans KR" pitchFamily="34" charset="-122"/>
                <a:cs typeface="IBM Plex Sans KR" pitchFamily="34" charset="-120"/>
              </a:rPr>
              <a:t>어떻게 실행되는가</a:t>
            </a:r>
            <a:endParaRPr lang="en-US" sz="1800" dirty="0"/>
          </a:p>
        </p:txBody>
      </p:sp>
      <p:sp>
        <p:nvSpPr>
          <p:cNvPr id="11" name="Text 9"/>
          <p:cNvSpPr/>
          <p:nvPr/>
        </p:nvSpPr>
        <p:spPr>
          <a:xfrm>
            <a:off x="6517894" y="2637681"/>
            <a:ext cx="4766628" cy="12636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로컬: 플러그인마다 Python 프로세스, stdio로 통신</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디버그: 개발자 PC가 TCP :5003으로 원격 연결</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자체 DB(dify_plugin)와 패키지 저장소 보유</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역호출: 플러그인 → 데몬 → api /inner/api/invoke/*</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LLM·도구·앱·노드를 플러그인이 다시 호출 가능</a:t>
            </a:r>
            <a:endParaRPr lang="en-US" sz="13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07 · 출처: api/core/plugin/impl, controllers/inner_api/plugin, docker-compose (plugin_daemon)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07 · KNOWLEDGE</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RAG: 메타데이터는 RDB, 벡터는 교체 가능한 외부 DB</a:t>
            </a:r>
            <a:endParaRPr lang="en-US" sz="3000" dirty="0"/>
          </a:p>
        </p:txBody>
      </p:sp>
      <p:sp>
        <p:nvSpPr>
          <p:cNvPr id="4" name="Text 2"/>
          <p:cNvSpPr/>
          <p:nvPr/>
        </p:nvSpPr>
        <p:spPr>
          <a:xfrm>
            <a:off x="812800" y="16928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INDEXING · Celery dataset 큐</a:t>
            </a:r>
            <a:endParaRPr lang="en-US" sz="1200" dirty="0"/>
          </a:p>
        </p:txBody>
      </p:sp>
      <p:sp>
        <p:nvSpPr>
          <p:cNvPr id="5" name="Text 3"/>
          <p:cNvSpPr/>
          <p:nvPr/>
        </p:nvSpPr>
        <p:spPr>
          <a:xfrm>
            <a:off x="815975" y="1998266"/>
            <a:ext cx="2089150" cy="636191"/>
          </a:xfrm>
          <a:prstGeom prst="roundRect">
            <a:avLst>
              <a:gd name="adj" fmla="val 9482"/>
            </a:avLst>
          </a:prstGeom>
          <a:solidFill>
            <a:srgbClr val="FBFAF7"/>
          </a:solidFill>
          <a:ln w="6350">
            <a:solidFill>
              <a:srgbClr val="DCD9CF"/>
            </a:solidFill>
            <a:prstDash val="solid"/>
          </a:ln>
        </p:spPr>
        <p:txBody>
          <a:bodyPr wrap="square" lIns="99806" tIns="87106" rIns="44180"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업로드 · Notion · 웹 · 데이터소스 플러그인</a:t>
            </a:r>
            <a:endParaRPr lang="en-US" sz="1200" dirty="0"/>
          </a:p>
        </p:txBody>
      </p:sp>
      <p:pic>
        <p:nvPicPr>
          <p:cNvPr id="6" name="Image 0" descr="arrow-right">    </p:cNvPr>
          <p:cNvPicPr>
            <a:picLocks noChangeAspect="1"/>
          </p:cNvPicPr>
          <p:nvPr/>
        </p:nvPicPr>
        <p:blipFill>
          <a:blip r:embed="rId1"/>
          <a:srcRect l="0" r="0" t="0" b="0"/>
          <a:stretch/>
        </p:blipFill>
        <p:spPr>
          <a:xfrm>
            <a:off x="2971800" y="2246511"/>
            <a:ext cx="254000" cy="139700"/>
          </a:xfrm>
          <a:prstGeom prst="rect">
            <a:avLst/>
          </a:prstGeom>
        </p:spPr>
      </p:pic>
      <p:sp>
        <p:nvSpPr>
          <p:cNvPr id="7" name="Text 4"/>
          <p:cNvSpPr/>
          <p:nvPr/>
        </p:nvSpPr>
        <p:spPr>
          <a:xfrm>
            <a:off x="3289300" y="2108101"/>
            <a:ext cx="1270000" cy="416520"/>
          </a:xfrm>
          <a:prstGeom prst="roundRect">
            <a:avLst>
              <a:gd name="adj" fmla="val 15245"/>
            </a:avLst>
          </a:prstGeom>
          <a:solidFill>
            <a:srgbClr val="131A2A"/>
          </a:solidFill>
          <a:ln/>
        </p:spPr>
        <p:txBody>
          <a:bodyPr wrap="square" lIns="95701" tIns="83001" rIns="449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추출 · 정제</a:t>
            </a:r>
            <a:endParaRPr lang="en-US" sz="1200" dirty="0"/>
          </a:p>
        </p:txBody>
      </p:sp>
      <p:pic>
        <p:nvPicPr>
          <p:cNvPr id="8" name="Image 1" descr="arrow-right">    </p:cNvPr>
          <p:cNvPicPr>
            <a:picLocks noChangeAspect="1"/>
          </p:cNvPicPr>
          <p:nvPr/>
        </p:nvPicPr>
        <p:blipFill>
          <a:blip r:embed="rId2"/>
          <a:srcRect l="0" r="0" t="0" b="0"/>
          <a:stretch/>
        </p:blipFill>
        <p:spPr>
          <a:xfrm>
            <a:off x="4622800" y="2246511"/>
            <a:ext cx="254000" cy="139700"/>
          </a:xfrm>
          <a:prstGeom prst="rect">
            <a:avLst/>
          </a:prstGeom>
        </p:spPr>
      </p:pic>
      <p:sp>
        <p:nvSpPr>
          <p:cNvPr id="9" name="Text 5"/>
          <p:cNvSpPr/>
          <p:nvPr/>
        </p:nvSpPr>
        <p:spPr>
          <a:xfrm>
            <a:off x="4940300" y="2108101"/>
            <a:ext cx="2095500" cy="416520"/>
          </a:xfrm>
          <a:prstGeom prst="roundRect">
            <a:avLst>
              <a:gd name="adj" fmla="val 15245"/>
            </a:avLst>
          </a:prstGeom>
          <a:solidFill>
            <a:srgbClr val="131A2A"/>
          </a:solidFill>
          <a:ln/>
        </p:spPr>
        <p:txBody>
          <a:bodyPr wrap="square" lIns="95701" tIns="83001" rIns="39694"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분할: 일반 · 부모-자식 · QA</a:t>
            </a:r>
            <a:endParaRPr lang="en-US" sz="1200" dirty="0"/>
          </a:p>
        </p:txBody>
      </p:sp>
      <p:pic>
        <p:nvPicPr>
          <p:cNvPr id="10" name="Image 2" descr="arrow-right">    </p:cNvPr>
          <p:cNvPicPr>
            <a:picLocks noChangeAspect="1"/>
          </p:cNvPicPr>
          <p:nvPr/>
        </p:nvPicPr>
        <p:blipFill>
          <a:blip r:embed="rId3"/>
          <a:srcRect l="0" r="0" t="0" b="0"/>
          <a:stretch/>
        </p:blipFill>
        <p:spPr>
          <a:xfrm>
            <a:off x="7099300" y="2246511"/>
            <a:ext cx="254000" cy="139700"/>
          </a:xfrm>
          <a:prstGeom prst="rect">
            <a:avLst/>
          </a:prstGeom>
        </p:spPr>
      </p:pic>
      <p:sp>
        <p:nvSpPr>
          <p:cNvPr id="11" name="Text 6"/>
          <p:cNvSpPr/>
          <p:nvPr/>
        </p:nvSpPr>
        <p:spPr>
          <a:xfrm>
            <a:off x="7416800" y="2108101"/>
            <a:ext cx="1397000" cy="416520"/>
          </a:xfrm>
          <a:prstGeom prst="roundRect">
            <a:avLst>
              <a:gd name="adj" fmla="val 15245"/>
            </a:avLst>
          </a:prstGeom>
          <a:solidFill>
            <a:srgbClr val="131A2A"/>
          </a:solidFill>
          <a:ln/>
        </p:spPr>
        <p:txBody>
          <a:bodyPr wrap="square" lIns="95701" tIns="83001" rIns="44901"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임베딩 (캐시)</a:t>
            </a:r>
            <a:endParaRPr lang="en-US" sz="1200" dirty="0"/>
          </a:p>
        </p:txBody>
      </p:sp>
      <p:pic>
        <p:nvPicPr>
          <p:cNvPr id="12" name="Image 3" descr="arrow-right">    </p:cNvPr>
          <p:cNvPicPr>
            <a:picLocks noChangeAspect="1"/>
          </p:cNvPicPr>
          <p:nvPr/>
        </p:nvPicPr>
        <p:blipFill>
          <a:blip r:embed="rId4"/>
          <a:srcRect l="0" r="0" t="0" b="0"/>
          <a:stretch/>
        </p:blipFill>
        <p:spPr>
          <a:xfrm>
            <a:off x="8877300" y="2246511"/>
            <a:ext cx="254000" cy="139700"/>
          </a:xfrm>
          <a:prstGeom prst="rect">
            <a:avLst/>
          </a:prstGeom>
        </p:spPr>
      </p:pic>
      <p:sp>
        <p:nvSpPr>
          <p:cNvPr id="13" name="Text 7"/>
          <p:cNvSpPr/>
          <p:nvPr/>
        </p:nvSpPr>
        <p:spPr>
          <a:xfrm>
            <a:off x="9194800" y="2108101"/>
            <a:ext cx="2057400" cy="416520"/>
          </a:xfrm>
          <a:prstGeom prst="roundRect">
            <a:avLst>
              <a:gd name="adj" fmla="val 15245"/>
            </a:avLst>
          </a:prstGeom>
          <a:solidFill>
            <a:srgbClr val="2F5BB7"/>
          </a:solidFill>
          <a:ln/>
        </p:spPr>
        <p:txBody>
          <a:bodyPr wrap="square" lIns="95701" tIns="83001" rIns="40837" bIns="57601"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벡터 DB + 키워드 인덱스</a:t>
            </a:r>
            <a:endParaRPr lang="en-US" sz="1200" dirty="0"/>
          </a:p>
        </p:txBody>
      </p:sp>
      <p:sp>
        <p:nvSpPr>
          <p:cNvPr id="14" name="Text 8"/>
          <p:cNvSpPr/>
          <p:nvPr/>
        </p:nvSpPr>
        <p:spPr>
          <a:xfrm>
            <a:off x="812800" y="282813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JetBrains Mono" pitchFamily="49" charset="0"/>
                <a:ea typeface="JetBrains Mono" pitchFamily="49" charset="-122"/>
                <a:cs typeface="JetBrains Mono" pitchFamily="49" charset="-120"/>
              </a:rPr>
              <a:t>RETRIEVAL · knowledge-retrieval 노드</a:t>
            </a:r>
            <a:endParaRPr lang="en-US" sz="1200" dirty="0"/>
          </a:p>
        </p:txBody>
      </p:sp>
      <p:sp>
        <p:nvSpPr>
          <p:cNvPr id="15" name="Text 9"/>
          <p:cNvSpPr/>
          <p:nvPr/>
        </p:nvSpPr>
        <p:spPr>
          <a:xfrm>
            <a:off x="815975" y="3133527"/>
            <a:ext cx="1835150" cy="422870"/>
          </a:xfrm>
          <a:prstGeom prst="roundRect">
            <a:avLst>
              <a:gd name="adj" fmla="val 14266"/>
            </a:avLst>
          </a:prstGeom>
          <a:solidFill>
            <a:srgbClr val="FBFAF7"/>
          </a:solidFill>
          <a:ln w="6350">
            <a:solidFill>
              <a:srgbClr val="DCD9CF"/>
            </a:solidFill>
            <a:prstDash val="solid"/>
          </a:ln>
        </p:spPr>
        <p:txBody>
          <a:bodyPr wrap="square" lIns="99806" tIns="87106" rIns="49006"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멀티 데이터셋 라우터</a:t>
            </a:r>
            <a:endParaRPr lang="en-US" sz="1200" dirty="0"/>
          </a:p>
        </p:txBody>
      </p:sp>
      <p:pic>
        <p:nvPicPr>
          <p:cNvPr id="16" name="Image 4" descr="arrow-right">    </p:cNvPr>
          <p:cNvPicPr>
            <a:picLocks noChangeAspect="1"/>
          </p:cNvPicPr>
          <p:nvPr/>
        </p:nvPicPr>
        <p:blipFill>
          <a:blip r:embed="rId5"/>
          <a:srcRect l="0" r="0" t="0" b="0"/>
          <a:stretch/>
        </p:blipFill>
        <p:spPr>
          <a:xfrm>
            <a:off x="2717800" y="3275112"/>
            <a:ext cx="254000" cy="139700"/>
          </a:xfrm>
          <a:prstGeom prst="rect">
            <a:avLst/>
          </a:prstGeom>
        </p:spPr>
      </p:pic>
      <p:sp>
        <p:nvSpPr>
          <p:cNvPr id="17" name="Text 10"/>
          <p:cNvSpPr/>
          <p:nvPr/>
        </p:nvSpPr>
        <p:spPr>
          <a:xfrm>
            <a:off x="3038475" y="3133527"/>
            <a:ext cx="2660650" cy="422870"/>
          </a:xfrm>
          <a:prstGeom prst="roundRect">
            <a:avLst>
              <a:gd name="adj" fmla="val 14266"/>
            </a:avLst>
          </a:prstGeom>
          <a:solidFill>
            <a:srgbClr val="FBFAF7"/>
          </a:solidFill>
          <a:ln w="6350">
            <a:solidFill>
              <a:srgbClr val="DCD9CF"/>
            </a:solidFill>
            <a:prstDash val="solid"/>
          </a:ln>
        </p:spPr>
        <p:txBody>
          <a:bodyPr wrap="square" lIns="99806" tIns="87106" rIns="27035"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semantic · full-text · hybrid</a:t>
            </a:r>
            <a:endParaRPr lang="en-US" sz="1200" dirty="0"/>
          </a:p>
        </p:txBody>
      </p:sp>
      <p:pic>
        <p:nvPicPr>
          <p:cNvPr id="18" name="Image 5" descr="arrow-right">    </p:cNvPr>
          <p:cNvPicPr>
            <a:picLocks noChangeAspect="1"/>
          </p:cNvPicPr>
          <p:nvPr/>
        </p:nvPicPr>
        <p:blipFill>
          <a:blip r:embed="rId6"/>
          <a:srcRect l="0" r="0" t="0" b="0"/>
          <a:stretch/>
        </p:blipFill>
        <p:spPr>
          <a:xfrm>
            <a:off x="5765800" y="3275112"/>
            <a:ext cx="254000" cy="139700"/>
          </a:xfrm>
          <a:prstGeom prst="rect">
            <a:avLst/>
          </a:prstGeom>
        </p:spPr>
      </p:pic>
      <p:sp>
        <p:nvSpPr>
          <p:cNvPr id="19" name="Text 11"/>
          <p:cNvSpPr/>
          <p:nvPr/>
        </p:nvSpPr>
        <p:spPr>
          <a:xfrm>
            <a:off x="6086475" y="3133527"/>
            <a:ext cx="2025650" cy="422870"/>
          </a:xfrm>
          <a:prstGeom prst="roundRect">
            <a:avLst>
              <a:gd name="adj" fmla="val 14266"/>
            </a:avLst>
          </a:prstGeom>
          <a:solidFill>
            <a:srgbClr val="FBFAF7"/>
          </a:solidFill>
          <a:ln w="6350">
            <a:solidFill>
              <a:srgbClr val="DCD9CF"/>
            </a:solidFill>
            <a:prstDash val="solid"/>
          </a:ln>
        </p:spPr>
        <p:txBody>
          <a:bodyPr wrap="square" lIns="99806" tIns="87106" rIns="46085" bIns="61706"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리랭크 (모델·가중치)</a:t>
            </a:r>
            <a:endParaRPr lang="en-US" sz="1200" dirty="0"/>
          </a:p>
        </p:txBody>
      </p:sp>
      <p:pic>
        <p:nvPicPr>
          <p:cNvPr id="20" name="Image 6" descr="arrow-right">    </p:cNvPr>
          <p:cNvPicPr>
            <a:picLocks noChangeAspect="1"/>
          </p:cNvPicPr>
          <p:nvPr/>
        </p:nvPicPr>
        <p:blipFill>
          <a:blip r:embed="rId7"/>
          <a:srcRect l="0" r="0" t="0" b="0"/>
          <a:stretch/>
        </p:blipFill>
        <p:spPr>
          <a:xfrm>
            <a:off x="8178800" y="3275112"/>
            <a:ext cx="254000" cy="139700"/>
          </a:xfrm>
          <a:prstGeom prst="rect">
            <a:avLst/>
          </a:prstGeom>
        </p:spPr>
      </p:pic>
      <p:sp>
        <p:nvSpPr>
          <p:cNvPr id="21" name="Text 12"/>
          <p:cNvSpPr/>
          <p:nvPr/>
        </p:nvSpPr>
        <p:spPr>
          <a:xfrm>
            <a:off x="8496300" y="3136702"/>
            <a:ext cx="2501900" cy="416520"/>
          </a:xfrm>
          <a:prstGeom prst="roundRect">
            <a:avLst>
              <a:gd name="adj" fmla="val 15245"/>
            </a:avLst>
          </a:prstGeom>
          <a:solidFill>
            <a:srgbClr val="D9652B"/>
          </a:solidFill>
          <a:ln/>
        </p:spPr>
        <p:txBody>
          <a:bodyPr wrap="square" lIns="95701" tIns="83001" rIns="27502" bIns="57601" rtlCol="0" anchor="t">
            <a:normAutofit/>
          </a:bodyPr>
          <a:lstStyle/>
          <a:p>
            <a:pPr algn="l" indent="0" marL="0">
              <a:lnSpc>
                <a:spcPts val="1680"/>
              </a:lnSpc>
              <a:buNone/>
            </a:pPr>
            <a:r>
              <a:rPr lang="en-US" sz="1200" dirty="0">
                <a:solidFill>
                  <a:srgbClr val="131A2A"/>
                </a:solidFill>
                <a:latin typeface="IBM Plex Sans KR" pitchFamily="34" charset="0"/>
                <a:ea typeface="IBM Plex Sans KR" pitchFamily="34" charset="-122"/>
                <a:cs typeface="IBM Plex Sans KR" pitchFamily="34" charset="-120"/>
              </a:rPr>
              <a:t>임계값 · 메타데이터 필터</a:t>
            </a:r>
            <a:endParaRPr lang="en-US" sz="1200" dirty="0"/>
          </a:p>
        </p:txBody>
      </p:sp>
      <p:sp>
        <p:nvSpPr>
          <p:cNvPr id="22" name="Shape 13"/>
          <p:cNvSpPr/>
          <p:nvPr/>
        </p:nvSpPr>
        <p:spPr>
          <a:xfrm>
            <a:off x="812800" y="3823097"/>
            <a:ext cx="5207000" cy="0"/>
          </a:xfrm>
          <a:prstGeom prst="line">
            <a:avLst/>
          </a:prstGeom>
          <a:noFill/>
          <a:ln w="19050">
            <a:solidFill>
              <a:srgbClr val="131A2A"/>
            </a:solidFill>
            <a:prstDash val="solid"/>
          </a:ln>
        </p:spPr>
      </p:sp>
      <p:sp>
        <p:nvSpPr>
          <p:cNvPr id="23" name="Text 14"/>
          <p:cNvSpPr/>
          <p:nvPr/>
        </p:nvSpPr>
        <p:spPr>
          <a:xfrm>
            <a:off x="812800" y="3946922"/>
            <a:ext cx="536321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상태 머신</a:t>
            </a:r>
            <a:r>
              <a:rPr lang="en-US" sz="1200" dirty="0">
                <a:solidFill>
                  <a:srgbClr val="4A5263"/>
                </a:solidFill>
                <a:latin typeface="IBM Plex Sans KR" pitchFamily="34" charset="0"/>
                <a:ea typeface="IBM Plex Sans KR" pitchFamily="34" charset="-122"/>
                <a:cs typeface="IBM Plex Sans KR" pitchFamily="34" charset="-120"/>
              </a:rPr>
              <a:t> — waiting → parsing → cleaning → splitting → indexing → completed, 일시정지·재시도 지원</a:t>
            </a:r>
            <a:endParaRPr lang="en-US" sz="1200" dirty="0"/>
          </a:p>
        </p:txBody>
      </p:sp>
      <p:sp>
        <p:nvSpPr>
          <p:cNvPr id="24" name="Shape 15"/>
          <p:cNvSpPr/>
          <p:nvPr/>
        </p:nvSpPr>
        <p:spPr>
          <a:xfrm>
            <a:off x="6172200" y="3823097"/>
            <a:ext cx="5207000" cy="0"/>
          </a:xfrm>
          <a:prstGeom prst="line">
            <a:avLst/>
          </a:prstGeom>
          <a:noFill/>
          <a:ln w="19050">
            <a:solidFill>
              <a:srgbClr val="131A2A"/>
            </a:solidFill>
            <a:prstDash val="solid"/>
          </a:ln>
        </p:spPr>
      </p:sp>
      <p:sp>
        <p:nvSpPr>
          <p:cNvPr id="25" name="Text 16"/>
          <p:cNvSpPr/>
          <p:nvPr/>
        </p:nvSpPr>
        <p:spPr>
          <a:xfrm>
            <a:off x="6172200" y="3946922"/>
            <a:ext cx="536321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확장 경로</a:t>
            </a:r>
            <a:r>
              <a:rPr lang="en-US" sz="1200" dirty="0">
                <a:solidFill>
                  <a:srgbClr val="4A5263"/>
                </a:solidFill>
                <a:latin typeface="IBM Plex Sans KR" pitchFamily="34" charset="0"/>
                <a:ea typeface="IBM Plex Sans KR" pitchFamily="34" charset="-122"/>
                <a:cs typeface="IBM Plex Sans KR" pitchFamily="34" charset="-120"/>
              </a:rPr>
              <a:t> — 외부 지식 API 연결, RAG 파이프라인 앱으로 인덱싱 과정 자체를 워크플로로 설계</a:t>
            </a:r>
            <a:endParaRPr lang="en-US" sz="1200" dirty="0"/>
          </a:p>
        </p:txBody>
      </p:sp>
      <p:sp>
        <p:nvSpPr>
          <p:cNvPr id="26"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08 · 출처: api/core/rag, tasks/document_indexing_task.py, vdb/vector_type.py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08 · AGENT</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에이전트는 두 세대가 공존한다</a:t>
            </a:r>
            <a:endParaRPr lang="en-US" sz="3000" dirty="0"/>
          </a:p>
        </p:txBody>
      </p:sp>
      <p:sp>
        <p:nvSpPr>
          <p:cNvPr id="4" name="Shape 2"/>
          <p:cNvSpPr/>
          <p:nvPr/>
        </p:nvSpPr>
        <p:spPr>
          <a:xfrm>
            <a:off x="815975" y="1696045"/>
            <a:ext cx="5181600" cy="2405311"/>
          </a:xfrm>
          <a:prstGeom prst="roundRect">
            <a:avLst>
              <a:gd name="adj" fmla="val 4092"/>
            </a:avLst>
          </a:prstGeom>
          <a:solidFill>
            <a:srgbClr val="FBFAF7"/>
          </a:solidFill>
          <a:ln w="6350">
            <a:solidFill>
              <a:srgbClr val="DCD9CF"/>
            </a:solidFill>
            <a:prstDash val="solid"/>
          </a:ln>
        </p:spPr>
      </p:sp>
      <p:sp>
        <p:nvSpPr>
          <p:cNvPr id="5" name="Text 3"/>
          <p:cNvSpPr/>
          <p:nvPr/>
        </p:nvSpPr>
        <p:spPr>
          <a:xfrm>
            <a:off x="1047750" y="1927820"/>
            <a:ext cx="48595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agent-chat · agent 노드</a:t>
            </a:r>
            <a:endParaRPr lang="en-US" sz="1200" dirty="0"/>
          </a:p>
        </p:txBody>
      </p:sp>
      <p:sp>
        <p:nvSpPr>
          <p:cNvPr id="6" name="Text 4"/>
          <p:cNvSpPr/>
          <p:nvPr/>
        </p:nvSpPr>
        <p:spPr>
          <a:xfrm>
            <a:off x="1047750" y="2255441"/>
            <a:ext cx="48595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1A2A"/>
                </a:solidFill>
                <a:latin typeface="IBM Plex Sans KR" pitchFamily="34" charset="0"/>
                <a:ea typeface="IBM Plex Sans KR" pitchFamily="34" charset="-122"/>
                <a:cs typeface="IBM Plex Sans KR" pitchFamily="34" charset="-120"/>
              </a:rPr>
              <a:t>1세대: API 안의 도구 루프</a:t>
            </a:r>
            <a:endParaRPr lang="en-US" sz="1800" dirty="0"/>
          </a:p>
        </p:txBody>
      </p:sp>
      <p:sp>
        <p:nvSpPr>
          <p:cNvPr id="7" name="Text 5"/>
          <p:cNvSpPr/>
          <p:nvPr/>
        </p:nvSpPr>
        <p:spPr>
          <a:xfrm>
            <a:off x="1133094" y="2644031"/>
            <a:ext cx="4766628" cy="101600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API 스레드에서 Function Calling 또는 ReAct 루프</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도구: 빌트인 · OpenAPI · 워크플로 · MCP 도구</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추론 단계는 message_agent_thoughts에 저장</a:t>
            </a:r>
            <a:endParaRPr lang="en-US" sz="1300" dirty="0"/>
          </a:p>
          <a:p>
            <a:pPr algn="l" marL="168656" indent="-168656">
              <a:lnSpc>
                <a:spcPts val="1950"/>
              </a:lnSpc>
              <a:buSzPct val="100000"/>
              <a:buChar char="•"/>
            </a:pPr>
            <a:r>
              <a:rPr lang="en-US" sz="1300" dirty="0">
                <a:solidFill>
                  <a:srgbClr val="4A5263"/>
                </a:solidFill>
                <a:latin typeface="IBM Plex Sans KR" pitchFamily="34" charset="0"/>
                <a:ea typeface="IBM Plex Sans KR" pitchFamily="34" charset="-122"/>
                <a:cs typeface="IBM Plex Sans KR" pitchFamily="34" charset="-120"/>
              </a:rPr>
              <a:t>워크플로 agent 노드는 플러그인 ‘에이전트 전략’ 사용</a:t>
            </a:r>
            <a:endParaRPr lang="en-US" sz="1300" dirty="0"/>
          </a:p>
        </p:txBody>
      </p:sp>
      <p:sp>
        <p:nvSpPr>
          <p:cNvPr id="8" name="Shape 6"/>
          <p:cNvSpPr/>
          <p:nvPr/>
        </p:nvSpPr>
        <p:spPr>
          <a:xfrm>
            <a:off x="6203950" y="1692870"/>
            <a:ext cx="5175250" cy="2411661"/>
          </a:xfrm>
          <a:prstGeom prst="roundRect">
            <a:avLst>
              <a:gd name="adj" fmla="val 4213"/>
            </a:avLst>
          </a:prstGeom>
          <a:solidFill>
            <a:srgbClr val="131A2A"/>
          </a:solidFill>
          <a:ln/>
        </p:spPr>
      </p:sp>
      <p:sp>
        <p:nvSpPr>
          <p:cNvPr id="9" name="Text 7"/>
          <p:cNvSpPr/>
          <p:nvPr/>
        </p:nvSpPr>
        <p:spPr>
          <a:xfrm>
            <a:off x="6432550" y="1921470"/>
            <a:ext cx="48595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0F5"/>
                </a:solidFill>
                <a:latin typeface="JetBrains Mono" pitchFamily="49" charset="0"/>
                <a:ea typeface="JetBrains Mono" pitchFamily="49" charset="-122"/>
                <a:cs typeface="JetBrains Mono" pitchFamily="49" charset="-120"/>
              </a:rPr>
              <a:t>agent 모드 · agent_backend</a:t>
            </a:r>
            <a:endParaRPr lang="en-US" sz="1200" dirty="0"/>
          </a:p>
        </p:txBody>
      </p:sp>
      <p:sp>
        <p:nvSpPr>
          <p:cNvPr id="10" name="Text 8"/>
          <p:cNvSpPr/>
          <p:nvPr/>
        </p:nvSpPr>
        <p:spPr>
          <a:xfrm>
            <a:off x="6432550" y="2249091"/>
            <a:ext cx="48595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3EE"/>
                </a:solidFill>
                <a:latin typeface="IBM Plex Sans KR" pitchFamily="34" charset="0"/>
                <a:ea typeface="IBM Plex Sans KR" pitchFamily="34" charset="-122"/>
                <a:cs typeface="IBM Plex Sans KR" pitchFamily="34" charset="-120"/>
              </a:rPr>
              <a:t>2세대: 샌드박스를 가진 에이전트</a:t>
            </a:r>
            <a:endParaRPr lang="en-US" sz="1800" dirty="0"/>
          </a:p>
        </p:txBody>
      </p:sp>
      <p:sp>
        <p:nvSpPr>
          <p:cNvPr id="11" name="Text 9"/>
          <p:cNvSpPr/>
          <p:nvPr/>
        </p:nvSpPr>
        <p:spPr>
          <a:xfrm>
            <a:off x="6517894" y="2637681"/>
            <a:ext cx="4766628" cy="12636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dify-agent: FastAPI + Pydantic AI 실행</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모듈 조합: shell · tools · knowledge · history · llm</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local_sandbox(Go shellctl): tmux PTY 잡, Landlock 격리</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모델은 플러그인 데몬 직접 호출, 외부는 전용 SSRF 프록시</a:t>
            </a:r>
            <a:endParaRPr lang="en-US" sz="1300" dirty="0"/>
          </a:p>
          <a:p>
            <a:pPr algn="l" marL="168656" indent="-168656">
              <a:lnSpc>
                <a:spcPts val="1950"/>
              </a:lnSpc>
              <a:buSzPct val="100000"/>
              <a:buChar char="•"/>
            </a:pPr>
            <a:r>
              <a:rPr lang="en-US" sz="1300" dirty="0">
                <a:solidFill>
                  <a:srgbClr val="C9CEDA"/>
                </a:solidFill>
                <a:latin typeface="IBM Plex Sans KR" pitchFamily="34" charset="0"/>
                <a:ea typeface="IBM Plex Sans KR" pitchFamily="34" charset="-122"/>
                <a:cs typeface="IBM Plex Sans KR" pitchFamily="34" charset="-120"/>
              </a:rPr>
              <a:t>워크스페이스 · 스킬 바인딩, E2B 원격 샌드박스 옵션</a:t>
            </a:r>
            <a:endParaRPr lang="en-US" sz="13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09 · 출처: api/core/agent, core/app/apps/agent_app, dify-agent/docs, dify-agent-runtime/README.md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09 · TENANCY · SECURITY · OPS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워크스페이스 = 테넌트, 출구는 프록시로 통제</a:t>
            </a:r>
            <a:endParaRPr lang="en-US" sz="3000" dirty="0"/>
          </a:p>
        </p:txBody>
      </p:sp>
      <p:sp>
        <p:nvSpPr>
          <p:cNvPr id="4" name="Shape 2"/>
          <p:cNvSpPr/>
          <p:nvPr/>
        </p:nvSpPr>
        <p:spPr>
          <a:xfrm>
            <a:off x="815975" y="1696045"/>
            <a:ext cx="3397250" cy="2360761"/>
          </a:xfrm>
          <a:prstGeom prst="roundRect">
            <a:avLst>
              <a:gd name="adj" fmla="val 4169"/>
            </a:avLst>
          </a:prstGeom>
          <a:solidFill>
            <a:srgbClr val="FBFAF7"/>
          </a:solidFill>
          <a:ln w="6350">
            <a:solidFill>
              <a:srgbClr val="DCD9CF"/>
            </a:solidFill>
            <a:prstDash val="solid"/>
          </a:ln>
        </p:spPr>
      </p:sp>
      <p:pic>
        <p:nvPicPr>
          <p:cNvPr id="5" name="Image 0" descr="Users">    </p:cNvPr>
          <p:cNvPicPr>
            <a:picLocks noChangeAspect="1"/>
          </p:cNvPicPr>
          <p:nvPr/>
        </p:nvPicPr>
        <p:blipFill>
          <a:blip r:embed="rId1"/>
          <a:srcRect l="0" r="0" t="0" b="0"/>
          <a:stretch/>
        </p:blipFill>
        <p:spPr>
          <a:xfrm>
            <a:off x="1022350" y="1902420"/>
            <a:ext cx="304800" cy="304800"/>
          </a:xfrm>
          <a:prstGeom prst="rect">
            <a:avLst/>
          </a:prstGeom>
        </p:spPr>
      </p:pic>
      <p:sp>
        <p:nvSpPr>
          <p:cNvPr id="6" name="Text 3"/>
          <p:cNvSpPr/>
          <p:nvPr/>
        </p:nvSpPr>
        <p:spPr>
          <a:xfrm>
            <a:off x="1022350" y="23088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테넌트 · 권한</a:t>
            </a:r>
            <a:endParaRPr lang="en-US" sz="1700" dirty="0"/>
          </a:p>
        </p:txBody>
      </p:sp>
      <p:sp>
        <p:nvSpPr>
          <p:cNvPr id="7" name="Text 4"/>
          <p:cNvSpPr/>
          <p:nvPr/>
        </p:nvSpPr>
        <p:spPr>
          <a:xfrm>
            <a:off x="1114806" y="2669480"/>
            <a:ext cx="2973959" cy="1206351"/>
          </a:xfrm>
          <a:prstGeom prst="rect">
            <a:avLst/>
          </a:prstGeom>
          <a:noFill/>
          <a:ln/>
        </p:spPr>
        <p:txBody>
          <a:bodyPr wrap="square" lIns="0" tIns="0" rIns="0" bIns="0" rtlCol="0" anchor="t">
            <a:normAutofit/>
          </a:bodyPr>
          <a:lstStyle/>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워크스페이스 1개 = 테넌트 1개</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모든 업무 테이블에 tenant_id</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역할: owner · admin · editor · normal · dataset_operator</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SSO · 세분 RBAC은 Enterprise</a:t>
            </a:r>
            <a:endParaRPr lang="en-US" sz="1200" dirty="0"/>
          </a:p>
        </p:txBody>
      </p:sp>
      <p:sp>
        <p:nvSpPr>
          <p:cNvPr id="8" name="Shape 5"/>
          <p:cNvSpPr/>
          <p:nvPr/>
        </p:nvSpPr>
        <p:spPr>
          <a:xfrm>
            <a:off x="4397375" y="1696045"/>
            <a:ext cx="3397250" cy="2360761"/>
          </a:xfrm>
          <a:prstGeom prst="roundRect">
            <a:avLst>
              <a:gd name="adj" fmla="val 4169"/>
            </a:avLst>
          </a:prstGeom>
          <a:solidFill>
            <a:srgbClr val="FBFAF7"/>
          </a:solidFill>
          <a:ln w="6350">
            <a:solidFill>
              <a:srgbClr val="DCD9CF"/>
            </a:solidFill>
            <a:prstDash val="solid"/>
          </a:ln>
        </p:spPr>
      </p:sp>
      <p:pic>
        <p:nvPicPr>
          <p:cNvPr id="9" name="Image 1" descr="Lock">    </p:cNvPr>
          <p:cNvPicPr>
            <a:picLocks noChangeAspect="1"/>
          </p:cNvPicPr>
          <p:nvPr/>
        </p:nvPicPr>
        <p:blipFill>
          <a:blip r:embed="rId2"/>
          <a:srcRect l="0" r="0" t="0" b="0"/>
          <a:stretch/>
        </p:blipFill>
        <p:spPr>
          <a:xfrm>
            <a:off x="4603750" y="1902420"/>
            <a:ext cx="304800" cy="304800"/>
          </a:xfrm>
          <a:prstGeom prst="rect">
            <a:avLst/>
          </a:prstGeom>
        </p:spPr>
      </p:pic>
      <p:sp>
        <p:nvSpPr>
          <p:cNvPr id="10" name="Text 6"/>
          <p:cNvSpPr/>
          <p:nvPr/>
        </p:nvSpPr>
        <p:spPr>
          <a:xfrm>
            <a:off x="4603750" y="23088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비밀 · 격리</a:t>
            </a:r>
            <a:endParaRPr lang="en-US" sz="1700" dirty="0"/>
          </a:p>
        </p:txBody>
      </p:sp>
      <p:sp>
        <p:nvSpPr>
          <p:cNvPr id="11" name="Text 7"/>
          <p:cNvSpPr/>
          <p:nvPr/>
        </p:nvSpPr>
        <p:spPr>
          <a:xfrm>
            <a:off x="4696206" y="2669480"/>
            <a:ext cx="2973959" cy="970161"/>
          </a:xfrm>
          <a:prstGeom prst="rect">
            <a:avLst/>
          </a:prstGeom>
          <a:noFill/>
          <a:ln/>
        </p:spPr>
        <p:txBody>
          <a:bodyPr wrap="square" lIns="0" tIns="0" rIns="0" bIns="0" rtlCol="0" anchor="t">
            <a:normAutofit/>
          </a:bodyPr>
          <a:lstStyle/>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자격증명은 테넌트별 RSA 키로 암호화</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모든 외부 HTTP는 SSRF 프록시 경유</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코드 노드는 dify-sandbox에서 실행</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에이전트 셸은 Landlock 경로 격리</a:t>
            </a:r>
            <a:endParaRPr lang="en-US" sz="1200" dirty="0"/>
          </a:p>
        </p:txBody>
      </p:sp>
      <p:sp>
        <p:nvSpPr>
          <p:cNvPr id="12" name="Shape 8"/>
          <p:cNvSpPr/>
          <p:nvPr/>
        </p:nvSpPr>
        <p:spPr>
          <a:xfrm>
            <a:off x="7978775" y="1696045"/>
            <a:ext cx="3397250" cy="2360761"/>
          </a:xfrm>
          <a:prstGeom prst="roundRect">
            <a:avLst>
              <a:gd name="adj" fmla="val 4169"/>
            </a:avLst>
          </a:prstGeom>
          <a:solidFill>
            <a:srgbClr val="FBFAF7"/>
          </a:solidFill>
          <a:ln w="6350">
            <a:solidFill>
              <a:srgbClr val="DCD9CF"/>
            </a:solidFill>
            <a:prstDash val="solid"/>
          </a:ln>
        </p:spPr>
      </p:sp>
      <p:pic>
        <p:nvPicPr>
          <p:cNvPr id="13" name="Image 2" descr="Activity">    </p:cNvPr>
          <p:cNvPicPr>
            <a:picLocks noChangeAspect="1"/>
          </p:cNvPicPr>
          <p:nvPr/>
        </p:nvPicPr>
        <p:blipFill>
          <a:blip r:embed="rId3"/>
          <a:srcRect l="0" r="0" t="0" b="0"/>
          <a:stretch/>
        </p:blipFill>
        <p:spPr>
          <a:xfrm>
            <a:off x="8185150" y="1902420"/>
            <a:ext cx="304800" cy="304800"/>
          </a:xfrm>
          <a:prstGeom prst="rect">
            <a:avLst/>
          </a:prstGeom>
        </p:spPr>
      </p:pic>
      <p:sp>
        <p:nvSpPr>
          <p:cNvPr id="14" name="Text 9"/>
          <p:cNvSpPr/>
          <p:nvPr/>
        </p:nvSpPr>
        <p:spPr>
          <a:xfrm>
            <a:off x="8185150" y="2308820"/>
            <a:ext cx="3074035"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관측 · LLMOps</a:t>
            </a:r>
            <a:endParaRPr lang="en-US" sz="1700" dirty="0"/>
          </a:p>
        </p:txBody>
      </p:sp>
      <p:sp>
        <p:nvSpPr>
          <p:cNvPr id="15" name="Text 10"/>
          <p:cNvSpPr/>
          <p:nvPr/>
        </p:nvSpPr>
        <p:spPr>
          <a:xfrm>
            <a:off x="8277606" y="2669480"/>
            <a:ext cx="2973959" cy="970161"/>
          </a:xfrm>
          <a:prstGeom prst="rect">
            <a:avLst/>
          </a:prstGeom>
          <a:noFill/>
          <a:ln/>
        </p:spPr>
        <p:txBody>
          <a:bodyPr wrap="square" lIns="0" tIns="0" rIns="0" bIns="0" rtlCol="0" anchor="t">
            <a:normAutofit/>
          </a:bodyPr>
          <a:lstStyle/>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실행 로그: 런 · 노드 단위 입출력</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어노테이션 · 피드백 · 사용량 통계</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앱별 외부 트레이싱 8종 연동</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OpenTelemetry · Sentry</a:t>
            </a:r>
            <a:endParaRPr lang="en-US" sz="12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10 · 출처: enums/account.py, core/helper/encrypter.py, AGENTS.md, providers/trace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10 · DEPLOYMENT</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공식 배포는 Docker Compose, K8s는 커뮤니티 차트</a:t>
            </a:r>
            <a:endParaRPr lang="en-US" sz="3000" dirty="0"/>
          </a:p>
        </p:txBody>
      </p:sp>
      <p:sp>
        <p:nvSpPr>
          <p:cNvPr id="4" name="Shape 2"/>
          <p:cNvSpPr/>
          <p:nvPr/>
        </p:nvSpPr>
        <p:spPr>
          <a:xfrm>
            <a:off x="815975" y="1670645"/>
            <a:ext cx="3549650" cy="3041352"/>
          </a:xfrm>
          <a:prstGeom prst="roundRect">
            <a:avLst>
              <a:gd name="adj" fmla="val 3236"/>
            </a:avLst>
          </a:prstGeom>
          <a:solidFill>
            <a:srgbClr val="FBFAF7"/>
          </a:solidFill>
          <a:ln w="6350">
            <a:solidFill>
              <a:srgbClr val="DCD9CF"/>
            </a:solidFill>
            <a:prstDash val="solid"/>
          </a:ln>
        </p:spPr>
      </p:sp>
      <p:sp>
        <p:nvSpPr>
          <p:cNvPr id="5" name="Text 3"/>
          <p:cNvSpPr/>
          <p:nvPr/>
        </p:nvSpPr>
        <p:spPr>
          <a:xfrm>
            <a:off x="1022350" y="1877020"/>
            <a:ext cx="32310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QUICKSTART</a:t>
            </a:r>
            <a:endParaRPr lang="en-US" sz="1200" dirty="0"/>
          </a:p>
        </p:txBody>
      </p:sp>
      <p:sp>
        <p:nvSpPr>
          <p:cNvPr id="6" name="Text 4"/>
          <p:cNvSpPr/>
          <p:nvPr/>
        </p:nvSpPr>
        <p:spPr>
          <a:xfrm>
            <a:off x="1022350" y="2191941"/>
            <a:ext cx="323100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docker compose up -d</a:t>
            </a:r>
            <a:endParaRPr lang="en-US" sz="1700" dirty="0"/>
          </a:p>
        </p:txBody>
      </p:sp>
      <p:sp>
        <p:nvSpPr>
          <p:cNvPr id="7" name="Text 5"/>
          <p:cNvSpPr/>
          <p:nvPr/>
        </p:nvSpPr>
        <p:spPr>
          <a:xfrm>
            <a:off x="1114806" y="2552601"/>
            <a:ext cx="3130931" cy="970161"/>
          </a:xfrm>
          <a:prstGeom prst="rect">
            <a:avLst/>
          </a:prstGeom>
          <a:noFill/>
          <a:ln/>
        </p:spPr>
        <p:txBody>
          <a:bodyPr wrap="square" lIns="0" tIns="0" rIns="0" bIns="0" rtlCol="0" anchor="t">
            <a:normAutofit/>
          </a:bodyPr>
          <a:lstStyle/>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CPU 2코어 · RAM 4GiB 이상</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.env는 최소 변수만, 선택 설정은 envs/*.env</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벡터 DB는 Compose 프로필로 하나 선택</a:t>
            </a:r>
            <a:endParaRPr lang="en-US" sz="1200" dirty="0"/>
          </a:p>
          <a:p>
            <a:pPr algn="l" marL="161544" indent="-161544">
              <a:lnSpc>
                <a:spcPts val="1860"/>
              </a:lnSpc>
              <a:buSzPct val="100000"/>
              <a:buChar char="•"/>
            </a:pPr>
            <a:r>
              <a:rPr lang="en-US" sz="1200" dirty="0">
                <a:solidFill>
                  <a:srgbClr val="4A5263"/>
                </a:solidFill>
                <a:latin typeface="IBM Plex Sans KR" pitchFamily="34" charset="0"/>
                <a:ea typeface="IBM Plex Sans KR" pitchFamily="34" charset="-122"/>
                <a:cs typeface="IBM Plex Sans KR" pitchFamily="34" charset="-120"/>
              </a:rPr>
              <a:t>http://localhost/install 에서 초기화</a:t>
            </a:r>
            <a:endParaRPr lang="en-US" sz="1200" dirty="0"/>
          </a:p>
        </p:txBody>
      </p:sp>
      <p:sp>
        <p:nvSpPr>
          <p:cNvPr id="8" name="Shape 6"/>
          <p:cNvSpPr/>
          <p:nvPr/>
        </p:nvSpPr>
        <p:spPr>
          <a:xfrm>
            <a:off x="4546600" y="1667470"/>
            <a:ext cx="6832600" cy="3047702"/>
          </a:xfrm>
          <a:prstGeom prst="roundRect">
            <a:avLst>
              <a:gd name="adj" fmla="val 3334"/>
            </a:avLst>
          </a:prstGeom>
          <a:solidFill>
            <a:srgbClr val="131A2A"/>
          </a:solidFill>
          <a:ln/>
        </p:spPr>
      </p:sp>
      <p:sp>
        <p:nvSpPr>
          <p:cNvPr id="9" name="Text 7"/>
          <p:cNvSpPr/>
          <p:nvPr/>
        </p:nvSpPr>
        <p:spPr>
          <a:xfrm>
            <a:off x="4749800" y="1870670"/>
            <a:ext cx="66189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0F5"/>
                </a:solidFill>
                <a:latin typeface="JetBrains Mono" pitchFamily="49" charset="0"/>
                <a:ea typeface="JetBrains Mono" pitchFamily="49" charset="-122"/>
                <a:cs typeface="JetBrains Mono" pitchFamily="49" charset="-120"/>
              </a:rPr>
              <a:t>PRODUCTION</a:t>
            </a:r>
            <a:endParaRPr lang="en-US" sz="1200" dirty="0"/>
          </a:p>
        </p:txBody>
      </p:sp>
      <p:sp>
        <p:nvSpPr>
          <p:cNvPr id="10" name="Text 8"/>
          <p:cNvSpPr/>
          <p:nvPr/>
        </p:nvSpPr>
        <p:spPr>
          <a:xfrm>
            <a:off x="4749800" y="2185591"/>
            <a:ext cx="661898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확장 포인트</a:t>
            </a:r>
            <a:endParaRPr lang="en-US" sz="1700" dirty="0"/>
          </a:p>
        </p:txBody>
      </p:sp>
      <p:sp>
        <p:nvSpPr>
          <p:cNvPr id="11" name="Text 9"/>
          <p:cNvSpPr/>
          <p:nvPr/>
        </p:nvSpPr>
        <p:spPr>
          <a:xfrm>
            <a:off x="4749800" y="2546251"/>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api</a:t>
            </a:r>
            <a:r>
              <a:rPr lang="en-US" sz="1200" dirty="0">
                <a:solidFill>
                  <a:srgbClr val="F4F3EE"/>
                </a:solidFill>
                <a:latin typeface="IBM Plex Sans KR" pitchFamily="34" charset="0"/>
                <a:ea typeface="IBM Plex Sans KR" pitchFamily="34" charset="-122"/>
                <a:cs typeface="IBM Plex Sans KR" pitchFamily="34" charset="-120"/>
              </a:rPr>
              <a:t> 수평 확장</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상태는 DB · Redis에</a:t>
            </a:r>
            <a:endParaRPr lang="en-US" sz="1200" dirty="0"/>
          </a:p>
        </p:txBody>
      </p:sp>
      <p:sp>
        <p:nvSpPr>
          <p:cNvPr id="12" name="Text 10"/>
          <p:cNvSpPr/>
          <p:nvPr/>
        </p:nvSpPr>
        <p:spPr>
          <a:xfrm>
            <a:off x="8001000" y="2546251"/>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worker</a:t>
            </a:r>
            <a:r>
              <a:rPr lang="en-US" sz="1200" dirty="0">
                <a:solidFill>
                  <a:srgbClr val="F4F3EE"/>
                </a:solidFill>
                <a:latin typeface="IBM Plex Sans KR" pitchFamily="34" charset="0"/>
                <a:ea typeface="IBM Plex Sans KR" pitchFamily="34" charset="-122"/>
                <a:cs typeface="IBM Plex Sans KR" pitchFamily="34" charset="-120"/>
              </a:rPr>
              <a:t> 큐별 분리</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CELERY_QUEUES로 지정</a:t>
            </a:r>
            <a:endParaRPr lang="en-US" sz="1200" dirty="0"/>
          </a:p>
        </p:txBody>
      </p:sp>
      <p:sp>
        <p:nvSpPr>
          <p:cNvPr id="13" name="Text 11"/>
          <p:cNvSpPr/>
          <p:nvPr/>
        </p:nvSpPr>
        <p:spPr>
          <a:xfrm>
            <a:off x="4749800" y="3226891"/>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worker_beat</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스케줄러는 1개만</a:t>
            </a:r>
            <a:endParaRPr lang="en-US" sz="1200" dirty="0"/>
          </a:p>
        </p:txBody>
      </p:sp>
      <p:sp>
        <p:nvSpPr>
          <p:cNvPr id="14" name="Text 12"/>
          <p:cNvSpPr/>
          <p:nvPr/>
        </p:nvSpPr>
        <p:spPr>
          <a:xfrm>
            <a:off x="8001000" y="3226891"/>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DB · Redis</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외부 관리형으로 분리</a:t>
            </a:r>
            <a:endParaRPr lang="en-US" sz="1200" dirty="0"/>
          </a:p>
        </p:txBody>
      </p:sp>
      <p:sp>
        <p:nvSpPr>
          <p:cNvPr id="15" name="Text 13"/>
          <p:cNvSpPr/>
          <p:nvPr/>
        </p:nvSpPr>
        <p:spPr>
          <a:xfrm>
            <a:off x="4749800" y="3907532"/>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벡터 DB</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32종 중 운영 가능한 것</a:t>
            </a:r>
            <a:endParaRPr lang="en-US" sz="1200" dirty="0"/>
          </a:p>
        </p:txBody>
      </p:sp>
      <p:sp>
        <p:nvSpPr>
          <p:cNvPr id="16" name="Text 14"/>
          <p:cNvSpPr/>
          <p:nvPr/>
        </p:nvSpPr>
        <p:spPr>
          <a:xfrm>
            <a:off x="8001000" y="3907532"/>
            <a:ext cx="3175000" cy="604441"/>
          </a:xfrm>
          <a:prstGeom prst="roundRect">
            <a:avLst>
              <a:gd name="adj" fmla="val 10506"/>
            </a:avLst>
          </a:prstGeom>
          <a:solidFill>
            <a:srgbClr val="26304A"/>
          </a:solidFill>
          <a:ln/>
        </p:spPr>
        <p:txBody>
          <a:bodyPr wrap="square" lIns="95701" tIns="70301" rIns="7309" bIns="44901" rtlCol="0" anchor="t">
            <a:normAutofit/>
          </a:bodyPr>
          <a:lstStyle/>
          <a:p>
            <a:pPr algn="l" indent="0" marL="0">
              <a:lnSpc>
                <a:spcPts val="1680"/>
              </a:lnSpc>
              <a:buNone/>
            </a:pPr>
            <a:r>
              <a:rPr lang="en-US" sz="1200" b="1" dirty="0">
                <a:solidFill>
                  <a:srgbClr val="F4F3EE"/>
                </a:solidFill>
                <a:latin typeface="IBM Plex Sans KR" pitchFamily="34" charset="0"/>
                <a:ea typeface="IBM Plex Sans KR" pitchFamily="34" charset="-122"/>
                <a:cs typeface="IBM Plex Sans KR" pitchFamily="34" charset="-120"/>
              </a:rPr>
              <a:t>스토리지</a:t>
            </a:r>
            <a:endParaRPr lang="en-US" sz="1200" dirty="0"/>
          </a:p>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S3 · Azure · OSS 등</a:t>
            </a:r>
            <a:endParaRPr lang="en-US" sz="1200" dirty="0"/>
          </a:p>
        </p:txBody>
      </p:sp>
      <p:sp>
        <p:nvSpPr>
          <p:cNvPr id="17" name="Text 15"/>
          <p:cNvSpPr/>
          <p:nvPr/>
        </p:nvSpPr>
        <p:spPr>
          <a:xfrm>
            <a:off x="812800" y="4943773"/>
            <a:ext cx="1088339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IBM Plex Sans KR" pitchFamily="34" charset="0"/>
                <a:ea typeface="IBM Plex Sans KR" pitchFamily="34" charset="-122"/>
                <a:cs typeface="IBM Plex Sans KR" pitchFamily="34" charset="-120"/>
              </a:rPr>
              <a:t>기본 워커는 Celery 큐 21개를 모두 구독: dataset · priority_dataset · pipeline · workflow · workflow_based_app_execution · schedule_poller · plugin · mail · ops_trace 등</a:t>
            </a:r>
            <a:endParaRPr lang="en-US" sz="13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11 · 출처: docker/README.md, api/docker/entrypoint.sh, docs/ADVANCED_SETUP.md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11 · LICENSING</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수정 Apache 2.0: 멀티테넌트 운영은 상업 라이선스</a:t>
            </a:r>
            <a:endParaRPr lang="en-US" sz="3000" dirty="0"/>
          </a:p>
        </p:txBody>
      </p:sp>
      <p:sp>
        <p:nvSpPr>
          <p:cNvPr id="4" name="Shape 2"/>
          <p:cNvSpPr/>
          <p:nvPr/>
        </p:nvSpPr>
        <p:spPr>
          <a:xfrm>
            <a:off x="815975" y="1696045"/>
            <a:ext cx="3422650" cy="1535311"/>
          </a:xfrm>
          <a:prstGeom prst="roundRect">
            <a:avLst>
              <a:gd name="adj" fmla="val 6411"/>
            </a:avLst>
          </a:prstGeom>
          <a:solidFill>
            <a:srgbClr val="FBFAF7"/>
          </a:solidFill>
          <a:ln w="6350">
            <a:solidFill>
              <a:srgbClr val="DCD9CF"/>
            </a:solidFill>
            <a:prstDash val="solid"/>
          </a:ln>
        </p:spPr>
      </p:sp>
      <p:sp>
        <p:nvSpPr>
          <p:cNvPr id="5" name="Text 3"/>
          <p:cNvSpPr/>
          <p:nvPr/>
        </p:nvSpPr>
        <p:spPr>
          <a:xfrm>
            <a:off x="1022350" y="1902420"/>
            <a:ext cx="31001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ALLOWED</a:t>
            </a:r>
            <a:endParaRPr lang="en-US" sz="1200" dirty="0"/>
          </a:p>
        </p:txBody>
      </p:sp>
      <p:sp>
        <p:nvSpPr>
          <p:cNvPr id="6" name="Text 4"/>
          <p:cNvSpPr/>
          <p:nvPr/>
        </p:nvSpPr>
        <p:spPr>
          <a:xfrm>
            <a:off x="1022350" y="2204641"/>
            <a:ext cx="310019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허용</a:t>
            </a:r>
            <a:endParaRPr lang="en-US" sz="1700" dirty="0"/>
          </a:p>
        </p:txBody>
      </p:sp>
      <p:sp>
        <p:nvSpPr>
          <p:cNvPr id="7" name="Text 5"/>
          <p:cNvSpPr/>
          <p:nvPr/>
        </p:nvSpPr>
        <p:spPr>
          <a:xfrm>
            <a:off x="1022350" y="2552601"/>
            <a:ext cx="3100197" cy="497780"/>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4A5263"/>
                </a:solidFill>
                <a:latin typeface="IBM Plex Sans KR" pitchFamily="34" charset="0"/>
                <a:ea typeface="IBM Plex Sans KR" pitchFamily="34" charset="-122"/>
                <a:cs typeface="IBM Plex Sans KR" pitchFamily="34" charset="-120"/>
              </a:rPr>
              <a:t>상업적 이용, 다른 앱의 백엔드 서비스, 기업 내부 앱 개발 플랫폼으로 사용</a:t>
            </a:r>
            <a:endParaRPr lang="en-US" sz="1200" dirty="0"/>
          </a:p>
        </p:txBody>
      </p:sp>
      <p:sp>
        <p:nvSpPr>
          <p:cNvPr id="8" name="Shape 6"/>
          <p:cNvSpPr/>
          <p:nvPr/>
        </p:nvSpPr>
        <p:spPr>
          <a:xfrm>
            <a:off x="4394200" y="1692870"/>
            <a:ext cx="3416300" cy="1541661"/>
          </a:xfrm>
          <a:prstGeom prst="roundRect">
            <a:avLst>
              <a:gd name="adj" fmla="val 6590"/>
            </a:avLst>
          </a:prstGeom>
          <a:solidFill>
            <a:srgbClr val="131A2A"/>
          </a:solidFill>
          <a:ln/>
        </p:spPr>
      </p:sp>
      <p:sp>
        <p:nvSpPr>
          <p:cNvPr id="9" name="Text 7"/>
          <p:cNvSpPr/>
          <p:nvPr/>
        </p:nvSpPr>
        <p:spPr>
          <a:xfrm>
            <a:off x="4597400" y="1896070"/>
            <a:ext cx="31001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0F5"/>
                </a:solidFill>
                <a:latin typeface="JetBrains Mono" pitchFamily="49" charset="0"/>
                <a:ea typeface="JetBrains Mono" pitchFamily="49" charset="-122"/>
                <a:cs typeface="JetBrains Mono" pitchFamily="49" charset="-120"/>
              </a:rPr>
              <a:t>CONDITION A</a:t>
            </a:r>
            <a:endParaRPr lang="en-US" sz="1200" dirty="0"/>
          </a:p>
        </p:txBody>
      </p:sp>
      <p:sp>
        <p:nvSpPr>
          <p:cNvPr id="10" name="Text 8"/>
          <p:cNvSpPr/>
          <p:nvPr/>
        </p:nvSpPr>
        <p:spPr>
          <a:xfrm>
            <a:off x="4597400" y="2198291"/>
            <a:ext cx="310019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멀티테넌트 금지</a:t>
            </a:r>
            <a:endParaRPr lang="en-US" sz="1700" dirty="0"/>
          </a:p>
        </p:txBody>
      </p:sp>
      <p:sp>
        <p:nvSpPr>
          <p:cNvPr id="11" name="Text 9"/>
          <p:cNvSpPr/>
          <p:nvPr/>
        </p:nvSpPr>
        <p:spPr>
          <a:xfrm>
            <a:off x="4597400" y="2546251"/>
            <a:ext cx="3100197" cy="497780"/>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C9CEDA"/>
                </a:solidFill>
                <a:latin typeface="IBM Plex Sans KR" pitchFamily="34" charset="0"/>
                <a:ea typeface="IBM Plex Sans KR" pitchFamily="34" charset="-122"/>
                <a:cs typeface="IBM Plex Sans KR" pitchFamily="34" charset="-120"/>
              </a:rPr>
              <a:t>서면 허가 없이 소스로 멀티테넌트 환경 운영 불가. 테넌트 = 워크스페이스 1개</a:t>
            </a:r>
            <a:endParaRPr lang="en-US" sz="1200" dirty="0"/>
          </a:p>
        </p:txBody>
      </p:sp>
      <p:sp>
        <p:nvSpPr>
          <p:cNvPr id="12" name="Shape 10"/>
          <p:cNvSpPr/>
          <p:nvPr/>
        </p:nvSpPr>
        <p:spPr>
          <a:xfrm>
            <a:off x="7962900" y="1692870"/>
            <a:ext cx="3416300" cy="1541661"/>
          </a:xfrm>
          <a:prstGeom prst="roundRect">
            <a:avLst>
              <a:gd name="adj" fmla="val 6590"/>
            </a:avLst>
          </a:prstGeom>
          <a:solidFill>
            <a:srgbClr val="D9652B"/>
          </a:solidFill>
          <a:ln/>
        </p:spPr>
      </p:sp>
      <p:sp>
        <p:nvSpPr>
          <p:cNvPr id="13" name="Text 11"/>
          <p:cNvSpPr/>
          <p:nvPr/>
        </p:nvSpPr>
        <p:spPr>
          <a:xfrm>
            <a:off x="8166100" y="1896070"/>
            <a:ext cx="31001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1A2A"/>
                </a:solidFill>
                <a:latin typeface="JetBrains Mono" pitchFamily="49" charset="0"/>
                <a:ea typeface="JetBrains Mono" pitchFamily="49" charset="-122"/>
                <a:cs typeface="JetBrains Mono" pitchFamily="49" charset="-120"/>
              </a:rPr>
              <a:t>CONDITION B</a:t>
            </a:r>
            <a:endParaRPr lang="en-US" sz="1200" dirty="0"/>
          </a:p>
        </p:txBody>
      </p:sp>
      <p:sp>
        <p:nvSpPr>
          <p:cNvPr id="14" name="Text 12"/>
          <p:cNvSpPr/>
          <p:nvPr/>
        </p:nvSpPr>
        <p:spPr>
          <a:xfrm>
            <a:off x="8166100" y="2198291"/>
            <a:ext cx="3100197"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1A2A"/>
                </a:solidFill>
                <a:latin typeface="IBM Plex Sans KR" pitchFamily="34" charset="0"/>
                <a:ea typeface="IBM Plex Sans KR" pitchFamily="34" charset="-122"/>
                <a:cs typeface="IBM Plex Sans KR" pitchFamily="34" charset="-120"/>
              </a:rPr>
              <a:t>로고 · 저작권 유지</a:t>
            </a:r>
            <a:endParaRPr lang="en-US" sz="1700" dirty="0"/>
          </a:p>
        </p:txBody>
      </p:sp>
      <p:sp>
        <p:nvSpPr>
          <p:cNvPr id="15" name="Text 13"/>
          <p:cNvSpPr/>
          <p:nvPr/>
        </p:nvSpPr>
        <p:spPr>
          <a:xfrm>
            <a:off x="8166100" y="2546251"/>
            <a:ext cx="3100197" cy="497780"/>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131A2A"/>
                </a:solidFill>
                <a:latin typeface="IBM Plex Sans KR" pitchFamily="34" charset="0"/>
                <a:ea typeface="IBM Plex Sans KR" pitchFamily="34" charset="-122"/>
                <a:cs typeface="IBM Plex Sans KR" pitchFamily="34" charset="-120"/>
              </a:rPr>
              <a:t>web 프런트엔드의 로고·저작권 표시 제거·변경 불가. 프런트 미사용 시 비적용</a:t>
            </a:r>
            <a:endParaRPr lang="en-US" sz="1200" dirty="0"/>
          </a:p>
        </p:txBody>
      </p:sp>
      <p:sp>
        <p:nvSpPr>
          <p:cNvPr id="16" name="Shape 14"/>
          <p:cNvSpPr/>
          <p:nvPr/>
        </p:nvSpPr>
        <p:spPr>
          <a:xfrm>
            <a:off x="812800" y="3498056"/>
            <a:ext cx="10566400" cy="0"/>
          </a:xfrm>
          <a:prstGeom prst="line">
            <a:avLst/>
          </a:prstGeom>
          <a:noFill/>
          <a:ln w="19050">
            <a:solidFill>
              <a:srgbClr val="131A2A"/>
            </a:solidFill>
            <a:prstDash val="solid"/>
          </a:ln>
        </p:spPr>
      </p:sp>
      <p:sp>
        <p:nvSpPr>
          <p:cNvPr id="17" name="Text 15"/>
          <p:cNvSpPr/>
          <p:nvPr/>
        </p:nvSpPr>
        <p:spPr>
          <a:xfrm>
            <a:off x="812800" y="3685381"/>
            <a:ext cx="2937298" cy="594320"/>
          </a:xfrm>
          <a:prstGeom prst="rect">
            <a:avLst/>
          </a:prstGeom>
          <a:noFill/>
          <a:ln/>
        </p:spPr>
        <p:txBody>
          <a:bodyPr wrap="none" lIns="0" tIns="0" rIns="0" bIns="0" rtlCol="0" anchor="t">
            <a:normAutofit/>
          </a:bodyPr>
          <a:lstStyle/>
          <a:p>
            <a:pPr algn="l" indent="0" marL="0">
              <a:lnSpc>
                <a:spcPts val="4480"/>
              </a:lnSpc>
              <a:buNone/>
            </a:pPr>
            <a:r>
              <a:rPr lang="en-US" sz="3200" b="1" dirty="0">
                <a:solidFill>
                  <a:srgbClr val="2F5BB7"/>
                </a:solidFill>
                <a:latin typeface="IBM Plex Sans KR" pitchFamily="34" charset="0"/>
                <a:ea typeface="IBM Plex Sans KR" pitchFamily="34" charset="-122"/>
                <a:cs typeface="IBM Plex Sans KR" pitchFamily="34" charset="-120"/>
              </a:rPr>
              <a:t>1 WS = 1 테넌트</a:t>
            </a:r>
            <a:endParaRPr lang="en-US" sz="3200" dirty="0"/>
          </a:p>
        </p:txBody>
      </p:sp>
      <p:sp>
        <p:nvSpPr>
          <p:cNvPr id="18" name="Text 16"/>
          <p:cNvSpPr/>
          <p:nvPr/>
        </p:nvSpPr>
        <p:spPr>
          <a:xfrm>
            <a:off x="3867745" y="3703141"/>
            <a:ext cx="6540500"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263"/>
                </a:solidFill>
                <a:latin typeface="IBM Plex Sans KR" pitchFamily="34" charset="0"/>
                <a:ea typeface="IBM Plex Sans KR" pitchFamily="34" charset="-122"/>
                <a:cs typeface="IBM Plex Sans KR" pitchFamily="34" charset="-120"/>
              </a:rPr>
              <a:t>고객사마다 워크스페이스를 열어 주는 SaaS·CPaaS 형태는 조건 A에 해당할 가능성이 높아 상업 라이선스 검토가 필요합니다.</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12 · 출처: LICENSE (© 2025 LangGenius, Inc.)</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FB0F5"/>
                </a:solidFill>
                <a:latin typeface="JetBrains Mono" pitchFamily="49" charset="0"/>
                <a:ea typeface="JetBrains Mono" pitchFamily="49" charset="-122"/>
                <a:cs typeface="JetBrains Mono" pitchFamily="49" charset="-120"/>
              </a:rPr>
              <a:t>12 · IMPLICATIONS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4F3EE"/>
                </a:solidFill>
                <a:latin typeface="IBM Plex Sans KR" pitchFamily="34" charset="0"/>
                <a:ea typeface="IBM Plex Sans KR" pitchFamily="34" charset="-122"/>
                <a:cs typeface="IBM Plex Sans KR" pitchFamily="34" charset="-120"/>
              </a:rPr>
              <a:t>AI Agent Builder Platform에 가져올 설계 포인트</a:t>
            </a:r>
            <a:endParaRPr lang="en-US" sz="3000" dirty="0"/>
          </a:p>
        </p:txBody>
      </p:sp>
      <p:sp>
        <p:nvSpPr>
          <p:cNvPr id="4" name="Shape 2"/>
          <p:cNvSpPr/>
          <p:nvPr/>
        </p:nvSpPr>
        <p:spPr>
          <a:xfrm>
            <a:off x="812800" y="1692870"/>
            <a:ext cx="5207000" cy="1092200"/>
          </a:xfrm>
          <a:prstGeom prst="roundRect">
            <a:avLst>
              <a:gd name="adj" fmla="val 8140"/>
            </a:avLst>
          </a:prstGeom>
          <a:solidFill>
            <a:srgbClr val="1E2638"/>
          </a:solidFill>
          <a:ln/>
        </p:spPr>
      </p:sp>
      <p:sp>
        <p:nvSpPr>
          <p:cNvPr id="5" name="Text 3"/>
          <p:cNvSpPr/>
          <p:nvPr/>
        </p:nvSpPr>
        <p:spPr>
          <a:xfrm>
            <a:off x="990600" y="1870670"/>
            <a:ext cx="206325" cy="76200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B0F5"/>
                </a:solidFill>
                <a:latin typeface="JetBrains Mono" pitchFamily="49" charset="0"/>
                <a:ea typeface="JetBrains Mono" pitchFamily="49" charset="-122"/>
                <a:cs typeface="JetBrains Mono" pitchFamily="49" charset="-120"/>
              </a:rPr>
              <a:t>1</a:t>
            </a:r>
            <a:endParaRPr lang="en-US" sz="2200" dirty="0"/>
          </a:p>
        </p:txBody>
      </p:sp>
      <p:sp>
        <p:nvSpPr>
          <p:cNvPr id="6" name="Text 4"/>
          <p:cNvSpPr/>
          <p:nvPr/>
        </p:nvSpPr>
        <p:spPr>
          <a:xfrm>
            <a:off x="1298525" y="1870670"/>
            <a:ext cx="46797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엔진은 앱 서버와 분리</a:t>
            </a:r>
            <a:endParaRPr lang="en-US" sz="1500" dirty="0"/>
          </a:p>
        </p:txBody>
      </p:sp>
      <p:sp>
        <p:nvSpPr>
          <p:cNvPr id="7" name="Text 5"/>
          <p:cNvSpPr/>
          <p:nvPr/>
        </p:nvSpPr>
        <p:spPr>
          <a:xfrm>
            <a:off x="1298525" y="2150070"/>
            <a:ext cx="4679779"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graphon처럼 그래프 실행기를 독립 패키지로, 관측·제한·영속화는 레이어로 주입</a:t>
            </a:r>
            <a:endParaRPr lang="en-US" sz="1200" dirty="0"/>
          </a:p>
        </p:txBody>
      </p:sp>
      <p:sp>
        <p:nvSpPr>
          <p:cNvPr id="8" name="Shape 6"/>
          <p:cNvSpPr/>
          <p:nvPr/>
        </p:nvSpPr>
        <p:spPr>
          <a:xfrm>
            <a:off x="6172200" y="1692870"/>
            <a:ext cx="5207000" cy="1092200"/>
          </a:xfrm>
          <a:prstGeom prst="roundRect">
            <a:avLst>
              <a:gd name="adj" fmla="val 8140"/>
            </a:avLst>
          </a:prstGeom>
          <a:solidFill>
            <a:srgbClr val="1E2638"/>
          </a:solidFill>
          <a:ln/>
        </p:spPr>
      </p:sp>
      <p:sp>
        <p:nvSpPr>
          <p:cNvPr id="9" name="Text 7"/>
          <p:cNvSpPr/>
          <p:nvPr/>
        </p:nvSpPr>
        <p:spPr>
          <a:xfrm>
            <a:off x="6350000" y="1870670"/>
            <a:ext cx="208955" cy="76200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B0F5"/>
                </a:solidFill>
                <a:latin typeface="JetBrains Mono" pitchFamily="49" charset="0"/>
                <a:ea typeface="JetBrains Mono" pitchFamily="49" charset="-122"/>
                <a:cs typeface="JetBrains Mono" pitchFamily="49" charset="-120"/>
              </a:rPr>
              <a:t>2</a:t>
            </a:r>
            <a:endParaRPr lang="en-US" sz="2200" dirty="0"/>
          </a:p>
        </p:txBody>
      </p:sp>
      <p:sp>
        <p:nvSpPr>
          <p:cNvPr id="10" name="Text 8"/>
          <p:cNvSpPr/>
          <p:nvPr/>
        </p:nvSpPr>
        <p:spPr>
          <a:xfrm>
            <a:off x="6660555" y="1870670"/>
            <a:ext cx="467707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확장은 프로세스 밖 플러그인</a:t>
            </a:r>
            <a:endParaRPr lang="en-US" sz="1500" dirty="0"/>
          </a:p>
        </p:txBody>
      </p:sp>
      <p:sp>
        <p:nvSpPr>
          <p:cNvPr id="11" name="Text 9"/>
          <p:cNvSpPr/>
          <p:nvPr/>
        </p:nvSpPr>
        <p:spPr>
          <a:xfrm>
            <a:off x="6660555" y="2150070"/>
            <a:ext cx="4677071"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모델·도구를 데몬으로 격리하고, 역호출 경로 한 곳에서 테넌트 정책·할당량 적용</a:t>
            </a:r>
            <a:endParaRPr lang="en-US" sz="1200" dirty="0"/>
          </a:p>
        </p:txBody>
      </p:sp>
      <p:sp>
        <p:nvSpPr>
          <p:cNvPr id="12" name="Shape 10"/>
          <p:cNvSpPr/>
          <p:nvPr/>
        </p:nvSpPr>
        <p:spPr>
          <a:xfrm>
            <a:off x="812800" y="2937470"/>
            <a:ext cx="5207000" cy="1092200"/>
          </a:xfrm>
          <a:prstGeom prst="roundRect">
            <a:avLst>
              <a:gd name="adj" fmla="val 8140"/>
            </a:avLst>
          </a:prstGeom>
          <a:solidFill>
            <a:srgbClr val="1E2638"/>
          </a:solidFill>
          <a:ln/>
        </p:spPr>
      </p:sp>
      <p:sp>
        <p:nvSpPr>
          <p:cNvPr id="13" name="Text 11"/>
          <p:cNvSpPr/>
          <p:nvPr/>
        </p:nvSpPr>
        <p:spPr>
          <a:xfrm>
            <a:off x="990600" y="3115270"/>
            <a:ext cx="196949" cy="76200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B0F5"/>
                </a:solidFill>
                <a:latin typeface="JetBrains Mono" pitchFamily="49" charset="0"/>
                <a:ea typeface="JetBrains Mono" pitchFamily="49" charset="-122"/>
                <a:cs typeface="JetBrains Mono" pitchFamily="49" charset="-120"/>
              </a:rPr>
              <a:t>3</a:t>
            </a:r>
            <a:endParaRPr lang="en-US" sz="2200" dirty="0"/>
          </a:p>
        </p:txBody>
      </p:sp>
      <p:sp>
        <p:nvSpPr>
          <p:cNvPr id="14" name="Text 12"/>
          <p:cNvSpPr/>
          <p:nvPr/>
        </p:nvSpPr>
        <p:spPr>
          <a:xfrm>
            <a:off x="1289149" y="3115270"/>
            <a:ext cx="46894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API ↔ 워커 이벤트 브리지</a:t>
            </a:r>
            <a:endParaRPr lang="en-US" sz="1500" dirty="0"/>
          </a:p>
        </p:txBody>
      </p:sp>
      <p:sp>
        <p:nvSpPr>
          <p:cNvPr id="15" name="Text 13"/>
          <p:cNvSpPr/>
          <p:nvPr/>
        </p:nvSpPr>
        <p:spPr>
          <a:xfrm>
            <a:off x="1289149" y="3394670"/>
            <a:ext cx="468943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Redis pub/sub 구독 후 Celery 투입. 긴 워크플로도 스트리밍하면서 워커만 수평 확장</a:t>
            </a:r>
            <a:endParaRPr lang="en-US" sz="1200" dirty="0"/>
          </a:p>
        </p:txBody>
      </p:sp>
      <p:sp>
        <p:nvSpPr>
          <p:cNvPr id="16" name="Shape 14"/>
          <p:cNvSpPr/>
          <p:nvPr/>
        </p:nvSpPr>
        <p:spPr>
          <a:xfrm>
            <a:off x="6172200" y="2937470"/>
            <a:ext cx="5207000" cy="1092200"/>
          </a:xfrm>
          <a:prstGeom prst="roundRect">
            <a:avLst>
              <a:gd name="adj" fmla="val 8140"/>
            </a:avLst>
          </a:prstGeom>
          <a:solidFill>
            <a:srgbClr val="1E2638"/>
          </a:solidFill>
          <a:ln/>
        </p:spPr>
      </p:sp>
      <p:sp>
        <p:nvSpPr>
          <p:cNvPr id="17" name="Text 15"/>
          <p:cNvSpPr/>
          <p:nvPr/>
        </p:nvSpPr>
        <p:spPr>
          <a:xfrm>
            <a:off x="6350000" y="3115270"/>
            <a:ext cx="200075" cy="76200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8FB0F5"/>
                </a:solidFill>
                <a:latin typeface="JetBrains Mono" pitchFamily="49" charset="0"/>
                <a:ea typeface="JetBrains Mono" pitchFamily="49" charset="-122"/>
                <a:cs typeface="JetBrains Mono" pitchFamily="49" charset="-120"/>
              </a:rPr>
              <a:t>4</a:t>
            </a:r>
            <a:endParaRPr lang="en-US" sz="2200" dirty="0"/>
          </a:p>
        </p:txBody>
      </p:sp>
      <p:sp>
        <p:nvSpPr>
          <p:cNvPr id="18" name="Text 16"/>
          <p:cNvSpPr/>
          <p:nvPr/>
        </p:nvSpPr>
        <p:spPr>
          <a:xfrm>
            <a:off x="6651675" y="3115270"/>
            <a:ext cx="468621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4F3EE"/>
                </a:solidFill>
                <a:latin typeface="IBM Plex Sans KR" pitchFamily="34" charset="0"/>
                <a:ea typeface="IBM Plex Sans KR" pitchFamily="34" charset="-122"/>
                <a:cs typeface="IBM Plex Sans KR" pitchFamily="34" charset="-120"/>
              </a:rPr>
              <a:t>빌더 + 통제 평면의 결합</a:t>
            </a:r>
            <a:endParaRPr lang="en-US" sz="1500" dirty="0"/>
          </a:p>
        </p:txBody>
      </p:sp>
      <p:sp>
        <p:nvSpPr>
          <p:cNvPr id="19" name="Text 17"/>
          <p:cNvSpPr/>
          <p:nvPr/>
        </p:nvSpPr>
        <p:spPr>
          <a:xfrm>
            <a:off x="6651675" y="3394670"/>
            <a:ext cx="4686217"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C9CEDA"/>
                </a:solidFill>
                <a:latin typeface="IBM Plex Sans KR" pitchFamily="34" charset="0"/>
                <a:ea typeface="IBM Plex Sans KR" pitchFamily="34" charset="-122"/>
                <a:cs typeface="IBM Plex Sans KR" pitchFamily="34" charset="-120"/>
              </a:rPr>
              <a:t>Dify형 빌더 경험 위에 Archestra형 게이트웨이·가드레일을 얹는 구성이 차별점 후보</a:t>
            </a:r>
            <a:endParaRPr lang="en-US" sz="1200" dirty="0"/>
          </a:p>
        </p:txBody>
      </p:sp>
      <p:sp>
        <p:nvSpPr>
          <p:cNvPr id="20" name="Text 18"/>
          <p:cNvSpPr/>
          <p:nvPr/>
        </p:nvSpPr>
        <p:spPr>
          <a:xfrm>
            <a:off x="812800" y="4283670"/>
            <a:ext cx="113792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3B5"/>
                </a:solidFill>
                <a:latin typeface="IBM Plex Sans KR" pitchFamily="34" charset="0"/>
                <a:ea typeface="IBM Plex Sans KR" pitchFamily="34" charset="-122"/>
                <a:cs typeface="IBM Plex Sans KR" pitchFamily="34" charset="-120"/>
              </a:rPr>
              <a:t>주의: 멀티테넌트 운영 제한 때문에 Dify 코드를 CPaaS에 그대로 재사용하기는 어렵습니다. 참조 아키텍처로 쓰고 핵심은 자체 구현하는 편이 안전합니다.</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Dify 아키텍처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8FB0F5"/>
                </a:solidFill>
                <a:latin typeface="JetBrains Mono" pitchFamily="49" charset="0"/>
                <a:ea typeface="JetBrains Mono" pitchFamily="49" charset="-122"/>
                <a:cs typeface="JetBrains Mono" pitchFamily="49" charset="-120"/>
              </a:rPr>
              <a:t>APPENDIX · DEEP DIVE</a:t>
            </a:r>
            <a:endParaRPr lang="en-US" sz="1400" dirty="0"/>
          </a:p>
        </p:txBody>
      </p:sp>
      <p:sp>
        <p:nvSpPr>
          <p:cNvPr id="3" name="Text 1"/>
          <p:cNvSpPr/>
          <p:nvPr>
            <p:ph type="title"/>
          </p:nvPr>
        </p:nvSpPr>
        <p:spPr>
          <a:xfrm>
            <a:off x="812800" y="2422872"/>
            <a:ext cx="10883392" cy="758825"/>
          </a:xfrm>
          <a:prstGeom prst="rect">
            <a:avLst/>
          </a:prstGeom>
          <a:noFill/>
          <a:ln/>
        </p:spPr>
        <p:txBody>
          <a:bodyPr wrap="square" lIns="0" tIns="0" rIns="0" bIns="0" rtlCol="0" anchor="t">
            <a:normAutofit/>
          </a:bodyPr>
          <a:lstStyle/>
          <a:p>
            <a:pPr algn="l" indent="0" marL="0">
              <a:lnSpc>
                <a:spcPts val="5775"/>
              </a:lnSpc>
              <a:buNone/>
            </a:pPr>
            <a:r>
              <a:rPr lang="en-US" sz="5500" b="1" i="0" dirty="0">
                <a:solidFill>
                  <a:srgbClr val="F4F3EE"/>
                </a:solidFill>
                <a:latin typeface="IBM Plex Sans KR" pitchFamily="34" charset="0"/>
                <a:ea typeface="IBM Plex Sans KR" pitchFamily="34" charset="-122"/>
                <a:cs typeface="IBM Plex Sans KR" pitchFamily="34" charset="-120"/>
              </a:rPr>
              <a:t>Use Case · Sequence · Data</a:t>
            </a:r>
            <a:endParaRPr lang="en-US" sz="5500" dirty="0"/>
          </a:p>
        </p:txBody>
      </p:sp>
      <p:sp>
        <p:nvSpPr>
          <p:cNvPr id="4" name="Text 2"/>
          <p:cNvSpPr/>
          <p:nvPr/>
        </p:nvSpPr>
        <p:spPr>
          <a:xfrm>
            <a:off x="812800" y="3334097"/>
            <a:ext cx="9156700" cy="688280"/>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C9CEDA"/>
                </a:solidFill>
                <a:latin typeface="IBM Plex Sans KR" pitchFamily="34" charset="0"/>
                <a:ea typeface="IBM Plex Sans KR" pitchFamily="34" charset="-122"/>
                <a:cs typeface="IBM Plex Sans KR" pitchFamily="34" charset="-120"/>
              </a:rPr>
              <a:t>누가 무엇을 하고, 요청이 어떤 순서로 흐르며, 그 결과가 어느 테이블에 남는지 — 소스 코드 기준으로 추적합니다.</a:t>
            </a:r>
            <a:endParaRPr lang="en-US" sz="1800" dirty="0"/>
          </a:p>
        </p:txBody>
      </p:sp>
      <p:sp>
        <p:nvSpPr>
          <p:cNvPr id="5" name="Shape 3"/>
          <p:cNvSpPr/>
          <p:nvPr/>
        </p:nvSpPr>
        <p:spPr>
          <a:xfrm>
            <a:off x="812800" y="5367685"/>
            <a:ext cx="3386634" cy="0"/>
          </a:xfrm>
          <a:prstGeom prst="line">
            <a:avLst/>
          </a:prstGeom>
          <a:noFill/>
          <a:ln w="19050">
            <a:solidFill>
              <a:srgbClr val="8FB0F5"/>
            </a:solidFill>
            <a:prstDash val="solid"/>
          </a:ln>
        </p:spPr>
      </p:sp>
      <p:sp>
        <p:nvSpPr>
          <p:cNvPr id="6" name="Text 4"/>
          <p:cNvSpPr/>
          <p:nvPr/>
        </p:nvSpPr>
        <p:spPr>
          <a:xfrm>
            <a:off x="812800" y="5504210"/>
            <a:ext cx="34882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Use Case</a:t>
            </a:r>
            <a:endParaRPr lang="en-US" sz="1700" dirty="0"/>
          </a:p>
        </p:txBody>
      </p:sp>
      <p:sp>
        <p:nvSpPr>
          <p:cNvPr id="7" name="Text 5"/>
          <p:cNvSpPr/>
          <p:nvPr/>
        </p:nvSpPr>
        <p:spPr>
          <a:xfrm>
            <a:off x="812800" y="5814070"/>
            <a:ext cx="348823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액터 5종 · 핵심 유스케이스 8개</a:t>
            </a:r>
            <a:endParaRPr lang="en-US" sz="1300" dirty="0"/>
          </a:p>
        </p:txBody>
      </p:sp>
      <p:sp>
        <p:nvSpPr>
          <p:cNvPr id="8" name="Shape 6"/>
          <p:cNvSpPr/>
          <p:nvPr/>
        </p:nvSpPr>
        <p:spPr>
          <a:xfrm>
            <a:off x="4402634" y="5367685"/>
            <a:ext cx="3386683" cy="0"/>
          </a:xfrm>
          <a:prstGeom prst="line">
            <a:avLst/>
          </a:prstGeom>
          <a:noFill/>
          <a:ln w="19050">
            <a:solidFill>
              <a:srgbClr val="8FB0F5"/>
            </a:solidFill>
            <a:prstDash val="solid"/>
          </a:ln>
        </p:spPr>
      </p:sp>
      <p:sp>
        <p:nvSpPr>
          <p:cNvPr id="9" name="Text 7"/>
          <p:cNvSpPr/>
          <p:nvPr/>
        </p:nvSpPr>
        <p:spPr>
          <a:xfrm>
            <a:off x="4402634" y="5504210"/>
            <a:ext cx="348828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Sequence</a:t>
            </a:r>
            <a:endParaRPr lang="en-US" sz="1700" dirty="0"/>
          </a:p>
        </p:txBody>
      </p:sp>
      <p:sp>
        <p:nvSpPr>
          <p:cNvPr id="10" name="Text 8"/>
          <p:cNvSpPr/>
          <p:nvPr/>
        </p:nvSpPr>
        <p:spPr>
          <a:xfrm>
            <a:off x="4402634" y="5814070"/>
            <a:ext cx="3488284"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Chat · Workflow · 플러그인 · RAG · 트리거</a:t>
            </a:r>
            <a:endParaRPr lang="en-US" sz="1300" dirty="0"/>
          </a:p>
        </p:txBody>
      </p:sp>
      <p:sp>
        <p:nvSpPr>
          <p:cNvPr id="11" name="Shape 9"/>
          <p:cNvSpPr/>
          <p:nvPr/>
        </p:nvSpPr>
        <p:spPr>
          <a:xfrm>
            <a:off x="7992517" y="5367685"/>
            <a:ext cx="3386634" cy="0"/>
          </a:xfrm>
          <a:prstGeom prst="line">
            <a:avLst/>
          </a:prstGeom>
          <a:noFill/>
          <a:ln w="19050">
            <a:solidFill>
              <a:srgbClr val="8FB0F5"/>
            </a:solidFill>
            <a:prstDash val="solid"/>
          </a:ln>
        </p:spPr>
      </p:sp>
      <p:sp>
        <p:nvSpPr>
          <p:cNvPr id="12" name="Text 10"/>
          <p:cNvSpPr/>
          <p:nvPr/>
        </p:nvSpPr>
        <p:spPr>
          <a:xfrm>
            <a:off x="7992517" y="5504210"/>
            <a:ext cx="348823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4F3EE"/>
                </a:solidFill>
                <a:latin typeface="IBM Plex Sans KR" pitchFamily="34" charset="0"/>
                <a:ea typeface="IBM Plex Sans KR" pitchFamily="34" charset="-122"/>
                <a:cs typeface="IBM Plex Sans KR" pitchFamily="34" charset="-120"/>
              </a:rPr>
              <a:t>Data</a:t>
            </a:r>
            <a:endParaRPr lang="en-US" sz="1700" dirty="0"/>
          </a:p>
        </p:txBody>
      </p:sp>
      <p:sp>
        <p:nvSpPr>
          <p:cNvPr id="13" name="Text 11"/>
          <p:cNvSpPr/>
          <p:nvPr/>
        </p:nvSpPr>
        <p:spPr>
          <a:xfrm>
            <a:off x="7992517" y="5814070"/>
            <a:ext cx="348823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AA3B5"/>
                </a:solidFill>
                <a:latin typeface="IBM Plex Sans KR" pitchFamily="34" charset="0"/>
                <a:ea typeface="IBM Plex Sans KR" pitchFamily="34" charset="-122"/>
                <a:cs typeface="IBM Plex Sans KR" pitchFamily="34" charset="-120"/>
              </a:rPr>
              <a:t>도메인 맵 · 핵심 ERD · 설계 패턴</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A1 · USE CASE MAP</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액터 5종과 유스케이스 지도</a:t>
            </a:r>
            <a:endParaRPr lang="en-US" sz="3000" dirty="0"/>
          </a:p>
        </p:txBody>
      </p:sp>
      <p:sp>
        <p:nvSpPr>
          <p:cNvPr id="4" name="Shape 2"/>
          <p:cNvSpPr/>
          <p:nvPr/>
        </p:nvSpPr>
        <p:spPr>
          <a:xfrm>
            <a:off x="812800" y="1642070"/>
            <a:ext cx="2413000" cy="434330"/>
          </a:xfrm>
          <a:prstGeom prst="roundRect">
            <a:avLst>
              <a:gd name="adj" fmla="val 17544"/>
            </a:avLst>
          </a:prstGeom>
          <a:solidFill>
            <a:srgbClr val="131A2A"/>
          </a:solidFill>
          <a:ln/>
        </p:spPr>
      </p:sp>
      <p:sp>
        <p:nvSpPr>
          <p:cNvPr id="5" name="Text 3"/>
          <p:cNvSpPr/>
          <p:nvPr/>
        </p:nvSpPr>
        <p:spPr>
          <a:xfrm>
            <a:off x="927100" y="1743670"/>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0F5"/>
                </a:solidFill>
                <a:latin typeface="JetBrains Mono" pitchFamily="49" charset="0"/>
                <a:ea typeface="JetBrains Mono" pitchFamily="49" charset="-122"/>
                <a:cs typeface="JetBrains Mono" pitchFamily="49" charset="-120"/>
              </a:rPr>
              <a:t>A</a:t>
            </a:r>
            <a:endParaRPr lang="en-US" sz="1300" dirty="0"/>
          </a:p>
        </p:txBody>
      </p:sp>
      <p:sp>
        <p:nvSpPr>
          <p:cNvPr id="6" name="Text 4"/>
          <p:cNvSpPr/>
          <p:nvPr/>
        </p:nvSpPr>
        <p:spPr>
          <a:xfrm>
            <a:off x="1115070" y="1752550"/>
            <a:ext cx="14104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앱 빌더 (기획·현업)</a:t>
            </a:r>
            <a:endParaRPr lang="en-US" sz="1200" dirty="0"/>
          </a:p>
        </p:txBody>
      </p:sp>
      <p:sp>
        <p:nvSpPr>
          <p:cNvPr id="7" name="Shape 5"/>
          <p:cNvSpPr/>
          <p:nvPr/>
        </p:nvSpPr>
        <p:spPr>
          <a:xfrm>
            <a:off x="812800" y="2152600"/>
            <a:ext cx="2413000" cy="434330"/>
          </a:xfrm>
          <a:prstGeom prst="roundRect">
            <a:avLst>
              <a:gd name="adj" fmla="val 17544"/>
            </a:avLst>
          </a:prstGeom>
          <a:solidFill>
            <a:srgbClr val="131A2A"/>
          </a:solidFill>
          <a:ln/>
        </p:spPr>
      </p:sp>
      <p:sp>
        <p:nvSpPr>
          <p:cNvPr id="8" name="Text 6"/>
          <p:cNvSpPr/>
          <p:nvPr/>
        </p:nvSpPr>
        <p:spPr>
          <a:xfrm>
            <a:off x="927100" y="2254200"/>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0F5"/>
                </a:solidFill>
                <a:latin typeface="JetBrains Mono" pitchFamily="49" charset="0"/>
                <a:ea typeface="JetBrains Mono" pitchFamily="49" charset="-122"/>
                <a:cs typeface="JetBrains Mono" pitchFamily="49" charset="-120"/>
              </a:rPr>
              <a:t>B</a:t>
            </a:r>
            <a:endParaRPr lang="en-US" sz="1300" dirty="0"/>
          </a:p>
        </p:txBody>
      </p:sp>
      <p:sp>
        <p:nvSpPr>
          <p:cNvPr id="9" name="Text 7"/>
          <p:cNvSpPr/>
          <p:nvPr/>
        </p:nvSpPr>
        <p:spPr>
          <a:xfrm>
            <a:off x="1115070" y="2263080"/>
            <a:ext cx="13257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개발자 (API 통합)</a:t>
            </a:r>
            <a:endParaRPr lang="en-US" sz="1200" dirty="0"/>
          </a:p>
        </p:txBody>
      </p:sp>
      <p:sp>
        <p:nvSpPr>
          <p:cNvPr id="10" name="Shape 8"/>
          <p:cNvSpPr/>
          <p:nvPr/>
        </p:nvSpPr>
        <p:spPr>
          <a:xfrm>
            <a:off x="812800" y="2663130"/>
            <a:ext cx="2413000" cy="434330"/>
          </a:xfrm>
          <a:prstGeom prst="roundRect">
            <a:avLst>
              <a:gd name="adj" fmla="val 17544"/>
            </a:avLst>
          </a:prstGeom>
          <a:solidFill>
            <a:srgbClr val="131A2A"/>
          </a:solidFill>
          <a:ln/>
        </p:spPr>
      </p:sp>
      <p:sp>
        <p:nvSpPr>
          <p:cNvPr id="11" name="Text 9"/>
          <p:cNvSpPr/>
          <p:nvPr/>
        </p:nvSpPr>
        <p:spPr>
          <a:xfrm>
            <a:off x="927100" y="2764730"/>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0F5"/>
                </a:solidFill>
                <a:latin typeface="JetBrains Mono" pitchFamily="49" charset="0"/>
                <a:ea typeface="JetBrains Mono" pitchFamily="49" charset="-122"/>
                <a:cs typeface="JetBrains Mono" pitchFamily="49" charset="-120"/>
              </a:rPr>
              <a:t>C</a:t>
            </a:r>
            <a:endParaRPr lang="en-US" sz="1300" dirty="0"/>
          </a:p>
        </p:txBody>
      </p:sp>
      <p:sp>
        <p:nvSpPr>
          <p:cNvPr id="12" name="Text 10"/>
          <p:cNvSpPr/>
          <p:nvPr/>
        </p:nvSpPr>
        <p:spPr>
          <a:xfrm>
            <a:off x="1115070" y="2773611"/>
            <a:ext cx="8588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최종 사용자</a:t>
            </a:r>
            <a:endParaRPr lang="en-US" sz="1200" dirty="0"/>
          </a:p>
        </p:txBody>
      </p:sp>
      <p:sp>
        <p:nvSpPr>
          <p:cNvPr id="13" name="Shape 11"/>
          <p:cNvSpPr/>
          <p:nvPr/>
        </p:nvSpPr>
        <p:spPr>
          <a:xfrm>
            <a:off x="812800" y="3173661"/>
            <a:ext cx="2413000" cy="434330"/>
          </a:xfrm>
          <a:prstGeom prst="roundRect">
            <a:avLst>
              <a:gd name="adj" fmla="val 17544"/>
            </a:avLst>
          </a:prstGeom>
          <a:solidFill>
            <a:srgbClr val="131A2A"/>
          </a:solidFill>
          <a:ln/>
        </p:spPr>
      </p:sp>
      <p:sp>
        <p:nvSpPr>
          <p:cNvPr id="14" name="Text 12"/>
          <p:cNvSpPr/>
          <p:nvPr/>
        </p:nvSpPr>
        <p:spPr>
          <a:xfrm>
            <a:off x="927100" y="3275261"/>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0F5"/>
                </a:solidFill>
                <a:latin typeface="JetBrains Mono" pitchFamily="49" charset="0"/>
                <a:ea typeface="JetBrains Mono" pitchFamily="49" charset="-122"/>
                <a:cs typeface="JetBrains Mono" pitchFamily="49" charset="-120"/>
              </a:rPr>
              <a:t>D</a:t>
            </a:r>
            <a:endParaRPr lang="en-US" sz="1300" dirty="0"/>
          </a:p>
        </p:txBody>
      </p:sp>
      <p:sp>
        <p:nvSpPr>
          <p:cNvPr id="15" name="Text 13"/>
          <p:cNvSpPr/>
          <p:nvPr/>
        </p:nvSpPr>
        <p:spPr>
          <a:xfrm>
            <a:off x="1115070" y="3284141"/>
            <a:ext cx="15113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워크스페이스 관리자</a:t>
            </a:r>
            <a:endParaRPr lang="en-US" sz="1200" dirty="0"/>
          </a:p>
        </p:txBody>
      </p:sp>
      <p:sp>
        <p:nvSpPr>
          <p:cNvPr id="16" name="Shape 14"/>
          <p:cNvSpPr/>
          <p:nvPr/>
        </p:nvSpPr>
        <p:spPr>
          <a:xfrm>
            <a:off x="812800" y="3684191"/>
            <a:ext cx="2413000" cy="434330"/>
          </a:xfrm>
          <a:prstGeom prst="roundRect">
            <a:avLst>
              <a:gd name="adj" fmla="val 17544"/>
            </a:avLst>
          </a:prstGeom>
          <a:solidFill>
            <a:srgbClr val="131A2A"/>
          </a:solidFill>
          <a:ln/>
        </p:spPr>
      </p:sp>
      <p:sp>
        <p:nvSpPr>
          <p:cNvPr id="17" name="Text 15"/>
          <p:cNvSpPr/>
          <p:nvPr/>
        </p:nvSpPr>
        <p:spPr>
          <a:xfrm>
            <a:off x="927100" y="3785791"/>
            <a:ext cx="1498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0F5"/>
                </a:solidFill>
                <a:latin typeface="JetBrains Mono" pitchFamily="49" charset="0"/>
                <a:ea typeface="JetBrains Mono" pitchFamily="49" charset="-122"/>
                <a:cs typeface="JetBrains Mono" pitchFamily="49" charset="-120"/>
              </a:rPr>
              <a:t>E</a:t>
            </a:r>
            <a:endParaRPr lang="en-US" sz="1300" dirty="0"/>
          </a:p>
        </p:txBody>
      </p:sp>
      <p:sp>
        <p:nvSpPr>
          <p:cNvPr id="18" name="Text 16"/>
          <p:cNvSpPr/>
          <p:nvPr/>
        </p:nvSpPr>
        <p:spPr>
          <a:xfrm>
            <a:off x="1115070" y="3794671"/>
            <a:ext cx="8588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3EE"/>
                </a:solidFill>
                <a:latin typeface="IBM Plex Sans KR" pitchFamily="34" charset="0"/>
                <a:ea typeface="IBM Plex Sans KR" pitchFamily="34" charset="-122"/>
                <a:cs typeface="IBM Plex Sans KR" pitchFamily="34" charset="-120"/>
              </a:rPr>
              <a:t>외부 시스템</a:t>
            </a:r>
            <a:endParaRPr lang="en-US" sz="1200" dirty="0"/>
          </a:p>
        </p:txBody>
      </p:sp>
      <p:sp>
        <p:nvSpPr>
          <p:cNvPr id="19" name="Text 17"/>
          <p:cNvSpPr/>
          <p:nvPr/>
        </p:nvSpPr>
        <p:spPr>
          <a:xfrm>
            <a:off x="812800" y="4194721"/>
            <a:ext cx="24853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E = 웹훅 호출자, 스케줄, 플러그인 트리거, MCP 클라이언트</a:t>
            </a:r>
            <a:endParaRPr lang="en-US" sz="1200" dirty="0"/>
          </a:p>
        </p:txBody>
      </p:sp>
      <p:sp>
        <p:nvSpPr>
          <p:cNvPr id="20" name="Shape 18"/>
          <p:cNvSpPr/>
          <p:nvPr/>
        </p:nvSpPr>
        <p:spPr>
          <a:xfrm>
            <a:off x="3435350" y="1648420"/>
            <a:ext cx="7937500" cy="3385542"/>
          </a:xfrm>
          <a:prstGeom prst="roundRect">
            <a:avLst>
              <a:gd name="adj" fmla="val 3189"/>
            </a:avLst>
          </a:prstGeom>
          <a:noFill/>
          <a:ln w="12700">
            <a:solidFill>
              <a:srgbClr val="9AA3B5"/>
            </a:solidFill>
            <a:prstDash val="dash"/>
          </a:ln>
        </p:spPr>
      </p:sp>
      <p:sp>
        <p:nvSpPr>
          <p:cNvPr id="21" name="Shape 19"/>
          <p:cNvSpPr/>
          <p:nvPr/>
        </p:nvSpPr>
        <p:spPr>
          <a:xfrm>
            <a:off x="3597275" y="1810345"/>
            <a:ext cx="2465884" cy="1476871"/>
          </a:xfrm>
          <a:prstGeom prst="roundRect">
            <a:avLst>
              <a:gd name="adj" fmla="val 4945"/>
            </a:avLst>
          </a:prstGeom>
          <a:solidFill>
            <a:srgbClr val="FBFAF7"/>
          </a:solidFill>
          <a:ln w="6350">
            <a:solidFill>
              <a:srgbClr val="DCD9CF"/>
            </a:solidFill>
            <a:prstDash val="solid"/>
          </a:ln>
        </p:spPr>
      </p:sp>
      <p:sp>
        <p:nvSpPr>
          <p:cNvPr id="22" name="Text 20"/>
          <p:cNvSpPr/>
          <p:nvPr/>
        </p:nvSpPr>
        <p:spPr>
          <a:xfrm>
            <a:off x="3727450" y="1940520"/>
            <a:ext cx="2271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A</a:t>
            </a:r>
            <a:endParaRPr lang="en-US" sz="1200" dirty="0"/>
          </a:p>
        </p:txBody>
      </p:sp>
      <p:sp>
        <p:nvSpPr>
          <p:cNvPr id="23" name="Text 21"/>
          <p:cNvSpPr/>
          <p:nvPr/>
        </p:nvSpPr>
        <p:spPr>
          <a:xfrm>
            <a:off x="3727450" y="2217341"/>
            <a:ext cx="2271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앱 빌드</a:t>
            </a:r>
            <a:endParaRPr lang="en-US" sz="1400" dirty="0"/>
          </a:p>
        </p:txBody>
      </p:sp>
      <p:sp>
        <p:nvSpPr>
          <p:cNvPr id="24" name="Text 22"/>
          <p:cNvSpPr/>
          <p:nvPr/>
        </p:nvSpPr>
        <p:spPr>
          <a:xfrm>
            <a:off x="3727450" y="2494161"/>
            <a:ext cx="227170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UC-01 설계·디버그</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UC-02 게시·버전</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프롬프트 IDE</a:t>
            </a:r>
            <a:endParaRPr lang="en-US" sz="1200" dirty="0"/>
          </a:p>
        </p:txBody>
      </p:sp>
      <p:sp>
        <p:nvSpPr>
          <p:cNvPr id="25" name="Shape 23"/>
          <p:cNvSpPr/>
          <p:nvPr/>
        </p:nvSpPr>
        <p:spPr>
          <a:xfrm>
            <a:off x="6171109" y="1810345"/>
            <a:ext cx="2465933" cy="1476871"/>
          </a:xfrm>
          <a:prstGeom prst="roundRect">
            <a:avLst>
              <a:gd name="adj" fmla="val 4945"/>
            </a:avLst>
          </a:prstGeom>
          <a:solidFill>
            <a:srgbClr val="FBFAF7"/>
          </a:solidFill>
          <a:ln w="6350">
            <a:solidFill>
              <a:srgbClr val="DCD9CF"/>
            </a:solidFill>
            <a:prstDash val="solid"/>
          </a:ln>
        </p:spPr>
      </p:sp>
      <p:sp>
        <p:nvSpPr>
          <p:cNvPr id="26" name="Text 24"/>
          <p:cNvSpPr/>
          <p:nvPr/>
        </p:nvSpPr>
        <p:spPr>
          <a:xfrm>
            <a:off x="6301284" y="1940520"/>
            <a:ext cx="22717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C · B · E</a:t>
            </a:r>
            <a:endParaRPr lang="en-US" sz="1200" dirty="0"/>
          </a:p>
        </p:txBody>
      </p:sp>
      <p:sp>
        <p:nvSpPr>
          <p:cNvPr id="27" name="Text 25"/>
          <p:cNvSpPr/>
          <p:nvPr/>
        </p:nvSpPr>
        <p:spPr>
          <a:xfrm>
            <a:off x="6301284" y="2217341"/>
            <a:ext cx="22717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실행</a:t>
            </a:r>
            <a:endParaRPr lang="en-US" sz="1400" dirty="0"/>
          </a:p>
        </p:txBody>
      </p:sp>
      <p:sp>
        <p:nvSpPr>
          <p:cNvPr id="28" name="Text 26"/>
          <p:cNvSpPr/>
          <p:nvPr/>
        </p:nvSpPr>
        <p:spPr>
          <a:xfrm>
            <a:off x="6301284" y="2494161"/>
            <a:ext cx="227175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UC-03 웹앱 대화</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UC-04 Service API</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UC-05 트리거 실행</a:t>
            </a:r>
            <a:endParaRPr lang="en-US" sz="1200" dirty="0"/>
          </a:p>
        </p:txBody>
      </p:sp>
      <p:sp>
        <p:nvSpPr>
          <p:cNvPr id="29" name="Shape 27"/>
          <p:cNvSpPr/>
          <p:nvPr/>
        </p:nvSpPr>
        <p:spPr>
          <a:xfrm>
            <a:off x="8744992" y="1810345"/>
            <a:ext cx="2465933" cy="1476871"/>
          </a:xfrm>
          <a:prstGeom prst="roundRect">
            <a:avLst>
              <a:gd name="adj" fmla="val 4945"/>
            </a:avLst>
          </a:prstGeom>
          <a:solidFill>
            <a:srgbClr val="FBFAF7"/>
          </a:solidFill>
          <a:ln w="6350">
            <a:solidFill>
              <a:srgbClr val="DCD9CF"/>
            </a:solidFill>
            <a:prstDash val="solid"/>
          </a:ln>
        </p:spPr>
      </p:sp>
      <p:sp>
        <p:nvSpPr>
          <p:cNvPr id="30" name="Text 28"/>
          <p:cNvSpPr/>
          <p:nvPr/>
        </p:nvSpPr>
        <p:spPr>
          <a:xfrm>
            <a:off x="8875167" y="1940520"/>
            <a:ext cx="22717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A · D</a:t>
            </a:r>
            <a:endParaRPr lang="en-US" sz="1200" dirty="0"/>
          </a:p>
        </p:txBody>
      </p:sp>
      <p:sp>
        <p:nvSpPr>
          <p:cNvPr id="31" name="Text 29"/>
          <p:cNvSpPr/>
          <p:nvPr/>
        </p:nvSpPr>
        <p:spPr>
          <a:xfrm>
            <a:off x="8875167" y="2217341"/>
            <a:ext cx="22717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지식</a:t>
            </a:r>
            <a:endParaRPr lang="en-US" sz="1400" dirty="0"/>
          </a:p>
        </p:txBody>
      </p:sp>
      <p:sp>
        <p:nvSpPr>
          <p:cNvPr id="32" name="Text 30"/>
          <p:cNvSpPr/>
          <p:nvPr/>
        </p:nvSpPr>
        <p:spPr>
          <a:xfrm>
            <a:off x="8875167" y="2494161"/>
            <a:ext cx="227175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UC-06 지식베이스 구축</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검색 테스트</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외부 지식 API</a:t>
            </a:r>
            <a:endParaRPr lang="en-US" sz="1200" dirty="0"/>
          </a:p>
        </p:txBody>
      </p:sp>
      <p:sp>
        <p:nvSpPr>
          <p:cNvPr id="33" name="Shape 31"/>
          <p:cNvSpPr/>
          <p:nvPr/>
        </p:nvSpPr>
        <p:spPr>
          <a:xfrm>
            <a:off x="3597275" y="3395166"/>
            <a:ext cx="2465884" cy="1476871"/>
          </a:xfrm>
          <a:prstGeom prst="roundRect">
            <a:avLst>
              <a:gd name="adj" fmla="val 4945"/>
            </a:avLst>
          </a:prstGeom>
          <a:solidFill>
            <a:srgbClr val="FBFAF7"/>
          </a:solidFill>
          <a:ln w="6350">
            <a:solidFill>
              <a:srgbClr val="DCD9CF"/>
            </a:solidFill>
            <a:prstDash val="solid"/>
          </a:ln>
        </p:spPr>
      </p:sp>
      <p:sp>
        <p:nvSpPr>
          <p:cNvPr id="34" name="Text 32"/>
          <p:cNvSpPr/>
          <p:nvPr/>
        </p:nvSpPr>
        <p:spPr>
          <a:xfrm>
            <a:off x="3727450" y="3525341"/>
            <a:ext cx="2271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D · A</a:t>
            </a:r>
            <a:endParaRPr lang="en-US" sz="1200" dirty="0"/>
          </a:p>
        </p:txBody>
      </p:sp>
      <p:sp>
        <p:nvSpPr>
          <p:cNvPr id="35" name="Text 33"/>
          <p:cNvSpPr/>
          <p:nvPr/>
        </p:nvSpPr>
        <p:spPr>
          <a:xfrm>
            <a:off x="3727450" y="3802162"/>
            <a:ext cx="2271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확장</a:t>
            </a:r>
            <a:endParaRPr lang="en-US" sz="1400" dirty="0"/>
          </a:p>
        </p:txBody>
      </p:sp>
      <p:sp>
        <p:nvSpPr>
          <p:cNvPr id="36" name="Text 34"/>
          <p:cNvSpPr/>
          <p:nvPr/>
        </p:nvSpPr>
        <p:spPr>
          <a:xfrm>
            <a:off x="3727450" y="4078982"/>
            <a:ext cx="2271700"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UC-07 플러그인·모델</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MCP 서버 연결</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앱을 MCP로 노출</a:t>
            </a:r>
            <a:endParaRPr lang="en-US" sz="1200" dirty="0"/>
          </a:p>
        </p:txBody>
      </p:sp>
      <p:sp>
        <p:nvSpPr>
          <p:cNvPr id="37" name="Shape 35"/>
          <p:cNvSpPr/>
          <p:nvPr/>
        </p:nvSpPr>
        <p:spPr>
          <a:xfrm>
            <a:off x="6171109" y="3395166"/>
            <a:ext cx="2465933" cy="1476871"/>
          </a:xfrm>
          <a:prstGeom prst="roundRect">
            <a:avLst>
              <a:gd name="adj" fmla="val 4945"/>
            </a:avLst>
          </a:prstGeom>
          <a:solidFill>
            <a:srgbClr val="FBFAF7"/>
          </a:solidFill>
          <a:ln w="6350">
            <a:solidFill>
              <a:srgbClr val="DCD9CF"/>
            </a:solidFill>
            <a:prstDash val="solid"/>
          </a:ln>
        </p:spPr>
      </p:sp>
      <p:sp>
        <p:nvSpPr>
          <p:cNvPr id="38" name="Text 36"/>
          <p:cNvSpPr/>
          <p:nvPr/>
        </p:nvSpPr>
        <p:spPr>
          <a:xfrm>
            <a:off x="6301284" y="3525341"/>
            <a:ext cx="22717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521E"/>
                </a:solidFill>
                <a:latin typeface="JetBrains Mono" pitchFamily="49" charset="0"/>
                <a:ea typeface="JetBrains Mono" pitchFamily="49" charset="-122"/>
                <a:cs typeface="JetBrains Mono" pitchFamily="49" charset="-120"/>
              </a:rPr>
              <a:t>D · A</a:t>
            </a:r>
            <a:endParaRPr lang="en-US" sz="1200" dirty="0"/>
          </a:p>
        </p:txBody>
      </p:sp>
      <p:sp>
        <p:nvSpPr>
          <p:cNvPr id="39" name="Text 37"/>
          <p:cNvSpPr/>
          <p:nvPr/>
        </p:nvSpPr>
        <p:spPr>
          <a:xfrm>
            <a:off x="6301284" y="3802162"/>
            <a:ext cx="227175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운영</a:t>
            </a:r>
            <a:endParaRPr lang="en-US" sz="1400" dirty="0"/>
          </a:p>
        </p:txBody>
      </p:sp>
      <p:sp>
        <p:nvSpPr>
          <p:cNvPr id="40" name="Text 38"/>
          <p:cNvSpPr/>
          <p:nvPr/>
        </p:nvSpPr>
        <p:spPr>
          <a:xfrm>
            <a:off x="6301284" y="4078982"/>
            <a:ext cx="2271751"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UC-08 로그·어노테이션</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멤버·역할</a:t>
            </a:r>
            <a:endParaRPr lang="en-US" sz="1200" dirty="0"/>
          </a:p>
          <a:p>
            <a:pPr algn="l" indent="0" marL="0">
              <a:lnSpc>
                <a:spcPts val="1740"/>
              </a:lnSpc>
              <a:buNone/>
            </a:pPr>
            <a:r>
              <a:rPr lang="en-US" sz="1200" dirty="0">
                <a:solidFill>
                  <a:srgbClr val="4A5263"/>
                </a:solidFill>
                <a:latin typeface="IBM Plex Sans KR" pitchFamily="34" charset="0"/>
                <a:ea typeface="IBM Plex Sans KR" pitchFamily="34" charset="-122"/>
                <a:cs typeface="IBM Plex Sans KR" pitchFamily="34" charset="-120"/>
              </a:rPr>
              <a:t>외부 트레이싱</a:t>
            </a:r>
            <a:endParaRPr lang="en-US" sz="1200" dirty="0"/>
          </a:p>
        </p:txBody>
      </p:sp>
      <p:sp>
        <p:nvSpPr>
          <p:cNvPr id="41" name="Shape 39"/>
          <p:cNvSpPr/>
          <p:nvPr/>
        </p:nvSpPr>
        <p:spPr>
          <a:xfrm>
            <a:off x="8741817" y="3391991"/>
            <a:ext cx="2472283" cy="1483221"/>
          </a:xfrm>
          <a:prstGeom prst="roundRect">
            <a:avLst>
              <a:gd name="adj" fmla="val 5137"/>
            </a:avLst>
          </a:prstGeom>
          <a:solidFill>
            <a:srgbClr val="131A2A"/>
          </a:solidFill>
          <a:ln/>
        </p:spPr>
      </p:sp>
      <p:sp>
        <p:nvSpPr>
          <p:cNvPr id="42" name="Text 40"/>
          <p:cNvSpPr/>
          <p:nvPr/>
        </p:nvSpPr>
        <p:spPr>
          <a:xfrm>
            <a:off x="8868817" y="3518991"/>
            <a:ext cx="22848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B0F5"/>
                </a:solidFill>
                <a:latin typeface="JetBrains Mono" pitchFamily="49" charset="0"/>
                <a:ea typeface="JetBrains Mono" pitchFamily="49" charset="-122"/>
                <a:cs typeface="JetBrains Mono" pitchFamily="49" charset="-120"/>
              </a:rPr>
              <a:t>SYSTEM</a:t>
            </a:r>
            <a:endParaRPr lang="en-US" sz="1200" dirty="0"/>
          </a:p>
        </p:txBody>
      </p:sp>
      <p:sp>
        <p:nvSpPr>
          <p:cNvPr id="43" name="Text 41"/>
          <p:cNvSpPr/>
          <p:nvPr/>
        </p:nvSpPr>
        <p:spPr>
          <a:xfrm>
            <a:off x="8868817" y="3795812"/>
            <a:ext cx="22848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4F3EE"/>
                </a:solidFill>
                <a:latin typeface="IBM Plex Sans KR" pitchFamily="34" charset="0"/>
                <a:ea typeface="IBM Plex Sans KR" pitchFamily="34" charset="-122"/>
                <a:cs typeface="IBM Plex Sans KR" pitchFamily="34" charset="-120"/>
              </a:rPr>
              <a:t>Dify</a:t>
            </a:r>
            <a:endParaRPr lang="en-US" sz="1400" dirty="0"/>
          </a:p>
        </p:txBody>
      </p:sp>
      <p:sp>
        <p:nvSpPr>
          <p:cNvPr id="44" name="Text 42"/>
          <p:cNvSpPr/>
          <p:nvPr/>
        </p:nvSpPr>
        <p:spPr>
          <a:xfrm>
            <a:off x="8868817" y="4072632"/>
            <a:ext cx="228483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점선 = 시스템 경계</a:t>
            </a:r>
            <a:endParaRPr lang="en-US" sz="1200" dirty="0"/>
          </a:p>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상단 코드 = 관여 액터</a:t>
            </a:r>
            <a:endParaRPr lang="en-US" sz="1200" dirty="0"/>
          </a:p>
        </p:txBody>
      </p:sp>
      <p:sp>
        <p:nvSpPr>
          <p:cNvPr id="45" name="Text 4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15 · 출처: README.md, controllers/(console·web·service_api·trigger·mcp), enums/account.py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A2 · USE CASES 01–04</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빌드와 실행: 만들고, 게시하고, 호출한다</a:t>
            </a:r>
            <a:endParaRPr lang="en-US" sz="3000" dirty="0"/>
          </a:p>
        </p:txBody>
      </p:sp>
      <p:sp>
        <p:nvSpPr>
          <p:cNvPr id="4" name="Shape 2"/>
          <p:cNvSpPr/>
          <p:nvPr/>
        </p:nvSpPr>
        <p:spPr>
          <a:xfrm>
            <a:off x="815975" y="1645245"/>
            <a:ext cx="5200650" cy="1542951"/>
          </a:xfrm>
          <a:prstGeom prst="roundRect">
            <a:avLst>
              <a:gd name="adj" fmla="val 5556"/>
            </a:avLst>
          </a:prstGeom>
          <a:solidFill>
            <a:srgbClr val="FBFAF7"/>
          </a:solidFill>
          <a:ln w="6350">
            <a:solidFill>
              <a:srgbClr val="DCD9CF"/>
            </a:solidFill>
            <a:prstDash val="solid"/>
          </a:ln>
        </p:spPr>
      </p:sp>
      <p:sp>
        <p:nvSpPr>
          <p:cNvPr id="5" name="Text 3"/>
          <p:cNvSpPr/>
          <p:nvPr/>
        </p:nvSpPr>
        <p:spPr>
          <a:xfrm>
            <a:off x="996950" y="1800820"/>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UC-01 · 액터 A · 트리거: 콘솔 편집</a:t>
            </a:r>
            <a:endParaRPr lang="en-US" sz="1200" dirty="0"/>
          </a:p>
        </p:txBody>
      </p:sp>
      <p:sp>
        <p:nvSpPr>
          <p:cNvPr id="6" name="Text 4"/>
          <p:cNvSpPr/>
          <p:nvPr/>
        </p:nvSpPr>
        <p:spPr>
          <a:xfrm>
            <a:off x="996950" y="20776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워크플로 설계 · 디버그</a:t>
            </a:r>
            <a:endParaRPr lang="en-US" sz="1500" dirty="0"/>
          </a:p>
        </p:txBody>
      </p:sp>
      <p:sp>
        <p:nvSpPr>
          <p:cNvPr id="7" name="Text 5"/>
          <p:cNvSpPr/>
          <p:nvPr/>
        </p:nvSpPr>
        <p:spPr>
          <a:xfrm>
            <a:off x="1082030" y="23697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캔버스에서 노드 연결, draft 버전으로 저장</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단일 노드 또는 전체 디버그 실행</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draft 변수로 중간값 보존·재사용</a:t>
            </a:r>
            <a:endParaRPr lang="en-US" sz="1200" dirty="0"/>
          </a:p>
        </p:txBody>
      </p:sp>
      <p:sp>
        <p:nvSpPr>
          <p:cNvPr id="8" name="Shape 6"/>
          <p:cNvSpPr/>
          <p:nvPr/>
        </p:nvSpPr>
        <p:spPr>
          <a:xfrm>
            <a:off x="6175375" y="1645245"/>
            <a:ext cx="5200650" cy="1542951"/>
          </a:xfrm>
          <a:prstGeom prst="roundRect">
            <a:avLst>
              <a:gd name="adj" fmla="val 5556"/>
            </a:avLst>
          </a:prstGeom>
          <a:solidFill>
            <a:srgbClr val="FBFAF7"/>
          </a:solidFill>
          <a:ln w="6350">
            <a:solidFill>
              <a:srgbClr val="DCD9CF"/>
            </a:solidFill>
            <a:prstDash val="solid"/>
          </a:ln>
        </p:spPr>
      </p:sp>
      <p:sp>
        <p:nvSpPr>
          <p:cNvPr id="9" name="Text 7"/>
          <p:cNvSpPr/>
          <p:nvPr/>
        </p:nvSpPr>
        <p:spPr>
          <a:xfrm>
            <a:off x="6356350" y="1800820"/>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UC-02 · 액터 A · 트리거: 게시</a:t>
            </a:r>
            <a:endParaRPr lang="en-US" sz="1200" dirty="0"/>
          </a:p>
        </p:txBody>
      </p:sp>
      <p:sp>
        <p:nvSpPr>
          <p:cNvPr id="10" name="Text 8"/>
          <p:cNvSpPr/>
          <p:nvPr/>
        </p:nvSpPr>
        <p:spPr>
          <a:xfrm>
            <a:off x="6356350" y="20776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앱 게시와 버전 관리</a:t>
            </a:r>
            <a:endParaRPr lang="en-US" sz="1500" dirty="0"/>
          </a:p>
        </p:txBody>
      </p:sp>
      <p:sp>
        <p:nvSpPr>
          <p:cNvPr id="11" name="Text 9"/>
          <p:cNvSpPr/>
          <p:nvPr/>
        </p:nvSpPr>
        <p:spPr>
          <a:xfrm>
            <a:off x="6441430" y="23697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draft를 게시 버전으로 스냅샷</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웹앱 · Service API · MCP 서버 노출 설정</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이전 버전 조회·복원, 버전 이름·주석</a:t>
            </a:r>
            <a:endParaRPr lang="en-US" sz="1200" dirty="0"/>
          </a:p>
        </p:txBody>
      </p:sp>
      <p:sp>
        <p:nvSpPr>
          <p:cNvPr id="12" name="Shape 10"/>
          <p:cNvSpPr/>
          <p:nvPr/>
        </p:nvSpPr>
        <p:spPr>
          <a:xfrm>
            <a:off x="815975" y="3346946"/>
            <a:ext cx="5200650" cy="1542951"/>
          </a:xfrm>
          <a:prstGeom prst="roundRect">
            <a:avLst>
              <a:gd name="adj" fmla="val 5556"/>
            </a:avLst>
          </a:prstGeom>
          <a:solidFill>
            <a:srgbClr val="FBFAF7"/>
          </a:solidFill>
          <a:ln w="6350">
            <a:solidFill>
              <a:srgbClr val="DCD9CF"/>
            </a:solidFill>
            <a:prstDash val="solid"/>
          </a:ln>
        </p:spPr>
      </p:sp>
      <p:sp>
        <p:nvSpPr>
          <p:cNvPr id="13" name="Text 11"/>
          <p:cNvSpPr/>
          <p:nvPr/>
        </p:nvSpPr>
        <p:spPr>
          <a:xfrm>
            <a:off x="996950" y="350252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UC-03 · 액터 C · 트리거: 웹앱 접속</a:t>
            </a:r>
            <a:endParaRPr lang="en-US" sz="1200" dirty="0"/>
          </a:p>
        </p:txBody>
      </p:sp>
      <p:sp>
        <p:nvSpPr>
          <p:cNvPr id="14" name="Text 12"/>
          <p:cNvSpPr/>
          <p:nvPr/>
        </p:nvSpPr>
        <p:spPr>
          <a:xfrm>
            <a:off x="996950" y="37793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웹앱으로 대화</a:t>
            </a:r>
            <a:endParaRPr lang="en-US" sz="1500" dirty="0"/>
          </a:p>
        </p:txBody>
      </p:sp>
      <p:sp>
        <p:nvSpPr>
          <p:cNvPr id="15" name="Text 13"/>
          <p:cNvSpPr/>
          <p:nvPr/>
        </p:nvSpPr>
        <p:spPr>
          <a:xfrm>
            <a:off x="1082030" y="40714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site 코드로 접속 → passport 토큰 → end_user</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대화·메시지 누적, 대화 변수 유지</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피드백·저장 메시지, human-input 폼 응답</a:t>
            </a:r>
            <a:endParaRPr lang="en-US" sz="1200" dirty="0"/>
          </a:p>
        </p:txBody>
      </p:sp>
      <p:sp>
        <p:nvSpPr>
          <p:cNvPr id="16" name="Shape 14"/>
          <p:cNvSpPr/>
          <p:nvPr/>
        </p:nvSpPr>
        <p:spPr>
          <a:xfrm>
            <a:off x="6175375" y="3346946"/>
            <a:ext cx="5200650" cy="1542951"/>
          </a:xfrm>
          <a:prstGeom prst="roundRect">
            <a:avLst>
              <a:gd name="adj" fmla="val 5556"/>
            </a:avLst>
          </a:prstGeom>
          <a:solidFill>
            <a:srgbClr val="FBFAF7"/>
          </a:solidFill>
          <a:ln w="6350">
            <a:solidFill>
              <a:srgbClr val="DCD9CF"/>
            </a:solidFill>
            <a:prstDash val="solid"/>
          </a:ln>
        </p:spPr>
      </p:sp>
      <p:sp>
        <p:nvSpPr>
          <p:cNvPr id="17" name="Text 15"/>
          <p:cNvSpPr/>
          <p:nvPr/>
        </p:nvSpPr>
        <p:spPr>
          <a:xfrm>
            <a:off x="6356350" y="350252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UC-04 · 액터 B · 트리거: /v1 호출</a:t>
            </a:r>
            <a:endParaRPr lang="en-US" sz="1200" dirty="0"/>
          </a:p>
        </p:txBody>
      </p:sp>
      <p:sp>
        <p:nvSpPr>
          <p:cNvPr id="18" name="Text 16"/>
          <p:cNvSpPr/>
          <p:nvPr/>
        </p:nvSpPr>
        <p:spPr>
          <a:xfrm>
            <a:off x="6356350" y="37793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Service API로 앱 호출</a:t>
            </a:r>
            <a:endParaRPr lang="en-US" sz="1500" dirty="0"/>
          </a:p>
        </p:txBody>
      </p:sp>
      <p:sp>
        <p:nvSpPr>
          <p:cNvPr id="19" name="Text 17"/>
          <p:cNvSpPr/>
          <p:nvPr/>
        </p:nvSpPr>
        <p:spPr>
          <a:xfrm>
            <a:off x="6441430" y="40714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앱 API 키(app-…)로 인증, user 식별자 전달</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blocking JSON 또는 streaming SSE 응답</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실행 중지 · 파일 업로드 · 대화 조회 API</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16 · 상세 흐름은 시퀀스 S1–S2 참조</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A3 · USE CASES 05–08</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자동화와 운영: 트리거 · 지식 · 확장 · LLMOps</a:t>
            </a:r>
            <a:endParaRPr lang="en-US" sz="3000" dirty="0"/>
          </a:p>
        </p:txBody>
      </p:sp>
      <p:sp>
        <p:nvSpPr>
          <p:cNvPr id="4" name="Shape 2"/>
          <p:cNvSpPr/>
          <p:nvPr/>
        </p:nvSpPr>
        <p:spPr>
          <a:xfrm>
            <a:off x="815975" y="1645245"/>
            <a:ext cx="5200650" cy="1542951"/>
          </a:xfrm>
          <a:prstGeom prst="roundRect">
            <a:avLst>
              <a:gd name="adj" fmla="val 5556"/>
            </a:avLst>
          </a:prstGeom>
          <a:solidFill>
            <a:srgbClr val="FBFAF7"/>
          </a:solidFill>
          <a:ln w="6350">
            <a:solidFill>
              <a:srgbClr val="DCD9CF"/>
            </a:solidFill>
            <a:prstDash val="solid"/>
          </a:ln>
        </p:spPr>
      </p:sp>
      <p:sp>
        <p:nvSpPr>
          <p:cNvPr id="5" name="Text 3"/>
          <p:cNvSpPr/>
          <p:nvPr/>
        </p:nvSpPr>
        <p:spPr>
          <a:xfrm>
            <a:off x="996950" y="1800820"/>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UC-05 · 액터 E · 트리거: 웹훅·cron·이벤트</a:t>
            </a:r>
            <a:endParaRPr lang="en-US" sz="1200" dirty="0"/>
          </a:p>
        </p:txBody>
      </p:sp>
      <p:sp>
        <p:nvSpPr>
          <p:cNvPr id="6" name="Text 4"/>
          <p:cNvSpPr/>
          <p:nvPr/>
        </p:nvSpPr>
        <p:spPr>
          <a:xfrm>
            <a:off x="996950" y="20776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트리거 기반 워크플로 실행</a:t>
            </a:r>
            <a:endParaRPr lang="en-US" sz="1500" dirty="0"/>
          </a:p>
        </p:txBody>
      </p:sp>
      <p:sp>
        <p:nvSpPr>
          <p:cNvPr id="7" name="Text 5"/>
          <p:cNvSpPr/>
          <p:nvPr/>
        </p:nvSpPr>
        <p:spPr>
          <a:xfrm>
            <a:off x="1082030" y="23697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/triggers/webhook 수신 → Celery로 비동기 실행</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schedule_poller가 도래한 스케줄 계획 실행</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트리거 로그·할당량 기록, 설정된 응답 반환</a:t>
            </a:r>
            <a:endParaRPr lang="en-US" sz="1200" dirty="0"/>
          </a:p>
        </p:txBody>
      </p:sp>
      <p:sp>
        <p:nvSpPr>
          <p:cNvPr id="8" name="Shape 6"/>
          <p:cNvSpPr/>
          <p:nvPr/>
        </p:nvSpPr>
        <p:spPr>
          <a:xfrm>
            <a:off x="6175375" y="1645245"/>
            <a:ext cx="5200650" cy="1542951"/>
          </a:xfrm>
          <a:prstGeom prst="roundRect">
            <a:avLst>
              <a:gd name="adj" fmla="val 5556"/>
            </a:avLst>
          </a:prstGeom>
          <a:solidFill>
            <a:srgbClr val="FBFAF7"/>
          </a:solidFill>
          <a:ln w="6350">
            <a:solidFill>
              <a:srgbClr val="DCD9CF"/>
            </a:solidFill>
            <a:prstDash val="solid"/>
          </a:ln>
        </p:spPr>
      </p:sp>
      <p:sp>
        <p:nvSpPr>
          <p:cNvPr id="9" name="Text 7"/>
          <p:cNvSpPr/>
          <p:nvPr/>
        </p:nvSpPr>
        <p:spPr>
          <a:xfrm>
            <a:off x="6356350" y="1800820"/>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UC-06 · 액터 A·D · 트리거: 문서 업로드</a:t>
            </a:r>
            <a:endParaRPr lang="en-US" sz="1200" dirty="0"/>
          </a:p>
        </p:txBody>
      </p:sp>
      <p:sp>
        <p:nvSpPr>
          <p:cNvPr id="10" name="Text 8"/>
          <p:cNvSpPr/>
          <p:nvPr/>
        </p:nvSpPr>
        <p:spPr>
          <a:xfrm>
            <a:off x="6356350" y="20776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지식베이스 구축</a:t>
            </a:r>
            <a:endParaRPr lang="en-US" sz="1500" dirty="0"/>
          </a:p>
        </p:txBody>
      </p:sp>
      <p:sp>
        <p:nvSpPr>
          <p:cNvPr id="11" name="Text 9"/>
          <p:cNvSpPr/>
          <p:nvPr/>
        </p:nvSpPr>
        <p:spPr>
          <a:xfrm>
            <a:off x="6441430" y="23697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처리 규칙 선택, high_quality 또는 economy</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워커가 추출 → 분할 → 임베딩 → 벡터 저장</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검색 테스트, 세그먼트 수정·비활성화</a:t>
            </a:r>
            <a:endParaRPr lang="en-US" sz="1200" dirty="0"/>
          </a:p>
        </p:txBody>
      </p:sp>
      <p:sp>
        <p:nvSpPr>
          <p:cNvPr id="12" name="Shape 10"/>
          <p:cNvSpPr/>
          <p:nvPr/>
        </p:nvSpPr>
        <p:spPr>
          <a:xfrm>
            <a:off x="815975" y="3346946"/>
            <a:ext cx="5200650" cy="1542951"/>
          </a:xfrm>
          <a:prstGeom prst="roundRect">
            <a:avLst>
              <a:gd name="adj" fmla="val 5556"/>
            </a:avLst>
          </a:prstGeom>
          <a:solidFill>
            <a:srgbClr val="FBFAF7"/>
          </a:solidFill>
          <a:ln w="6350">
            <a:solidFill>
              <a:srgbClr val="DCD9CF"/>
            </a:solidFill>
            <a:prstDash val="solid"/>
          </a:ln>
        </p:spPr>
      </p:sp>
      <p:sp>
        <p:nvSpPr>
          <p:cNvPr id="13" name="Text 11"/>
          <p:cNvSpPr/>
          <p:nvPr/>
        </p:nvSpPr>
        <p:spPr>
          <a:xfrm>
            <a:off x="996950" y="350252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UC-07 · 액터 D·A · 트리거: 설치</a:t>
            </a:r>
            <a:endParaRPr lang="en-US" sz="1200" dirty="0"/>
          </a:p>
        </p:txBody>
      </p:sp>
      <p:sp>
        <p:nvSpPr>
          <p:cNvPr id="14" name="Text 12"/>
          <p:cNvSpPr/>
          <p:nvPr/>
        </p:nvSpPr>
        <p:spPr>
          <a:xfrm>
            <a:off x="996950" y="37793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플러그인 · 모델 · MCP 연결</a:t>
            </a:r>
            <a:endParaRPr lang="en-US" sz="1500" dirty="0"/>
          </a:p>
        </p:txBody>
      </p:sp>
      <p:sp>
        <p:nvSpPr>
          <p:cNvPr id="15" name="Text 13"/>
          <p:cNvSpPr/>
          <p:nvPr/>
        </p:nvSpPr>
        <p:spPr>
          <a:xfrm>
            <a:off x="1082030" y="40714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Marketplace · GitHub · 패키지에서 설치</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공급자 자격증명 등록, 로드밸런싱 설정</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외부 MCP를 도구로 연결, 앱을 MCP로 노출</a:t>
            </a:r>
            <a:endParaRPr lang="en-US" sz="1200" dirty="0"/>
          </a:p>
        </p:txBody>
      </p:sp>
      <p:sp>
        <p:nvSpPr>
          <p:cNvPr id="16" name="Shape 14"/>
          <p:cNvSpPr/>
          <p:nvPr/>
        </p:nvSpPr>
        <p:spPr>
          <a:xfrm>
            <a:off x="6175375" y="3346946"/>
            <a:ext cx="5200650" cy="1542951"/>
          </a:xfrm>
          <a:prstGeom prst="roundRect">
            <a:avLst>
              <a:gd name="adj" fmla="val 5556"/>
            </a:avLst>
          </a:prstGeom>
          <a:solidFill>
            <a:srgbClr val="FBFAF7"/>
          </a:solidFill>
          <a:ln w="6350">
            <a:solidFill>
              <a:srgbClr val="DCD9CF"/>
            </a:solidFill>
            <a:prstDash val="solid"/>
          </a:ln>
        </p:spPr>
      </p:sp>
      <p:sp>
        <p:nvSpPr>
          <p:cNvPr id="17" name="Text 15"/>
          <p:cNvSpPr/>
          <p:nvPr/>
        </p:nvSpPr>
        <p:spPr>
          <a:xfrm>
            <a:off x="6356350" y="3502521"/>
            <a:ext cx="49838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BB7"/>
                </a:solidFill>
                <a:latin typeface="JetBrains Mono" pitchFamily="49" charset="0"/>
                <a:ea typeface="JetBrains Mono" pitchFamily="49" charset="-122"/>
                <a:cs typeface="JetBrains Mono" pitchFamily="49" charset="-120"/>
              </a:rPr>
              <a:t>UC-08 · 액터 D·A · 트리거: 운영 콘솔</a:t>
            </a:r>
            <a:endParaRPr lang="en-US" sz="1200" dirty="0"/>
          </a:p>
        </p:txBody>
      </p:sp>
      <p:sp>
        <p:nvSpPr>
          <p:cNvPr id="18" name="Text 16"/>
          <p:cNvSpPr/>
          <p:nvPr/>
        </p:nvSpPr>
        <p:spPr>
          <a:xfrm>
            <a:off x="6356350" y="377934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1A2A"/>
                </a:solidFill>
                <a:latin typeface="IBM Plex Sans KR" pitchFamily="34" charset="0"/>
                <a:ea typeface="IBM Plex Sans KR" pitchFamily="34" charset="-122"/>
                <a:cs typeface="IBM Plex Sans KR" pitchFamily="34" charset="-120"/>
              </a:rPr>
              <a:t>운영 · LLMOps</a:t>
            </a:r>
            <a:endParaRPr lang="en-US" sz="1500" dirty="0"/>
          </a:p>
        </p:txBody>
      </p:sp>
      <p:sp>
        <p:nvSpPr>
          <p:cNvPr id="19" name="Text 17"/>
          <p:cNvSpPr/>
          <p:nvPr/>
        </p:nvSpPr>
        <p:spPr>
          <a:xfrm>
            <a:off x="6441430" y="4071441"/>
            <a:ext cx="4891161" cy="688280"/>
          </a:xfrm>
          <a:prstGeom prst="rect">
            <a:avLst/>
          </a:prstGeom>
          <a:noFill/>
          <a:ln/>
        </p:spPr>
        <p:txBody>
          <a:bodyPr wrap="square" lIns="0" tIns="0" rIns="0" bIns="0" rtlCol="0" anchor="t">
            <a:normAutofit/>
          </a:bodyPr>
          <a:lstStyle/>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런·노드 단위 로그, 토큰·비용 통계</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어노테이션 응답 · 피드백으로 품질 개선</a:t>
            </a:r>
            <a:endParaRPr lang="en-US" sz="1200" dirty="0"/>
          </a:p>
          <a:p>
            <a:pPr algn="l" marL="168920" indent="-168920">
              <a:lnSpc>
                <a:spcPts val="1740"/>
              </a:lnSpc>
              <a:buSzPct val="100000"/>
              <a:buFontTx/>
              <a:buAutoNum type="arabicPeriod" startAt="1"/>
            </a:pPr>
            <a:r>
              <a:rPr lang="en-US" sz="1200" dirty="0">
                <a:solidFill>
                  <a:srgbClr val="4A5263"/>
                </a:solidFill>
                <a:latin typeface="IBM Plex Sans KR" pitchFamily="34" charset="0"/>
                <a:ea typeface="IBM Plex Sans KR" pitchFamily="34" charset="-122"/>
                <a:cs typeface="IBM Plex Sans KR" pitchFamily="34" charset="-120"/>
              </a:rPr>
              <a:t>멤버 초대·역할, 앱별 외부 트레이싱</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17 · 상세 흐름은 시퀀스 S3–S5 참조</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746500"/>
          </a:xfrm>
          <a:prstGeom prst="rect">
            <a:avLst/>
          </a:prstGeom>
          <a:solidFill>
            <a:srgbClr val="C9C5BA"/>
          </a:solidFill>
          <a:ln/>
        </p:spPr>
      </p:sp>
      <p:sp>
        <p:nvSpPr>
          <p:cNvPr id="3" name="Shape 1"/>
          <p:cNvSpPr/>
          <p:nvPr/>
        </p:nvSpPr>
        <p:spPr>
          <a:xfrm>
            <a:off x="3448050" y="1841500"/>
            <a:ext cx="12700" cy="3746500"/>
          </a:xfrm>
          <a:prstGeom prst="rect">
            <a:avLst/>
          </a:prstGeom>
          <a:solidFill>
            <a:srgbClr val="C9C5BA"/>
          </a:solidFill>
          <a:ln/>
        </p:spPr>
      </p:sp>
      <p:sp>
        <p:nvSpPr>
          <p:cNvPr id="4" name="Shape 2"/>
          <p:cNvSpPr/>
          <p:nvPr/>
        </p:nvSpPr>
        <p:spPr>
          <a:xfrm>
            <a:off x="5207000" y="1841500"/>
            <a:ext cx="12700" cy="3746500"/>
          </a:xfrm>
          <a:prstGeom prst="rect">
            <a:avLst/>
          </a:prstGeom>
          <a:solidFill>
            <a:srgbClr val="C9C5BA"/>
          </a:solidFill>
          <a:ln/>
        </p:spPr>
      </p:sp>
      <p:sp>
        <p:nvSpPr>
          <p:cNvPr id="5" name="Shape 3"/>
          <p:cNvSpPr/>
          <p:nvPr/>
        </p:nvSpPr>
        <p:spPr>
          <a:xfrm>
            <a:off x="6972300" y="1841500"/>
            <a:ext cx="12700" cy="3746500"/>
          </a:xfrm>
          <a:prstGeom prst="rect">
            <a:avLst/>
          </a:prstGeom>
          <a:solidFill>
            <a:srgbClr val="C9C5BA"/>
          </a:solidFill>
          <a:ln/>
        </p:spPr>
      </p:sp>
      <p:sp>
        <p:nvSpPr>
          <p:cNvPr id="6" name="Shape 4"/>
          <p:cNvSpPr/>
          <p:nvPr/>
        </p:nvSpPr>
        <p:spPr>
          <a:xfrm>
            <a:off x="8731250" y="1841500"/>
            <a:ext cx="12700" cy="3746500"/>
          </a:xfrm>
          <a:prstGeom prst="rect">
            <a:avLst/>
          </a:prstGeom>
          <a:solidFill>
            <a:srgbClr val="C9C5BA"/>
          </a:solidFill>
          <a:ln/>
        </p:spPr>
      </p:sp>
      <p:sp>
        <p:nvSpPr>
          <p:cNvPr id="7" name="Shape 5"/>
          <p:cNvSpPr/>
          <p:nvPr/>
        </p:nvSpPr>
        <p:spPr>
          <a:xfrm>
            <a:off x="10490200" y="1841500"/>
            <a:ext cx="12700" cy="37465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S1 · SEQUENCE · CHAT APP</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챗봇 앱: API 프로세스 안에서 끝나는 경로</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클라이언트</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API (Flask)</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Redis</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앱 러너 스레드</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Plugin Daemon</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PostgreSQL</a:t>
            </a:r>
            <a:endParaRPr lang="en-US" sz="1200" dirty="0"/>
          </a:p>
        </p:txBody>
      </p:sp>
      <p:sp>
        <p:nvSpPr>
          <p:cNvPr id="16" name="Text 14"/>
          <p:cNvSpPr/>
          <p:nvPr/>
        </p:nvSpPr>
        <p:spPr>
          <a:xfrm>
            <a:off x="1939875" y="1941761"/>
            <a:ext cx="1267966"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chat-messages</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1696492" y="2275136"/>
            <a:ext cx="3515767" cy="273050"/>
          </a:xfrm>
          <a:prstGeom prst="roundRect">
            <a:avLst>
              <a:gd name="adj" fmla="val 17442"/>
            </a:avLst>
          </a:prstGeom>
          <a:solidFill>
            <a:srgbClr val="DCE6FA"/>
          </a:solidFill>
          <a:ln w="6350">
            <a:solidFill>
              <a:srgbClr val="2F5BB7"/>
            </a:solidFill>
            <a:prstDash val="solid"/>
          </a:ln>
        </p:spPr>
        <p:txBody>
          <a:bodyPr wrap="square" lIns="1990" tIns="27326" rIns="1990"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API 키 검증 · end_user 확인</a:t>
            </a:r>
            <a:endParaRPr lang="en-US" sz="1200" dirty="0"/>
          </a:p>
        </p:txBody>
      </p:sp>
      <p:sp>
        <p:nvSpPr>
          <p:cNvPr id="20" name="Text 17"/>
          <p:cNvSpPr/>
          <p:nvPr/>
        </p:nvSpPr>
        <p:spPr>
          <a:xfrm>
            <a:off x="3776563" y="2576761"/>
            <a:ext cx="1116657"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동시 요청 제한</a:t>
            </a:r>
            <a:endParaRPr lang="en-US" sz="1200" dirty="0"/>
          </a:p>
        </p:txBody>
      </p:sp>
      <p:sp>
        <p:nvSpPr>
          <p:cNvPr id="21" name="Shape 18"/>
          <p:cNvSpPr/>
          <p:nvPr/>
        </p:nvSpPr>
        <p:spPr>
          <a:xfrm>
            <a:off x="3454400" y="2830761"/>
            <a:ext cx="1634034" cy="0"/>
          </a:xfrm>
          <a:prstGeom prst="line">
            <a:avLst/>
          </a:prstGeom>
          <a:noFill/>
          <a:ln w="19050">
            <a:solidFill>
              <a:srgbClr val="131A2A"/>
            </a:solidFill>
            <a:prstDash val="solid"/>
          </a:ln>
        </p:spPr>
      </p:sp>
      <p:pic>
        <p:nvPicPr>
          <p:cNvPr id="22" name="Image 1" descr="arrow-right">    </p:cNvPr>
          <p:cNvPicPr>
            <a:picLocks noChangeAspect="1"/>
          </p:cNvPicPr>
          <p:nvPr/>
        </p:nvPicPr>
        <p:blipFill>
          <a:blip r:embed="rId2"/>
          <a:srcRect l="0" r="0" t="0" b="0"/>
          <a:stretch/>
        </p:blipFill>
        <p:spPr>
          <a:xfrm>
            <a:off x="5088434" y="2779961"/>
            <a:ext cx="127000" cy="101600"/>
          </a:xfrm>
          <a:prstGeom prst="rect">
            <a:avLst/>
          </a:prstGeom>
        </p:spPr>
      </p:pic>
      <p:sp>
        <p:nvSpPr>
          <p:cNvPr id="23" name="Text 19"/>
          <p:cNvSpPr/>
          <p:nvPr/>
        </p:nvSpPr>
        <p:spPr>
          <a:xfrm>
            <a:off x="5903367" y="2906961"/>
            <a:ext cx="214625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conversation · message 생성</a:t>
            </a:r>
            <a:endParaRPr lang="en-US" sz="1200" dirty="0"/>
          </a:p>
        </p:txBody>
      </p:sp>
      <p:sp>
        <p:nvSpPr>
          <p:cNvPr id="24" name="Shape 20"/>
          <p:cNvSpPr/>
          <p:nvPr/>
        </p:nvSpPr>
        <p:spPr>
          <a:xfrm>
            <a:off x="3454400" y="3160961"/>
            <a:ext cx="6917234" cy="0"/>
          </a:xfrm>
          <a:prstGeom prst="line">
            <a:avLst/>
          </a:prstGeom>
          <a:noFill/>
          <a:ln w="19050">
            <a:solidFill>
              <a:srgbClr val="131A2A"/>
            </a:solidFill>
            <a:prstDash val="solid"/>
          </a:ln>
        </p:spPr>
      </p:sp>
      <p:pic>
        <p:nvPicPr>
          <p:cNvPr id="25" name="Image 2" descr="arrow-right">    </p:cNvPr>
          <p:cNvPicPr>
            <a:picLocks noChangeAspect="1"/>
          </p:cNvPicPr>
          <p:nvPr/>
        </p:nvPicPr>
        <p:blipFill>
          <a:blip r:embed="rId3"/>
          <a:srcRect l="0" r="0" t="0" b="0"/>
          <a:stretch/>
        </p:blipFill>
        <p:spPr>
          <a:xfrm>
            <a:off x="10371634" y="3110161"/>
            <a:ext cx="127000" cy="101600"/>
          </a:xfrm>
          <a:prstGeom prst="rect">
            <a:avLst/>
          </a:prstGeom>
        </p:spPr>
      </p:pic>
      <p:sp>
        <p:nvSpPr>
          <p:cNvPr id="26" name="Text 21"/>
          <p:cNvSpPr/>
          <p:nvPr/>
        </p:nvSpPr>
        <p:spPr>
          <a:xfrm>
            <a:off x="4371529" y="3237161"/>
            <a:ext cx="168786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생성 스레드 + 큐 매니저</a:t>
            </a:r>
            <a:endParaRPr lang="en-US" sz="1200" dirty="0"/>
          </a:p>
        </p:txBody>
      </p:sp>
      <p:sp>
        <p:nvSpPr>
          <p:cNvPr id="27" name="Shape 22"/>
          <p:cNvSpPr/>
          <p:nvPr/>
        </p:nvSpPr>
        <p:spPr>
          <a:xfrm>
            <a:off x="3454400" y="3491161"/>
            <a:ext cx="3395117" cy="0"/>
          </a:xfrm>
          <a:prstGeom prst="line">
            <a:avLst/>
          </a:prstGeom>
          <a:noFill/>
          <a:ln w="19050">
            <a:solidFill>
              <a:srgbClr val="131A2A"/>
            </a:solidFill>
            <a:prstDash val="solid"/>
          </a:ln>
        </p:spPr>
      </p:sp>
      <p:pic>
        <p:nvPicPr>
          <p:cNvPr id="28" name="Image 3" descr="arrow-right">    </p:cNvPr>
          <p:cNvPicPr>
            <a:picLocks noChangeAspect="1"/>
          </p:cNvPicPr>
          <p:nvPr/>
        </p:nvPicPr>
        <p:blipFill>
          <a:blip r:embed="rId4"/>
          <a:srcRect l="0" r="0" t="0" b="0"/>
          <a:stretch/>
        </p:blipFill>
        <p:spPr>
          <a:xfrm>
            <a:off x="6849517" y="3440361"/>
            <a:ext cx="127000" cy="101600"/>
          </a:xfrm>
          <a:prstGeom prst="rect">
            <a:avLst/>
          </a:prstGeom>
        </p:spPr>
      </p:pic>
      <p:sp>
        <p:nvSpPr>
          <p:cNvPr id="29" name="Text 23"/>
          <p:cNvSpPr/>
          <p:nvPr/>
        </p:nvSpPr>
        <p:spPr>
          <a:xfrm>
            <a:off x="5218609" y="3570536"/>
            <a:ext cx="3515816" cy="273050"/>
          </a:xfrm>
          <a:prstGeom prst="roundRect">
            <a:avLst>
              <a:gd name="adj" fmla="val 17442"/>
            </a:avLst>
          </a:prstGeom>
          <a:solidFill>
            <a:srgbClr val="DCE6FA"/>
          </a:solidFill>
          <a:ln w="6350">
            <a:solidFill>
              <a:srgbClr val="2F5BB7"/>
            </a:solidFill>
            <a:prstDash val="solid"/>
          </a:ln>
        </p:spPr>
        <p:txBody>
          <a:bodyPr wrap="square" lIns="1989" tIns="27326" rIns="1989"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프롬프트 · 지식 검색 · 모더레이션</a:t>
            </a:r>
            <a:endParaRPr lang="en-US" sz="1200" dirty="0"/>
          </a:p>
        </p:txBody>
      </p:sp>
      <p:sp>
        <p:nvSpPr>
          <p:cNvPr id="30" name="Text 24"/>
          <p:cNvSpPr/>
          <p:nvPr/>
        </p:nvSpPr>
        <p:spPr>
          <a:xfrm>
            <a:off x="7383760" y="3872161"/>
            <a:ext cx="946547"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7</a:t>
            </a:r>
            <a:r>
              <a:rPr lang="en-US" sz="1200" dirty="0">
                <a:solidFill>
                  <a:srgbClr val="131A2A"/>
                </a:solidFill>
                <a:latin typeface="IBM Plex Sans KR" pitchFamily="34" charset="0"/>
                <a:ea typeface="IBM Plex Sans KR" pitchFamily="34" charset="-122"/>
                <a:cs typeface="IBM Plex Sans KR" pitchFamily="34" charset="-120"/>
              </a:rPr>
              <a:t> llm/invoke</a:t>
            </a:r>
            <a:endParaRPr lang="en-US" sz="1200" dirty="0"/>
          </a:p>
        </p:txBody>
      </p:sp>
      <p:sp>
        <p:nvSpPr>
          <p:cNvPr id="31" name="Shape 25"/>
          <p:cNvSpPr/>
          <p:nvPr/>
        </p:nvSpPr>
        <p:spPr>
          <a:xfrm>
            <a:off x="6976517" y="4126161"/>
            <a:ext cx="1634083" cy="0"/>
          </a:xfrm>
          <a:prstGeom prst="line">
            <a:avLst/>
          </a:prstGeom>
          <a:noFill/>
          <a:ln w="19050">
            <a:solidFill>
              <a:srgbClr val="131A2A"/>
            </a:solidFill>
            <a:prstDash val="solid"/>
          </a:ln>
        </p:spPr>
      </p:sp>
      <p:pic>
        <p:nvPicPr>
          <p:cNvPr id="32" name="Image 4" descr="arrow-right">    </p:cNvPr>
          <p:cNvPicPr>
            <a:picLocks noChangeAspect="1"/>
          </p:cNvPicPr>
          <p:nvPr/>
        </p:nvPicPr>
        <p:blipFill>
          <a:blip r:embed="rId5"/>
          <a:srcRect l="0" r="0" t="0" b="0"/>
          <a:stretch/>
        </p:blipFill>
        <p:spPr>
          <a:xfrm>
            <a:off x="8610600" y="4075361"/>
            <a:ext cx="127000" cy="101600"/>
          </a:xfrm>
          <a:prstGeom prst="rect">
            <a:avLst/>
          </a:prstGeom>
        </p:spPr>
      </p:pic>
      <p:sp>
        <p:nvSpPr>
          <p:cNvPr id="33" name="Text 26"/>
          <p:cNvSpPr/>
          <p:nvPr/>
        </p:nvSpPr>
        <p:spPr>
          <a:xfrm>
            <a:off x="7384653" y="4202361"/>
            <a:ext cx="94476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8</a:t>
            </a:r>
            <a:r>
              <a:rPr lang="en-US" sz="1200" dirty="0">
                <a:solidFill>
                  <a:srgbClr val="4A5263"/>
                </a:solidFill>
                <a:latin typeface="IBM Plex Sans KR" pitchFamily="34" charset="0"/>
                <a:ea typeface="IBM Plex Sans KR" pitchFamily="34" charset="-122"/>
                <a:cs typeface="IBM Plex Sans KR" pitchFamily="34" charset="-120"/>
              </a:rPr>
              <a:t> 토큰 스트림</a:t>
            </a:r>
            <a:endParaRPr lang="en-US" sz="1200" dirty="0"/>
          </a:p>
        </p:txBody>
      </p:sp>
      <p:pic>
        <p:nvPicPr>
          <p:cNvPr id="34" name="Image 5" descr="arrow-left">    </p:cNvPr>
          <p:cNvPicPr>
            <a:picLocks noChangeAspect="1"/>
          </p:cNvPicPr>
          <p:nvPr/>
        </p:nvPicPr>
        <p:blipFill>
          <a:blip r:embed="rId6"/>
          <a:srcRect l="0" r="0" t="0" b="0"/>
          <a:stretch/>
        </p:blipFill>
        <p:spPr>
          <a:xfrm>
            <a:off x="6976517" y="4405561"/>
            <a:ext cx="127000" cy="101600"/>
          </a:xfrm>
          <a:prstGeom prst="rect">
            <a:avLst/>
          </a:prstGeom>
        </p:spPr>
      </p:pic>
      <p:sp>
        <p:nvSpPr>
          <p:cNvPr id="35" name="Shape 27"/>
          <p:cNvSpPr/>
          <p:nvPr/>
        </p:nvSpPr>
        <p:spPr>
          <a:xfrm>
            <a:off x="7103517" y="4456361"/>
            <a:ext cx="1634083" cy="0"/>
          </a:xfrm>
          <a:prstGeom prst="line">
            <a:avLst/>
          </a:prstGeom>
          <a:noFill/>
          <a:ln w="19050">
            <a:solidFill>
              <a:srgbClr val="6B7385"/>
            </a:solidFill>
            <a:prstDash val="dash"/>
          </a:ln>
        </p:spPr>
      </p:sp>
      <p:sp>
        <p:nvSpPr>
          <p:cNvPr id="36" name="Text 28"/>
          <p:cNvSpPr/>
          <p:nvPr/>
        </p:nvSpPr>
        <p:spPr>
          <a:xfrm>
            <a:off x="4589165" y="4532561"/>
            <a:ext cx="1252587"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9</a:t>
            </a:r>
            <a:r>
              <a:rPr lang="en-US" sz="1200" dirty="0">
                <a:solidFill>
                  <a:srgbClr val="4A5263"/>
                </a:solidFill>
                <a:latin typeface="IBM Plex Sans KR" pitchFamily="34" charset="0"/>
                <a:ea typeface="IBM Plex Sans KR" pitchFamily="34" charset="-122"/>
                <a:cs typeface="IBM Plex Sans KR" pitchFamily="34" charset="-120"/>
              </a:rPr>
              <a:t> 큐로 이벤트 전달</a:t>
            </a:r>
            <a:endParaRPr lang="en-US" sz="1200" dirty="0"/>
          </a:p>
        </p:txBody>
      </p:sp>
      <p:pic>
        <p:nvPicPr>
          <p:cNvPr id="37" name="Image 6" descr="arrow-left">    </p:cNvPr>
          <p:cNvPicPr>
            <a:picLocks noChangeAspect="1"/>
          </p:cNvPicPr>
          <p:nvPr/>
        </p:nvPicPr>
        <p:blipFill>
          <a:blip r:embed="rId7"/>
          <a:srcRect l="0" r="0" t="0" b="0"/>
          <a:stretch/>
        </p:blipFill>
        <p:spPr>
          <a:xfrm>
            <a:off x="3454400" y="4735761"/>
            <a:ext cx="127000" cy="101600"/>
          </a:xfrm>
          <a:prstGeom prst="rect">
            <a:avLst/>
          </a:prstGeom>
        </p:spPr>
      </p:pic>
      <p:sp>
        <p:nvSpPr>
          <p:cNvPr id="38" name="Shape 29"/>
          <p:cNvSpPr/>
          <p:nvPr/>
        </p:nvSpPr>
        <p:spPr>
          <a:xfrm>
            <a:off x="3581400" y="4786561"/>
            <a:ext cx="3395117" cy="0"/>
          </a:xfrm>
          <a:prstGeom prst="line">
            <a:avLst/>
          </a:prstGeom>
          <a:noFill/>
          <a:ln w="19050">
            <a:solidFill>
              <a:srgbClr val="6B7385"/>
            </a:solidFill>
            <a:prstDash val="dash"/>
          </a:ln>
        </p:spPr>
      </p:sp>
      <p:sp>
        <p:nvSpPr>
          <p:cNvPr id="39" name="Text 30"/>
          <p:cNvSpPr/>
          <p:nvPr/>
        </p:nvSpPr>
        <p:spPr>
          <a:xfrm>
            <a:off x="1958975" y="4862761"/>
            <a:ext cx="1229717"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10</a:t>
            </a:r>
            <a:r>
              <a:rPr lang="en-US" sz="1200" dirty="0">
                <a:solidFill>
                  <a:srgbClr val="4A5263"/>
                </a:solidFill>
                <a:latin typeface="IBM Plex Sans KR" pitchFamily="34" charset="0"/>
                <a:ea typeface="IBM Plex Sans KR" pitchFamily="34" charset="-122"/>
                <a:cs typeface="IBM Plex Sans KR" pitchFamily="34" charset="-120"/>
              </a:rPr>
              <a:t> SSE message</a:t>
            </a:r>
            <a:endParaRPr lang="en-US" sz="1200" dirty="0"/>
          </a:p>
        </p:txBody>
      </p:sp>
      <p:pic>
        <p:nvPicPr>
          <p:cNvPr id="40" name="Image 7" descr="arrow-left">    </p:cNvPr>
          <p:cNvPicPr>
            <a:picLocks noChangeAspect="1"/>
          </p:cNvPicPr>
          <p:nvPr/>
        </p:nvPicPr>
        <p:blipFill>
          <a:blip r:embed="rId8"/>
          <a:srcRect l="0" r="0" t="0" b="0"/>
          <a:stretch/>
        </p:blipFill>
        <p:spPr>
          <a:xfrm>
            <a:off x="1693317" y="5065961"/>
            <a:ext cx="127000" cy="101600"/>
          </a:xfrm>
          <a:prstGeom prst="rect">
            <a:avLst/>
          </a:prstGeom>
        </p:spPr>
      </p:pic>
      <p:sp>
        <p:nvSpPr>
          <p:cNvPr id="41" name="Shape 31"/>
          <p:cNvSpPr/>
          <p:nvPr/>
        </p:nvSpPr>
        <p:spPr>
          <a:xfrm>
            <a:off x="1820317" y="5116761"/>
            <a:ext cx="1634083" cy="0"/>
          </a:xfrm>
          <a:prstGeom prst="line">
            <a:avLst/>
          </a:prstGeom>
          <a:noFill/>
          <a:ln w="19050">
            <a:solidFill>
              <a:srgbClr val="6B7385"/>
            </a:solidFill>
            <a:prstDash val="dash"/>
          </a:ln>
        </p:spPr>
      </p:sp>
      <p:sp>
        <p:nvSpPr>
          <p:cNvPr id="42" name="Text 32"/>
          <p:cNvSpPr/>
          <p:nvPr/>
        </p:nvSpPr>
        <p:spPr>
          <a:xfrm>
            <a:off x="7781578" y="5192961"/>
            <a:ext cx="1911995"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11</a:t>
            </a:r>
            <a:r>
              <a:rPr lang="en-US" sz="1200" dirty="0">
                <a:solidFill>
                  <a:srgbClr val="131A2A"/>
                </a:solidFill>
                <a:latin typeface="IBM Plex Sans KR" pitchFamily="34" charset="0"/>
                <a:ea typeface="IBM Plex Sans KR" pitchFamily="34" charset="-122"/>
                <a:cs typeface="IBM Plex Sans KR" pitchFamily="34" charset="-120"/>
              </a:rPr>
              <a:t> answer · 토큰 · 비용 저장</a:t>
            </a:r>
            <a:endParaRPr lang="en-US" sz="1200" dirty="0"/>
          </a:p>
        </p:txBody>
      </p:sp>
      <p:sp>
        <p:nvSpPr>
          <p:cNvPr id="43" name="Shape 33"/>
          <p:cNvSpPr/>
          <p:nvPr/>
        </p:nvSpPr>
        <p:spPr>
          <a:xfrm>
            <a:off x="6976517" y="5446961"/>
            <a:ext cx="3395117" cy="0"/>
          </a:xfrm>
          <a:prstGeom prst="line">
            <a:avLst/>
          </a:prstGeom>
          <a:noFill/>
          <a:ln w="19050">
            <a:solidFill>
              <a:srgbClr val="131A2A"/>
            </a:solidFill>
            <a:prstDash val="solid"/>
          </a:ln>
        </p:spPr>
      </p:sp>
      <p:pic>
        <p:nvPicPr>
          <p:cNvPr id="44" name="Image 8" descr="arrow-right">    </p:cNvPr>
          <p:cNvPicPr>
            <a:picLocks noChangeAspect="1"/>
          </p:cNvPicPr>
          <p:nvPr/>
        </p:nvPicPr>
        <p:blipFill>
          <a:blip r:embed="rId9"/>
          <a:srcRect l="0" r="0" t="0" b="0"/>
          <a:stretch/>
        </p:blipFill>
        <p:spPr>
          <a:xfrm>
            <a:off x="10371634" y="5396161"/>
            <a:ext cx="127000" cy="101600"/>
          </a:xfrm>
          <a:prstGeom prst="rect">
            <a:avLst/>
          </a:prstGeom>
        </p:spPr>
      </p:pic>
      <p:sp>
        <p:nvSpPr>
          <p:cNvPr id="45"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18 · 출처: services/app_generate_service.py, core/app/apps/chat, base_app_queue_manager.py</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937000"/>
          </a:xfrm>
          <a:prstGeom prst="rect">
            <a:avLst/>
          </a:prstGeom>
          <a:solidFill>
            <a:srgbClr val="C9C5BA"/>
          </a:solidFill>
          <a:ln/>
        </p:spPr>
      </p:sp>
      <p:sp>
        <p:nvSpPr>
          <p:cNvPr id="3" name="Shape 1"/>
          <p:cNvSpPr/>
          <p:nvPr/>
        </p:nvSpPr>
        <p:spPr>
          <a:xfrm>
            <a:off x="3448050" y="1841500"/>
            <a:ext cx="12700" cy="3937000"/>
          </a:xfrm>
          <a:prstGeom prst="rect">
            <a:avLst/>
          </a:prstGeom>
          <a:solidFill>
            <a:srgbClr val="C9C5BA"/>
          </a:solidFill>
          <a:ln/>
        </p:spPr>
      </p:sp>
      <p:sp>
        <p:nvSpPr>
          <p:cNvPr id="4" name="Shape 2"/>
          <p:cNvSpPr/>
          <p:nvPr/>
        </p:nvSpPr>
        <p:spPr>
          <a:xfrm>
            <a:off x="5207000" y="1841500"/>
            <a:ext cx="12700" cy="3937000"/>
          </a:xfrm>
          <a:prstGeom prst="rect">
            <a:avLst/>
          </a:prstGeom>
          <a:solidFill>
            <a:srgbClr val="C9C5BA"/>
          </a:solidFill>
          <a:ln/>
        </p:spPr>
      </p:sp>
      <p:sp>
        <p:nvSpPr>
          <p:cNvPr id="5" name="Shape 3"/>
          <p:cNvSpPr/>
          <p:nvPr/>
        </p:nvSpPr>
        <p:spPr>
          <a:xfrm>
            <a:off x="6972300" y="1841500"/>
            <a:ext cx="12700" cy="3937000"/>
          </a:xfrm>
          <a:prstGeom prst="rect">
            <a:avLst/>
          </a:prstGeom>
          <a:solidFill>
            <a:srgbClr val="C9C5BA"/>
          </a:solidFill>
          <a:ln/>
        </p:spPr>
      </p:sp>
      <p:sp>
        <p:nvSpPr>
          <p:cNvPr id="6" name="Shape 4"/>
          <p:cNvSpPr/>
          <p:nvPr/>
        </p:nvSpPr>
        <p:spPr>
          <a:xfrm>
            <a:off x="8731250" y="1841500"/>
            <a:ext cx="12700" cy="3937000"/>
          </a:xfrm>
          <a:prstGeom prst="rect">
            <a:avLst/>
          </a:prstGeom>
          <a:solidFill>
            <a:srgbClr val="C9C5BA"/>
          </a:solidFill>
          <a:ln/>
        </p:spPr>
      </p:sp>
      <p:sp>
        <p:nvSpPr>
          <p:cNvPr id="7" name="Shape 5"/>
          <p:cNvSpPr/>
          <p:nvPr/>
        </p:nvSpPr>
        <p:spPr>
          <a:xfrm>
            <a:off x="10490200" y="1841500"/>
            <a:ext cx="12700" cy="39370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S2 · SEQUENCE · WORKFLOW (STREAMING)</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워크플로: API는 구독, 실행은 Celery 워커</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클라이언트</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API</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Redis pub/sub</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Celery 워커</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graphon 엔진</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PostgreSQL</a:t>
            </a:r>
            <a:endParaRPr lang="en-US" sz="1200" dirty="0"/>
          </a:p>
        </p:txBody>
      </p:sp>
      <p:sp>
        <p:nvSpPr>
          <p:cNvPr id="16" name="Text 14"/>
          <p:cNvSpPr/>
          <p:nvPr/>
        </p:nvSpPr>
        <p:spPr>
          <a:xfrm>
            <a:off x="1963489" y="1941761"/>
            <a:ext cx="122073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workflows/run</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1696492" y="2275136"/>
            <a:ext cx="3515767" cy="273050"/>
          </a:xfrm>
          <a:prstGeom prst="roundRect">
            <a:avLst>
              <a:gd name="adj" fmla="val 17442"/>
            </a:avLst>
          </a:prstGeom>
          <a:solidFill>
            <a:srgbClr val="DCE6FA"/>
          </a:solidFill>
          <a:ln w="6350">
            <a:solidFill>
              <a:srgbClr val="2F5BB7"/>
            </a:solidFill>
            <a:prstDash val="solid"/>
          </a:ln>
        </p:spPr>
        <p:txBody>
          <a:bodyPr wrap="square" lIns="1990" tIns="27326" rIns="1990"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게시 버전 조회 · 동시 요청 제한</a:t>
            </a:r>
            <a:endParaRPr lang="en-US" sz="1200" dirty="0"/>
          </a:p>
        </p:txBody>
      </p:sp>
      <p:sp>
        <p:nvSpPr>
          <p:cNvPr id="20" name="Text 17"/>
          <p:cNvSpPr/>
          <p:nvPr/>
        </p:nvSpPr>
        <p:spPr>
          <a:xfrm>
            <a:off x="3930501" y="2576761"/>
            <a:ext cx="80878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채널 구독</a:t>
            </a:r>
            <a:endParaRPr lang="en-US" sz="1200" dirty="0"/>
          </a:p>
        </p:txBody>
      </p:sp>
      <p:sp>
        <p:nvSpPr>
          <p:cNvPr id="21" name="Shape 18"/>
          <p:cNvSpPr/>
          <p:nvPr/>
        </p:nvSpPr>
        <p:spPr>
          <a:xfrm>
            <a:off x="3454400" y="2830761"/>
            <a:ext cx="1634034" cy="0"/>
          </a:xfrm>
          <a:prstGeom prst="line">
            <a:avLst/>
          </a:prstGeom>
          <a:noFill/>
          <a:ln w="19050">
            <a:solidFill>
              <a:srgbClr val="131A2A"/>
            </a:solidFill>
            <a:prstDash val="solid"/>
          </a:ln>
        </p:spPr>
      </p:sp>
      <p:pic>
        <p:nvPicPr>
          <p:cNvPr id="22" name="Image 1" descr="arrow-right">    </p:cNvPr>
          <p:cNvPicPr>
            <a:picLocks noChangeAspect="1"/>
          </p:cNvPicPr>
          <p:nvPr/>
        </p:nvPicPr>
        <p:blipFill>
          <a:blip r:embed="rId2"/>
          <a:srcRect l="0" r="0" t="0" b="0"/>
          <a:stretch/>
        </p:blipFill>
        <p:spPr>
          <a:xfrm>
            <a:off x="5088434" y="2779961"/>
            <a:ext cx="127000" cy="101600"/>
          </a:xfrm>
          <a:prstGeom prst="rect">
            <a:avLst/>
          </a:prstGeom>
        </p:spPr>
      </p:pic>
      <p:sp>
        <p:nvSpPr>
          <p:cNvPr id="23" name="Text 19"/>
          <p:cNvSpPr/>
          <p:nvPr/>
        </p:nvSpPr>
        <p:spPr>
          <a:xfrm>
            <a:off x="4334718" y="2906961"/>
            <a:ext cx="176143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첫 구독 시 Celery 태스크</a:t>
            </a:r>
            <a:endParaRPr lang="en-US" sz="1200" dirty="0"/>
          </a:p>
        </p:txBody>
      </p:sp>
      <p:sp>
        <p:nvSpPr>
          <p:cNvPr id="24" name="Shape 20"/>
          <p:cNvSpPr/>
          <p:nvPr/>
        </p:nvSpPr>
        <p:spPr>
          <a:xfrm>
            <a:off x="3454400" y="3160961"/>
            <a:ext cx="3395117" cy="0"/>
          </a:xfrm>
          <a:prstGeom prst="line">
            <a:avLst/>
          </a:prstGeom>
          <a:noFill/>
          <a:ln w="19050">
            <a:solidFill>
              <a:srgbClr val="131A2A"/>
            </a:solidFill>
            <a:prstDash val="solid"/>
          </a:ln>
        </p:spPr>
      </p:sp>
      <p:pic>
        <p:nvPicPr>
          <p:cNvPr id="25" name="Image 2" descr="arrow-right">    </p:cNvPr>
          <p:cNvPicPr>
            <a:picLocks noChangeAspect="1"/>
          </p:cNvPicPr>
          <p:nvPr/>
        </p:nvPicPr>
        <p:blipFill>
          <a:blip r:embed="rId3"/>
          <a:srcRect l="0" r="0" t="0" b="0"/>
          <a:stretch/>
        </p:blipFill>
        <p:spPr>
          <a:xfrm>
            <a:off x="6849517" y="3110161"/>
            <a:ext cx="127000" cy="101600"/>
          </a:xfrm>
          <a:prstGeom prst="rect">
            <a:avLst/>
          </a:prstGeom>
        </p:spPr>
      </p:pic>
      <p:sp>
        <p:nvSpPr>
          <p:cNvPr id="26" name="Text 21"/>
          <p:cNvSpPr/>
          <p:nvPr/>
        </p:nvSpPr>
        <p:spPr>
          <a:xfrm>
            <a:off x="7962305" y="3237161"/>
            <a:ext cx="155054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workflow_runs 생성</a:t>
            </a:r>
            <a:endParaRPr lang="en-US" sz="1200" dirty="0"/>
          </a:p>
        </p:txBody>
      </p:sp>
      <p:sp>
        <p:nvSpPr>
          <p:cNvPr id="27" name="Shape 22"/>
          <p:cNvSpPr/>
          <p:nvPr/>
        </p:nvSpPr>
        <p:spPr>
          <a:xfrm>
            <a:off x="6976517" y="3491161"/>
            <a:ext cx="3395117" cy="0"/>
          </a:xfrm>
          <a:prstGeom prst="line">
            <a:avLst/>
          </a:prstGeom>
          <a:noFill/>
          <a:ln w="19050">
            <a:solidFill>
              <a:srgbClr val="131A2A"/>
            </a:solidFill>
            <a:prstDash val="solid"/>
          </a:ln>
        </p:spPr>
      </p:sp>
      <p:pic>
        <p:nvPicPr>
          <p:cNvPr id="28" name="Image 3" descr="arrow-right">    </p:cNvPr>
          <p:cNvPicPr>
            <a:picLocks noChangeAspect="1"/>
          </p:cNvPicPr>
          <p:nvPr/>
        </p:nvPicPr>
        <p:blipFill>
          <a:blip r:embed="rId4"/>
          <a:srcRect l="0" r="0" t="0" b="0"/>
          <a:stretch/>
        </p:blipFill>
        <p:spPr>
          <a:xfrm>
            <a:off x="10371634" y="3440361"/>
            <a:ext cx="127000" cy="101600"/>
          </a:xfrm>
          <a:prstGeom prst="rect">
            <a:avLst/>
          </a:prstGeom>
        </p:spPr>
      </p:pic>
      <p:sp>
        <p:nvSpPr>
          <p:cNvPr id="29" name="Text 23"/>
          <p:cNvSpPr/>
          <p:nvPr/>
        </p:nvSpPr>
        <p:spPr>
          <a:xfrm>
            <a:off x="7320955" y="3567361"/>
            <a:ext cx="107215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엔진 + 레이어</a:t>
            </a:r>
            <a:endParaRPr lang="en-US" sz="1200" dirty="0"/>
          </a:p>
        </p:txBody>
      </p:sp>
      <p:sp>
        <p:nvSpPr>
          <p:cNvPr id="30" name="Shape 24"/>
          <p:cNvSpPr/>
          <p:nvPr/>
        </p:nvSpPr>
        <p:spPr>
          <a:xfrm>
            <a:off x="6976517" y="3821361"/>
            <a:ext cx="1634083" cy="0"/>
          </a:xfrm>
          <a:prstGeom prst="line">
            <a:avLst/>
          </a:prstGeom>
          <a:noFill/>
          <a:ln w="19050">
            <a:solidFill>
              <a:srgbClr val="131A2A"/>
            </a:solidFill>
            <a:prstDash val="solid"/>
          </a:ln>
        </p:spPr>
      </p:sp>
      <p:pic>
        <p:nvPicPr>
          <p:cNvPr id="31" name="Image 4" descr="arrow-right">    </p:cNvPr>
          <p:cNvPicPr>
            <a:picLocks noChangeAspect="1"/>
          </p:cNvPicPr>
          <p:nvPr/>
        </p:nvPicPr>
        <p:blipFill>
          <a:blip r:embed="rId5"/>
          <a:srcRect l="0" r="0" t="0" b="0"/>
          <a:stretch/>
        </p:blipFill>
        <p:spPr>
          <a:xfrm>
            <a:off x="8610600" y="3770561"/>
            <a:ext cx="127000" cy="101600"/>
          </a:xfrm>
          <a:prstGeom prst="rect">
            <a:avLst/>
          </a:prstGeom>
        </p:spPr>
      </p:pic>
      <p:sp>
        <p:nvSpPr>
          <p:cNvPr id="32" name="Text 25"/>
          <p:cNvSpPr/>
          <p:nvPr/>
        </p:nvSpPr>
        <p:spPr>
          <a:xfrm>
            <a:off x="6979692" y="3900736"/>
            <a:ext cx="3515767" cy="273050"/>
          </a:xfrm>
          <a:prstGeom prst="roundRect">
            <a:avLst>
              <a:gd name="adj" fmla="val 17442"/>
            </a:avLst>
          </a:prstGeom>
          <a:solidFill>
            <a:srgbClr val="DCE6FA"/>
          </a:solidFill>
          <a:ln w="6350">
            <a:solidFill>
              <a:srgbClr val="2F5BB7"/>
            </a:solidFill>
            <a:prstDash val="solid"/>
          </a:ln>
        </p:spPr>
        <p:txBody>
          <a:bodyPr wrap="square" lIns="1990" tIns="27326" rIns="1990"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7</a:t>
            </a:r>
            <a:r>
              <a:rPr lang="en-US" sz="1200" dirty="0">
                <a:solidFill>
                  <a:srgbClr val="131A2A"/>
                </a:solidFill>
                <a:latin typeface="IBM Plex Sans KR" pitchFamily="34" charset="0"/>
                <a:ea typeface="IBM Plex Sans KR" pitchFamily="34" charset="-122"/>
                <a:cs typeface="IBM Plex Sans KR" pitchFamily="34" charset="-120"/>
              </a:rPr>
              <a:t> ready queue → 워커 풀 → 노드</a:t>
            </a:r>
            <a:endParaRPr lang="en-US" sz="1200" dirty="0"/>
          </a:p>
        </p:txBody>
      </p:sp>
      <p:sp>
        <p:nvSpPr>
          <p:cNvPr id="33" name="Text 26"/>
          <p:cNvSpPr/>
          <p:nvPr/>
        </p:nvSpPr>
        <p:spPr>
          <a:xfrm>
            <a:off x="7384653" y="4202361"/>
            <a:ext cx="94476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8</a:t>
            </a:r>
            <a:r>
              <a:rPr lang="en-US" sz="1200" dirty="0">
                <a:solidFill>
                  <a:srgbClr val="4A5263"/>
                </a:solidFill>
                <a:latin typeface="IBM Plex Sans KR" pitchFamily="34" charset="0"/>
                <a:ea typeface="IBM Plex Sans KR" pitchFamily="34" charset="-122"/>
                <a:cs typeface="IBM Plex Sans KR" pitchFamily="34" charset="-120"/>
              </a:rPr>
              <a:t> 엔진 이벤트</a:t>
            </a:r>
            <a:endParaRPr lang="en-US" sz="1200" dirty="0"/>
          </a:p>
        </p:txBody>
      </p:sp>
      <p:pic>
        <p:nvPicPr>
          <p:cNvPr id="34" name="Image 5" descr="arrow-left">    </p:cNvPr>
          <p:cNvPicPr>
            <a:picLocks noChangeAspect="1"/>
          </p:cNvPicPr>
          <p:nvPr/>
        </p:nvPicPr>
        <p:blipFill>
          <a:blip r:embed="rId6"/>
          <a:srcRect l="0" r="0" t="0" b="0"/>
          <a:stretch/>
        </p:blipFill>
        <p:spPr>
          <a:xfrm>
            <a:off x="6976517" y="4405561"/>
            <a:ext cx="127000" cy="101600"/>
          </a:xfrm>
          <a:prstGeom prst="rect">
            <a:avLst/>
          </a:prstGeom>
        </p:spPr>
      </p:pic>
      <p:sp>
        <p:nvSpPr>
          <p:cNvPr id="35" name="Shape 27"/>
          <p:cNvSpPr/>
          <p:nvPr/>
        </p:nvSpPr>
        <p:spPr>
          <a:xfrm>
            <a:off x="7103517" y="4456361"/>
            <a:ext cx="1634083" cy="0"/>
          </a:xfrm>
          <a:prstGeom prst="line">
            <a:avLst/>
          </a:prstGeom>
          <a:noFill/>
          <a:ln w="19050">
            <a:solidFill>
              <a:srgbClr val="6B7385"/>
            </a:solidFill>
            <a:prstDash val="dash"/>
          </a:ln>
        </p:spPr>
      </p:sp>
      <p:sp>
        <p:nvSpPr>
          <p:cNvPr id="36" name="Text 28"/>
          <p:cNvSpPr/>
          <p:nvPr/>
        </p:nvSpPr>
        <p:spPr>
          <a:xfrm>
            <a:off x="5729585" y="4532561"/>
            <a:ext cx="73273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9</a:t>
            </a:r>
            <a:r>
              <a:rPr lang="en-US" sz="1200" dirty="0">
                <a:solidFill>
                  <a:srgbClr val="131A2A"/>
                </a:solidFill>
                <a:latin typeface="IBM Plex Sans KR" pitchFamily="34" charset="0"/>
                <a:ea typeface="IBM Plex Sans KR" pitchFamily="34" charset="-122"/>
                <a:cs typeface="IBM Plex Sans KR" pitchFamily="34" charset="-120"/>
              </a:rPr>
              <a:t> publish</a:t>
            </a:r>
            <a:endParaRPr lang="en-US" sz="1200" dirty="0"/>
          </a:p>
        </p:txBody>
      </p:sp>
      <p:pic>
        <p:nvPicPr>
          <p:cNvPr id="37" name="Image 6" descr="arrow-left">    </p:cNvPr>
          <p:cNvPicPr>
            <a:picLocks noChangeAspect="1"/>
          </p:cNvPicPr>
          <p:nvPr/>
        </p:nvPicPr>
        <p:blipFill>
          <a:blip r:embed="rId7"/>
          <a:srcRect l="0" r="0" t="0" b="0"/>
          <a:stretch/>
        </p:blipFill>
        <p:spPr>
          <a:xfrm>
            <a:off x="5215434" y="4735761"/>
            <a:ext cx="127000" cy="101600"/>
          </a:xfrm>
          <a:prstGeom prst="rect">
            <a:avLst/>
          </a:prstGeom>
        </p:spPr>
      </p:pic>
      <p:sp>
        <p:nvSpPr>
          <p:cNvPr id="38" name="Shape 29"/>
          <p:cNvSpPr/>
          <p:nvPr/>
        </p:nvSpPr>
        <p:spPr>
          <a:xfrm>
            <a:off x="5342434" y="4786561"/>
            <a:ext cx="1634083" cy="0"/>
          </a:xfrm>
          <a:prstGeom prst="line">
            <a:avLst/>
          </a:prstGeom>
          <a:noFill/>
          <a:ln w="19050">
            <a:solidFill>
              <a:srgbClr val="131A2A"/>
            </a:solidFill>
            <a:prstDash val="solid"/>
          </a:ln>
        </p:spPr>
      </p:sp>
      <p:sp>
        <p:nvSpPr>
          <p:cNvPr id="39" name="Text 30"/>
          <p:cNvSpPr/>
          <p:nvPr/>
        </p:nvSpPr>
        <p:spPr>
          <a:xfrm>
            <a:off x="3816796" y="4862761"/>
            <a:ext cx="103619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10</a:t>
            </a:r>
            <a:r>
              <a:rPr lang="en-US" sz="1200" dirty="0">
                <a:solidFill>
                  <a:srgbClr val="4A5263"/>
                </a:solidFill>
                <a:latin typeface="IBM Plex Sans KR" pitchFamily="34" charset="0"/>
                <a:ea typeface="IBM Plex Sans KR" pitchFamily="34" charset="-122"/>
                <a:cs typeface="IBM Plex Sans KR" pitchFamily="34" charset="-120"/>
              </a:rPr>
              <a:t> 이벤트 수신</a:t>
            </a:r>
            <a:endParaRPr lang="en-US" sz="1200" dirty="0"/>
          </a:p>
        </p:txBody>
      </p:sp>
      <p:pic>
        <p:nvPicPr>
          <p:cNvPr id="40" name="Image 7" descr="arrow-left">    </p:cNvPr>
          <p:cNvPicPr>
            <a:picLocks noChangeAspect="1"/>
          </p:cNvPicPr>
          <p:nvPr/>
        </p:nvPicPr>
        <p:blipFill>
          <a:blip r:embed="rId8"/>
          <a:srcRect l="0" r="0" t="0" b="0"/>
          <a:stretch/>
        </p:blipFill>
        <p:spPr>
          <a:xfrm>
            <a:off x="3454400" y="5065961"/>
            <a:ext cx="127000" cy="101600"/>
          </a:xfrm>
          <a:prstGeom prst="rect">
            <a:avLst/>
          </a:prstGeom>
        </p:spPr>
      </p:pic>
      <p:sp>
        <p:nvSpPr>
          <p:cNvPr id="41" name="Shape 31"/>
          <p:cNvSpPr/>
          <p:nvPr/>
        </p:nvSpPr>
        <p:spPr>
          <a:xfrm>
            <a:off x="3581400" y="5116761"/>
            <a:ext cx="1634034" cy="0"/>
          </a:xfrm>
          <a:prstGeom prst="line">
            <a:avLst/>
          </a:prstGeom>
          <a:noFill/>
          <a:ln w="19050">
            <a:solidFill>
              <a:srgbClr val="6B7385"/>
            </a:solidFill>
            <a:prstDash val="dash"/>
          </a:ln>
        </p:spPr>
      </p:sp>
      <p:sp>
        <p:nvSpPr>
          <p:cNvPr id="42" name="Text 32"/>
          <p:cNvSpPr/>
          <p:nvPr/>
        </p:nvSpPr>
        <p:spPr>
          <a:xfrm>
            <a:off x="2059484" y="5192961"/>
            <a:ext cx="102870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11</a:t>
            </a:r>
            <a:r>
              <a:rPr lang="en-US" sz="1200" dirty="0">
                <a:solidFill>
                  <a:srgbClr val="4A5263"/>
                </a:solidFill>
                <a:latin typeface="IBM Plex Sans KR" pitchFamily="34" charset="0"/>
                <a:ea typeface="IBM Plex Sans KR" pitchFamily="34" charset="-122"/>
                <a:cs typeface="IBM Plex Sans KR" pitchFamily="34" charset="-120"/>
              </a:rPr>
              <a:t> SSE 이벤트</a:t>
            </a:r>
            <a:endParaRPr lang="en-US" sz="1200" dirty="0"/>
          </a:p>
        </p:txBody>
      </p:sp>
      <p:pic>
        <p:nvPicPr>
          <p:cNvPr id="43" name="Image 8" descr="arrow-left">    </p:cNvPr>
          <p:cNvPicPr>
            <a:picLocks noChangeAspect="1"/>
          </p:cNvPicPr>
          <p:nvPr/>
        </p:nvPicPr>
        <p:blipFill>
          <a:blip r:embed="rId9"/>
          <a:srcRect l="0" r="0" t="0" b="0"/>
          <a:stretch/>
        </p:blipFill>
        <p:spPr>
          <a:xfrm>
            <a:off x="1693317" y="5396161"/>
            <a:ext cx="127000" cy="101600"/>
          </a:xfrm>
          <a:prstGeom prst="rect">
            <a:avLst/>
          </a:prstGeom>
        </p:spPr>
      </p:pic>
      <p:sp>
        <p:nvSpPr>
          <p:cNvPr id="44" name="Shape 33"/>
          <p:cNvSpPr/>
          <p:nvPr/>
        </p:nvSpPr>
        <p:spPr>
          <a:xfrm>
            <a:off x="1820317" y="5446961"/>
            <a:ext cx="1634083" cy="0"/>
          </a:xfrm>
          <a:prstGeom prst="line">
            <a:avLst/>
          </a:prstGeom>
          <a:noFill/>
          <a:ln w="19050">
            <a:solidFill>
              <a:srgbClr val="6B7385"/>
            </a:solidFill>
            <a:prstDash val="dash"/>
          </a:ln>
        </p:spPr>
      </p:sp>
      <p:sp>
        <p:nvSpPr>
          <p:cNvPr id="45" name="Text 34"/>
          <p:cNvSpPr/>
          <p:nvPr/>
        </p:nvSpPr>
        <p:spPr>
          <a:xfrm>
            <a:off x="7936756" y="5523161"/>
            <a:ext cx="1601589"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12</a:t>
            </a:r>
            <a:r>
              <a:rPr lang="en-US" sz="1200" dirty="0">
                <a:solidFill>
                  <a:srgbClr val="131A2A"/>
                </a:solidFill>
                <a:latin typeface="IBM Plex Sans KR" pitchFamily="34" charset="0"/>
                <a:ea typeface="IBM Plex Sans KR" pitchFamily="34" charset="-122"/>
                <a:cs typeface="IBM Plex Sans KR" pitchFamily="34" charset="-120"/>
              </a:rPr>
              <a:t> 노드 실행 · 결과 저장</a:t>
            </a:r>
            <a:endParaRPr lang="en-US" sz="1200" dirty="0"/>
          </a:p>
        </p:txBody>
      </p:sp>
      <p:sp>
        <p:nvSpPr>
          <p:cNvPr id="46" name="Shape 35"/>
          <p:cNvSpPr/>
          <p:nvPr/>
        </p:nvSpPr>
        <p:spPr>
          <a:xfrm>
            <a:off x="6976517" y="5777161"/>
            <a:ext cx="3395117" cy="0"/>
          </a:xfrm>
          <a:prstGeom prst="line">
            <a:avLst/>
          </a:prstGeom>
          <a:noFill/>
          <a:ln w="19050">
            <a:solidFill>
              <a:srgbClr val="131A2A"/>
            </a:solidFill>
            <a:prstDash val="solid"/>
          </a:ln>
        </p:spPr>
      </p:sp>
      <p:pic>
        <p:nvPicPr>
          <p:cNvPr id="47" name="Image 9" descr="arrow-right">    </p:cNvPr>
          <p:cNvPicPr>
            <a:picLocks noChangeAspect="1"/>
          </p:cNvPicPr>
          <p:nvPr/>
        </p:nvPicPr>
        <p:blipFill>
          <a:blip r:embed="rId10"/>
          <a:srcRect l="0" r="0" t="0" b="0"/>
          <a:stretch/>
        </p:blipFill>
        <p:spPr>
          <a:xfrm>
            <a:off x="10371634" y="5726361"/>
            <a:ext cx="127000" cy="101600"/>
          </a:xfrm>
          <a:prstGeom prst="rect">
            <a:avLst/>
          </a:prstGeom>
        </p:spPr>
      </p:pic>
      <p:sp>
        <p:nvSpPr>
          <p:cNvPr id="48" name="Text 3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19 · 출처: app_generate_service.py, message_based_app_generator.py, tasks/app_generate/workflow_execute_task.py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937000"/>
          </a:xfrm>
          <a:prstGeom prst="rect">
            <a:avLst/>
          </a:prstGeom>
          <a:solidFill>
            <a:srgbClr val="C9C5BA"/>
          </a:solidFill>
          <a:ln/>
        </p:spPr>
      </p:sp>
      <p:sp>
        <p:nvSpPr>
          <p:cNvPr id="3" name="Shape 1"/>
          <p:cNvSpPr/>
          <p:nvPr/>
        </p:nvSpPr>
        <p:spPr>
          <a:xfrm>
            <a:off x="3448050" y="1841500"/>
            <a:ext cx="12700" cy="3937000"/>
          </a:xfrm>
          <a:prstGeom prst="rect">
            <a:avLst/>
          </a:prstGeom>
          <a:solidFill>
            <a:srgbClr val="C9C5BA"/>
          </a:solidFill>
          <a:ln/>
        </p:spPr>
      </p:sp>
      <p:sp>
        <p:nvSpPr>
          <p:cNvPr id="4" name="Shape 2"/>
          <p:cNvSpPr/>
          <p:nvPr/>
        </p:nvSpPr>
        <p:spPr>
          <a:xfrm>
            <a:off x="5207000" y="1841500"/>
            <a:ext cx="12700" cy="3937000"/>
          </a:xfrm>
          <a:prstGeom prst="rect">
            <a:avLst/>
          </a:prstGeom>
          <a:solidFill>
            <a:srgbClr val="C9C5BA"/>
          </a:solidFill>
          <a:ln/>
        </p:spPr>
      </p:sp>
      <p:sp>
        <p:nvSpPr>
          <p:cNvPr id="5" name="Shape 3"/>
          <p:cNvSpPr/>
          <p:nvPr/>
        </p:nvSpPr>
        <p:spPr>
          <a:xfrm>
            <a:off x="6972300" y="1841500"/>
            <a:ext cx="12700" cy="3937000"/>
          </a:xfrm>
          <a:prstGeom prst="rect">
            <a:avLst/>
          </a:prstGeom>
          <a:solidFill>
            <a:srgbClr val="C9C5BA"/>
          </a:solidFill>
          <a:ln/>
        </p:spPr>
      </p:sp>
      <p:sp>
        <p:nvSpPr>
          <p:cNvPr id="6" name="Shape 4"/>
          <p:cNvSpPr/>
          <p:nvPr/>
        </p:nvSpPr>
        <p:spPr>
          <a:xfrm>
            <a:off x="8731250" y="1841500"/>
            <a:ext cx="12700" cy="3937000"/>
          </a:xfrm>
          <a:prstGeom prst="rect">
            <a:avLst/>
          </a:prstGeom>
          <a:solidFill>
            <a:srgbClr val="C9C5BA"/>
          </a:solidFill>
          <a:ln/>
        </p:spPr>
      </p:sp>
      <p:sp>
        <p:nvSpPr>
          <p:cNvPr id="7" name="Shape 5"/>
          <p:cNvSpPr/>
          <p:nvPr/>
        </p:nvSpPr>
        <p:spPr>
          <a:xfrm>
            <a:off x="10490200" y="1841500"/>
            <a:ext cx="12700" cy="39370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S3 · SEQUENCE · PLUGIN INVOCATION</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플러그인 호출과 역호출: 정책은 api가 쥔다</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노드 실행기</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Plugin Daemon</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도구 플러그인</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외부 SaaS API</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Inner API</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LLM 플러그인</a:t>
            </a:r>
            <a:endParaRPr lang="en-US" sz="1200" dirty="0"/>
          </a:p>
        </p:txBody>
      </p:sp>
      <p:sp>
        <p:nvSpPr>
          <p:cNvPr id="16" name="Text 14"/>
          <p:cNvSpPr/>
          <p:nvPr/>
        </p:nvSpPr>
        <p:spPr>
          <a:xfrm>
            <a:off x="2075656" y="1941761"/>
            <a:ext cx="996404"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tool/invoke</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1696492" y="2275136"/>
            <a:ext cx="3515767" cy="273050"/>
          </a:xfrm>
          <a:prstGeom prst="roundRect">
            <a:avLst>
              <a:gd name="adj" fmla="val 17442"/>
            </a:avLst>
          </a:prstGeom>
          <a:solidFill>
            <a:srgbClr val="DCE6FA"/>
          </a:solidFill>
          <a:ln w="6350">
            <a:solidFill>
              <a:srgbClr val="2F5BB7"/>
            </a:solidFill>
            <a:prstDash val="solid"/>
          </a:ln>
        </p:spPr>
        <p:txBody>
          <a:bodyPr wrap="square" lIns="1990" tIns="27326" rIns="1990"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설치 확인 · 런타임 선택</a:t>
            </a:r>
            <a:endParaRPr lang="en-US" sz="1200" dirty="0"/>
          </a:p>
        </p:txBody>
      </p:sp>
      <p:sp>
        <p:nvSpPr>
          <p:cNvPr id="20" name="Text 17"/>
          <p:cNvSpPr/>
          <p:nvPr/>
        </p:nvSpPr>
        <p:spPr>
          <a:xfrm>
            <a:off x="3897511" y="2576761"/>
            <a:ext cx="87481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stdio 요청</a:t>
            </a:r>
            <a:endParaRPr lang="en-US" sz="1200" dirty="0"/>
          </a:p>
        </p:txBody>
      </p:sp>
      <p:sp>
        <p:nvSpPr>
          <p:cNvPr id="21" name="Shape 18"/>
          <p:cNvSpPr/>
          <p:nvPr/>
        </p:nvSpPr>
        <p:spPr>
          <a:xfrm>
            <a:off x="3454400" y="2830761"/>
            <a:ext cx="1634034" cy="0"/>
          </a:xfrm>
          <a:prstGeom prst="line">
            <a:avLst/>
          </a:prstGeom>
          <a:noFill/>
          <a:ln w="19050">
            <a:solidFill>
              <a:srgbClr val="131A2A"/>
            </a:solidFill>
            <a:prstDash val="solid"/>
          </a:ln>
        </p:spPr>
      </p:sp>
      <p:pic>
        <p:nvPicPr>
          <p:cNvPr id="22" name="Image 1" descr="arrow-right">    </p:cNvPr>
          <p:cNvPicPr>
            <a:picLocks noChangeAspect="1"/>
          </p:cNvPicPr>
          <p:nvPr/>
        </p:nvPicPr>
        <p:blipFill>
          <a:blip r:embed="rId2"/>
          <a:srcRect l="0" r="0" t="0" b="0"/>
          <a:stretch/>
        </p:blipFill>
        <p:spPr>
          <a:xfrm>
            <a:off x="5088434" y="2779961"/>
            <a:ext cx="127000" cy="101600"/>
          </a:xfrm>
          <a:prstGeom prst="rect">
            <a:avLst/>
          </a:prstGeom>
        </p:spPr>
      </p:pic>
      <p:sp>
        <p:nvSpPr>
          <p:cNvPr id="23" name="Text 19"/>
          <p:cNvSpPr/>
          <p:nvPr/>
        </p:nvSpPr>
        <p:spPr>
          <a:xfrm>
            <a:off x="5657602" y="2906961"/>
            <a:ext cx="876746"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SaaS 호출</a:t>
            </a:r>
            <a:endParaRPr lang="en-US" sz="1200" dirty="0"/>
          </a:p>
        </p:txBody>
      </p:sp>
      <p:sp>
        <p:nvSpPr>
          <p:cNvPr id="24" name="Shape 20"/>
          <p:cNvSpPr/>
          <p:nvPr/>
        </p:nvSpPr>
        <p:spPr>
          <a:xfrm>
            <a:off x="5215434" y="3160961"/>
            <a:ext cx="1634083" cy="0"/>
          </a:xfrm>
          <a:prstGeom prst="line">
            <a:avLst/>
          </a:prstGeom>
          <a:noFill/>
          <a:ln w="19050">
            <a:solidFill>
              <a:srgbClr val="131A2A"/>
            </a:solidFill>
            <a:prstDash val="solid"/>
          </a:ln>
        </p:spPr>
      </p:sp>
      <p:pic>
        <p:nvPicPr>
          <p:cNvPr id="25" name="Image 2" descr="arrow-right">    </p:cNvPr>
          <p:cNvPicPr>
            <a:picLocks noChangeAspect="1"/>
          </p:cNvPicPr>
          <p:nvPr/>
        </p:nvPicPr>
        <p:blipFill>
          <a:blip r:embed="rId3"/>
          <a:srcRect l="0" r="0" t="0" b="0"/>
          <a:stretch/>
        </p:blipFill>
        <p:spPr>
          <a:xfrm>
            <a:off x="6849517" y="3110161"/>
            <a:ext cx="127000" cy="101600"/>
          </a:xfrm>
          <a:prstGeom prst="rect">
            <a:avLst/>
          </a:prstGeom>
        </p:spPr>
      </p:pic>
      <p:sp>
        <p:nvSpPr>
          <p:cNvPr id="26" name="Text 21"/>
          <p:cNvSpPr/>
          <p:nvPr/>
        </p:nvSpPr>
        <p:spPr>
          <a:xfrm>
            <a:off x="5845473" y="3237161"/>
            <a:ext cx="500955"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5</a:t>
            </a:r>
            <a:r>
              <a:rPr lang="en-US" sz="1200" dirty="0">
                <a:solidFill>
                  <a:srgbClr val="4A5263"/>
                </a:solidFill>
                <a:latin typeface="IBM Plex Sans KR" pitchFamily="34" charset="0"/>
                <a:ea typeface="IBM Plex Sans KR" pitchFamily="34" charset="-122"/>
                <a:cs typeface="IBM Plex Sans KR" pitchFamily="34" charset="-120"/>
              </a:rPr>
              <a:t> 응답</a:t>
            </a:r>
            <a:endParaRPr lang="en-US" sz="1200" dirty="0"/>
          </a:p>
        </p:txBody>
      </p:sp>
      <p:pic>
        <p:nvPicPr>
          <p:cNvPr id="27" name="Image 3" descr="arrow-left">    </p:cNvPr>
          <p:cNvPicPr>
            <a:picLocks noChangeAspect="1"/>
          </p:cNvPicPr>
          <p:nvPr/>
        </p:nvPicPr>
        <p:blipFill>
          <a:blip r:embed="rId4"/>
          <a:srcRect l="0" r="0" t="0" b="0"/>
          <a:stretch/>
        </p:blipFill>
        <p:spPr>
          <a:xfrm>
            <a:off x="5215434" y="3440361"/>
            <a:ext cx="127000" cy="101600"/>
          </a:xfrm>
          <a:prstGeom prst="rect">
            <a:avLst/>
          </a:prstGeom>
        </p:spPr>
      </p:pic>
      <p:sp>
        <p:nvSpPr>
          <p:cNvPr id="28" name="Shape 22"/>
          <p:cNvSpPr/>
          <p:nvPr/>
        </p:nvSpPr>
        <p:spPr>
          <a:xfrm>
            <a:off x="5342434" y="3491161"/>
            <a:ext cx="1634083" cy="0"/>
          </a:xfrm>
          <a:prstGeom prst="line">
            <a:avLst/>
          </a:prstGeom>
          <a:noFill/>
          <a:ln w="19050">
            <a:solidFill>
              <a:srgbClr val="6B7385"/>
            </a:solidFill>
            <a:prstDash val="dash"/>
          </a:ln>
        </p:spPr>
      </p:sp>
      <p:sp>
        <p:nvSpPr>
          <p:cNvPr id="29" name="Text 23"/>
          <p:cNvSpPr/>
          <p:nvPr/>
        </p:nvSpPr>
        <p:spPr>
          <a:xfrm>
            <a:off x="3837980" y="3567361"/>
            <a:ext cx="993825"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역호출: LLM</a:t>
            </a:r>
            <a:endParaRPr lang="en-US" sz="1200" dirty="0"/>
          </a:p>
        </p:txBody>
      </p:sp>
      <p:pic>
        <p:nvPicPr>
          <p:cNvPr id="30" name="Image 4" descr="arrow-left">    </p:cNvPr>
          <p:cNvPicPr>
            <a:picLocks noChangeAspect="1"/>
          </p:cNvPicPr>
          <p:nvPr/>
        </p:nvPicPr>
        <p:blipFill>
          <a:blip r:embed="rId5"/>
          <a:srcRect l="0" r="0" t="0" b="0"/>
          <a:stretch/>
        </p:blipFill>
        <p:spPr>
          <a:xfrm>
            <a:off x="3454400" y="3770561"/>
            <a:ext cx="127000" cy="101600"/>
          </a:xfrm>
          <a:prstGeom prst="rect">
            <a:avLst/>
          </a:prstGeom>
        </p:spPr>
      </p:pic>
      <p:sp>
        <p:nvSpPr>
          <p:cNvPr id="31" name="Shape 24"/>
          <p:cNvSpPr/>
          <p:nvPr/>
        </p:nvSpPr>
        <p:spPr>
          <a:xfrm>
            <a:off x="3581400" y="3821361"/>
            <a:ext cx="1634034" cy="0"/>
          </a:xfrm>
          <a:prstGeom prst="line">
            <a:avLst/>
          </a:prstGeom>
          <a:noFill/>
          <a:ln w="19050">
            <a:solidFill>
              <a:srgbClr val="131A2A"/>
            </a:solidFill>
            <a:prstDash val="solid"/>
          </a:ln>
        </p:spPr>
      </p:sp>
      <p:sp>
        <p:nvSpPr>
          <p:cNvPr id="32" name="Text 25"/>
          <p:cNvSpPr/>
          <p:nvPr/>
        </p:nvSpPr>
        <p:spPr>
          <a:xfrm>
            <a:off x="5257701" y="3897561"/>
            <a:ext cx="1676549"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7</a:t>
            </a:r>
            <a:r>
              <a:rPr lang="en-US" sz="1200" dirty="0">
                <a:solidFill>
                  <a:srgbClr val="131A2A"/>
                </a:solidFill>
                <a:latin typeface="IBM Plex Sans KR" pitchFamily="34" charset="0"/>
                <a:ea typeface="IBM Plex Sans KR" pitchFamily="34" charset="-122"/>
                <a:cs typeface="IBM Plex Sans KR" pitchFamily="34" charset="-120"/>
              </a:rPr>
              <a:t> /inner/api/invoke/llm</a:t>
            </a:r>
            <a:endParaRPr lang="en-US" sz="1200" dirty="0"/>
          </a:p>
        </p:txBody>
      </p:sp>
      <p:sp>
        <p:nvSpPr>
          <p:cNvPr id="33" name="Shape 26"/>
          <p:cNvSpPr/>
          <p:nvPr/>
        </p:nvSpPr>
        <p:spPr>
          <a:xfrm>
            <a:off x="3454400" y="4151561"/>
            <a:ext cx="5156200" cy="0"/>
          </a:xfrm>
          <a:prstGeom prst="line">
            <a:avLst/>
          </a:prstGeom>
          <a:noFill/>
          <a:ln w="19050">
            <a:solidFill>
              <a:srgbClr val="131A2A"/>
            </a:solidFill>
            <a:prstDash val="solid"/>
          </a:ln>
        </p:spPr>
      </p:sp>
      <p:pic>
        <p:nvPicPr>
          <p:cNvPr id="34" name="Image 5" descr="arrow-right">    </p:cNvPr>
          <p:cNvPicPr>
            <a:picLocks noChangeAspect="1"/>
          </p:cNvPicPr>
          <p:nvPr/>
        </p:nvPicPr>
        <p:blipFill>
          <a:blip r:embed="rId6"/>
          <a:srcRect l="0" r="0" t="0" b="0"/>
          <a:stretch/>
        </p:blipFill>
        <p:spPr>
          <a:xfrm>
            <a:off x="8610600" y="4100761"/>
            <a:ext cx="127000" cy="101600"/>
          </a:xfrm>
          <a:prstGeom prst="rect">
            <a:avLst/>
          </a:prstGeom>
        </p:spPr>
      </p:pic>
      <p:sp>
        <p:nvSpPr>
          <p:cNvPr id="35" name="Text 27"/>
          <p:cNvSpPr/>
          <p:nvPr/>
        </p:nvSpPr>
        <p:spPr>
          <a:xfrm>
            <a:off x="6979692" y="4230936"/>
            <a:ext cx="3515767" cy="273050"/>
          </a:xfrm>
          <a:prstGeom prst="roundRect">
            <a:avLst>
              <a:gd name="adj" fmla="val 17442"/>
            </a:avLst>
          </a:prstGeom>
          <a:solidFill>
            <a:srgbClr val="DCE6FA"/>
          </a:solidFill>
          <a:ln w="6350">
            <a:solidFill>
              <a:srgbClr val="2F5BB7"/>
            </a:solidFill>
            <a:prstDash val="solid"/>
          </a:ln>
        </p:spPr>
        <p:txBody>
          <a:bodyPr wrap="square" lIns="1990" tIns="27326" rIns="1990"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8</a:t>
            </a:r>
            <a:r>
              <a:rPr lang="en-US" sz="1200" dirty="0">
                <a:solidFill>
                  <a:srgbClr val="131A2A"/>
                </a:solidFill>
                <a:latin typeface="IBM Plex Sans KR" pitchFamily="34" charset="0"/>
                <a:ea typeface="IBM Plex Sans KR" pitchFamily="34" charset="-122"/>
                <a:cs typeface="IBM Plex Sans KR" pitchFamily="34" charset="-120"/>
              </a:rPr>
              <a:t> 테넌트 모델 · 할당량 적용</a:t>
            </a:r>
            <a:endParaRPr lang="en-US" sz="1200" dirty="0"/>
          </a:p>
        </p:txBody>
      </p:sp>
      <p:sp>
        <p:nvSpPr>
          <p:cNvPr id="36" name="Text 28"/>
          <p:cNvSpPr/>
          <p:nvPr/>
        </p:nvSpPr>
        <p:spPr>
          <a:xfrm>
            <a:off x="5300216" y="4532561"/>
            <a:ext cx="159151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9</a:t>
            </a:r>
            <a:r>
              <a:rPr lang="en-US" sz="1200" dirty="0">
                <a:solidFill>
                  <a:srgbClr val="131A2A"/>
                </a:solidFill>
                <a:latin typeface="IBM Plex Sans KR" pitchFamily="34" charset="0"/>
                <a:ea typeface="IBM Plex Sans KR" pitchFamily="34" charset="-122"/>
                <a:cs typeface="IBM Plex Sans KR" pitchFamily="34" charset="-120"/>
              </a:rPr>
              <a:t> dispatch/llm/invoke</a:t>
            </a:r>
            <a:endParaRPr lang="en-US" sz="1200" dirty="0"/>
          </a:p>
        </p:txBody>
      </p:sp>
      <p:pic>
        <p:nvPicPr>
          <p:cNvPr id="37" name="Image 6" descr="arrow-left">    </p:cNvPr>
          <p:cNvPicPr>
            <a:picLocks noChangeAspect="1"/>
          </p:cNvPicPr>
          <p:nvPr/>
        </p:nvPicPr>
        <p:blipFill>
          <a:blip r:embed="rId7"/>
          <a:srcRect l="0" r="0" t="0" b="0"/>
          <a:stretch/>
        </p:blipFill>
        <p:spPr>
          <a:xfrm>
            <a:off x="3454400" y="4735761"/>
            <a:ext cx="127000" cy="101600"/>
          </a:xfrm>
          <a:prstGeom prst="rect">
            <a:avLst/>
          </a:prstGeom>
        </p:spPr>
      </p:pic>
      <p:sp>
        <p:nvSpPr>
          <p:cNvPr id="38" name="Shape 29"/>
          <p:cNvSpPr/>
          <p:nvPr/>
        </p:nvSpPr>
        <p:spPr>
          <a:xfrm>
            <a:off x="3581400" y="4786561"/>
            <a:ext cx="5156200" cy="0"/>
          </a:xfrm>
          <a:prstGeom prst="line">
            <a:avLst/>
          </a:prstGeom>
          <a:noFill/>
          <a:ln w="19050">
            <a:solidFill>
              <a:srgbClr val="131A2A"/>
            </a:solidFill>
            <a:prstDash val="solid"/>
          </a:ln>
        </p:spPr>
      </p:sp>
      <p:sp>
        <p:nvSpPr>
          <p:cNvPr id="39" name="Text 30"/>
          <p:cNvSpPr/>
          <p:nvPr/>
        </p:nvSpPr>
        <p:spPr>
          <a:xfrm>
            <a:off x="6234261" y="4862761"/>
            <a:ext cx="148451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10</a:t>
            </a:r>
            <a:r>
              <a:rPr lang="en-US" sz="1200" dirty="0">
                <a:solidFill>
                  <a:srgbClr val="131A2A"/>
                </a:solidFill>
                <a:latin typeface="IBM Plex Sans KR" pitchFamily="34" charset="0"/>
                <a:ea typeface="IBM Plex Sans KR" pitchFamily="34" charset="-122"/>
                <a:cs typeface="IBM Plex Sans KR" pitchFamily="34" charset="-120"/>
              </a:rPr>
              <a:t> LLM 플러그인 실행</a:t>
            </a:r>
            <a:endParaRPr lang="en-US" sz="1200" dirty="0"/>
          </a:p>
        </p:txBody>
      </p:sp>
      <p:sp>
        <p:nvSpPr>
          <p:cNvPr id="40" name="Shape 31"/>
          <p:cNvSpPr/>
          <p:nvPr/>
        </p:nvSpPr>
        <p:spPr>
          <a:xfrm>
            <a:off x="3454400" y="5116761"/>
            <a:ext cx="6917234" cy="0"/>
          </a:xfrm>
          <a:prstGeom prst="line">
            <a:avLst/>
          </a:prstGeom>
          <a:noFill/>
          <a:ln w="19050">
            <a:solidFill>
              <a:srgbClr val="131A2A"/>
            </a:solidFill>
            <a:prstDash val="solid"/>
          </a:ln>
        </p:spPr>
      </p:sp>
      <p:pic>
        <p:nvPicPr>
          <p:cNvPr id="41" name="Image 7" descr="arrow-right">    </p:cNvPr>
          <p:cNvPicPr>
            <a:picLocks noChangeAspect="1"/>
          </p:cNvPicPr>
          <p:nvPr/>
        </p:nvPicPr>
        <p:blipFill>
          <a:blip r:embed="rId8"/>
          <a:srcRect l="0" r="0" t="0" b="0"/>
          <a:stretch/>
        </p:blipFill>
        <p:spPr>
          <a:xfrm>
            <a:off x="10371634" y="5065961"/>
            <a:ext cx="127000" cy="101600"/>
          </a:xfrm>
          <a:prstGeom prst="rect">
            <a:avLst/>
          </a:prstGeom>
        </p:spPr>
      </p:pic>
      <p:sp>
        <p:nvSpPr>
          <p:cNvPr id="42" name="Text 32"/>
          <p:cNvSpPr/>
          <p:nvPr/>
        </p:nvSpPr>
        <p:spPr>
          <a:xfrm>
            <a:off x="6880969" y="5192961"/>
            <a:ext cx="1952079"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11</a:t>
            </a:r>
            <a:r>
              <a:rPr lang="en-US" sz="1200" dirty="0">
                <a:solidFill>
                  <a:srgbClr val="4A5263"/>
                </a:solidFill>
                <a:latin typeface="IBM Plex Sans KR" pitchFamily="34" charset="0"/>
                <a:ea typeface="IBM Plex Sans KR" pitchFamily="34" charset="-122"/>
                <a:cs typeface="IBM Plex Sans KR" pitchFamily="34" charset="-120"/>
              </a:rPr>
              <a:t> LLM 결과 (데몬 · api 경유)</a:t>
            </a:r>
            <a:endParaRPr lang="en-US" sz="1200" dirty="0"/>
          </a:p>
        </p:txBody>
      </p:sp>
      <p:pic>
        <p:nvPicPr>
          <p:cNvPr id="43" name="Image 8" descr="arrow-left">    </p:cNvPr>
          <p:cNvPicPr>
            <a:picLocks noChangeAspect="1"/>
          </p:cNvPicPr>
          <p:nvPr/>
        </p:nvPicPr>
        <p:blipFill>
          <a:blip r:embed="rId9"/>
          <a:srcRect l="0" r="0" t="0" b="0"/>
          <a:stretch/>
        </p:blipFill>
        <p:spPr>
          <a:xfrm>
            <a:off x="5215434" y="5396161"/>
            <a:ext cx="127000" cy="101600"/>
          </a:xfrm>
          <a:prstGeom prst="rect">
            <a:avLst/>
          </a:prstGeom>
        </p:spPr>
      </p:pic>
      <p:sp>
        <p:nvSpPr>
          <p:cNvPr id="44" name="Shape 33"/>
          <p:cNvSpPr/>
          <p:nvPr/>
        </p:nvSpPr>
        <p:spPr>
          <a:xfrm>
            <a:off x="5342434" y="5446961"/>
            <a:ext cx="5156200" cy="0"/>
          </a:xfrm>
          <a:prstGeom prst="line">
            <a:avLst/>
          </a:prstGeom>
          <a:noFill/>
          <a:ln w="19050">
            <a:solidFill>
              <a:srgbClr val="6B7385"/>
            </a:solidFill>
            <a:prstDash val="dash"/>
          </a:ln>
        </p:spPr>
      </p:sp>
      <p:sp>
        <p:nvSpPr>
          <p:cNvPr id="45" name="Text 34"/>
          <p:cNvSpPr/>
          <p:nvPr/>
        </p:nvSpPr>
        <p:spPr>
          <a:xfrm>
            <a:off x="2127151" y="5523161"/>
            <a:ext cx="893366"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12</a:t>
            </a:r>
            <a:r>
              <a:rPr lang="en-US" sz="1200" dirty="0">
                <a:solidFill>
                  <a:srgbClr val="4A5263"/>
                </a:solidFill>
                <a:latin typeface="IBM Plex Sans KR" pitchFamily="34" charset="0"/>
                <a:ea typeface="IBM Plex Sans KR" pitchFamily="34" charset="-122"/>
                <a:cs typeface="IBM Plex Sans KR" pitchFamily="34" charset="-120"/>
              </a:rPr>
              <a:t> tool 결과</a:t>
            </a:r>
            <a:endParaRPr lang="en-US" sz="1200" dirty="0"/>
          </a:p>
        </p:txBody>
      </p:sp>
      <p:pic>
        <p:nvPicPr>
          <p:cNvPr id="46" name="Image 9" descr="arrow-left">    </p:cNvPr>
          <p:cNvPicPr>
            <a:picLocks noChangeAspect="1"/>
          </p:cNvPicPr>
          <p:nvPr/>
        </p:nvPicPr>
        <p:blipFill>
          <a:blip r:embed="rId10"/>
          <a:srcRect l="0" r="0" t="0" b="0"/>
          <a:stretch/>
        </p:blipFill>
        <p:spPr>
          <a:xfrm>
            <a:off x="1693317" y="5726361"/>
            <a:ext cx="127000" cy="101600"/>
          </a:xfrm>
          <a:prstGeom prst="rect">
            <a:avLst/>
          </a:prstGeom>
        </p:spPr>
      </p:pic>
      <p:sp>
        <p:nvSpPr>
          <p:cNvPr id="47" name="Shape 35"/>
          <p:cNvSpPr/>
          <p:nvPr/>
        </p:nvSpPr>
        <p:spPr>
          <a:xfrm>
            <a:off x="1820317" y="5777161"/>
            <a:ext cx="1634083" cy="0"/>
          </a:xfrm>
          <a:prstGeom prst="line">
            <a:avLst/>
          </a:prstGeom>
          <a:noFill/>
          <a:ln w="19050">
            <a:solidFill>
              <a:srgbClr val="6B7385"/>
            </a:solidFill>
            <a:prstDash val="dash"/>
          </a:ln>
        </p:spPr>
      </p:sp>
      <p:sp>
        <p:nvSpPr>
          <p:cNvPr id="48" name="Text 3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20 · 출처: core/plugin/impl/tool.py, model.py, controllers/inner_api/plugin/plugin.py</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873500"/>
          </a:xfrm>
          <a:prstGeom prst="rect">
            <a:avLst/>
          </a:prstGeom>
          <a:solidFill>
            <a:srgbClr val="C9C5BA"/>
          </a:solidFill>
          <a:ln/>
        </p:spPr>
      </p:sp>
      <p:sp>
        <p:nvSpPr>
          <p:cNvPr id="3" name="Shape 1"/>
          <p:cNvSpPr/>
          <p:nvPr/>
        </p:nvSpPr>
        <p:spPr>
          <a:xfrm>
            <a:off x="3448050" y="1841500"/>
            <a:ext cx="12700" cy="3873500"/>
          </a:xfrm>
          <a:prstGeom prst="rect">
            <a:avLst/>
          </a:prstGeom>
          <a:solidFill>
            <a:srgbClr val="C9C5BA"/>
          </a:solidFill>
          <a:ln/>
        </p:spPr>
      </p:sp>
      <p:sp>
        <p:nvSpPr>
          <p:cNvPr id="4" name="Shape 2"/>
          <p:cNvSpPr/>
          <p:nvPr/>
        </p:nvSpPr>
        <p:spPr>
          <a:xfrm>
            <a:off x="5207000" y="1841500"/>
            <a:ext cx="12700" cy="3873500"/>
          </a:xfrm>
          <a:prstGeom prst="rect">
            <a:avLst/>
          </a:prstGeom>
          <a:solidFill>
            <a:srgbClr val="C9C5BA"/>
          </a:solidFill>
          <a:ln/>
        </p:spPr>
      </p:sp>
      <p:sp>
        <p:nvSpPr>
          <p:cNvPr id="5" name="Shape 3"/>
          <p:cNvSpPr/>
          <p:nvPr/>
        </p:nvSpPr>
        <p:spPr>
          <a:xfrm>
            <a:off x="6972300" y="1841500"/>
            <a:ext cx="12700" cy="3873500"/>
          </a:xfrm>
          <a:prstGeom prst="rect">
            <a:avLst/>
          </a:prstGeom>
          <a:solidFill>
            <a:srgbClr val="C9C5BA"/>
          </a:solidFill>
          <a:ln/>
        </p:spPr>
      </p:sp>
      <p:sp>
        <p:nvSpPr>
          <p:cNvPr id="6" name="Shape 4"/>
          <p:cNvSpPr/>
          <p:nvPr/>
        </p:nvSpPr>
        <p:spPr>
          <a:xfrm>
            <a:off x="8731250" y="1841500"/>
            <a:ext cx="12700" cy="3873500"/>
          </a:xfrm>
          <a:prstGeom prst="rect">
            <a:avLst/>
          </a:prstGeom>
          <a:solidFill>
            <a:srgbClr val="C9C5BA"/>
          </a:solidFill>
          <a:ln/>
        </p:spPr>
      </p:sp>
      <p:sp>
        <p:nvSpPr>
          <p:cNvPr id="7" name="Shape 5"/>
          <p:cNvSpPr/>
          <p:nvPr/>
        </p:nvSpPr>
        <p:spPr>
          <a:xfrm>
            <a:off x="10490200" y="1841500"/>
            <a:ext cx="12700" cy="38735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S4 · SEQUENCE · KNOWLEDGE</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지식: 워커가 인덱싱하고, 실행기가 검색한다</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콘솔 사용자</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API · 실행기</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Celery 워커</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임베딩 플러그인</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벡터 DB</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PostgreSQL</a:t>
            </a:r>
            <a:endParaRPr lang="en-US" sz="1200" dirty="0"/>
          </a:p>
        </p:txBody>
      </p:sp>
      <p:sp>
        <p:nvSpPr>
          <p:cNvPr id="16" name="Text 14"/>
          <p:cNvSpPr/>
          <p:nvPr/>
        </p:nvSpPr>
        <p:spPr>
          <a:xfrm>
            <a:off x="2101453" y="1941761"/>
            <a:ext cx="94476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문서 업로드</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6008142" y="2271961"/>
            <a:ext cx="1936700"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documents 생성 (waiting)</a:t>
            </a:r>
            <a:endParaRPr lang="en-US" sz="1200" dirty="0"/>
          </a:p>
        </p:txBody>
      </p:sp>
      <p:sp>
        <p:nvSpPr>
          <p:cNvPr id="20" name="Shape 17"/>
          <p:cNvSpPr/>
          <p:nvPr/>
        </p:nvSpPr>
        <p:spPr>
          <a:xfrm>
            <a:off x="3454400" y="2525961"/>
            <a:ext cx="6917234" cy="0"/>
          </a:xfrm>
          <a:prstGeom prst="line">
            <a:avLst/>
          </a:prstGeom>
          <a:noFill/>
          <a:ln w="19050">
            <a:solidFill>
              <a:srgbClr val="131A2A"/>
            </a:solidFill>
            <a:prstDash val="solid"/>
          </a:ln>
        </p:spPr>
      </p:sp>
      <p:pic>
        <p:nvPicPr>
          <p:cNvPr id="21" name="Image 1" descr="arrow-right">    </p:cNvPr>
          <p:cNvPicPr>
            <a:picLocks noChangeAspect="1"/>
          </p:cNvPicPr>
          <p:nvPr/>
        </p:nvPicPr>
        <p:blipFill>
          <a:blip r:embed="rId2"/>
          <a:srcRect l="0" r="0" t="0" b="0"/>
          <a:stretch/>
        </p:blipFill>
        <p:spPr>
          <a:xfrm>
            <a:off x="10371634" y="2475161"/>
            <a:ext cx="127000" cy="101600"/>
          </a:xfrm>
          <a:prstGeom prst="rect">
            <a:avLst/>
          </a:prstGeom>
        </p:spPr>
      </p:pic>
      <p:sp>
        <p:nvSpPr>
          <p:cNvPr id="22" name="Text 18"/>
          <p:cNvSpPr/>
          <p:nvPr/>
        </p:nvSpPr>
        <p:spPr>
          <a:xfrm>
            <a:off x="3794571" y="2602161"/>
            <a:ext cx="108069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인덱싱 태스크</a:t>
            </a:r>
            <a:endParaRPr lang="en-US" sz="1200" dirty="0"/>
          </a:p>
        </p:txBody>
      </p:sp>
      <p:sp>
        <p:nvSpPr>
          <p:cNvPr id="23" name="Shape 19"/>
          <p:cNvSpPr/>
          <p:nvPr/>
        </p:nvSpPr>
        <p:spPr>
          <a:xfrm>
            <a:off x="3454400" y="2856161"/>
            <a:ext cx="1634034" cy="0"/>
          </a:xfrm>
          <a:prstGeom prst="line">
            <a:avLst/>
          </a:prstGeom>
          <a:noFill/>
          <a:ln w="19050">
            <a:solidFill>
              <a:srgbClr val="131A2A"/>
            </a:solidFill>
            <a:prstDash val="solid"/>
          </a:ln>
        </p:spPr>
      </p:sp>
      <p:pic>
        <p:nvPicPr>
          <p:cNvPr id="24" name="Image 2" descr="arrow-right">    </p:cNvPr>
          <p:cNvPicPr>
            <a:picLocks noChangeAspect="1"/>
          </p:cNvPicPr>
          <p:nvPr/>
        </p:nvPicPr>
        <p:blipFill>
          <a:blip r:embed="rId3"/>
          <a:srcRect l="0" r="0" t="0" b="0"/>
          <a:stretch/>
        </p:blipFill>
        <p:spPr>
          <a:xfrm>
            <a:off x="5088434" y="2805361"/>
            <a:ext cx="127000" cy="101600"/>
          </a:xfrm>
          <a:prstGeom prst="rect">
            <a:avLst/>
          </a:prstGeom>
        </p:spPr>
      </p:pic>
      <p:sp>
        <p:nvSpPr>
          <p:cNvPr id="25" name="Text 20"/>
          <p:cNvSpPr/>
          <p:nvPr/>
        </p:nvSpPr>
        <p:spPr>
          <a:xfrm>
            <a:off x="6779915" y="2932361"/>
            <a:ext cx="215418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4</a:t>
            </a:r>
            <a:r>
              <a:rPr lang="en-US" sz="1200" dirty="0">
                <a:solidFill>
                  <a:srgbClr val="131A2A"/>
                </a:solidFill>
                <a:latin typeface="IBM Plex Sans KR" pitchFamily="34" charset="0"/>
                <a:ea typeface="IBM Plex Sans KR" pitchFamily="34" charset="-122"/>
                <a:cs typeface="IBM Plex Sans KR" pitchFamily="34" charset="-120"/>
              </a:rPr>
              <a:t> 추출 · 정제 · 분할 → segments</a:t>
            </a:r>
            <a:endParaRPr lang="en-US" sz="1200" dirty="0"/>
          </a:p>
        </p:txBody>
      </p:sp>
      <p:sp>
        <p:nvSpPr>
          <p:cNvPr id="26" name="Shape 21"/>
          <p:cNvSpPr/>
          <p:nvPr/>
        </p:nvSpPr>
        <p:spPr>
          <a:xfrm>
            <a:off x="5215434" y="3186361"/>
            <a:ext cx="5156200" cy="0"/>
          </a:xfrm>
          <a:prstGeom prst="line">
            <a:avLst/>
          </a:prstGeom>
          <a:noFill/>
          <a:ln w="19050">
            <a:solidFill>
              <a:srgbClr val="131A2A"/>
            </a:solidFill>
            <a:prstDash val="solid"/>
          </a:ln>
        </p:spPr>
      </p:sp>
      <p:pic>
        <p:nvPicPr>
          <p:cNvPr id="27" name="Image 3" descr="arrow-right">    </p:cNvPr>
          <p:cNvPicPr>
            <a:picLocks noChangeAspect="1"/>
          </p:cNvPicPr>
          <p:nvPr/>
        </p:nvPicPr>
        <p:blipFill>
          <a:blip r:embed="rId4"/>
          <a:srcRect l="0" r="0" t="0" b="0"/>
          <a:stretch/>
        </p:blipFill>
        <p:spPr>
          <a:xfrm>
            <a:off x="10371634" y="3135561"/>
            <a:ext cx="127000" cy="101600"/>
          </a:xfrm>
          <a:prstGeom prst="rect">
            <a:avLst/>
          </a:prstGeom>
        </p:spPr>
      </p:pic>
      <p:sp>
        <p:nvSpPr>
          <p:cNvPr id="28" name="Text 22"/>
          <p:cNvSpPr/>
          <p:nvPr/>
        </p:nvSpPr>
        <p:spPr>
          <a:xfrm>
            <a:off x="5623570" y="3262561"/>
            <a:ext cx="94476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임베딩 요청</a:t>
            </a:r>
            <a:endParaRPr lang="en-US" sz="1200" dirty="0"/>
          </a:p>
        </p:txBody>
      </p:sp>
      <p:sp>
        <p:nvSpPr>
          <p:cNvPr id="29" name="Shape 23"/>
          <p:cNvSpPr/>
          <p:nvPr/>
        </p:nvSpPr>
        <p:spPr>
          <a:xfrm>
            <a:off x="5215434" y="3516561"/>
            <a:ext cx="1634083" cy="0"/>
          </a:xfrm>
          <a:prstGeom prst="line">
            <a:avLst/>
          </a:prstGeom>
          <a:noFill/>
          <a:ln w="19050">
            <a:solidFill>
              <a:srgbClr val="131A2A"/>
            </a:solidFill>
            <a:prstDash val="solid"/>
          </a:ln>
        </p:spPr>
      </p:sp>
      <p:pic>
        <p:nvPicPr>
          <p:cNvPr id="30" name="Image 4" descr="arrow-right">    </p:cNvPr>
          <p:cNvPicPr>
            <a:picLocks noChangeAspect="1"/>
          </p:cNvPicPr>
          <p:nvPr/>
        </p:nvPicPr>
        <p:blipFill>
          <a:blip r:embed="rId5"/>
          <a:srcRect l="0" r="0" t="0" b="0"/>
          <a:stretch/>
        </p:blipFill>
        <p:spPr>
          <a:xfrm>
            <a:off x="6849517" y="3465761"/>
            <a:ext cx="127000" cy="101600"/>
          </a:xfrm>
          <a:prstGeom prst="rect">
            <a:avLst/>
          </a:prstGeom>
        </p:spPr>
      </p:pic>
      <p:sp>
        <p:nvSpPr>
          <p:cNvPr id="31" name="Text 24"/>
          <p:cNvSpPr/>
          <p:nvPr/>
        </p:nvSpPr>
        <p:spPr>
          <a:xfrm>
            <a:off x="6085483" y="3592761"/>
            <a:ext cx="1782018"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벡터 · 키워드 인덱스 저장</a:t>
            </a:r>
            <a:endParaRPr lang="en-US" sz="1200" dirty="0"/>
          </a:p>
        </p:txBody>
      </p:sp>
      <p:sp>
        <p:nvSpPr>
          <p:cNvPr id="32" name="Shape 25"/>
          <p:cNvSpPr/>
          <p:nvPr/>
        </p:nvSpPr>
        <p:spPr>
          <a:xfrm>
            <a:off x="5215434" y="3846761"/>
            <a:ext cx="3395166" cy="0"/>
          </a:xfrm>
          <a:prstGeom prst="line">
            <a:avLst/>
          </a:prstGeom>
          <a:noFill/>
          <a:ln w="19050">
            <a:solidFill>
              <a:srgbClr val="131A2A"/>
            </a:solidFill>
            <a:prstDash val="solid"/>
          </a:ln>
        </p:spPr>
      </p:sp>
      <p:pic>
        <p:nvPicPr>
          <p:cNvPr id="33" name="Image 5" descr="arrow-right">    </p:cNvPr>
          <p:cNvPicPr>
            <a:picLocks noChangeAspect="1"/>
          </p:cNvPicPr>
          <p:nvPr/>
        </p:nvPicPr>
        <p:blipFill>
          <a:blip r:embed="rId6"/>
          <a:srcRect l="0" r="0" t="0" b="0"/>
          <a:stretch/>
        </p:blipFill>
        <p:spPr>
          <a:xfrm>
            <a:off x="8610600" y="3795961"/>
            <a:ext cx="127000" cy="101600"/>
          </a:xfrm>
          <a:prstGeom prst="rect">
            <a:avLst/>
          </a:prstGeom>
        </p:spPr>
      </p:pic>
      <p:sp>
        <p:nvSpPr>
          <p:cNvPr id="34" name="Shape 26"/>
          <p:cNvSpPr/>
          <p:nvPr/>
        </p:nvSpPr>
        <p:spPr>
          <a:xfrm>
            <a:off x="812800" y="3929311"/>
            <a:ext cx="10566400" cy="0"/>
          </a:xfrm>
          <a:prstGeom prst="line">
            <a:avLst/>
          </a:prstGeom>
          <a:noFill/>
          <a:ln w="12700">
            <a:solidFill>
              <a:srgbClr val="9AA3B5"/>
            </a:solidFill>
            <a:prstDash val="dash"/>
          </a:ln>
        </p:spPr>
      </p:sp>
      <p:sp>
        <p:nvSpPr>
          <p:cNvPr id="35" name="Text 27"/>
          <p:cNvSpPr/>
          <p:nvPr/>
        </p:nvSpPr>
        <p:spPr>
          <a:xfrm>
            <a:off x="654304" y="3961061"/>
            <a:ext cx="10883392"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7385"/>
                </a:solidFill>
                <a:latin typeface="JetBrains Mono" pitchFamily="49" charset="0"/>
                <a:ea typeface="JetBrains Mono" pitchFamily="49" charset="-122"/>
                <a:cs typeface="JetBrains Mono" pitchFamily="49" charset="-120"/>
              </a:rPr>
              <a:t>검색 시점</a:t>
            </a:r>
            <a:endParaRPr lang="en-US" sz="1200" dirty="0"/>
          </a:p>
        </p:txBody>
      </p:sp>
      <p:sp>
        <p:nvSpPr>
          <p:cNvPr id="36" name="Text 28"/>
          <p:cNvSpPr/>
          <p:nvPr/>
        </p:nvSpPr>
        <p:spPr>
          <a:xfrm>
            <a:off x="1696492" y="4187726"/>
            <a:ext cx="3515767" cy="273050"/>
          </a:xfrm>
          <a:prstGeom prst="roundRect">
            <a:avLst>
              <a:gd name="adj" fmla="val 17442"/>
            </a:avLst>
          </a:prstGeom>
          <a:solidFill>
            <a:srgbClr val="DCE6FA"/>
          </a:solidFill>
          <a:ln w="6350">
            <a:solidFill>
              <a:srgbClr val="2F5BB7"/>
            </a:solidFill>
            <a:prstDash val="solid"/>
          </a:ln>
        </p:spPr>
        <p:txBody>
          <a:bodyPr wrap="square" lIns="1990" tIns="27326" rIns="1990"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7</a:t>
            </a:r>
            <a:r>
              <a:rPr lang="en-US" sz="1200" dirty="0">
                <a:solidFill>
                  <a:srgbClr val="131A2A"/>
                </a:solidFill>
                <a:latin typeface="IBM Plex Sans KR" pitchFamily="34" charset="0"/>
                <a:ea typeface="IBM Plex Sans KR" pitchFamily="34" charset="-122"/>
                <a:cs typeface="IBM Plex Sans KR" pitchFamily="34" charset="-120"/>
              </a:rPr>
              <a:t> knowledge-retrieval 노드</a:t>
            </a:r>
            <a:endParaRPr lang="en-US" sz="1200" dirty="0"/>
          </a:p>
        </p:txBody>
      </p:sp>
      <p:sp>
        <p:nvSpPr>
          <p:cNvPr id="37" name="Text 29"/>
          <p:cNvSpPr/>
          <p:nvPr/>
        </p:nvSpPr>
        <p:spPr>
          <a:xfrm>
            <a:off x="4743053" y="4489351"/>
            <a:ext cx="94476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8</a:t>
            </a:r>
            <a:r>
              <a:rPr lang="en-US" sz="1200" dirty="0">
                <a:solidFill>
                  <a:srgbClr val="131A2A"/>
                </a:solidFill>
                <a:latin typeface="IBM Plex Sans KR" pitchFamily="34" charset="0"/>
                <a:ea typeface="IBM Plex Sans KR" pitchFamily="34" charset="-122"/>
                <a:cs typeface="IBM Plex Sans KR" pitchFamily="34" charset="-120"/>
              </a:rPr>
              <a:t> 질의 임베딩</a:t>
            </a:r>
            <a:endParaRPr lang="en-US" sz="1200" dirty="0"/>
          </a:p>
        </p:txBody>
      </p:sp>
      <p:sp>
        <p:nvSpPr>
          <p:cNvPr id="38" name="Shape 30"/>
          <p:cNvSpPr/>
          <p:nvPr/>
        </p:nvSpPr>
        <p:spPr>
          <a:xfrm>
            <a:off x="3454400" y="4743351"/>
            <a:ext cx="3395117" cy="0"/>
          </a:xfrm>
          <a:prstGeom prst="line">
            <a:avLst/>
          </a:prstGeom>
          <a:noFill/>
          <a:ln w="19050">
            <a:solidFill>
              <a:srgbClr val="131A2A"/>
            </a:solidFill>
            <a:prstDash val="solid"/>
          </a:ln>
        </p:spPr>
      </p:sp>
      <p:pic>
        <p:nvPicPr>
          <p:cNvPr id="39" name="Image 6" descr="arrow-right">    </p:cNvPr>
          <p:cNvPicPr>
            <a:picLocks noChangeAspect="1"/>
          </p:cNvPicPr>
          <p:nvPr/>
        </p:nvPicPr>
        <p:blipFill>
          <a:blip r:embed="rId7"/>
          <a:srcRect l="0" r="0" t="0" b="0"/>
          <a:stretch/>
        </p:blipFill>
        <p:spPr>
          <a:xfrm>
            <a:off x="6849517" y="4692551"/>
            <a:ext cx="127000" cy="101600"/>
          </a:xfrm>
          <a:prstGeom prst="rect">
            <a:avLst/>
          </a:prstGeom>
        </p:spPr>
      </p:pic>
      <p:sp>
        <p:nvSpPr>
          <p:cNvPr id="40" name="Text 31"/>
          <p:cNvSpPr/>
          <p:nvPr/>
        </p:nvSpPr>
        <p:spPr>
          <a:xfrm>
            <a:off x="5160863" y="4819551"/>
            <a:ext cx="1870273"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9</a:t>
            </a:r>
            <a:r>
              <a:rPr lang="en-US" sz="1200" dirty="0">
                <a:solidFill>
                  <a:srgbClr val="131A2A"/>
                </a:solidFill>
                <a:latin typeface="IBM Plex Sans KR" pitchFamily="34" charset="0"/>
                <a:ea typeface="IBM Plex Sans KR" pitchFamily="34" charset="-122"/>
                <a:cs typeface="IBM Plex Sans KR" pitchFamily="34" charset="-120"/>
              </a:rPr>
              <a:t> semantic + full-text 검색</a:t>
            </a:r>
            <a:endParaRPr lang="en-US" sz="1200" dirty="0"/>
          </a:p>
        </p:txBody>
      </p:sp>
      <p:sp>
        <p:nvSpPr>
          <p:cNvPr id="41" name="Shape 32"/>
          <p:cNvSpPr/>
          <p:nvPr/>
        </p:nvSpPr>
        <p:spPr>
          <a:xfrm>
            <a:off x="3454400" y="5073551"/>
            <a:ext cx="5156200" cy="0"/>
          </a:xfrm>
          <a:prstGeom prst="line">
            <a:avLst/>
          </a:prstGeom>
          <a:noFill/>
          <a:ln w="19050">
            <a:solidFill>
              <a:srgbClr val="131A2A"/>
            </a:solidFill>
            <a:prstDash val="solid"/>
          </a:ln>
        </p:spPr>
      </p:sp>
      <p:pic>
        <p:nvPicPr>
          <p:cNvPr id="42" name="Image 7" descr="arrow-right">    </p:cNvPr>
          <p:cNvPicPr>
            <a:picLocks noChangeAspect="1"/>
          </p:cNvPicPr>
          <p:nvPr/>
        </p:nvPicPr>
        <p:blipFill>
          <a:blip r:embed="rId8"/>
          <a:srcRect l="0" r="0" t="0" b="0"/>
          <a:stretch/>
        </p:blipFill>
        <p:spPr>
          <a:xfrm>
            <a:off x="8610600" y="5022751"/>
            <a:ext cx="127000" cy="101600"/>
          </a:xfrm>
          <a:prstGeom prst="rect">
            <a:avLst/>
          </a:prstGeom>
        </p:spPr>
      </p:pic>
      <p:sp>
        <p:nvSpPr>
          <p:cNvPr id="43" name="Text 33"/>
          <p:cNvSpPr/>
          <p:nvPr/>
        </p:nvSpPr>
        <p:spPr>
          <a:xfrm>
            <a:off x="1696492" y="5152926"/>
            <a:ext cx="3515767" cy="273050"/>
          </a:xfrm>
          <a:prstGeom prst="roundRect">
            <a:avLst>
              <a:gd name="adj" fmla="val 17442"/>
            </a:avLst>
          </a:prstGeom>
          <a:solidFill>
            <a:srgbClr val="DCE6FA"/>
          </a:solidFill>
          <a:ln w="6350">
            <a:solidFill>
              <a:srgbClr val="2F5BB7"/>
            </a:solidFill>
            <a:prstDash val="solid"/>
          </a:ln>
        </p:spPr>
        <p:txBody>
          <a:bodyPr wrap="square" lIns="1990" tIns="27326" rIns="1990"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10</a:t>
            </a:r>
            <a:r>
              <a:rPr lang="en-US" sz="1200" dirty="0">
                <a:solidFill>
                  <a:srgbClr val="131A2A"/>
                </a:solidFill>
                <a:latin typeface="IBM Plex Sans KR" pitchFamily="34" charset="0"/>
                <a:ea typeface="IBM Plex Sans KR" pitchFamily="34" charset="-122"/>
                <a:cs typeface="IBM Plex Sans KR" pitchFamily="34" charset="-120"/>
              </a:rPr>
              <a:t> 리랭크 · 임계값 · 필터</a:t>
            </a:r>
            <a:endParaRPr lang="en-US" sz="1200" dirty="0"/>
          </a:p>
        </p:txBody>
      </p:sp>
      <p:sp>
        <p:nvSpPr>
          <p:cNvPr id="44" name="Text 34"/>
          <p:cNvSpPr/>
          <p:nvPr/>
        </p:nvSpPr>
        <p:spPr>
          <a:xfrm>
            <a:off x="5989489" y="5454551"/>
            <a:ext cx="1974056"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11</a:t>
            </a:r>
            <a:r>
              <a:rPr lang="en-US" sz="1200" dirty="0">
                <a:solidFill>
                  <a:srgbClr val="131A2A"/>
                </a:solidFill>
                <a:latin typeface="IBM Plex Sans KR" pitchFamily="34" charset="0"/>
                <a:ea typeface="IBM Plex Sans KR" pitchFamily="34" charset="-122"/>
                <a:cs typeface="IBM Plex Sans KR" pitchFamily="34" charset="-120"/>
              </a:rPr>
              <a:t> 질의 기록 · hit_count 증가</a:t>
            </a:r>
            <a:endParaRPr lang="en-US" sz="1200" dirty="0"/>
          </a:p>
        </p:txBody>
      </p:sp>
      <p:sp>
        <p:nvSpPr>
          <p:cNvPr id="45" name="Shape 35"/>
          <p:cNvSpPr/>
          <p:nvPr/>
        </p:nvSpPr>
        <p:spPr>
          <a:xfrm>
            <a:off x="3454400" y="5708551"/>
            <a:ext cx="6917234" cy="0"/>
          </a:xfrm>
          <a:prstGeom prst="line">
            <a:avLst/>
          </a:prstGeom>
          <a:noFill/>
          <a:ln w="19050">
            <a:solidFill>
              <a:srgbClr val="131A2A"/>
            </a:solidFill>
            <a:prstDash val="solid"/>
          </a:ln>
        </p:spPr>
      </p:sp>
      <p:pic>
        <p:nvPicPr>
          <p:cNvPr id="46" name="Image 8" descr="arrow-right">    </p:cNvPr>
          <p:cNvPicPr>
            <a:picLocks noChangeAspect="1"/>
          </p:cNvPicPr>
          <p:nvPr/>
        </p:nvPicPr>
        <p:blipFill>
          <a:blip r:embed="rId9"/>
          <a:srcRect l="0" r="0" t="0" b="0"/>
          <a:stretch/>
        </p:blipFill>
        <p:spPr>
          <a:xfrm>
            <a:off x="10371634" y="5657751"/>
            <a:ext cx="127000" cy="101600"/>
          </a:xfrm>
          <a:prstGeom prst="rect">
            <a:avLst/>
          </a:prstGeom>
        </p:spPr>
      </p:pic>
      <p:sp>
        <p:nvSpPr>
          <p:cNvPr id="47" name="Text 3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21 · 출처: tasks/document_indexing_task.py, core/rag (embedding, retrieval, rerank)</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3EE"/>
        </a:solidFill>
      </p:bgPr>
    </p:bg>
    <p:spTree>
      <p:nvGrpSpPr>
        <p:cNvPr id="1" name=""/>
        <p:cNvGrpSpPr/>
        <p:nvPr/>
      </p:nvGrpSpPr>
      <p:grpSpPr>
        <a:xfrm>
          <a:off x="0" y="0"/>
          <a:ext cx="0" cy="0"/>
          <a:chOff x="0" y="0"/>
          <a:chExt cx="0" cy="0"/>
        </a:xfrm>
      </p:grpSpPr>
      <p:sp>
        <p:nvSpPr>
          <p:cNvPr id="2" name="Shape 0"/>
          <p:cNvSpPr/>
          <p:nvPr/>
        </p:nvSpPr>
        <p:spPr>
          <a:xfrm>
            <a:off x="1689100" y="1841500"/>
            <a:ext cx="12700" cy="3746500"/>
          </a:xfrm>
          <a:prstGeom prst="rect">
            <a:avLst/>
          </a:prstGeom>
          <a:solidFill>
            <a:srgbClr val="C9C5BA"/>
          </a:solidFill>
          <a:ln/>
        </p:spPr>
      </p:sp>
      <p:sp>
        <p:nvSpPr>
          <p:cNvPr id="3" name="Shape 1"/>
          <p:cNvSpPr/>
          <p:nvPr/>
        </p:nvSpPr>
        <p:spPr>
          <a:xfrm>
            <a:off x="3448050" y="1841500"/>
            <a:ext cx="12700" cy="3746500"/>
          </a:xfrm>
          <a:prstGeom prst="rect">
            <a:avLst/>
          </a:prstGeom>
          <a:solidFill>
            <a:srgbClr val="C9C5BA"/>
          </a:solidFill>
          <a:ln/>
        </p:spPr>
      </p:sp>
      <p:sp>
        <p:nvSpPr>
          <p:cNvPr id="4" name="Shape 2"/>
          <p:cNvSpPr/>
          <p:nvPr/>
        </p:nvSpPr>
        <p:spPr>
          <a:xfrm>
            <a:off x="5207000" y="1841500"/>
            <a:ext cx="12700" cy="3746500"/>
          </a:xfrm>
          <a:prstGeom prst="rect">
            <a:avLst/>
          </a:prstGeom>
          <a:solidFill>
            <a:srgbClr val="C9C5BA"/>
          </a:solidFill>
          <a:ln/>
        </p:spPr>
      </p:sp>
      <p:sp>
        <p:nvSpPr>
          <p:cNvPr id="5" name="Shape 3"/>
          <p:cNvSpPr/>
          <p:nvPr/>
        </p:nvSpPr>
        <p:spPr>
          <a:xfrm>
            <a:off x="6972300" y="1841500"/>
            <a:ext cx="12700" cy="3746500"/>
          </a:xfrm>
          <a:prstGeom prst="rect">
            <a:avLst/>
          </a:prstGeom>
          <a:solidFill>
            <a:srgbClr val="C9C5BA"/>
          </a:solidFill>
          <a:ln/>
        </p:spPr>
      </p:sp>
      <p:sp>
        <p:nvSpPr>
          <p:cNvPr id="6" name="Shape 4"/>
          <p:cNvSpPr/>
          <p:nvPr/>
        </p:nvSpPr>
        <p:spPr>
          <a:xfrm>
            <a:off x="8731250" y="1841500"/>
            <a:ext cx="12700" cy="3746500"/>
          </a:xfrm>
          <a:prstGeom prst="rect">
            <a:avLst/>
          </a:prstGeom>
          <a:solidFill>
            <a:srgbClr val="C9C5BA"/>
          </a:solidFill>
          <a:ln/>
        </p:spPr>
      </p:sp>
      <p:sp>
        <p:nvSpPr>
          <p:cNvPr id="7" name="Shape 5"/>
          <p:cNvSpPr/>
          <p:nvPr/>
        </p:nvSpPr>
        <p:spPr>
          <a:xfrm>
            <a:off x="10490200" y="1841500"/>
            <a:ext cx="12700" cy="3746500"/>
          </a:xfrm>
          <a:prstGeom prst="rect">
            <a:avLst/>
          </a:prstGeom>
          <a:solidFill>
            <a:srgbClr val="C9C5BA"/>
          </a:solidFill>
          <a:ln/>
        </p:spPr>
      </p:sp>
      <p:sp>
        <p:nvSpPr>
          <p:cNvPr id="8" name="Text 6"/>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S5 · SEQUENCE · TRIGGERS</a:t>
            </a:r>
            <a:endParaRPr lang="en-US" sz="1200" dirty="0"/>
          </a:p>
        </p:txBody>
      </p:sp>
      <p:sp>
        <p:nvSpPr>
          <p:cNvPr id="9" name="Text 7"/>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트리거: 웹훅과 스케줄 모두 Celery로 위임</a:t>
            </a:r>
            <a:endParaRPr lang="en-US" sz="3000" dirty="0"/>
          </a:p>
        </p:txBody>
      </p:sp>
      <p:sp>
        <p:nvSpPr>
          <p:cNvPr id="10" name="Text 8"/>
          <p:cNvSpPr/>
          <p:nvPr/>
        </p:nvSpPr>
        <p:spPr>
          <a:xfrm>
            <a:off x="8763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외부 시스템</a:t>
            </a:r>
            <a:endParaRPr lang="en-US" sz="1200" dirty="0"/>
          </a:p>
        </p:txBody>
      </p:sp>
      <p:sp>
        <p:nvSpPr>
          <p:cNvPr id="11" name="Text 9"/>
          <p:cNvSpPr/>
          <p:nvPr/>
        </p:nvSpPr>
        <p:spPr>
          <a:xfrm>
            <a:off x="26373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Trigger API</a:t>
            </a:r>
            <a:endParaRPr lang="en-US" sz="1200" dirty="0"/>
          </a:p>
        </p:txBody>
      </p:sp>
      <p:sp>
        <p:nvSpPr>
          <p:cNvPr id="12" name="Text 10"/>
          <p:cNvSpPr/>
          <p:nvPr/>
        </p:nvSpPr>
        <p:spPr>
          <a:xfrm>
            <a:off x="43984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Beat · poller</a:t>
            </a:r>
            <a:endParaRPr lang="en-US" sz="1200" dirty="0"/>
          </a:p>
        </p:txBody>
      </p:sp>
      <p:sp>
        <p:nvSpPr>
          <p:cNvPr id="13" name="Text 11"/>
          <p:cNvSpPr/>
          <p:nvPr/>
        </p:nvSpPr>
        <p:spPr>
          <a:xfrm>
            <a:off x="6159500" y="1591270"/>
            <a:ext cx="1634034" cy="325090"/>
          </a:xfrm>
          <a:custGeom>
            <a:avLst/>
            <a:gdLst/>
            <a:ahLst/>
            <a:cxnLst/>
            <a:rect l="l" t="t" r="r" b="b"/>
            <a:pathLst>
              <a:path w="1634034" h="325090">
                <a:moveTo>
                  <a:pt x="50800" y="0"/>
                </a:moveTo>
                <a:lnTo>
                  <a:pt x="1583234" y="0"/>
                </a:lnTo>
                <a:arcTo hR="50800" wR="50800" stAng="16200000" swAng="5400000"/>
                <a:lnTo>
                  <a:pt x="1634034" y="274290"/>
                </a:lnTo>
                <a:arcTo hR="50800" wR="50800" stAng="0" swAng="5400000"/>
                <a:lnTo>
                  <a:pt x="50800" y="325090"/>
                </a:lnTo>
                <a:arcTo hR="50800" wR="50800" stAng="5400000" swAng="5400000"/>
                <a:lnTo>
                  <a:pt x="0" y="50800"/>
                </a:lnTo>
                <a:arcTo hR="50800" wR="50800" stAng="10800000" swAng="5400000"/>
                <a:close/>
              </a:path>
            </a:pathLst>
          </a:custGeom>
          <a:solidFill>
            <a:srgbClr val="2F5BB7"/>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Celery 워커</a:t>
            </a:r>
            <a:endParaRPr lang="en-US" sz="1200" dirty="0"/>
          </a:p>
        </p:txBody>
      </p:sp>
      <p:sp>
        <p:nvSpPr>
          <p:cNvPr id="14" name="Text 12"/>
          <p:cNvSpPr/>
          <p:nvPr/>
        </p:nvSpPr>
        <p:spPr>
          <a:xfrm>
            <a:off x="7920534"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131A2A"/>
          </a:solidFill>
          <a:ln/>
        </p:spPr>
        <p:txBody>
          <a:bodyPr wrap="square" lIns="25400" tIns="63500" rIns="25400" bIns="38100" rtlCol="0" anchor="t">
            <a:normAutofit/>
          </a:bodyPr>
          <a:lstStyle/>
          <a:p>
            <a:pPr algn="ctr" indent="0" marL="0">
              <a:lnSpc>
                <a:spcPts val="1560"/>
              </a:lnSpc>
              <a:buNone/>
            </a:pPr>
            <a:r>
              <a:rPr lang="en-US" sz="1200" dirty="0">
                <a:solidFill>
                  <a:srgbClr val="F4F3EE"/>
                </a:solidFill>
                <a:latin typeface="IBM Plex Sans KR" pitchFamily="34" charset="0"/>
                <a:ea typeface="IBM Plex Sans KR" pitchFamily="34" charset="-122"/>
                <a:cs typeface="IBM Plex Sans KR" pitchFamily="34" charset="-120"/>
              </a:rPr>
              <a:t>graphon 엔진</a:t>
            </a:r>
            <a:endParaRPr lang="en-US" sz="1200" dirty="0"/>
          </a:p>
        </p:txBody>
      </p:sp>
      <p:sp>
        <p:nvSpPr>
          <p:cNvPr id="15" name="Text 13"/>
          <p:cNvSpPr/>
          <p:nvPr/>
        </p:nvSpPr>
        <p:spPr>
          <a:xfrm>
            <a:off x="9681617" y="1591270"/>
            <a:ext cx="1634083" cy="325090"/>
          </a:xfrm>
          <a:custGeom>
            <a:avLst/>
            <a:gdLst/>
            <a:ahLst/>
            <a:cxnLst/>
            <a:rect l="l" t="t" r="r" b="b"/>
            <a:pathLst>
              <a:path w="1634083" h="325090">
                <a:moveTo>
                  <a:pt x="50800" y="0"/>
                </a:moveTo>
                <a:lnTo>
                  <a:pt x="1583283" y="0"/>
                </a:lnTo>
                <a:arcTo hR="50800" wR="50800" stAng="16200000" swAng="5400000"/>
                <a:lnTo>
                  <a:pt x="1634083" y="274290"/>
                </a:lnTo>
                <a:arcTo hR="50800" wR="50800" stAng="0" swAng="5400000"/>
                <a:lnTo>
                  <a:pt x="50800" y="325090"/>
                </a:lnTo>
                <a:arcTo hR="50800" wR="50800" stAng="5400000" swAng="5400000"/>
                <a:lnTo>
                  <a:pt x="0" y="50800"/>
                </a:lnTo>
                <a:arcTo hR="50800" wR="50800" stAng="10800000" swAng="5400000"/>
                <a:close/>
              </a:path>
            </a:pathLst>
          </a:custGeom>
          <a:solidFill>
            <a:srgbClr val="D9652B"/>
          </a:solidFill>
          <a:ln/>
        </p:spPr>
        <p:txBody>
          <a:bodyPr wrap="square" lIns="25400" tIns="63500" rIns="25400" bIns="38100" rtlCol="0" anchor="t">
            <a:normAutofit/>
          </a:bodyPr>
          <a:lstStyle/>
          <a:p>
            <a:pPr algn="ctr" indent="0" marL="0">
              <a:lnSpc>
                <a:spcPts val="1560"/>
              </a:lnSpc>
              <a:buNone/>
            </a:pPr>
            <a:r>
              <a:rPr lang="en-US" sz="1200" dirty="0">
                <a:solidFill>
                  <a:srgbClr val="131A2A"/>
                </a:solidFill>
                <a:latin typeface="IBM Plex Sans KR" pitchFamily="34" charset="0"/>
                <a:ea typeface="IBM Plex Sans KR" pitchFamily="34" charset="-122"/>
                <a:cs typeface="IBM Plex Sans KR" pitchFamily="34" charset="-120"/>
              </a:rPr>
              <a:t>PostgreSQL</a:t>
            </a:r>
            <a:endParaRPr lang="en-US" sz="1200" dirty="0"/>
          </a:p>
        </p:txBody>
      </p:sp>
      <p:sp>
        <p:nvSpPr>
          <p:cNvPr id="16" name="Text 14"/>
          <p:cNvSpPr/>
          <p:nvPr/>
        </p:nvSpPr>
        <p:spPr>
          <a:xfrm>
            <a:off x="1992412" y="1941761"/>
            <a:ext cx="1162844"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a:t>
            </a:r>
            <a:r>
              <a:rPr lang="en-US" sz="1200" dirty="0">
                <a:solidFill>
                  <a:srgbClr val="131A2A"/>
                </a:solidFill>
                <a:latin typeface="IBM Plex Sans KR" pitchFamily="34" charset="0"/>
                <a:ea typeface="IBM Plex Sans KR" pitchFamily="34" charset="-122"/>
                <a:cs typeface="IBM Plex Sans KR" pitchFamily="34" charset="-120"/>
              </a:rPr>
              <a:t> webhook 호출</a:t>
            </a:r>
            <a:endParaRPr lang="en-US" sz="1200" dirty="0"/>
          </a:p>
        </p:txBody>
      </p:sp>
      <p:sp>
        <p:nvSpPr>
          <p:cNvPr id="17" name="Shape 15"/>
          <p:cNvSpPr/>
          <p:nvPr/>
        </p:nvSpPr>
        <p:spPr>
          <a:xfrm>
            <a:off x="1693317" y="2195761"/>
            <a:ext cx="1634083" cy="0"/>
          </a:xfrm>
          <a:prstGeom prst="line">
            <a:avLst/>
          </a:prstGeom>
          <a:noFill/>
          <a:ln w="19050">
            <a:solidFill>
              <a:srgbClr val="131A2A"/>
            </a:solidFill>
            <a:prstDash val="solid"/>
          </a:ln>
        </p:spPr>
      </p:sp>
      <p:pic>
        <p:nvPicPr>
          <p:cNvPr id="18" name="Image 0" descr="arrow-right">    </p:cNvPr>
          <p:cNvPicPr>
            <a:picLocks noChangeAspect="1"/>
          </p:cNvPicPr>
          <p:nvPr/>
        </p:nvPicPr>
        <p:blipFill>
          <a:blip r:embed="rId1"/>
          <a:srcRect l="0" r="0" t="0" b="0"/>
          <a:stretch/>
        </p:blipFill>
        <p:spPr>
          <a:xfrm>
            <a:off x="3327400" y="2144961"/>
            <a:ext cx="127000" cy="101600"/>
          </a:xfrm>
          <a:prstGeom prst="rect">
            <a:avLst/>
          </a:prstGeom>
        </p:spPr>
      </p:pic>
      <p:sp>
        <p:nvSpPr>
          <p:cNvPr id="19" name="Text 16"/>
          <p:cNvSpPr/>
          <p:nvPr/>
        </p:nvSpPr>
        <p:spPr>
          <a:xfrm>
            <a:off x="1696492" y="2275136"/>
            <a:ext cx="3515767" cy="273050"/>
          </a:xfrm>
          <a:prstGeom prst="roundRect">
            <a:avLst>
              <a:gd name="adj" fmla="val 17442"/>
            </a:avLst>
          </a:prstGeom>
          <a:solidFill>
            <a:srgbClr val="DCE6FA"/>
          </a:solidFill>
          <a:ln w="6350">
            <a:solidFill>
              <a:srgbClr val="2F5BB7"/>
            </a:solidFill>
            <a:prstDash val="solid"/>
          </a:ln>
        </p:spPr>
        <p:txBody>
          <a:bodyPr wrap="square" lIns="1990" tIns="27326" rIns="1990"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2</a:t>
            </a:r>
            <a:r>
              <a:rPr lang="en-US" sz="1200" dirty="0">
                <a:solidFill>
                  <a:srgbClr val="131A2A"/>
                </a:solidFill>
                <a:latin typeface="IBM Plex Sans KR" pitchFamily="34" charset="0"/>
                <a:ea typeface="IBM Plex Sans KR" pitchFamily="34" charset="-122"/>
                <a:cs typeface="IBM Plex Sans KR" pitchFamily="34" charset="-120"/>
              </a:rPr>
              <a:t> 검증 · 할당량 · 입력 매핑</a:t>
            </a:r>
            <a:endParaRPr lang="en-US" sz="1200" dirty="0"/>
          </a:p>
        </p:txBody>
      </p:sp>
      <p:sp>
        <p:nvSpPr>
          <p:cNvPr id="20" name="Text 17"/>
          <p:cNvSpPr/>
          <p:nvPr/>
        </p:nvSpPr>
        <p:spPr>
          <a:xfrm>
            <a:off x="4521200" y="2576761"/>
            <a:ext cx="1388517"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3</a:t>
            </a:r>
            <a:r>
              <a:rPr lang="en-US" sz="1200" dirty="0">
                <a:solidFill>
                  <a:srgbClr val="131A2A"/>
                </a:solidFill>
                <a:latin typeface="IBM Plex Sans KR" pitchFamily="34" charset="0"/>
                <a:ea typeface="IBM Plex Sans KR" pitchFamily="34" charset="-122"/>
                <a:cs typeface="IBM Plex Sans KR" pitchFamily="34" charset="-120"/>
              </a:rPr>
              <a:t> 비동기 실행 태스크</a:t>
            </a:r>
            <a:endParaRPr lang="en-US" sz="1200" dirty="0"/>
          </a:p>
        </p:txBody>
      </p:sp>
      <p:sp>
        <p:nvSpPr>
          <p:cNvPr id="21" name="Shape 18"/>
          <p:cNvSpPr/>
          <p:nvPr/>
        </p:nvSpPr>
        <p:spPr>
          <a:xfrm>
            <a:off x="3454400" y="2830761"/>
            <a:ext cx="3395117" cy="0"/>
          </a:xfrm>
          <a:prstGeom prst="line">
            <a:avLst/>
          </a:prstGeom>
          <a:noFill/>
          <a:ln w="19050">
            <a:solidFill>
              <a:srgbClr val="131A2A"/>
            </a:solidFill>
            <a:prstDash val="solid"/>
          </a:ln>
        </p:spPr>
      </p:sp>
      <p:pic>
        <p:nvPicPr>
          <p:cNvPr id="22" name="Image 1" descr="arrow-right">    </p:cNvPr>
          <p:cNvPicPr>
            <a:picLocks noChangeAspect="1"/>
          </p:cNvPicPr>
          <p:nvPr/>
        </p:nvPicPr>
        <p:blipFill>
          <a:blip r:embed="rId2"/>
          <a:srcRect l="0" r="0" t="0" b="0"/>
          <a:stretch/>
        </p:blipFill>
        <p:spPr>
          <a:xfrm>
            <a:off x="6849517" y="2779961"/>
            <a:ext cx="127000" cy="101600"/>
          </a:xfrm>
          <a:prstGeom prst="rect">
            <a:avLst/>
          </a:prstGeom>
        </p:spPr>
      </p:pic>
      <p:sp>
        <p:nvSpPr>
          <p:cNvPr id="23" name="Text 19"/>
          <p:cNvSpPr/>
          <p:nvPr/>
        </p:nvSpPr>
        <p:spPr>
          <a:xfrm>
            <a:off x="2101453" y="2906961"/>
            <a:ext cx="94476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4</a:t>
            </a:r>
            <a:r>
              <a:rPr lang="en-US" sz="1200" dirty="0">
                <a:solidFill>
                  <a:srgbClr val="4A5263"/>
                </a:solidFill>
                <a:latin typeface="IBM Plex Sans KR" pitchFamily="34" charset="0"/>
                <a:ea typeface="IBM Plex Sans KR" pitchFamily="34" charset="-122"/>
                <a:cs typeface="IBM Plex Sans KR" pitchFamily="34" charset="-120"/>
              </a:rPr>
              <a:t> 설정된 응답</a:t>
            </a:r>
            <a:endParaRPr lang="en-US" sz="1200" dirty="0"/>
          </a:p>
        </p:txBody>
      </p:sp>
      <p:pic>
        <p:nvPicPr>
          <p:cNvPr id="24" name="Image 2" descr="arrow-left">    </p:cNvPr>
          <p:cNvPicPr>
            <a:picLocks noChangeAspect="1"/>
          </p:cNvPicPr>
          <p:nvPr/>
        </p:nvPicPr>
        <p:blipFill>
          <a:blip r:embed="rId3"/>
          <a:srcRect l="0" r="0" t="0" b="0"/>
          <a:stretch/>
        </p:blipFill>
        <p:spPr>
          <a:xfrm>
            <a:off x="1693317" y="3110161"/>
            <a:ext cx="127000" cy="101600"/>
          </a:xfrm>
          <a:prstGeom prst="rect">
            <a:avLst/>
          </a:prstGeom>
        </p:spPr>
      </p:pic>
      <p:sp>
        <p:nvSpPr>
          <p:cNvPr id="25" name="Shape 20"/>
          <p:cNvSpPr/>
          <p:nvPr/>
        </p:nvSpPr>
        <p:spPr>
          <a:xfrm>
            <a:off x="1820317" y="3160961"/>
            <a:ext cx="1634083" cy="0"/>
          </a:xfrm>
          <a:prstGeom prst="line">
            <a:avLst/>
          </a:prstGeom>
          <a:noFill/>
          <a:ln w="19050">
            <a:solidFill>
              <a:srgbClr val="6B7385"/>
            </a:solidFill>
            <a:prstDash val="dash"/>
          </a:ln>
        </p:spPr>
      </p:sp>
      <p:sp>
        <p:nvSpPr>
          <p:cNvPr id="26" name="Shape 21"/>
          <p:cNvSpPr/>
          <p:nvPr/>
        </p:nvSpPr>
        <p:spPr>
          <a:xfrm>
            <a:off x="812800" y="3243511"/>
            <a:ext cx="10566400" cy="0"/>
          </a:xfrm>
          <a:prstGeom prst="line">
            <a:avLst/>
          </a:prstGeom>
          <a:noFill/>
          <a:ln w="12700">
            <a:solidFill>
              <a:srgbClr val="9AA3B5"/>
            </a:solidFill>
            <a:prstDash val="dash"/>
          </a:ln>
        </p:spPr>
      </p:sp>
      <p:sp>
        <p:nvSpPr>
          <p:cNvPr id="27" name="Text 22"/>
          <p:cNvSpPr/>
          <p:nvPr/>
        </p:nvSpPr>
        <p:spPr>
          <a:xfrm>
            <a:off x="654304" y="3275261"/>
            <a:ext cx="10883392" cy="22349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6B7385"/>
                </a:solidFill>
                <a:latin typeface="JetBrains Mono" pitchFamily="49" charset="0"/>
                <a:ea typeface="JetBrains Mono" pitchFamily="49" charset="-122"/>
                <a:cs typeface="JetBrains Mono" pitchFamily="49" charset="-120"/>
              </a:rPr>
              <a:t>스케줄 트리거</a:t>
            </a:r>
            <a:endParaRPr lang="en-US" sz="1200" dirty="0"/>
          </a:p>
        </p:txBody>
      </p:sp>
      <p:sp>
        <p:nvSpPr>
          <p:cNvPr id="28" name="Text 23"/>
          <p:cNvSpPr/>
          <p:nvPr/>
        </p:nvSpPr>
        <p:spPr>
          <a:xfrm>
            <a:off x="6864598" y="3498751"/>
            <a:ext cx="198487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5</a:t>
            </a:r>
            <a:r>
              <a:rPr lang="en-US" sz="1200" dirty="0">
                <a:solidFill>
                  <a:srgbClr val="131A2A"/>
                </a:solidFill>
                <a:latin typeface="IBM Plex Sans KR" pitchFamily="34" charset="0"/>
                <a:ea typeface="IBM Plex Sans KR" pitchFamily="34" charset="-122"/>
                <a:cs typeface="IBM Plex Sans KR" pitchFamily="34" charset="-120"/>
              </a:rPr>
              <a:t> next_run_at 도래 계획 조회</a:t>
            </a:r>
            <a:endParaRPr lang="en-US" sz="1200" dirty="0"/>
          </a:p>
        </p:txBody>
      </p:sp>
      <p:sp>
        <p:nvSpPr>
          <p:cNvPr id="29" name="Shape 24"/>
          <p:cNvSpPr/>
          <p:nvPr/>
        </p:nvSpPr>
        <p:spPr>
          <a:xfrm>
            <a:off x="5215434" y="3752751"/>
            <a:ext cx="5156200" cy="0"/>
          </a:xfrm>
          <a:prstGeom prst="line">
            <a:avLst/>
          </a:prstGeom>
          <a:noFill/>
          <a:ln w="19050">
            <a:solidFill>
              <a:srgbClr val="131A2A"/>
            </a:solidFill>
            <a:prstDash val="solid"/>
          </a:ln>
        </p:spPr>
      </p:sp>
      <p:pic>
        <p:nvPicPr>
          <p:cNvPr id="30" name="Image 3" descr="arrow-right">    </p:cNvPr>
          <p:cNvPicPr>
            <a:picLocks noChangeAspect="1"/>
          </p:cNvPicPr>
          <p:nvPr/>
        </p:nvPicPr>
        <p:blipFill>
          <a:blip r:embed="rId4"/>
          <a:srcRect l="0" r="0" t="0" b="0"/>
          <a:stretch/>
        </p:blipFill>
        <p:spPr>
          <a:xfrm>
            <a:off x="10371634" y="3701951"/>
            <a:ext cx="127000" cy="101600"/>
          </a:xfrm>
          <a:prstGeom prst="rect">
            <a:avLst/>
          </a:prstGeom>
        </p:spPr>
      </p:pic>
      <p:sp>
        <p:nvSpPr>
          <p:cNvPr id="31" name="Text 25"/>
          <p:cNvSpPr/>
          <p:nvPr/>
        </p:nvSpPr>
        <p:spPr>
          <a:xfrm>
            <a:off x="5623570" y="3828951"/>
            <a:ext cx="94476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6</a:t>
            </a:r>
            <a:r>
              <a:rPr lang="en-US" sz="1200" dirty="0">
                <a:solidFill>
                  <a:srgbClr val="131A2A"/>
                </a:solidFill>
                <a:latin typeface="IBM Plex Sans KR" pitchFamily="34" charset="0"/>
                <a:ea typeface="IBM Plex Sans KR" pitchFamily="34" charset="-122"/>
                <a:cs typeface="IBM Plex Sans KR" pitchFamily="34" charset="-120"/>
              </a:rPr>
              <a:t> 실행 태스크</a:t>
            </a:r>
            <a:endParaRPr lang="en-US" sz="1200" dirty="0"/>
          </a:p>
        </p:txBody>
      </p:sp>
      <p:sp>
        <p:nvSpPr>
          <p:cNvPr id="32" name="Shape 26"/>
          <p:cNvSpPr/>
          <p:nvPr/>
        </p:nvSpPr>
        <p:spPr>
          <a:xfrm>
            <a:off x="5215434" y="4082951"/>
            <a:ext cx="1634083" cy="0"/>
          </a:xfrm>
          <a:prstGeom prst="line">
            <a:avLst/>
          </a:prstGeom>
          <a:noFill/>
          <a:ln w="19050">
            <a:solidFill>
              <a:srgbClr val="131A2A"/>
            </a:solidFill>
            <a:prstDash val="solid"/>
          </a:ln>
        </p:spPr>
      </p:sp>
      <p:pic>
        <p:nvPicPr>
          <p:cNvPr id="33" name="Image 4" descr="arrow-right">    </p:cNvPr>
          <p:cNvPicPr>
            <a:picLocks noChangeAspect="1"/>
          </p:cNvPicPr>
          <p:nvPr/>
        </p:nvPicPr>
        <p:blipFill>
          <a:blip r:embed="rId5"/>
          <a:srcRect l="0" r="0" t="0" b="0"/>
          <a:stretch/>
        </p:blipFill>
        <p:spPr>
          <a:xfrm>
            <a:off x="6849517" y="4032151"/>
            <a:ext cx="127000" cy="101600"/>
          </a:xfrm>
          <a:prstGeom prst="rect">
            <a:avLst/>
          </a:prstGeom>
        </p:spPr>
      </p:pic>
      <p:sp>
        <p:nvSpPr>
          <p:cNvPr id="34" name="Text 27"/>
          <p:cNvSpPr/>
          <p:nvPr/>
        </p:nvSpPr>
        <p:spPr>
          <a:xfrm>
            <a:off x="8091438" y="4159151"/>
            <a:ext cx="1292225"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7</a:t>
            </a:r>
            <a:r>
              <a:rPr lang="en-US" sz="1200" dirty="0">
                <a:solidFill>
                  <a:srgbClr val="131A2A"/>
                </a:solidFill>
                <a:latin typeface="IBM Plex Sans KR" pitchFamily="34" charset="0"/>
                <a:ea typeface="IBM Plex Sans KR" pitchFamily="34" charset="-122"/>
                <a:cs typeface="IBM Plex Sans KR" pitchFamily="34" charset="-120"/>
              </a:rPr>
              <a:t> trigger 로그 기록</a:t>
            </a:r>
            <a:endParaRPr lang="en-US" sz="1200" dirty="0"/>
          </a:p>
        </p:txBody>
      </p:sp>
      <p:sp>
        <p:nvSpPr>
          <p:cNvPr id="35" name="Shape 28"/>
          <p:cNvSpPr/>
          <p:nvPr/>
        </p:nvSpPr>
        <p:spPr>
          <a:xfrm>
            <a:off x="6976517" y="4413151"/>
            <a:ext cx="3395117" cy="0"/>
          </a:xfrm>
          <a:prstGeom prst="line">
            <a:avLst/>
          </a:prstGeom>
          <a:noFill/>
          <a:ln w="19050">
            <a:solidFill>
              <a:srgbClr val="131A2A"/>
            </a:solidFill>
            <a:prstDash val="solid"/>
          </a:ln>
        </p:spPr>
      </p:sp>
      <p:pic>
        <p:nvPicPr>
          <p:cNvPr id="36" name="Image 5" descr="arrow-right">    </p:cNvPr>
          <p:cNvPicPr>
            <a:picLocks noChangeAspect="1"/>
          </p:cNvPicPr>
          <p:nvPr/>
        </p:nvPicPr>
        <p:blipFill>
          <a:blip r:embed="rId6"/>
          <a:srcRect l="0" r="0" t="0" b="0"/>
          <a:stretch/>
        </p:blipFill>
        <p:spPr>
          <a:xfrm>
            <a:off x="10371634" y="4362351"/>
            <a:ext cx="127000" cy="101600"/>
          </a:xfrm>
          <a:prstGeom prst="rect">
            <a:avLst/>
          </a:prstGeom>
        </p:spPr>
      </p:pic>
      <p:sp>
        <p:nvSpPr>
          <p:cNvPr id="37" name="Text 29"/>
          <p:cNvSpPr/>
          <p:nvPr/>
        </p:nvSpPr>
        <p:spPr>
          <a:xfrm>
            <a:off x="7316688" y="4489351"/>
            <a:ext cx="1080691"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8</a:t>
            </a:r>
            <a:r>
              <a:rPr lang="en-US" sz="1200" dirty="0">
                <a:solidFill>
                  <a:srgbClr val="131A2A"/>
                </a:solidFill>
                <a:latin typeface="IBM Plex Sans KR" pitchFamily="34" charset="0"/>
                <a:ea typeface="IBM Plex Sans KR" pitchFamily="34" charset="-122"/>
                <a:cs typeface="IBM Plex Sans KR" pitchFamily="34" charset="-120"/>
              </a:rPr>
              <a:t> 워크플로 실행</a:t>
            </a:r>
            <a:endParaRPr lang="en-US" sz="1200" dirty="0"/>
          </a:p>
        </p:txBody>
      </p:sp>
      <p:sp>
        <p:nvSpPr>
          <p:cNvPr id="38" name="Shape 30"/>
          <p:cNvSpPr/>
          <p:nvPr/>
        </p:nvSpPr>
        <p:spPr>
          <a:xfrm>
            <a:off x="6976517" y="4743351"/>
            <a:ext cx="1634083" cy="0"/>
          </a:xfrm>
          <a:prstGeom prst="line">
            <a:avLst/>
          </a:prstGeom>
          <a:noFill/>
          <a:ln w="19050">
            <a:solidFill>
              <a:srgbClr val="131A2A"/>
            </a:solidFill>
            <a:prstDash val="solid"/>
          </a:ln>
        </p:spPr>
      </p:sp>
      <p:pic>
        <p:nvPicPr>
          <p:cNvPr id="39" name="Image 6" descr="arrow-right">    </p:cNvPr>
          <p:cNvPicPr>
            <a:picLocks noChangeAspect="1"/>
          </p:cNvPicPr>
          <p:nvPr/>
        </p:nvPicPr>
        <p:blipFill>
          <a:blip r:embed="rId7"/>
          <a:srcRect l="0" r="0" t="0" b="0"/>
          <a:stretch/>
        </p:blipFill>
        <p:spPr>
          <a:xfrm>
            <a:off x="8610600" y="4692551"/>
            <a:ext cx="127000" cy="101600"/>
          </a:xfrm>
          <a:prstGeom prst="rect">
            <a:avLst/>
          </a:prstGeom>
        </p:spPr>
      </p:pic>
      <p:sp>
        <p:nvSpPr>
          <p:cNvPr id="40" name="Text 31"/>
          <p:cNvSpPr/>
          <p:nvPr/>
        </p:nvSpPr>
        <p:spPr>
          <a:xfrm>
            <a:off x="9213701" y="4819551"/>
            <a:ext cx="808782" cy="190500"/>
          </a:xfrm>
          <a:prstGeom prst="rect">
            <a:avLst/>
          </a:prstGeom>
          <a:solidFill>
            <a:srgbClr val="F4F3EE"/>
          </a:solidFill>
          <a:ln/>
        </p:spPr>
        <p:txBody>
          <a:bodyPr wrap="none" lIns="0" tIns="0" rIns="0" bIns="0" rtlCol="0" anchor="ctr">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9</a:t>
            </a:r>
            <a:r>
              <a:rPr lang="en-US" sz="1200" dirty="0">
                <a:solidFill>
                  <a:srgbClr val="131A2A"/>
                </a:solidFill>
                <a:latin typeface="IBM Plex Sans KR" pitchFamily="34" charset="0"/>
                <a:ea typeface="IBM Plex Sans KR" pitchFamily="34" charset="-122"/>
                <a:cs typeface="IBM Plex Sans KR" pitchFamily="34" charset="-120"/>
              </a:rPr>
              <a:t> 실행 결과</a:t>
            </a:r>
            <a:endParaRPr lang="en-US" sz="1200" dirty="0"/>
          </a:p>
        </p:txBody>
      </p:sp>
      <p:sp>
        <p:nvSpPr>
          <p:cNvPr id="41" name="Shape 32"/>
          <p:cNvSpPr/>
          <p:nvPr/>
        </p:nvSpPr>
        <p:spPr>
          <a:xfrm>
            <a:off x="8737600" y="5073551"/>
            <a:ext cx="1634034" cy="0"/>
          </a:xfrm>
          <a:prstGeom prst="line">
            <a:avLst/>
          </a:prstGeom>
          <a:noFill/>
          <a:ln w="19050">
            <a:solidFill>
              <a:srgbClr val="131A2A"/>
            </a:solidFill>
            <a:prstDash val="solid"/>
          </a:ln>
        </p:spPr>
      </p:sp>
      <p:pic>
        <p:nvPicPr>
          <p:cNvPr id="42" name="Image 7" descr="arrow-right">    </p:cNvPr>
          <p:cNvPicPr>
            <a:picLocks noChangeAspect="1"/>
          </p:cNvPicPr>
          <p:nvPr/>
        </p:nvPicPr>
        <p:blipFill>
          <a:blip r:embed="rId8"/>
          <a:srcRect l="0" r="0" t="0" b="0"/>
          <a:stretch/>
        </p:blipFill>
        <p:spPr>
          <a:xfrm>
            <a:off x="10371634" y="5022751"/>
            <a:ext cx="127000" cy="101600"/>
          </a:xfrm>
          <a:prstGeom prst="rect">
            <a:avLst/>
          </a:prstGeom>
        </p:spPr>
      </p:pic>
      <p:sp>
        <p:nvSpPr>
          <p:cNvPr id="43" name="Text 33"/>
          <p:cNvSpPr/>
          <p:nvPr/>
        </p:nvSpPr>
        <p:spPr>
          <a:xfrm>
            <a:off x="5218609" y="5152926"/>
            <a:ext cx="3515816" cy="273050"/>
          </a:xfrm>
          <a:prstGeom prst="roundRect">
            <a:avLst>
              <a:gd name="adj" fmla="val 17442"/>
            </a:avLst>
          </a:prstGeom>
          <a:solidFill>
            <a:srgbClr val="DCE6FA"/>
          </a:solidFill>
          <a:ln w="6350">
            <a:solidFill>
              <a:srgbClr val="2F5BB7"/>
            </a:solidFill>
            <a:prstDash val="solid"/>
          </a:ln>
        </p:spPr>
        <p:txBody>
          <a:bodyPr wrap="square" lIns="1989" tIns="27326" rIns="1989" bIns="1926" rtlCol="0" anchor="t">
            <a:normAutofit/>
          </a:bodyPr>
          <a:lstStyle/>
          <a:p>
            <a:pPr algn="ctr" indent="0" marL="0">
              <a:lnSpc>
                <a:spcPts val="1500"/>
              </a:lnSpc>
              <a:buNone/>
            </a:pPr>
            <a:r>
              <a:rPr lang="en-US" sz="1200" dirty="0">
                <a:solidFill>
                  <a:srgbClr val="2F5BB7"/>
                </a:solidFill>
                <a:latin typeface="IBM Plex Sans KR" pitchFamily="34" charset="0"/>
                <a:ea typeface="IBM Plex Sans KR" pitchFamily="34" charset="-122"/>
                <a:cs typeface="IBM Plex Sans KR" pitchFamily="34" charset="-120"/>
              </a:rPr>
              <a:t>10</a:t>
            </a:r>
            <a:r>
              <a:rPr lang="en-US" sz="1200" dirty="0">
                <a:solidFill>
                  <a:srgbClr val="131A2A"/>
                </a:solidFill>
                <a:latin typeface="IBM Plex Sans KR" pitchFamily="34" charset="0"/>
                <a:ea typeface="IBM Plex Sans KR" pitchFamily="34" charset="-122"/>
                <a:cs typeface="IBM Plex Sans KR" pitchFamily="34" charset="-120"/>
              </a:rPr>
              <a:t> 상태 갱신 · 실패 기록</a:t>
            </a:r>
            <a:endParaRPr lang="en-US" sz="1200" dirty="0"/>
          </a:p>
        </p:txBody>
      </p:sp>
      <p:sp>
        <p:nvSpPr>
          <p:cNvPr id="44" name="Text 3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22 · 출처: controllers/trigger/webhook.py, schedule/workflow_schedule_task.py, models/trigger.py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D1 · DATA DOMAINS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약 150개 테이블, 9개 도메인 (+ 플러그인 DB 별도)</a:t>
            </a:r>
            <a:endParaRPr lang="en-US" sz="3000" dirty="0"/>
          </a:p>
        </p:txBody>
      </p:sp>
      <p:sp>
        <p:nvSpPr>
          <p:cNvPr id="4" name="Shape 2"/>
          <p:cNvSpPr/>
          <p:nvPr/>
        </p:nvSpPr>
        <p:spPr>
          <a:xfrm>
            <a:off x="815975" y="1645245"/>
            <a:ext cx="3448050" cy="1141661"/>
          </a:xfrm>
          <a:prstGeom prst="roundRect">
            <a:avLst>
              <a:gd name="adj" fmla="val 6396"/>
            </a:avLst>
          </a:prstGeom>
          <a:solidFill>
            <a:srgbClr val="FBFAF7"/>
          </a:solidFill>
          <a:ln w="6350">
            <a:solidFill>
              <a:srgbClr val="DCD9CF"/>
            </a:solidFill>
            <a:prstDash val="solid"/>
          </a:ln>
        </p:spPr>
      </p:sp>
      <p:sp>
        <p:nvSpPr>
          <p:cNvPr id="5" name="Text 3"/>
          <p:cNvSpPr/>
          <p:nvPr/>
        </p:nvSpPr>
        <p:spPr>
          <a:xfrm>
            <a:off x="971550" y="1775420"/>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테넌트 · 계정</a:t>
            </a:r>
            <a:endParaRPr lang="en-US" sz="1400" dirty="0"/>
          </a:p>
        </p:txBody>
      </p:sp>
      <p:sp>
        <p:nvSpPr>
          <p:cNvPr id="6" name="Text 4"/>
          <p:cNvSpPr/>
          <p:nvPr/>
        </p:nvSpPr>
        <p:spPr>
          <a:xfrm>
            <a:off x="971550" y="2039541"/>
            <a:ext cx="3231007"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tenants · accounts · tenant_account_joins · account_integrates · invitation_codes</a:t>
            </a:r>
            <a:endParaRPr lang="en-US" sz="1200" dirty="0"/>
          </a:p>
        </p:txBody>
      </p:sp>
      <p:sp>
        <p:nvSpPr>
          <p:cNvPr id="7" name="Shape 5"/>
          <p:cNvSpPr/>
          <p:nvPr/>
        </p:nvSpPr>
        <p:spPr>
          <a:xfrm>
            <a:off x="4368800" y="1642070"/>
            <a:ext cx="3454400" cy="1148011"/>
          </a:xfrm>
          <a:prstGeom prst="roundRect">
            <a:avLst>
              <a:gd name="adj" fmla="val 6638"/>
            </a:avLst>
          </a:prstGeom>
          <a:solidFill>
            <a:srgbClr val="131A2A"/>
          </a:solidFill>
          <a:ln/>
        </p:spPr>
      </p:sp>
      <p:sp>
        <p:nvSpPr>
          <p:cNvPr id="8" name="Text 6"/>
          <p:cNvSpPr/>
          <p:nvPr/>
        </p:nvSpPr>
        <p:spPr>
          <a:xfrm>
            <a:off x="4521200" y="1769070"/>
            <a:ext cx="3244088"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B0F5"/>
                </a:solidFill>
                <a:latin typeface="IBM Plex Sans KR" pitchFamily="34" charset="0"/>
                <a:ea typeface="IBM Plex Sans KR" pitchFamily="34" charset="-122"/>
                <a:cs typeface="IBM Plex Sans KR" pitchFamily="34" charset="-120"/>
              </a:rPr>
              <a:t>앱 (중심)</a:t>
            </a:r>
            <a:endParaRPr lang="en-US" sz="1400" dirty="0"/>
          </a:p>
        </p:txBody>
      </p:sp>
      <p:sp>
        <p:nvSpPr>
          <p:cNvPr id="9" name="Text 7"/>
          <p:cNvSpPr/>
          <p:nvPr/>
        </p:nvSpPr>
        <p:spPr>
          <a:xfrm>
            <a:off x="4521200" y="2033191"/>
            <a:ext cx="3244088"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CEDA"/>
                </a:solidFill>
                <a:latin typeface="IBM Plex Sans KR" pitchFamily="34" charset="0"/>
                <a:ea typeface="IBM Plex Sans KR" pitchFamily="34" charset="-122"/>
                <a:cs typeface="IBM Plex Sans KR" pitchFamily="34" charset="-120"/>
              </a:rPr>
              <a:t>apps · app_model_configs · sites · api_tokens · installed_apps · app_mcp_servers</a:t>
            </a:r>
            <a:endParaRPr lang="en-US" sz="1200" dirty="0"/>
          </a:p>
        </p:txBody>
      </p:sp>
      <p:sp>
        <p:nvSpPr>
          <p:cNvPr id="10" name="Shape 8"/>
          <p:cNvSpPr/>
          <p:nvPr/>
        </p:nvSpPr>
        <p:spPr>
          <a:xfrm>
            <a:off x="7927975" y="1645245"/>
            <a:ext cx="3448050" cy="1141661"/>
          </a:xfrm>
          <a:prstGeom prst="roundRect">
            <a:avLst>
              <a:gd name="adj" fmla="val 6396"/>
            </a:avLst>
          </a:prstGeom>
          <a:solidFill>
            <a:srgbClr val="FBFAF7"/>
          </a:solidFill>
          <a:ln w="6350">
            <a:solidFill>
              <a:srgbClr val="DCD9CF"/>
            </a:solidFill>
            <a:prstDash val="solid"/>
          </a:ln>
        </p:spPr>
      </p:sp>
      <p:sp>
        <p:nvSpPr>
          <p:cNvPr id="11" name="Text 9"/>
          <p:cNvSpPr/>
          <p:nvPr/>
        </p:nvSpPr>
        <p:spPr>
          <a:xfrm>
            <a:off x="8083550" y="1775420"/>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워크플로</a:t>
            </a:r>
            <a:endParaRPr lang="en-US" sz="1400" dirty="0"/>
          </a:p>
        </p:txBody>
      </p:sp>
      <p:sp>
        <p:nvSpPr>
          <p:cNvPr id="12" name="Text 10"/>
          <p:cNvSpPr/>
          <p:nvPr/>
        </p:nvSpPr>
        <p:spPr>
          <a:xfrm>
            <a:off x="8083550" y="2039541"/>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workflows · workflow_runs · workflow_node_executions · workflow_app_logs · workflow_pauses</a:t>
            </a:r>
            <a:endParaRPr lang="en-US" sz="1200" dirty="0"/>
          </a:p>
        </p:txBody>
      </p:sp>
      <p:sp>
        <p:nvSpPr>
          <p:cNvPr id="13" name="Shape 11"/>
          <p:cNvSpPr/>
          <p:nvPr/>
        </p:nvSpPr>
        <p:spPr>
          <a:xfrm>
            <a:off x="815975" y="2894856"/>
            <a:ext cx="3448050" cy="1141661"/>
          </a:xfrm>
          <a:prstGeom prst="roundRect">
            <a:avLst>
              <a:gd name="adj" fmla="val 6396"/>
            </a:avLst>
          </a:prstGeom>
          <a:solidFill>
            <a:srgbClr val="FBFAF7"/>
          </a:solidFill>
          <a:ln w="6350">
            <a:solidFill>
              <a:srgbClr val="DCD9CF"/>
            </a:solidFill>
            <a:prstDash val="solid"/>
          </a:ln>
        </p:spPr>
      </p:sp>
      <p:sp>
        <p:nvSpPr>
          <p:cNvPr id="14" name="Text 12"/>
          <p:cNvSpPr/>
          <p:nvPr/>
        </p:nvSpPr>
        <p:spPr>
          <a:xfrm>
            <a:off x="971550" y="302503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대화</a:t>
            </a:r>
            <a:endParaRPr lang="en-US" sz="1400" dirty="0"/>
          </a:p>
        </p:txBody>
      </p:sp>
      <p:sp>
        <p:nvSpPr>
          <p:cNvPr id="15" name="Text 13"/>
          <p:cNvSpPr/>
          <p:nvPr/>
        </p:nvSpPr>
        <p:spPr>
          <a:xfrm>
            <a:off x="971550" y="3289151"/>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conversations · messages · message_agent_thoughts · message_feedbacks · end_users</a:t>
            </a:r>
            <a:endParaRPr lang="en-US" sz="1200" dirty="0"/>
          </a:p>
        </p:txBody>
      </p:sp>
      <p:sp>
        <p:nvSpPr>
          <p:cNvPr id="16" name="Shape 14"/>
          <p:cNvSpPr/>
          <p:nvPr/>
        </p:nvSpPr>
        <p:spPr>
          <a:xfrm>
            <a:off x="4371975" y="2894856"/>
            <a:ext cx="3448050" cy="1141661"/>
          </a:xfrm>
          <a:prstGeom prst="roundRect">
            <a:avLst>
              <a:gd name="adj" fmla="val 6396"/>
            </a:avLst>
          </a:prstGeom>
          <a:solidFill>
            <a:srgbClr val="FBFAF7"/>
          </a:solidFill>
          <a:ln w="6350">
            <a:solidFill>
              <a:srgbClr val="DCD9CF"/>
            </a:solidFill>
            <a:prstDash val="solid"/>
          </a:ln>
        </p:spPr>
      </p:sp>
      <p:sp>
        <p:nvSpPr>
          <p:cNvPr id="17" name="Text 15"/>
          <p:cNvSpPr/>
          <p:nvPr/>
        </p:nvSpPr>
        <p:spPr>
          <a:xfrm>
            <a:off x="4527550" y="302503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지식</a:t>
            </a:r>
            <a:endParaRPr lang="en-US" sz="1400" dirty="0"/>
          </a:p>
        </p:txBody>
      </p:sp>
      <p:sp>
        <p:nvSpPr>
          <p:cNvPr id="18" name="Text 16"/>
          <p:cNvSpPr/>
          <p:nvPr/>
        </p:nvSpPr>
        <p:spPr>
          <a:xfrm>
            <a:off x="4527550" y="3289151"/>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datasets · documents · document_segments · child_chunks · embeddings · app_dataset_joins</a:t>
            </a:r>
            <a:endParaRPr lang="en-US" sz="1200" dirty="0"/>
          </a:p>
        </p:txBody>
      </p:sp>
      <p:sp>
        <p:nvSpPr>
          <p:cNvPr id="19" name="Shape 17"/>
          <p:cNvSpPr/>
          <p:nvPr/>
        </p:nvSpPr>
        <p:spPr>
          <a:xfrm>
            <a:off x="7927975" y="2894856"/>
            <a:ext cx="3448050" cy="1141661"/>
          </a:xfrm>
          <a:prstGeom prst="roundRect">
            <a:avLst>
              <a:gd name="adj" fmla="val 6396"/>
            </a:avLst>
          </a:prstGeom>
          <a:solidFill>
            <a:srgbClr val="FBFAF7"/>
          </a:solidFill>
          <a:ln w="6350">
            <a:solidFill>
              <a:srgbClr val="DCD9CF"/>
            </a:solidFill>
            <a:prstDash val="solid"/>
          </a:ln>
        </p:spPr>
      </p:sp>
      <p:sp>
        <p:nvSpPr>
          <p:cNvPr id="20" name="Text 18"/>
          <p:cNvSpPr/>
          <p:nvPr/>
        </p:nvSpPr>
        <p:spPr>
          <a:xfrm>
            <a:off x="8083550" y="302503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모델 공급자</a:t>
            </a:r>
            <a:endParaRPr lang="en-US" sz="1400" dirty="0"/>
          </a:p>
        </p:txBody>
      </p:sp>
      <p:sp>
        <p:nvSpPr>
          <p:cNvPr id="21" name="Text 19"/>
          <p:cNvSpPr/>
          <p:nvPr/>
        </p:nvSpPr>
        <p:spPr>
          <a:xfrm>
            <a:off x="8083550" y="3289151"/>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providers · provider_models · provider_credentials · tenant_default_models · load_balancing_model_configs</a:t>
            </a:r>
            <a:endParaRPr lang="en-US" sz="1200" dirty="0"/>
          </a:p>
        </p:txBody>
      </p:sp>
      <p:sp>
        <p:nvSpPr>
          <p:cNvPr id="22" name="Shape 20"/>
          <p:cNvSpPr/>
          <p:nvPr/>
        </p:nvSpPr>
        <p:spPr>
          <a:xfrm>
            <a:off x="815975" y="4144466"/>
            <a:ext cx="3448050" cy="1141661"/>
          </a:xfrm>
          <a:prstGeom prst="roundRect">
            <a:avLst>
              <a:gd name="adj" fmla="val 6396"/>
            </a:avLst>
          </a:prstGeom>
          <a:solidFill>
            <a:srgbClr val="FBFAF7"/>
          </a:solidFill>
          <a:ln w="6350">
            <a:solidFill>
              <a:srgbClr val="DCD9CF"/>
            </a:solidFill>
            <a:prstDash val="solid"/>
          </a:ln>
        </p:spPr>
      </p:sp>
      <p:sp>
        <p:nvSpPr>
          <p:cNvPr id="23" name="Text 21"/>
          <p:cNvSpPr/>
          <p:nvPr/>
        </p:nvSpPr>
        <p:spPr>
          <a:xfrm>
            <a:off x="971550" y="427464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도구 · MCP</a:t>
            </a:r>
            <a:endParaRPr lang="en-US" sz="1400" dirty="0"/>
          </a:p>
        </p:txBody>
      </p:sp>
      <p:sp>
        <p:nvSpPr>
          <p:cNvPr id="24" name="Text 22"/>
          <p:cNvSpPr/>
          <p:nvPr/>
        </p:nvSpPr>
        <p:spPr>
          <a:xfrm>
            <a:off x="971550" y="4538762"/>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tool_builtin_providers · tool_api_providers · tool_workflow_providers · tool_mcp_providers</a:t>
            </a:r>
            <a:endParaRPr lang="en-US" sz="1200" dirty="0"/>
          </a:p>
        </p:txBody>
      </p:sp>
      <p:sp>
        <p:nvSpPr>
          <p:cNvPr id="25" name="Shape 23"/>
          <p:cNvSpPr/>
          <p:nvPr/>
        </p:nvSpPr>
        <p:spPr>
          <a:xfrm>
            <a:off x="4371975" y="4144466"/>
            <a:ext cx="3448050" cy="1141661"/>
          </a:xfrm>
          <a:prstGeom prst="roundRect">
            <a:avLst>
              <a:gd name="adj" fmla="val 6396"/>
            </a:avLst>
          </a:prstGeom>
          <a:solidFill>
            <a:srgbClr val="FBFAF7"/>
          </a:solidFill>
          <a:ln w="6350">
            <a:solidFill>
              <a:srgbClr val="DCD9CF"/>
            </a:solidFill>
            <a:prstDash val="solid"/>
          </a:ln>
        </p:spPr>
      </p:sp>
      <p:sp>
        <p:nvSpPr>
          <p:cNvPr id="26" name="Text 24"/>
          <p:cNvSpPr/>
          <p:nvPr/>
        </p:nvSpPr>
        <p:spPr>
          <a:xfrm>
            <a:off x="4527550" y="427464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트리거 · 파이프라인</a:t>
            </a:r>
            <a:endParaRPr lang="en-US" sz="1400" dirty="0"/>
          </a:p>
        </p:txBody>
      </p:sp>
      <p:sp>
        <p:nvSpPr>
          <p:cNvPr id="27" name="Text 25"/>
          <p:cNvSpPr/>
          <p:nvPr/>
        </p:nvSpPr>
        <p:spPr>
          <a:xfrm>
            <a:off x="4527550" y="4538762"/>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app_triggers · workflow_schedule_plans · workflow_webhook_triggers · workflow_trigger_logs · pipelines</a:t>
            </a:r>
            <a:endParaRPr lang="en-US" sz="1200" dirty="0"/>
          </a:p>
        </p:txBody>
      </p:sp>
      <p:sp>
        <p:nvSpPr>
          <p:cNvPr id="28" name="Shape 26"/>
          <p:cNvSpPr/>
          <p:nvPr/>
        </p:nvSpPr>
        <p:spPr>
          <a:xfrm>
            <a:off x="7927975" y="4144466"/>
            <a:ext cx="3448050" cy="1141661"/>
          </a:xfrm>
          <a:prstGeom prst="roundRect">
            <a:avLst>
              <a:gd name="adj" fmla="val 6396"/>
            </a:avLst>
          </a:prstGeom>
          <a:solidFill>
            <a:srgbClr val="FBFAF7"/>
          </a:solidFill>
          <a:ln w="6350">
            <a:solidFill>
              <a:srgbClr val="DCD9CF"/>
            </a:solidFill>
            <a:prstDash val="solid"/>
          </a:ln>
        </p:spPr>
      </p:sp>
      <p:sp>
        <p:nvSpPr>
          <p:cNvPr id="29" name="Text 27"/>
          <p:cNvSpPr/>
          <p:nvPr/>
        </p:nvSpPr>
        <p:spPr>
          <a:xfrm>
            <a:off x="8083550" y="4274641"/>
            <a:ext cx="323100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1A2A"/>
                </a:solidFill>
                <a:latin typeface="IBM Plex Sans KR" pitchFamily="34" charset="0"/>
                <a:ea typeface="IBM Plex Sans KR" pitchFamily="34" charset="-122"/>
                <a:cs typeface="IBM Plex Sans KR" pitchFamily="34" charset="-120"/>
              </a:rPr>
              <a:t>신규 에이전트</a:t>
            </a:r>
            <a:endParaRPr lang="en-US" sz="1400" dirty="0"/>
          </a:p>
        </p:txBody>
      </p:sp>
      <p:sp>
        <p:nvSpPr>
          <p:cNvPr id="30" name="Text 28"/>
          <p:cNvSpPr/>
          <p:nvPr/>
        </p:nvSpPr>
        <p:spPr>
          <a:xfrm>
            <a:off x="8083550" y="4538762"/>
            <a:ext cx="3231007"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263"/>
                </a:solidFill>
                <a:latin typeface="IBM Plex Sans KR" pitchFamily="34" charset="0"/>
                <a:ea typeface="IBM Plex Sans KR" pitchFamily="34" charset="-122"/>
                <a:cs typeface="IBM Plex Sans KR" pitchFamily="34" charset="-120"/>
              </a:rPr>
              <a:t>agents · agent_config_snapshots · agent_workspaces · skills · agent_sandbox_executions</a:t>
            </a:r>
            <a:endParaRPr lang="en-US" sz="12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23 · 출처: api/models (SQLAlchemy, __tablename__ 기준 150개)</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D2 · CORE ERD</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핵심 ERD: tenants 아래 apps, apps 아래 모든 실행</a:t>
            </a:r>
            <a:endParaRPr lang="en-US" sz="3000" dirty="0"/>
          </a:p>
        </p:txBody>
      </p:sp>
      <p:sp>
        <p:nvSpPr>
          <p:cNvPr id="4" name="Shape 2"/>
          <p:cNvSpPr/>
          <p:nvPr/>
        </p:nvSpPr>
        <p:spPr>
          <a:xfrm>
            <a:off x="815975" y="1590675"/>
            <a:ext cx="2406650" cy="1073150"/>
          </a:xfrm>
          <a:prstGeom prst="roundRect">
            <a:avLst>
              <a:gd name="adj" fmla="val 6805"/>
            </a:avLst>
          </a:prstGeom>
          <a:solidFill>
            <a:srgbClr val="FBFAF7"/>
          </a:solidFill>
          <a:ln w="6350">
            <a:solidFill>
              <a:srgbClr val="DCD9CF"/>
            </a:solidFill>
            <a:prstDash val="solid"/>
          </a:ln>
        </p:spPr>
      </p:sp>
      <p:sp>
        <p:nvSpPr>
          <p:cNvPr id="5" name="Text 3"/>
          <p:cNvSpPr/>
          <p:nvPr/>
        </p:nvSpPr>
        <p:spPr>
          <a:xfrm>
            <a:off x="933450" y="1695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accounts</a:t>
            </a:r>
            <a:endParaRPr lang="en-US" sz="1268" dirty="0"/>
          </a:p>
        </p:txBody>
      </p:sp>
      <p:sp>
        <p:nvSpPr>
          <p:cNvPr id="6" name="Text 4"/>
          <p:cNvSpPr/>
          <p:nvPr/>
        </p:nvSpPr>
        <p:spPr>
          <a:xfrm>
            <a:off x="933450" y="1958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email · name · status</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password · password_salt</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interface_language</a:t>
            </a:r>
            <a:endParaRPr lang="en-US" sz="1177" dirty="0"/>
          </a:p>
        </p:txBody>
      </p:sp>
      <p:sp>
        <p:nvSpPr>
          <p:cNvPr id="7" name="Shape 5"/>
          <p:cNvSpPr/>
          <p:nvPr/>
        </p:nvSpPr>
        <p:spPr>
          <a:xfrm>
            <a:off x="3533775" y="1590675"/>
            <a:ext cx="2406650" cy="1073150"/>
          </a:xfrm>
          <a:prstGeom prst="roundRect">
            <a:avLst>
              <a:gd name="adj" fmla="val 6805"/>
            </a:avLst>
          </a:prstGeom>
          <a:solidFill>
            <a:srgbClr val="FBFAF7"/>
          </a:solidFill>
          <a:ln w="6350">
            <a:solidFill>
              <a:srgbClr val="DCD9CF"/>
            </a:solidFill>
            <a:prstDash val="solid"/>
          </a:ln>
        </p:spPr>
      </p:sp>
      <p:sp>
        <p:nvSpPr>
          <p:cNvPr id="8" name="Text 6"/>
          <p:cNvSpPr/>
          <p:nvPr/>
        </p:nvSpPr>
        <p:spPr>
          <a:xfrm>
            <a:off x="3651250" y="1695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tenant_account_joins</a:t>
            </a:r>
            <a:endParaRPr lang="en-US" sz="1268" dirty="0"/>
          </a:p>
        </p:txBody>
      </p:sp>
      <p:sp>
        <p:nvSpPr>
          <p:cNvPr id="9" name="Text 7"/>
          <p:cNvSpPr/>
          <p:nvPr/>
        </p:nvSpPr>
        <p:spPr>
          <a:xfrm>
            <a:off x="3651250" y="1958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tenant_id · account_id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role (owner … operator)</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current</a:t>
            </a:r>
            <a:endParaRPr lang="en-US" sz="1177" dirty="0"/>
          </a:p>
        </p:txBody>
      </p:sp>
      <p:sp>
        <p:nvSpPr>
          <p:cNvPr id="10" name="Shape 8"/>
          <p:cNvSpPr/>
          <p:nvPr/>
        </p:nvSpPr>
        <p:spPr>
          <a:xfrm>
            <a:off x="6251575" y="1590675"/>
            <a:ext cx="2406650" cy="1073150"/>
          </a:xfrm>
          <a:prstGeom prst="roundRect">
            <a:avLst>
              <a:gd name="adj" fmla="val 6805"/>
            </a:avLst>
          </a:prstGeom>
          <a:solidFill>
            <a:srgbClr val="FBE3D3"/>
          </a:solidFill>
          <a:ln w="6350">
            <a:solidFill>
              <a:srgbClr val="D9652B"/>
            </a:solidFill>
            <a:prstDash val="solid"/>
          </a:ln>
        </p:spPr>
      </p:sp>
      <p:sp>
        <p:nvSpPr>
          <p:cNvPr id="11" name="Text 9"/>
          <p:cNvSpPr/>
          <p:nvPr/>
        </p:nvSpPr>
        <p:spPr>
          <a:xfrm>
            <a:off x="6369050" y="1695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B8521E"/>
                </a:solidFill>
                <a:latin typeface="JetBrains Mono" pitchFamily="49" charset="0"/>
                <a:ea typeface="JetBrains Mono" pitchFamily="49" charset="-122"/>
                <a:cs typeface="JetBrains Mono" pitchFamily="49" charset="-120"/>
              </a:rPr>
              <a:t>tenants</a:t>
            </a:r>
            <a:endParaRPr lang="en-US" sz="1268" dirty="0"/>
          </a:p>
        </p:txBody>
      </p:sp>
      <p:sp>
        <p:nvSpPr>
          <p:cNvPr id="12" name="Text 10"/>
          <p:cNvSpPr/>
          <p:nvPr/>
        </p:nvSpPr>
        <p:spPr>
          <a:xfrm>
            <a:off x="6369050" y="1958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name · plan · status</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encrypt_public_key</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custom_config</a:t>
            </a:r>
            <a:endParaRPr lang="en-US" sz="1177" dirty="0"/>
          </a:p>
        </p:txBody>
      </p:sp>
      <p:sp>
        <p:nvSpPr>
          <p:cNvPr id="13" name="Shape 11"/>
          <p:cNvSpPr/>
          <p:nvPr/>
        </p:nvSpPr>
        <p:spPr>
          <a:xfrm>
            <a:off x="8969375" y="1590675"/>
            <a:ext cx="2406650" cy="1073150"/>
          </a:xfrm>
          <a:prstGeom prst="roundRect">
            <a:avLst>
              <a:gd name="adj" fmla="val 6805"/>
            </a:avLst>
          </a:prstGeom>
          <a:solidFill>
            <a:srgbClr val="FBFAF7"/>
          </a:solidFill>
          <a:ln w="6350">
            <a:solidFill>
              <a:srgbClr val="DCD9CF"/>
            </a:solidFill>
            <a:prstDash val="solid"/>
          </a:ln>
        </p:spPr>
      </p:sp>
      <p:sp>
        <p:nvSpPr>
          <p:cNvPr id="14" name="Text 12"/>
          <p:cNvSpPr/>
          <p:nvPr/>
        </p:nvSpPr>
        <p:spPr>
          <a:xfrm>
            <a:off x="9086850" y="1695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datasets</a:t>
            </a:r>
            <a:endParaRPr lang="en-US" sz="1268" dirty="0"/>
          </a:p>
        </p:txBody>
      </p:sp>
      <p:sp>
        <p:nvSpPr>
          <p:cNvPr id="15" name="Text 13"/>
          <p:cNvSpPr/>
          <p:nvPr/>
        </p:nvSpPr>
        <p:spPr>
          <a:xfrm>
            <a:off x="9086850" y="1958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indexing_technique</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embedding_model</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retrieval_model · permission</a:t>
            </a:r>
            <a:endParaRPr lang="en-US" sz="1177" dirty="0"/>
          </a:p>
        </p:txBody>
      </p:sp>
      <p:sp>
        <p:nvSpPr>
          <p:cNvPr id="16" name="Shape 14"/>
          <p:cNvSpPr/>
          <p:nvPr/>
        </p:nvSpPr>
        <p:spPr>
          <a:xfrm>
            <a:off x="815975" y="2987675"/>
            <a:ext cx="2406650" cy="1073150"/>
          </a:xfrm>
          <a:prstGeom prst="roundRect">
            <a:avLst>
              <a:gd name="adj" fmla="val 6805"/>
            </a:avLst>
          </a:prstGeom>
          <a:solidFill>
            <a:srgbClr val="FBFAF7"/>
          </a:solidFill>
          <a:ln w="6350">
            <a:solidFill>
              <a:srgbClr val="DCD9CF"/>
            </a:solidFill>
            <a:prstDash val="solid"/>
          </a:ln>
        </p:spPr>
      </p:sp>
      <p:sp>
        <p:nvSpPr>
          <p:cNvPr id="17" name="Text 15"/>
          <p:cNvSpPr/>
          <p:nvPr/>
        </p:nvSpPr>
        <p:spPr>
          <a:xfrm>
            <a:off x="933450" y="3092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end_users</a:t>
            </a:r>
            <a:endParaRPr lang="en-US" sz="1268" dirty="0"/>
          </a:p>
        </p:txBody>
      </p:sp>
      <p:sp>
        <p:nvSpPr>
          <p:cNvPr id="18" name="Text 16"/>
          <p:cNvSpPr/>
          <p:nvPr/>
        </p:nvSpPr>
        <p:spPr>
          <a:xfrm>
            <a:off x="933450" y="3355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app_id · type · session_id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external_user_id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is_anonymous</a:t>
            </a:r>
            <a:endParaRPr lang="en-US" sz="1177" dirty="0"/>
          </a:p>
        </p:txBody>
      </p:sp>
      <p:sp>
        <p:nvSpPr>
          <p:cNvPr id="19" name="Shape 17"/>
          <p:cNvSpPr/>
          <p:nvPr/>
        </p:nvSpPr>
        <p:spPr>
          <a:xfrm>
            <a:off x="3530600" y="2984500"/>
            <a:ext cx="2413000" cy="1079500"/>
          </a:xfrm>
          <a:prstGeom prst="roundRect">
            <a:avLst>
              <a:gd name="adj" fmla="val 7059"/>
            </a:avLst>
          </a:prstGeom>
          <a:solidFill>
            <a:srgbClr val="131A2A"/>
          </a:solidFill>
          <a:ln/>
        </p:spPr>
      </p:sp>
      <p:sp>
        <p:nvSpPr>
          <p:cNvPr id="20" name="Text 18"/>
          <p:cNvSpPr/>
          <p:nvPr/>
        </p:nvSpPr>
        <p:spPr>
          <a:xfrm>
            <a:off x="3644900" y="3086100"/>
            <a:ext cx="2249932" cy="253802"/>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0F5"/>
                </a:solidFill>
                <a:latin typeface="JetBrains Mono" pitchFamily="49" charset="0"/>
                <a:ea typeface="JetBrains Mono" pitchFamily="49" charset="-122"/>
                <a:cs typeface="JetBrains Mono" pitchFamily="49" charset="-120"/>
              </a:rPr>
              <a:t>apps</a:t>
            </a:r>
            <a:endParaRPr lang="en-US" sz="1300" dirty="0"/>
          </a:p>
        </p:txBody>
      </p:sp>
      <p:sp>
        <p:nvSpPr>
          <p:cNvPr id="21" name="Text 19"/>
          <p:cNvSpPr/>
          <p:nvPr/>
        </p:nvSpPr>
        <p:spPr>
          <a:xfrm>
            <a:off x="3644900" y="3352602"/>
            <a:ext cx="2249932" cy="635198"/>
          </a:xfrm>
          <a:prstGeom prst="rect">
            <a:avLst/>
          </a:prstGeom>
          <a:noFill/>
          <a:ln/>
        </p:spPr>
        <p:txBody>
          <a:bodyPr wrap="square" lIns="0" tIns="0" rIns="0" bIns="0" rtlCol="0" anchor="t">
            <a:normAutofit/>
          </a:bodyPr>
          <a:lstStyle/>
          <a:p>
            <a:pPr algn="l" indent="0" marL="0">
              <a:lnSpc>
                <a:spcPts val="1605"/>
              </a:lnSpc>
              <a:buNone/>
            </a:pPr>
            <a:r>
              <a:rPr lang="en-US" sz="1189" dirty="0">
                <a:solidFill>
                  <a:srgbClr val="E3E6EC"/>
                </a:solidFill>
                <a:latin typeface="IBM Plex Sans KR" pitchFamily="34" charset="0"/>
                <a:ea typeface="IBM Plex Sans KR" pitchFamily="34" charset="-122"/>
                <a:cs typeface="IBM Plex Sans KR" pitchFamily="34" charset="-120"/>
              </a:rPr>
              <a:t>tenant_id · mode</a:t>
            </a:r>
            <a:endParaRPr lang="en-US" sz="1189" dirty="0"/>
          </a:p>
          <a:p>
            <a:pPr algn="l" indent="0" marL="0">
              <a:lnSpc>
                <a:spcPts val="1605"/>
              </a:lnSpc>
              <a:buNone/>
            </a:pPr>
            <a:r>
              <a:rPr lang="en-US" sz="1189" dirty="0">
                <a:solidFill>
                  <a:srgbClr val="E3E6EC"/>
                </a:solidFill>
                <a:latin typeface="IBM Plex Sans KR" pitchFamily="34" charset="0"/>
                <a:ea typeface="IBM Plex Sans KR" pitchFamily="34" charset="-122"/>
                <a:cs typeface="IBM Plex Sans KR" pitchFamily="34" charset="-120"/>
              </a:rPr>
              <a:t>workflow_id</a:t>
            </a:r>
            <a:endParaRPr lang="en-US" sz="1189" dirty="0"/>
          </a:p>
          <a:p>
            <a:pPr algn="l" indent="0" marL="0">
              <a:lnSpc>
                <a:spcPts val="1605"/>
              </a:lnSpc>
              <a:buNone/>
            </a:pPr>
            <a:r>
              <a:rPr lang="en-US" sz="1189" dirty="0">
                <a:solidFill>
                  <a:srgbClr val="E3E6EC"/>
                </a:solidFill>
                <a:latin typeface="IBM Plex Sans KR" pitchFamily="34" charset="0"/>
                <a:ea typeface="IBM Plex Sans KR" pitchFamily="34" charset="-122"/>
                <a:cs typeface="IBM Plex Sans KR" pitchFamily="34" charset="-120"/>
              </a:rPr>
              <a:t>app_model_config_id</a:t>
            </a:r>
            <a:endParaRPr lang="en-US" sz="1189" dirty="0"/>
          </a:p>
        </p:txBody>
      </p:sp>
      <p:sp>
        <p:nvSpPr>
          <p:cNvPr id="22" name="Shape 20"/>
          <p:cNvSpPr/>
          <p:nvPr/>
        </p:nvSpPr>
        <p:spPr>
          <a:xfrm>
            <a:off x="6251575" y="2987675"/>
            <a:ext cx="2406650" cy="1073150"/>
          </a:xfrm>
          <a:prstGeom prst="roundRect">
            <a:avLst>
              <a:gd name="adj" fmla="val 6805"/>
            </a:avLst>
          </a:prstGeom>
          <a:solidFill>
            <a:srgbClr val="FBFAF7"/>
          </a:solidFill>
          <a:ln w="6350">
            <a:solidFill>
              <a:srgbClr val="DCD9CF"/>
            </a:solidFill>
            <a:prstDash val="solid"/>
          </a:ln>
        </p:spPr>
      </p:sp>
      <p:sp>
        <p:nvSpPr>
          <p:cNvPr id="23" name="Text 21"/>
          <p:cNvSpPr/>
          <p:nvPr/>
        </p:nvSpPr>
        <p:spPr>
          <a:xfrm>
            <a:off x="6369050" y="3092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app_dataset_joins</a:t>
            </a:r>
            <a:endParaRPr lang="en-US" sz="1268" dirty="0"/>
          </a:p>
        </p:txBody>
      </p:sp>
      <p:sp>
        <p:nvSpPr>
          <p:cNvPr id="24" name="Text 22"/>
          <p:cNvSpPr/>
          <p:nvPr/>
        </p:nvSpPr>
        <p:spPr>
          <a:xfrm>
            <a:off x="6369050" y="3355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app_id · dataset_id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created_at</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앱 ↔ 지식 N:M</a:t>
            </a:r>
            <a:endParaRPr lang="en-US" sz="1177" dirty="0"/>
          </a:p>
        </p:txBody>
      </p:sp>
      <p:sp>
        <p:nvSpPr>
          <p:cNvPr id="25" name="Shape 23"/>
          <p:cNvSpPr/>
          <p:nvPr/>
        </p:nvSpPr>
        <p:spPr>
          <a:xfrm>
            <a:off x="8969375" y="2987675"/>
            <a:ext cx="2406650" cy="1073150"/>
          </a:xfrm>
          <a:prstGeom prst="roundRect">
            <a:avLst>
              <a:gd name="adj" fmla="val 6805"/>
            </a:avLst>
          </a:prstGeom>
          <a:solidFill>
            <a:srgbClr val="FBFAF7"/>
          </a:solidFill>
          <a:ln w="6350">
            <a:solidFill>
              <a:srgbClr val="DCD9CF"/>
            </a:solidFill>
            <a:prstDash val="solid"/>
          </a:ln>
        </p:spPr>
      </p:sp>
      <p:sp>
        <p:nvSpPr>
          <p:cNvPr id="26" name="Text 24"/>
          <p:cNvSpPr/>
          <p:nvPr/>
        </p:nvSpPr>
        <p:spPr>
          <a:xfrm>
            <a:off x="9086850" y="3092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documents</a:t>
            </a:r>
            <a:endParaRPr lang="en-US" sz="1268" dirty="0"/>
          </a:p>
        </p:txBody>
      </p:sp>
      <p:sp>
        <p:nvSpPr>
          <p:cNvPr id="27" name="Text 25"/>
          <p:cNvSpPr/>
          <p:nvPr/>
        </p:nvSpPr>
        <p:spPr>
          <a:xfrm>
            <a:off x="9086850" y="3355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dataset_id · doc_form</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indexing_status</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tokens · word_count</a:t>
            </a:r>
            <a:endParaRPr lang="en-US" sz="1177" dirty="0"/>
          </a:p>
        </p:txBody>
      </p:sp>
      <p:sp>
        <p:nvSpPr>
          <p:cNvPr id="28" name="Shape 26"/>
          <p:cNvSpPr/>
          <p:nvPr/>
        </p:nvSpPr>
        <p:spPr>
          <a:xfrm>
            <a:off x="815975" y="4384675"/>
            <a:ext cx="2406650" cy="1073150"/>
          </a:xfrm>
          <a:prstGeom prst="roundRect">
            <a:avLst>
              <a:gd name="adj" fmla="val 6805"/>
            </a:avLst>
          </a:prstGeom>
          <a:solidFill>
            <a:srgbClr val="FBFAF7"/>
          </a:solidFill>
          <a:ln w="6350">
            <a:solidFill>
              <a:srgbClr val="DCD9CF"/>
            </a:solidFill>
            <a:prstDash val="solid"/>
          </a:ln>
        </p:spPr>
      </p:sp>
      <p:sp>
        <p:nvSpPr>
          <p:cNvPr id="29" name="Text 27"/>
          <p:cNvSpPr/>
          <p:nvPr/>
        </p:nvSpPr>
        <p:spPr>
          <a:xfrm>
            <a:off x="933450" y="4489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messages</a:t>
            </a:r>
            <a:endParaRPr lang="en-US" sz="1268" dirty="0"/>
          </a:p>
        </p:txBody>
      </p:sp>
      <p:sp>
        <p:nvSpPr>
          <p:cNvPr id="30" name="Text 28"/>
          <p:cNvSpPr/>
          <p:nvPr/>
        </p:nvSpPr>
        <p:spPr>
          <a:xfrm>
            <a:off x="933450" y="4752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conversation_id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query · answer · total_price</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workflow_run_id</a:t>
            </a:r>
            <a:endParaRPr lang="en-US" sz="1177" dirty="0"/>
          </a:p>
        </p:txBody>
      </p:sp>
      <p:sp>
        <p:nvSpPr>
          <p:cNvPr id="31" name="Shape 29"/>
          <p:cNvSpPr/>
          <p:nvPr/>
        </p:nvSpPr>
        <p:spPr>
          <a:xfrm>
            <a:off x="3533775" y="4384675"/>
            <a:ext cx="2406650" cy="1073150"/>
          </a:xfrm>
          <a:prstGeom prst="roundRect">
            <a:avLst>
              <a:gd name="adj" fmla="val 6805"/>
            </a:avLst>
          </a:prstGeom>
          <a:solidFill>
            <a:srgbClr val="FBFAF7"/>
          </a:solidFill>
          <a:ln w="6350">
            <a:solidFill>
              <a:srgbClr val="DCD9CF"/>
            </a:solidFill>
            <a:prstDash val="solid"/>
          </a:ln>
        </p:spPr>
      </p:sp>
      <p:sp>
        <p:nvSpPr>
          <p:cNvPr id="32" name="Text 30"/>
          <p:cNvSpPr/>
          <p:nvPr/>
        </p:nvSpPr>
        <p:spPr>
          <a:xfrm>
            <a:off x="3651250" y="4489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conversations</a:t>
            </a:r>
            <a:endParaRPr lang="en-US" sz="1268" dirty="0"/>
          </a:p>
        </p:txBody>
      </p:sp>
      <p:sp>
        <p:nvSpPr>
          <p:cNvPr id="33" name="Text 31"/>
          <p:cNvSpPr/>
          <p:nvPr/>
        </p:nvSpPr>
        <p:spPr>
          <a:xfrm>
            <a:off x="3651250" y="4752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app_id · mode · status</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from_end_user_id</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from_account_id</a:t>
            </a:r>
            <a:endParaRPr lang="en-US" sz="1177" dirty="0"/>
          </a:p>
        </p:txBody>
      </p:sp>
      <p:sp>
        <p:nvSpPr>
          <p:cNvPr id="34" name="Shape 32"/>
          <p:cNvSpPr/>
          <p:nvPr/>
        </p:nvSpPr>
        <p:spPr>
          <a:xfrm>
            <a:off x="6251575" y="4384675"/>
            <a:ext cx="2406650" cy="1073150"/>
          </a:xfrm>
          <a:prstGeom prst="roundRect">
            <a:avLst>
              <a:gd name="adj" fmla="val 6805"/>
            </a:avLst>
          </a:prstGeom>
          <a:solidFill>
            <a:srgbClr val="FBFAF7"/>
          </a:solidFill>
          <a:ln w="6350">
            <a:solidFill>
              <a:srgbClr val="DCD9CF"/>
            </a:solidFill>
            <a:prstDash val="solid"/>
          </a:ln>
        </p:spPr>
      </p:sp>
      <p:sp>
        <p:nvSpPr>
          <p:cNvPr id="35" name="Text 33"/>
          <p:cNvSpPr/>
          <p:nvPr/>
        </p:nvSpPr>
        <p:spPr>
          <a:xfrm>
            <a:off x="6369050" y="4489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workflows</a:t>
            </a:r>
            <a:endParaRPr lang="en-US" sz="1268" dirty="0"/>
          </a:p>
        </p:txBody>
      </p:sp>
      <p:sp>
        <p:nvSpPr>
          <p:cNvPr id="36" name="Text 34"/>
          <p:cNvSpPr/>
          <p:nvPr/>
        </p:nvSpPr>
        <p:spPr>
          <a:xfrm>
            <a:off x="6369050" y="4752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app_id · type · version</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graph (JSON)</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환경·대화 변수</a:t>
            </a:r>
            <a:endParaRPr lang="en-US" sz="1177" dirty="0"/>
          </a:p>
        </p:txBody>
      </p:sp>
      <p:sp>
        <p:nvSpPr>
          <p:cNvPr id="37" name="Shape 35"/>
          <p:cNvSpPr/>
          <p:nvPr/>
        </p:nvSpPr>
        <p:spPr>
          <a:xfrm>
            <a:off x="8969375" y="4384675"/>
            <a:ext cx="2406650" cy="1073150"/>
          </a:xfrm>
          <a:prstGeom prst="roundRect">
            <a:avLst>
              <a:gd name="adj" fmla="val 6805"/>
            </a:avLst>
          </a:prstGeom>
          <a:solidFill>
            <a:srgbClr val="FBFAF7"/>
          </a:solidFill>
          <a:ln w="6350">
            <a:solidFill>
              <a:srgbClr val="DCD9CF"/>
            </a:solidFill>
            <a:prstDash val="solid"/>
          </a:ln>
        </p:spPr>
      </p:sp>
      <p:sp>
        <p:nvSpPr>
          <p:cNvPr id="38" name="Text 36"/>
          <p:cNvSpPr/>
          <p:nvPr/>
        </p:nvSpPr>
        <p:spPr>
          <a:xfrm>
            <a:off x="9086850" y="4489450"/>
            <a:ext cx="2236851" cy="25027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2F5BB7"/>
                </a:solidFill>
                <a:latin typeface="JetBrains Mono" pitchFamily="49" charset="0"/>
                <a:ea typeface="JetBrains Mono" pitchFamily="49" charset="-122"/>
                <a:cs typeface="JetBrains Mono" pitchFamily="49" charset="-120"/>
              </a:rPr>
              <a:t>workflow_runs</a:t>
            </a:r>
            <a:endParaRPr lang="en-US" sz="1268" dirty="0"/>
          </a:p>
        </p:txBody>
      </p:sp>
      <p:sp>
        <p:nvSpPr>
          <p:cNvPr id="39" name="Text 37"/>
          <p:cNvSpPr/>
          <p:nvPr/>
        </p:nvSpPr>
        <p:spPr>
          <a:xfrm>
            <a:off x="9086850" y="4752429"/>
            <a:ext cx="2236851" cy="626021"/>
          </a:xfrm>
          <a:prstGeom prst="rect">
            <a:avLst/>
          </a:prstGeom>
          <a:noFill/>
          <a:ln/>
        </p:spPr>
        <p:txBody>
          <a:bodyPr wrap="square" lIns="0" tIns="0" rIns="0" bIns="0" rtlCol="0" anchor="t">
            <a:normAutofit/>
          </a:bodyPr>
          <a:lstStyle/>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workflow_id · status</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inputs · outputs · graph</a:t>
            </a:r>
            <a:endParaRPr lang="en-US" sz="1177" dirty="0"/>
          </a:p>
          <a:p>
            <a:pPr algn="l" indent="0" marL="0">
              <a:lnSpc>
                <a:spcPts val="1590"/>
              </a:lnSpc>
              <a:buNone/>
            </a:pPr>
            <a:r>
              <a:rPr lang="en-US" sz="1177" dirty="0">
                <a:solidFill>
                  <a:srgbClr val="4A5263"/>
                </a:solidFill>
                <a:latin typeface="IBM Plex Sans KR" pitchFamily="34" charset="0"/>
                <a:ea typeface="IBM Plex Sans KR" pitchFamily="34" charset="-122"/>
                <a:cs typeface="IBM Plex Sans KR" pitchFamily="34" charset="-120"/>
              </a:rPr>
              <a:t>total_tokens · elapsed_time</a:t>
            </a:r>
            <a:endParaRPr lang="en-US" sz="1177" dirty="0"/>
          </a:p>
        </p:txBody>
      </p:sp>
      <p:pic>
        <p:nvPicPr>
          <p:cNvPr id="40" name="Image 0" descr="connector">    </p:cNvPr>
          <p:cNvPicPr>
            <a:picLocks noChangeAspect="1"/>
          </p:cNvPicPr>
          <p:nvPr/>
        </p:nvPicPr>
        <p:blipFill>
          <a:blip r:embed="rId1"/>
          <a:srcRect l="0" r="0" t="0" b="0"/>
          <a:stretch/>
        </p:blipFill>
        <p:spPr>
          <a:xfrm>
            <a:off x="3175000" y="2076450"/>
            <a:ext cx="406400" cy="101600"/>
          </a:xfrm>
          <a:prstGeom prst="rect">
            <a:avLst/>
          </a:prstGeom>
        </p:spPr>
      </p:pic>
      <p:pic>
        <p:nvPicPr>
          <p:cNvPr id="41" name="Image 1" descr="connector">    </p:cNvPr>
          <p:cNvPicPr>
            <a:picLocks noChangeAspect="1"/>
          </p:cNvPicPr>
          <p:nvPr/>
        </p:nvPicPr>
        <p:blipFill>
          <a:blip r:embed="rId2"/>
          <a:srcRect l="0" r="0" t="0" b="0"/>
          <a:stretch/>
        </p:blipFill>
        <p:spPr>
          <a:xfrm>
            <a:off x="5892800" y="2076450"/>
            <a:ext cx="406400" cy="101600"/>
          </a:xfrm>
          <a:prstGeom prst="rect">
            <a:avLst/>
          </a:prstGeom>
        </p:spPr>
      </p:pic>
      <p:pic>
        <p:nvPicPr>
          <p:cNvPr id="42" name="Image 2" descr="connector">    </p:cNvPr>
          <p:cNvPicPr>
            <a:picLocks noChangeAspect="1"/>
          </p:cNvPicPr>
          <p:nvPr/>
        </p:nvPicPr>
        <p:blipFill>
          <a:blip r:embed="rId3"/>
          <a:srcRect l="0" r="0" t="0" b="0"/>
          <a:stretch/>
        </p:blipFill>
        <p:spPr>
          <a:xfrm>
            <a:off x="8610600" y="2076450"/>
            <a:ext cx="406400" cy="101600"/>
          </a:xfrm>
          <a:prstGeom prst="rect">
            <a:avLst/>
          </a:prstGeom>
        </p:spPr>
      </p:pic>
      <p:pic>
        <p:nvPicPr>
          <p:cNvPr id="43" name="Image 3" descr="connector">    </p:cNvPr>
          <p:cNvPicPr>
            <a:picLocks noChangeAspect="1"/>
          </p:cNvPicPr>
          <p:nvPr/>
        </p:nvPicPr>
        <p:blipFill>
          <a:blip r:embed="rId4"/>
          <a:srcRect l="0" r="0" t="0" b="0"/>
          <a:stretch/>
        </p:blipFill>
        <p:spPr>
          <a:xfrm>
            <a:off x="5892800" y="2616200"/>
            <a:ext cx="406400" cy="419100"/>
          </a:xfrm>
          <a:prstGeom prst="rect">
            <a:avLst/>
          </a:prstGeom>
        </p:spPr>
      </p:pic>
      <p:pic>
        <p:nvPicPr>
          <p:cNvPr id="44" name="Image 4" descr="connector">    </p:cNvPr>
          <p:cNvPicPr>
            <a:picLocks noChangeAspect="1"/>
          </p:cNvPicPr>
          <p:nvPr/>
        </p:nvPicPr>
        <p:blipFill>
          <a:blip r:embed="rId5"/>
          <a:srcRect l="0" r="0" t="0" b="0"/>
          <a:stretch/>
        </p:blipFill>
        <p:spPr>
          <a:xfrm>
            <a:off x="3175000" y="3473450"/>
            <a:ext cx="406400" cy="101600"/>
          </a:xfrm>
          <a:prstGeom prst="rect">
            <a:avLst/>
          </a:prstGeom>
        </p:spPr>
      </p:pic>
      <p:pic>
        <p:nvPicPr>
          <p:cNvPr id="45" name="Image 5" descr="connector">    </p:cNvPr>
          <p:cNvPicPr>
            <a:picLocks noChangeAspect="1"/>
          </p:cNvPicPr>
          <p:nvPr/>
        </p:nvPicPr>
        <p:blipFill>
          <a:blip r:embed="rId6"/>
          <a:srcRect l="0" r="0" t="0" b="0"/>
          <a:stretch/>
        </p:blipFill>
        <p:spPr>
          <a:xfrm>
            <a:off x="5892800" y="3473450"/>
            <a:ext cx="406400" cy="101600"/>
          </a:xfrm>
          <a:prstGeom prst="rect">
            <a:avLst/>
          </a:prstGeom>
        </p:spPr>
      </p:pic>
      <p:pic>
        <p:nvPicPr>
          <p:cNvPr id="46" name="Image 6" descr="connector">    </p:cNvPr>
          <p:cNvPicPr>
            <a:picLocks noChangeAspect="1"/>
          </p:cNvPicPr>
          <p:nvPr/>
        </p:nvPicPr>
        <p:blipFill>
          <a:blip r:embed="rId7"/>
          <a:srcRect l="0" r="0" t="0" b="0"/>
          <a:stretch/>
        </p:blipFill>
        <p:spPr>
          <a:xfrm>
            <a:off x="8610600" y="2616200"/>
            <a:ext cx="406400" cy="419100"/>
          </a:xfrm>
          <a:prstGeom prst="rect">
            <a:avLst/>
          </a:prstGeom>
        </p:spPr>
      </p:pic>
      <p:pic>
        <p:nvPicPr>
          <p:cNvPr id="47" name="Image 7" descr="connector">    </p:cNvPr>
          <p:cNvPicPr>
            <a:picLocks noChangeAspect="1"/>
          </p:cNvPicPr>
          <p:nvPr/>
        </p:nvPicPr>
        <p:blipFill>
          <a:blip r:embed="rId8"/>
          <a:srcRect l="0" r="0" t="0" b="0"/>
          <a:stretch/>
        </p:blipFill>
        <p:spPr>
          <a:xfrm>
            <a:off x="10121900" y="2616200"/>
            <a:ext cx="101600" cy="419100"/>
          </a:xfrm>
          <a:prstGeom prst="rect">
            <a:avLst/>
          </a:prstGeom>
        </p:spPr>
      </p:pic>
      <p:pic>
        <p:nvPicPr>
          <p:cNvPr id="48" name="Image 8" descr="connector">    </p:cNvPr>
          <p:cNvPicPr>
            <a:picLocks noChangeAspect="1"/>
          </p:cNvPicPr>
          <p:nvPr/>
        </p:nvPicPr>
        <p:blipFill>
          <a:blip r:embed="rId9"/>
          <a:srcRect l="0" r="0" t="0" b="0"/>
          <a:stretch/>
        </p:blipFill>
        <p:spPr>
          <a:xfrm>
            <a:off x="4686300" y="4013200"/>
            <a:ext cx="101600" cy="419100"/>
          </a:xfrm>
          <a:prstGeom prst="rect">
            <a:avLst/>
          </a:prstGeom>
        </p:spPr>
      </p:pic>
      <p:pic>
        <p:nvPicPr>
          <p:cNvPr id="49" name="Image 9" descr="connector">    </p:cNvPr>
          <p:cNvPicPr>
            <a:picLocks noChangeAspect="1"/>
          </p:cNvPicPr>
          <p:nvPr/>
        </p:nvPicPr>
        <p:blipFill>
          <a:blip r:embed="rId10"/>
          <a:srcRect l="0" r="0" t="0" b="0"/>
          <a:stretch/>
        </p:blipFill>
        <p:spPr>
          <a:xfrm>
            <a:off x="3175000" y="4870450"/>
            <a:ext cx="406400" cy="101600"/>
          </a:xfrm>
          <a:prstGeom prst="rect">
            <a:avLst/>
          </a:prstGeom>
        </p:spPr>
      </p:pic>
      <p:pic>
        <p:nvPicPr>
          <p:cNvPr id="50" name="Image 10" descr="connector">    </p:cNvPr>
          <p:cNvPicPr>
            <a:picLocks noChangeAspect="1"/>
          </p:cNvPicPr>
          <p:nvPr/>
        </p:nvPicPr>
        <p:blipFill>
          <a:blip r:embed="rId11"/>
          <a:srcRect l="0" r="0" t="0" b="0"/>
          <a:stretch/>
        </p:blipFill>
        <p:spPr>
          <a:xfrm>
            <a:off x="5892800" y="4013200"/>
            <a:ext cx="406400" cy="419100"/>
          </a:xfrm>
          <a:prstGeom prst="rect">
            <a:avLst/>
          </a:prstGeom>
        </p:spPr>
      </p:pic>
      <p:pic>
        <p:nvPicPr>
          <p:cNvPr id="51" name="Image 11" descr="connector">    </p:cNvPr>
          <p:cNvPicPr>
            <a:picLocks noChangeAspect="1"/>
          </p:cNvPicPr>
          <p:nvPr/>
        </p:nvPicPr>
        <p:blipFill>
          <a:blip r:embed="rId12"/>
          <a:srcRect l="0" r="0" t="0" b="0"/>
          <a:stretch/>
        </p:blipFill>
        <p:spPr>
          <a:xfrm>
            <a:off x="8610600" y="4870450"/>
            <a:ext cx="406400" cy="101600"/>
          </a:xfrm>
          <a:prstGeom prst="rect">
            <a:avLst/>
          </a:prstGeom>
        </p:spPr>
      </p:pic>
      <p:sp>
        <p:nvSpPr>
          <p:cNvPr id="52" name="Text 3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24 · 화살표 = 참조 방향 (대부분 논리 FK, tenant_id·app_id 컬럼)</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D3 · KNOWLEDGE TABLES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지식 테이블: 데이터셋 → 문서 → 세그먼트 → 자식</a:t>
            </a:r>
            <a:endParaRPr lang="en-US" sz="3000" dirty="0"/>
          </a:p>
        </p:txBody>
      </p:sp>
      <p:sp>
        <p:nvSpPr>
          <p:cNvPr id="4" name="Shape 2"/>
          <p:cNvSpPr/>
          <p:nvPr/>
        </p:nvSpPr>
        <p:spPr>
          <a:xfrm>
            <a:off x="815975" y="1619845"/>
            <a:ext cx="3448050" cy="1395561"/>
          </a:xfrm>
          <a:prstGeom prst="roundRect">
            <a:avLst>
              <a:gd name="adj" fmla="val 5233"/>
            </a:avLst>
          </a:prstGeom>
          <a:solidFill>
            <a:srgbClr val="FBFAF7"/>
          </a:solidFill>
          <a:ln w="6350">
            <a:solidFill>
              <a:srgbClr val="DCD9CF"/>
            </a:solidFill>
            <a:prstDash val="solid"/>
          </a:ln>
        </p:spPr>
      </p:sp>
      <p:sp>
        <p:nvSpPr>
          <p:cNvPr id="5" name="Text 3"/>
          <p:cNvSpPr/>
          <p:nvPr/>
        </p:nvSpPr>
        <p:spPr>
          <a:xfrm>
            <a:off x="958850" y="1750020"/>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datasets</a:t>
            </a:r>
            <a:endParaRPr lang="en-US" sz="1300" dirty="0"/>
          </a:p>
        </p:txBody>
      </p:sp>
      <p:sp>
        <p:nvSpPr>
          <p:cNvPr id="6" name="Text 4"/>
          <p:cNvSpPr/>
          <p:nvPr/>
        </p:nvSpPr>
        <p:spPr>
          <a:xfrm>
            <a:off x="958850" y="2031950"/>
            <a:ext cx="325716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indexing_technique</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embedding_model · provider</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retrieval_model (JSON)</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collection_binding_id</a:t>
            </a:r>
            <a:endParaRPr lang="en-US" sz="1200" dirty="0"/>
          </a:p>
        </p:txBody>
      </p:sp>
      <p:sp>
        <p:nvSpPr>
          <p:cNvPr id="7" name="Shape 5"/>
          <p:cNvSpPr/>
          <p:nvPr/>
        </p:nvSpPr>
        <p:spPr>
          <a:xfrm>
            <a:off x="4371975" y="1619845"/>
            <a:ext cx="3448050" cy="1395561"/>
          </a:xfrm>
          <a:prstGeom prst="roundRect">
            <a:avLst>
              <a:gd name="adj" fmla="val 5233"/>
            </a:avLst>
          </a:prstGeom>
          <a:solidFill>
            <a:srgbClr val="FBFAF7"/>
          </a:solidFill>
          <a:ln w="6350">
            <a:solidFill>
              <a:srgbClr val="DCD9CF"/>
            </a:solidFill>
            <a:prstDash val="solid"/>
          </a:ln>
        </p:spPr>
      </p:sp>
      <p:sp>
        <p:nvSpPr>
          <p:cNvPr id="8" name="Text 6"/>
          <p:cNvSpPr/>
          <p:nvPr/>
        </p:nvSpPr>
        <p:spPr>
          <a:xfrm>
            <a:off x="4514850" y="1750020"/>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documents</a:t>
            </a:r>
            <a:endParaRPr lang="en-US" sz="1300" dirty="0"/>
          </a:p>
        </p:txBody>
      </p:sp>
      <p:sp>
        <p:nvSpPr>
          <p:cNvPr id="9" name="Text 7"/>
          <p:cNvSpPr/>
          <p:nvPr/>
        </p:nvSpPr>
        <p:spPr>
          <a:xfrm>
            <a:off x="4514850" y="2031950"/>
            <a:ext cx="325716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dataset_id · data_source_info</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indexing_status · doc_form</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parsing·splitting·completed_at</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enabled · archived</a:t>
            </a:r>
            <a:endParaRPr lang="en-US" sz="1200" dirty="0"/>
          </a:p>
        </p:txBody>
      </p:sp>
      <p:sp>
        <p:nvSpPr>
          <p:cNvPr id="10" name="Shape 8"/>
          <p:cNvSpPr/>
          <p:nvPr/>
        </p:nvSpPr>
        <p:spPr>
          <a:xfrm>
            <a:off x="7924800" y="1616670"/>
            <a:ext cx="3454400" cy="1401911"/>
          </a:xfrm>
          <a:prstGeom prst="roundRect">
            <a:avLst>
              <a:gd name="adj" fmla="val 5435"/>
            </a:avLst>
          </a:prstGeom>
          <a:solidFill>
            <a:srgbClr val="131A2A"/>
          </a:solidFill>
          <a:ln/>
        </p:spPr>
      </p:sp>
      <p:sp>
        <p:nvSpPr>
          <p:cNvPr id="11" name="Text 9"/>
          <p:cNvSpPr/>
          <p:nvPr/>
        </p:nvSpPr>
        <p:spPr>
          <a:xfrm>
            <a:off x="8064500" y="1743670"/>
            <a:ext cx="32702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0F5"/>
                </a:solidFill>
                <a:latin typeface="JetBrains Mono" pitchFamily="49" charset="0"/>
                <a:ea typeface="JetBrains Mono" pitchFamily="49" charset="-122"/>
                <a:cs typeface="JetBrains Mono" pitchFamily="49" charset="-120"/>
              </a:rPr>
              <a:t>document_segments</a:t>
            </a:r>
            <a:endParaRPr lang="en-US" sz="1300" dirty="0"/>
          </a:p>
        </p:txBody>
      </p:sp>
      <p:sp>
        <p:nvSpPr>
          <p:cNvPr id="12" name="Text 10"/>
          <p:cNvSpPr/>
          <p:nvPr/>
        </p:nvSpPr>
        <p:spPr>
          <a:xfrm>
            <a:off x="8064500" y="2025600"/>
            <a:ext cx="327025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document_id · position · content</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index_node_id · index_node_hash</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keywords · answer (QA)</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hit_count · enabled</a:t>
            </a:r>
            <a:endParaRPr lang="en-US" sz="1200" dirty="0"/>
          </a:p>
        </p:txBody>
      </p:sp>
      <p:sp>
        <p:nvSpPr>
          <p:cNvPr id="13" name="Shape 11"/>
          <p:cNvSpPr/>
          <p:nvPr/>
        </p:nvSpPr>
        <p:spPr>
          <a:xfrm>
            <a:off x="815975" y="3123357"/>
            <a:ext cx="3448050" cy="1182241"/>
          </a:xfrm>
          <a:prstGeom prst="roundRect">
            <a:avLst>
              <a:gd name="adj" fmla="val 6177"/>
            </a:avLst>
          </a:prstGeom>
          <a:solidFill>
            <a:srgbClr val="FBFAF7"/>
          </a:solidFill>
          <a:ln w="6350">
            <a:solidFill>
              <a:srgbClr val="DCD9CF"/>
            </a:solidFill>
            <a:prstDash val="solid"/>
          </a:ln>
        </p:spPr>
      </p:sp>
      <p:sp>
        <p:nvSpPr>
          <p:cNvPr id="14" name="Text 12"/>
          <p:cNvSpPr/>
          <p:nvPr/>
        </p:nvSpPr>
        <p:spPr>
          <a:xfrm>
            <a:off x="958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child_chunks</a:t>
            </a:r>
            <a:endParaRPr lang="en-US" sz="1300" dirty="0"/>
          </a:p>
        </p:txBody>
      </p:sp>
      <p:sp>
        <p:nvSpPr>
          <p:cNvPr id="15" name="Text 13"/>
          <p:cNvSpPr/>
          <p:nvPr/>
        </p:nvSpPr>
        <p:spPr>
          <a:xfrm>
            <a:off x="958850" y="3535462"/>
            <a:ext cx="325716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segment_id · position</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content · word_count</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index_node_id · index_node_hash</a:t>
            </a:r>
            <a:endParaRPr lang="en-US" sz="1200" dirty="0"/>
          </a:p>
        </p:txBody>
      </p:sp>
      <p:sp>
        <p:nvSpPr>
          <p:cNvPr id="16" name="Shape 14"/>
          <p:cNvSpPr/>
          <p:nvPr/>
        </p:nvSpPr>
        <p:spPr>
          <a:xfrm>
            <a:off x="4371975" y="3123357"/>
            <a:ext cx="3448050" cy="1182241"/>
          </a:xfrm>
          <a:prstGeom prst="roundRect">
            <a:avLst>
              <a:gd name="adj" fmla="val 6177"/>
            </a:avLst>
          </a:prstGeom>
          <a:solidFill>
            <a:srgbClr val="FBE3D3"/>
          </a:solidFill>
          <a:ln w="6350">
            <a:solidFill>
              <a:srgbClr val="D9652B"/>
            </a:solidFill>
            <a:prstDash val="solid"/>
          </a:ln>
        </p:spPr>
      </p:sp>
      <p:sp>
        <p:nvSpPr>
          <p:cNvPr id="17" name="Text 15"/>
          <p:cNvSpPr/>
          <p:nvPr/>
        </p:nvSpPr>
        <p:spPr>
          <a:xfrm>
            <a:off x="4514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21E"/>
                </a:solidFill>
                <a:latin typeface="JetBrains Mono" pitchFamily="49" charset="0"/>
                <a:ea typeface="JetBrains Mono" pitchFamily="49" charset="-122"/>
                <a:cs typeface="JetBrains Mono" pitchFamily="49" charset="-120"/>
              </a:rPr>
              <a:t>embeddings</a:t>
            </a:r>
            <a:endParaRPr lang="en-US" sz="1300" dirty="0"/>
          </a:p>
        </p:txBody>
      </p:sp>
      <p:sp>
        <p:nvSpPr>
          <p:cNvPr id="18" name="Text 16"/>
          <p:cNvSpPr/>
          <p:nvPr/>
        </p:nvSpPr>
        <p:spPr>
          <a:xfrm>
            <a:off x="4514850" y="3535462"/>
            <a:ext cx="325716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model_name · provider_name</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hash · embedding (binary)</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문서 임베딩 캐시</a:t>
            </a:r>
            <a:endParaRPr lang="en-US" sz="1200" dirty="0"/>
          </a:p>
        </p:txBody>
      </p:sp>
      <p:sp>
        <p:nvSpPr>
          <p:cNvPr id="19" name="Shape 17"/>
          <p:cNvSpPr/>
          <p:nvPr/>
        </p:nvSpPr>
        <p:spPr>
          <a:xfrm>
            <a:off x="7927975" y="3123357"/>
            <a:ext cx="3448050" cy="1182241"/>
          </a:xfrm>
          <a:prstGeom prst="roundRect">
            <a:avLst>
              <a:gd name="adj" fmla="val 6177"/>
            </a:avLst>
          </a:prstGeom>
          <a:solidFill>
            <a:srgbClr val="FBFAF7"/>
          </a:solidFill>
          <a:ln w="6350">
            <a:solidFill>
              <a:srgbClr val="DCD9CF"/>
            </a:solidFill>
            <a:prstDash val="solid"/>
          </a:ln>
        </p:spPr>
      </p:sp>
      <p:sp>
        <p:nvSpPr>
          <p:cNvPr id="20" name="Text 18"/>
          <p:cNvSpPr/>
          <p:nvPr/>
        </p:nvSpPr>
        <p:spPr>
          <a:xfrm>
            <a:off x="8070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dataset_process_rules</a:t>
            </a:r>
            <a:endParaRPr lang="en-US" sz="1300" dirty="0"/>
          </a:p>
        </p:txBody>
      </p:sp>
      <p:sp>
        <p:nvSpPr>
          <p:cNvPr id="21" name="Text 19"/>
          <p:cNvSpPr/>
          <p:nvPr/>
        </p:nvSpPr>
        <p:spPr>
          <a:xfrm>
            <a:off x="8070850" y="3535462"/>
            <a:ext cx="32571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dataset_id · mode</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rules (분할·정제 JSON)</a:t>
            </a:r>
            <a:endParaRPr lang="en-US" sz="1200" dirty="0"/>
          </a:p>
        </p:txBody>
      </p:sp>
      <p:sp>
        <p:nvSpPr>
          <p:cNvPr id="22" name="Shape 20"/>
          <p:cNvSpPr/>
          <p:nvPr/>
        </p:nvSpPr>
        <p:spPr>
          <a:xfrm>
            <a:off x="812800" y="4496098"/>
            <a:ext cx="5207000" cy="0"/>
          </a:xfrm>
          <a:prstGeom prst="line">
            <a:avLst/>
          </a:prstGeom>
          <a:noFill/>
          <a:ln w="19050">
            <a:solidFill>
              <a:srgbClr val="131A2A"/>
            </a:solidFill>
            <a:prstDash val="solid"/>
          </a:ln>
        </p:spPr>
      </p:sp>
      <p:sp>
        <p:nvSpPr>
          <p:cNvPr id="23" name="Text 21"/>
          <p:cNvSpPr/>
          <p:nvPr/>
        </p:nvSpPr>
        <p:spPr>
          <a:xfrm>
            <a:off x="812800" y="4607223"/>
            <a:ext cx="536321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벡터는 RDB 밖</a:t>
            </a:r>
            <a:r>
              <a:rPr lang="en-US" sz="1200" dirty="0">
                <a:solidFill>
                  <a:srgbClr val="4A5263"/>
                </a:solidFill>
                <a:latin typeface="IBM Plex Sans KR" pitchFamily="34" charset="0"/>
                <a:ea typeface="IBM Plex Sans KR" pitchFamily="34" charset="-122"/>
                <a:cs typeface="IBM Plex Sans KR" pitchFamily="34" charset="-120"/>
              </a:rPr>
              <a:t> — index_node_id가 벡터 DB 레코드 키. 벡터 DB를 바꿔도 RDB 스키마는 그대로</a:t>
            </a:r>
            <a:endParaRPr lang="en-US" sz="1200" dirty="0"/>
          </a:p>
        </p:txBody>
      </p:sp>
      <p:sp>
        <p:nvSpPr>
          <p:cNvPr id="24" name="Shape 22"/>
          <p:cNvSpPr/>
          <p:nvPr/>
        </p:nvSpPr>
        <p:spPr>
          <a:xfrm>
            <a:off x="6172200" y="4496098"/>
            <a:ext cx="5207000" cy="0"/>
          </a:xfrm>
          <a:prstGeom prst="line">
            <a:avLst/>
          </a:prstGeom>
          <a:noFill/>
          <a:ln w="19050">
            <a:solidFill>
              <a:srgbClr val="131A2A"/>
            </a:solidFill>
            <a:prstDash val="solid"/>
          </a:ln>
        </p:spPr>
      </p:sp>
      <p:sp>
        <p:nvSpPr>
          <p:cNvPr id="25" name="Text 23"/>
          <p:cNvSpPr/>
          <p:nvPr/>
        </p:nvSpPr>
        <p:spPr>
          <a:xfrm>
            <a:off x="6172200" y="4607223"/>
            <a:ext cx="5363210"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31A2A"/>
                </a:solidFill>
                <a:latin typeface="IBM Plex Sans KR" pitchFamily="34" charset="0"/>
                <a:ea typeface="IBM Plex Sans KR" pitchFamily="34" charset="-122"/>
                <a:cs typeface="IBM Plex Sans KR" pitchFamily="34" charset="-120"/>
              </a:rPr>
              <a:t>권한은 데이터셋 단위</a:t>
            </a:r>
            <a:r>
              <a:rPr lang="en-US" sz="1200" dirty="0">
                <a:solidFill>
                  <a:srgbClr val="4A5263"/>
                </a:solidFill>
                <a:latin typeface="IBM Plex Sans KR" pitchFamily="34" charset="0"/>
                <a:ea typeface="IBM Plex Sans KR" pitchFamily="34" charset="-122"/>
                <a:cs typeface="IBM Plex Sans KR" pitchFamily="34" charset="-120"/>
              </a:rPr>
              <a:t> — dataset_permissions로 멤버별 허용, 원본 시스템 ACL 동기화는 없음</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25 · 출처: api/models/dataset.py, core/rag/embedding</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5BB7"/>
                </a:solidFill>
                <a:latin typeface="JetBrains Mono" pitchFamily="49" charset="0"/>
                <a:ea typeface="JetBrains Mono" pitchFamily="49" charset="-122"/>
                <a:cs typeface="JetBrains Mono" pitchFamily="49" charset="-120"/>
              </a:rPr>
              <a:t>D4 · WORKFLOW TABLES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31A2A"/>
                </a:solidFill>
                <a:latin typeface="IBM Plex Sans KR" pitchFamily="34" charset="0"/>
                <a:ea typeface="IBM Plex Sans KR" pitchFamily="34" charset="-122"/>
                <a:cs typeface="IBM Plex Sans KR" pitchFamily="34" charset="-120"/>
              </a:rPr>
              <a:t>워크플로 테이블: 정의, 실행, 노드 단위 이력</a:t>
            </a:r>
            <a:endParaRPr lang="en-US" sz="3000" dirty="0"/>
          </a:p>
        </p:txBody>
      </p:sp>
      <p:sp>
        <p:nvSpPr>
          <p:cNvPr id="4" name="Shape 2"/>
          <p:cNvSpPr/>
          <p:nvPr/>
        </p:nvSpPr>
        <p:spPr>
          <a:xfrm>
            <a:off x="815975" y="1619845"/>
            <a:ext cx="3448050" cy="1395561"/>
          </a:xfrm>
          <a:prstGeom prst="roundRect">
            <a:avLst>
              <a:gd name="adj" fmla="val 5233"/>
            </a:avLst>
          </a:prstGeom>
          <a:solidFill>
            <a:srgbClr val="FBFAF7"/>
          </a:solidFill>
          <a:ln w="6350">
            <a:solidFill>
              <a:srgbClr val="DCD9CF"/>
            </a:solidFill>
            <a:prstDash val="solid"/>
          </a:ln>
        </p:spPr>
      </p:sp>
      <p:sp>
        <p:nvSpPr>
          <p:cNvPr id="5" name="Text 3"/>
          <p:cNvSpPr/>
          <p:nvPr/>
        </p:nvSpPr>
        <p:spPr>
          <a:xfrm>
            <a:off x="958850" y="1750020"/>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workflows</a:t>
            </a:r>
            <a:endParaRPr lang="en-US" sz="1300" dirty="0"/>
          </a:p>
        </p:txBody>
      </p:sp>
      <p:sp>
        <p:nvSpPr>
          <p:cNvPr id="6" name="Text 4"/>
          <p:cNvSpPr/>
          <p:nvPr/>
        </p:nvSpPr>
        <p:spPr>
          <a:xfrm>
            <a:off x="958850" y="2031950"/>
            <a:ext cx="325716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app_id · type · version</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version = draft 또는 게시본</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graph (JSON) · features</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환경 · 대화 변수</a:t>
            </a:r>
            <a:endParaRPr lang="en-US" sz="1200" dirty="0"/>
          </a:p>
        </p:txBody>
      </p:sp>
      <p:sp>
        <p:nvSpPr>
          <p:cNvPr id="7" name="Shape 5"/>
          <p:cNvSpPr/>
          <p:nvPr/>
        </p:nvSpPr>
        <p:spPr>
          <a:xfrm>
            <a:off x="4368800" y="1616670"/>
            <a:ext cx="3454400" cy="1401911"/>
          </a:xfrm>
          <a:prstGeom prst="roundRect">
            <a:avLst>
              <a:gd name="adj" fmla="val 5435"/>
            </a:avLst>
          </a:prstGeom>
          <a:solidFill>
            <a:srgbClr val="131A2A"/>
          </a:solidFill>
          <a:ln/>
        </p:spPr>
      </p:sp>
      <p:sp>
        <p:nvSpPr>
          <p:cNvPr id="8" name="Text 6"/>
          <p:cNvSpPr/>
          <p:nvPr/>
        </p:nvSpPr>
        <p:spPr>
          <a:xfrm>
            <a:off x="4508500" y="1743670"/>
            <a:ext cx="32702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0F5"/>
                </a:solidFill>
                <a:latin typeface="JetBrains Mono" pitchFamily="49" charset="0"/>
                <a:ea typeface="JetBrains Mono" pitchFamily="49" charset="-122"/>
                <a:cs typeface="JetBrains Mono" pitchFamily="49" charset="-120"/>
              </a:rPr>
              <a:t>workflow_runs</a:t>
            </a:r>
            <a:endParaRPr lang="en-US" sz="1300" dirty="0"/>
          </a:p>
        </p:txBody>
      </p:sp>
      <p:sp>
        <p:nvSpPr>
          <p:cNvPr id="9" name="Text 7"/>
          <p:cNvSpPr/>
          <p:nvPr/>
        </p:nvSpPr>
        <p:spPr>
          <a:xfrm>
            <a:off x="4508500" y="2025600"/>
            <a:ext cx="327025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workflow_id · triggered_from</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status · inputs · outputs</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graph (실행 시점 스냅샷)</a:t>
            </a:r>
            <a:endParaRPr lang="en-US" sz="1200" dirty="0"/>
          </a:p>
          <a:p>
            <a:pPr algn="l" indent="0" marL="0">
              <a:lnSpc>
                <a:spcPts val="1680"/>
              </a:lnSpc>
              <a:buNone/>
            </a:pPr>
            <a:r>
              <a:rPr lang="en-US" sz="1200" dirty="0">
                <a:solidFill>
                  <a:srgbClr val="E3E6EC"/>
                </a:solidFill>
                <a:latin typeface="IBM Plex Sans KR" pitchFamily="34" charset="0"/>
                <a:ea typeface="IBM Plex Sans KR" pitchFamily="34" charset="-122"/>
                <a:cs typeface="IBM Plex Sans KR" pitchFamily="34" charset="-120"/>
              </a:rPr>
              <a:t>total_tokens · elapsed_time</a:t>
            </a:r>
            <a:endParaRPr lang="en-US" sz="1200" dirty="0"/>
          </a:p>
        </p:txBody>
      </p:sp>
      <p:sp>
        <p:nvSpPr>
          <p:cNvPr id="10" name="Shape 8"/>
          <p:cNvSpPr/>
          <p:nvPr/>
        </p:nvSpPr>
        <p:spPr>
          <a:xfrm>
            <a:off x="7927975" y="1619845"/>
            <a:ext cx="3448050" cy="1395561"/>
          </a:xfrm>
          <a:prstGeom prst="roundRect">
            <a:avLst>
              <a:gd name="adj" fmla="val 5233"/>
            </a:avLst>
          </a:prstGeom>
          <a:solidFill>
            <a:srgbClr val="FBFAF7"/>
          </a:solidFill>
          <a:ln w="6350">
            <a:solidFill>
              <a:srgbClr val="DCD9CF"/>
            </a:solidFill>
            <a:prstDash val="solid"/>
          </a:ln>
        </p:spPr>
      </p:sp>
      <p:sp>
        <p:nvSpPr>
          <p:cNvPr id="11" name="Text 9"/>
          <p:cNvSpPr/>
          <p:nvPr/>
        </p:nvSpPr>
        <p:spPr>
          <a:xfrm>
            <a:off x="8070850" y="1750020"/>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workflow_node_executions</a:t>
            </a:r>
            <a:endParaRPr lang="en-US" sz="1300" dirty="0"/>
          </a:p>
        </p:txBody>
      </p:sp>
      <p:sp>
        <p:nvSpPr>
          <p:cNvPr id="12" name="Text 10"/>
          <p:cNvSpPr/>
          <p:nvPr/>
        </p:nvSpPr>
        <p:spPr>
          <a:xfrm>
            <a:off x="8070850" y="2031950"/>
            <a:ext cx="325716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workflow_run_id · node_id</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node_type · index · predecessor</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inputs · process_data · outputs</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execution_metadata · status</a:t>
            </a:r>
            <a:endParaRPr lang="en-US" sz="1200" dirty="0"/>
          </a:p>
        </p:txBody>
      </p:sp>
      <p:sp>
        <p:nvSpPr>
          <p:cNvPr id="13" name="Shape 11"/>
          <p:cNvSpPr/>
          <p:nvPr/>
        </p:nvSpPr>
        <p:spPr>
          <a:xfrm>
            <a:off x="815975" y="3123357"/>
            <a:ext cx="3448050" cy="1182241"/>
          </a:xfrm>
          <a:prstGeom prst="roundRect">
            <a:avLst>
              <a:gd name="adj" fmla="val 6177"/>
            </a:avLst>
          </a:prstGeom>
          <a:solidFill>
            <a:srgbClr val="FBE3D3"/>
          </a:solidFill>
          <a:ln w="6350">
            <a:solidFill>
              <a:srgbClr val="D9652B"/>
            </a:solidFill>
            <a:prstDash val="solid"/>
          </a:ln>
        </p:spPr>
      </p:sp>
      <p:sp>
        <p:nvSpPr>
          <p:cNvPr id="14" name="Text 12"/>
          <p:cNvSpPr/>
          <p:nvPr/>
        </p:nvSpPr>
        <p:spPr>
          <a:xfrm>
            <a:off x="958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521E"/>
                </a:solidFill>
                <a:latin typeface="JetBrains Mono" pitchFamily="49" charset="0"/>
                <a:ea typeface="JetBrains Mono" pitchFamily="49" charset="-122"/>
                <a:cs typeface="JetBrains Mono" pitchFamily="49" charset="-120"/>
              </a:rPr>
              <a:t>…_execution_offload</a:t>
            </a:r>
            <a:endParaRPr lang="en-US" sz="1300" dirty="0"/>
          </a:p>
        </p:txBody>
      </p:sp>
      <p:sp>
        <p:nvSpPr>
          <p:cNvPr id="15" name="Text 13"/>
          <p:cNvSpPr/>
          <p:nvPr/>
        </p:nvSpPr>
        <p:spPr>
          <a:xfrm>
            <a:off x="958850" y="3535462"/>
            <a:ext cx="325716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node_execution_id · type_</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file_id → 스토리지</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큰 입출력 분리 저장</a:t>
            </a:r>
            <a:endParaRPr lang="en-US" sz="1200" dirty="0"/>
          </a:p>
        </p:txBody>
      </p:sp>
      <p:sp>
        <p:nvSpPr>
          <p:cNvPr id="16" name="Shape 14"/>
          <p:cNvSpPr/>
          <p:nvPr/>
        </p:nvSpPr>
        <p:spPr>
          <a:xfrm>
            <a:off x="4371975" y="3123357"/>
            <a:ext cx="3448050" cy="1182241"/>
          </a:xfrm>
          <a:prstGeom prst="roundRect">
            <a:avLst>
              <a:gd name="adj" fmla="val 6177"/>
            </a:avLst>
          </a:prstGeom>
          <a:solidFill>
            <a:srgbClr val="FBFAF7"/>
          </a:solidFill>
          <a:ln w="6350">
            <a:solidFill>
              <a:srgbClr val="DCD9CF"/>
            </a:solidFill>
            <a:prstDash val="solid"/>
          </a:ln>
        </p:spPr>
      </p:sp>
      <p:sp>
        <p:nvSpPr>
          <p:cNvPr id="17" name="Text 15"/>
          <p:cNvSpPr/>
          <p:nvPr/>
        </p:nvSpPr>
        <p:spPr>
          <a:xfrm>
            <a:off x="4514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workflow_pauses</a:t>
            </a:r>
            <a:endParaRPr lang="en-US" sz="1300" dirty="0"/>
          </a:p>
        </p:txBody>
      </p:sp>
      <p:sp>
        <p:nvSpPr>
          <p:cNvPr id="18" name="Text 16"/>
          <p:cNvSpPr/>
          <p:nvPr/>
        </p:nvSpPr>
        <p:spPr>
          <a:xfrm>
            <a:off x="4514850" y="3535462"/>
            <a:ext cx="325716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workflow_run_id</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state_object_key (스토리지)</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resumed_at</a:t>
            </a:r>
            <a:endParaRPr lang="en-US" sz="1200" dirty="0"/>
          </a:p>
        </p:txBody>
      </p:sp>
      <p:sp>
        <p:nvSpPr>
          <p:cNvPr id="19" name="Shape 17"/>
          <p:cNvSpPr/>
          <p:nvPr/>
        </p:nvSpPr>
        <p:spPr>
          <a:xfrm>
            <a:off x="7927975" y="3123357"/>
            <a:ext cx="3448050" cy="1182241"/>
          </a:xfrm>
          <a:prstGeom prst="roundRect">
            <a:avLst>
              <a:gd name="adj" fmla="val 6177"/>
            </a:avLst>
          </a:prstGeom>
          <a:solidFill>
            <a:srgbClr val="FBFAF7"/>
          </a:solidFill>
          <a:ln w="6350">
            <a:solidFill>
              <a:srgbClr val="DCD9CF"/>
            </a:solidFill>
            <a:prstDash val="solid"/>
          </a:ln>
        </p:spPr>
      </p:sp>
      <p:sp>
        <p:nvSpPr>
          <p:cNvPr id="20" name="Text 18"/>
          <p:cNvSpPr/>
          <p:nvPr/>
        </p:nvSpPr>
        <p:spPr>
          <a:xfrm>
            <a:off x="8070850" y="3253532"/>
            <a:ext cx="3257169"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BB7"/>
                </a:solidFill>
                <a:latin typeface="JetBrains Mono" pitchFamily="49" charset="0"/>
                <a:ea typeface="JetBrains Mono" pitchFamily="49" charset="-122"/>
                <a:cs typeface="JetBrains Mono" pitchFamily="49" charset="-120"/>
              </a:rPr>
              <a:t>workflow_trigger_logs</a:t>
            </a:r>
            <a:endParaRPr lang="en-US" sz="1300" dirty="0"/>
          </a:p>
        </p:txBody>
      </p:sp>
      <p:sp>
        <p:nvSpPr>
          <p:cNvPr id="21" name="Text 19"/>
          <p:cNvSpPr/>
          <p:nvPr/>
        </p:nvSpPr>
        <p:spPr>
          <a:xfrm>
            <a:off x="8070850" y="3535462"/>
            <a:ext cx="325716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trigger_type · trigger_data</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queue_name · celery_task_id</a:t>
            </a:r>
            <a:endParaRPr lang="en-US" sz="1200" dirty="0"/>
          </a:p>
          <a:p>
            <a:pPr algn="l" indent="0" marL="0">
              <a:lnSpc>
                <a:spcPts val="1680"/>
              </a:lnSpc>
              <a:buNone/>
            </a:pPr>
            <a:r>
              <a:rPr lang="en-US" sz="1200" dirty="0">
                <a:solidFill>
                  <a:srgbClr val="4A5263"/>
                </a:solidFill>
                <a:latin typeface="IBM Plex Sans KR" pitchFamily="34" charset="0"/>
                <a:ea typeface="IBM Plex Sans KR" pitchFamily="34" charset="-122"/>
                <a:cs typeface="IBM Plex Sans KR" pitchFamily="34" charset="-120"/>
              </a:rPr>
              <a:t>status · retry_count</a:t>
            </a:r>
            <a:endParaRPr lang="en-US" sz="1200" dirty="0"/>
          </a:p>
        </p:txBody>
      </p:sp>
      <p:sp>
        <p:nvSpPr>
          <p:cNvPr id="22" name="Text 20"/>
          <p:cNvSpPr/>
          <p:nvPr/>
        </p:nvSpPr>
        <p:spPr>
          <a:xfrm>
            <a:off x="812800" y="4486573"/>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263"/>
                </a:solidFill>
                <a:latin typeface="IBM Plex Sans KR" pitchFamily="34" charset="0"/>
                <a:ea typeface="IBM Plex Sans KR" pitchFamily="34" charset="-122"/>
                <a:cs typeface="IBM Plex Sans KR" pitchFamily="34" charset="-120"/>
              </a:rPr>
              <a:t>핵심: 실행 시점의 </a:t>
            </a:r>
            <a:r>
              <a:rPr lang="en-US" sz="1300" b="1" dirty="0">
                <a:solidFill>
                  <a:srgbClr val="131A2A"/>
                </a:solidFill>
                <a:latin typeface="IBM Plex Sans KR" pitchFamily="34" charset="0"/>
                <a:ea typeface="IBM Plex Sans KR" pitchFamily="34" charset="-122"/>
                <a:cs typeface="IBM Plex Sans KR" pitchFamily="34" charset="-120"/>
              </a:rPr>
              <a:t>graph를 런에 스냅샷</a:t>
            </a:r>
            <a:r>
              <a:rPr lang="en-US" sz="1300" dirty="0">
                <a:solidFill>
                  <a:srgbClr val="4A5263"/>
                </a:solidFill>
                <a:latin typeface="IBM Plex Sans KR" pitchFamily="34" charset="0"/>
                <a:ea typeface="IBM Plex Sans KR" pitchFamily="34" charset="-122"/>
                <a:cs typeface="IBM Plex Sans KR" pitchFamily="34" charset="-120"/>
              </a:rPr>
              <a:t>으로 남기고, 노드 단위 입출력까지 RDB에 저장하되 </a:t>
            </a:r>
            <a:r>
              <a:rPr lang="en-US" sz="1300" b="1" dirty="0">
                <a:solidFill>
                  <a:srgbClr val="131A2A"/>
                </a:solidFill>
                <a:latin typeface="IBM Plex Sans KR" pitchFamily="34" charset="0"/>
                <a:ea typeface="IBM Plex Sans KR" pitchFamily="34" charset="-122"/>
                <a:cs typeface="IBM Plex Sans KR" pitchFamily="34" charset="-120"/>
              </a:rPr>
              <a:t>큰 페이로드는 스토리지로 offload</a:t>
            </a:r>
            <a:r>
              <a:rPr lang="en-US" sz="1300" dirty="0">
                <a:solidFill>
                  <a:srgbClr val="4A5263"/>
                </a:solidFill>
                <a:latin typeface="IBM Plex Sans KR" pitchFamily="34" charset="0"/>
                <a:ea typeface="IBM Plex Sans KR" pitchFamily="34" charset="-122"/>
                <a:cs typeface="IBM Plex Sans KR" pitchFamily="34" charset="-120"/>
              </a:rPr>
              <a:t>한다.</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85"/>
                </a:solidFill>
                <a:latin typeface="IBM Plex Sans KR" pitchFamily="34" charset="0"/>
                <a:ea typeface="IBM Plex Sans KR" pitchFamily="34" charset="-122"/>
                <a:cs typeface="IBM Plex Sans KR" pitchFamily="34" charset="-120"/>
              </a:rPr>
              <a:t>Dify 아키텍처 · 26 · 출처: api/models/workflow.py, models/trigger.py</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1A2A"/>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8FB0F5"/>
                </a:solidFill>
                <a:latin typeface="JetBrains Mono" pitchFamily="49" charset="0"/>
                <a:ea typeface="JetBrains Mono" pitchFamily="49" charset="-122"/>
                <a:cs typeface="JetBrains Mono" pitchFamily="49" charset="-120"/>
              </a:rPr>
              <a:t>D5 · DESIGN PATTERNS</a:t>
            </a:r>
            <a:endParaRPr lang="en-US" sz="1200" dirty="0"/>
          </a:p>
        </p:txBody>
      </p:sp>
      <p:sp>
        <p:nvSpPr>
          <p:cNvPr id="3" name="Text 1"/>
          <p:cNvSpPr/>
          <p:nvPr>
            <p:ph type="title"/>
          </p:nvPr>
        </p:nvSpPr>
        <p:spPr>
          <a:xfrm>
            <a:off x="812800" y="1000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4F3EE"/>
                </a:solidFill>
                <a:latin typeface="IBM Plex Sans KR" pitchFamily="34" charset="0"/>
                <a:ea typeface="IBM Plex Sans KR" pitchFamily="34" charset="-122"/>
                <a:cs typeface="IBM Plex Sans KR" pitchFamily="34" charset="-120"/>
              </a:rPr>
              <a:t>데이터 설계에서 가져올 6가지 패턴</a:t>
            </a:r>
            <a:endParaRPr lang="en-US" sz="3000" dirty="0"/>
          </a:p>
        </p:txBody>
      </p:sp>
      <p:sp>
        <p:nvSpPr>
          <p:cNvPr id="4" name="Shape 2"/>
          <p:cNvSpPr/>
          <p:nvPr/>
        </p:nvSpPr>
        <p:spPr>
          <a:xfrm>
            <a:off x="812800" y="1667470"/>
            <a:ext cx="3437434" cy="1023541"/>
          </a:xfrm>
          <a:prstGeom prst="roundRect">
            <a:avLst>
              <a:gd name="adj" fmla="val 8686"/>
            </a:avLst>
          </a:prstGeom>
          <a:solidFill>
            <a:srgbClr val="1E2638"/>
          </a:solidFill>
          <a:ln/>
        </p:spPr>
      </p:sp>
      <p:sp>
        <p:nvSpPr>
          <p:cNvPr id="5" name="Text 3"/>
          <p:cNvSpPr/>
          <p:nvPr/>
        </p:nvSpPr>
        <p:spPr>
          <a:xfrm>
            <a:off x="965200" y="1819870"/>
            <a:ext cx="32266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B0F5"/>
                </a:solidFill>
                <a:latin typeface="IBM Plex Sans KR" pitchFamily="34" charset="0"/>
                <a:ea typeface="IBM Plex Sans KR" pitchFamily="34" charset="-122"/>
                <a:cs typeface="IBM Plex Sans KR" pitchFamily="34" charset="-120"/>
              </a:rPr>
              <a:t>1</a:t>
            </a:r>
            <a:r>
              <a:rPr lang="en-US" sz="1400" b="1" dirty="0">
                <a:solidFill>
                  <a:srgbClr val="F4F3EE"/>
                </a:solidFill>
                <a:latin typeface="IBM Plex Sans KR" pitchFamily="34" charset="0"/>
                <a:ea typeface="IBM Plex Sans KR" pitchFamily="34" charset="-122"/>
                <a:cs typeface="IBM Plex Sans KR" pitchFamily="34" charset="-120"/>
              </a:rPr>
              <a:t> tenant_id 전파</a:t>
            </a:r>
            <a:endParaRPr lang="en-US" sz="1400" dirty="0"/>
          </a:p>
        </p:txBody>
      </p:sp>
      <p:sp>
        <p:nvSpPr>
          <p:cNvPr id="6" name="Text 4"/>
          <p:cNvSpPr/>
          <p:nvPr/>
        </p:nvSpPr>
        <p:spPr>
          <a:xfrm>
            <a:off x="965200" y="2096691"/>
            <a:ext cx="32266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모든 업무 테이블에 tenant_id. DB 외래키보다 서비스 계층의 소유 체인 검증에 의존</a:t>
            </a:r>
            <a:endParaRPr lang="en-US" sz="1200" dirty="0"/>
          </a:p>
        </p:txBody>
      </p:sp>
      <p:sp>
        <p:nvSpPr>
          <p:cNvPr id="7" name="Shape 5"/>
          <p:cNvSpPr/>
          <p:nvPr/>
        </p:nvSpPr>
        <p:spPr>
          <a:xfrm>
            <a:off x="4377234" y="1667470"/>
            <a:ext cx="3437483" cy="1023541"/>
          </a:xfrm>
          <a:prstGeom prst="roundRect">
            <a:avLst>
              <a:gd name="adj" fmla="val 8686"/>
            </a:avLst>
          </a:prstGeom>
          <a:solidFill>
            <a:srgbClr val="1E2638"/>
          </a:solidFill>
          <a:ln/>
        </p:spPr>
      </p:sp>
      <p:sp>
        <p:nvSpPr>
          <p:cNvPr id="8" name="Text 6"/>
          <p:cNvSpPr/>
          <p:nvPr/>
        </p:nvSpPr>
        <p:spPr>
          <a:xfrm>
            <a:off x="4529634" y="1819870"/>
            <a:ext cx="322666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B0F5"/>
                </a:solidFill>
                <a:latin typeface="IBM Plex Sans KR" pitchFamily="34" charset="0"/>
                <a:ea typeface="IBM Plex Sans KR" pitchFamily="34" charset="-122"/>
                <a:cs typeface="IBM Plex Sans KR" pitchFamily="34" charset="-120"/>
              </a:rPr>
              <a:t>2</a:t>
            </a:r>
            <a:r>
              <a:rPr lang="en-US" sz="1400" b="1" dirty="0">
                <a:solidFill>
                  <a:srgbClr val="F4F3EE"/>
                </a:solidFill>
                <a:latin typeface="IBM Plex Sans KR" pitchFamily="34" charset="0"/>
                <a:ea typeface="IBM Plex Sans KR" pitchFamily="34" charset="-122"/>
                <a:cs typeface="IBM Plex Sans KR" pitchFamily="34" charset="-120"/>
              </a:rPr>
              <a:t> 초안·게시본 공존</a:t>
            </a:r>
            <a:endParaRPr lang="en-US" sz="1400" dirty="0"/>
          </a:p>
        </p:txBody>
      </p:sp>
      <p:sp>
        <p:nvSpPr>
          <p:cNvPr id="9" name="Text 7"/>
          <p:cNvSpPr/>
          <p:nvPr/>
        </p:nvSpPr>
        <p:spPr>
          <a:xfrm>
            <a:off x="4529634" y="2096691"/>
            <a:ext cx="322666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workflows에 version=draft 행과 게시 버전 행을 함께 저장, 실행은 최신 게시본 기본</a:t>
            </a:r>
            <a:endParaRPr lang="en-US" sz="1200" dirty="0"/>
          </a:p>
        </p:txBody>
      </p:sp>
      <p:sp>
        <p:nvSpPr>
          <p:cNvPr id="10" name="Shape 8"/>
          <p:cNvSpPr/>
          <p:nvPr/>
        </p:nvSpPr>
        <p:spPr>
          <a:xfrm>
            <a:off x="7941717" y="1667470"/>
            <a:ext cx="3437434" cy="1023541"/>
          </a:xfrm>
          <a:prstGeom prst="roundRect">
            <a:avLst>
              <a:gd name="adj" fmla="val 8686"/>
            </a:avLst>
          </a:prstGeom>
          <a:solidFill>
            <a:srgbClr val="1E2638"/>
          </a:solidFill>
          <a:ln/>
        </p:spPr>
      </p:sp>
      <p:sp>
        <p:nvSpPr>
          <p:cNvPr id="11" name="Text 9"/>
          <p:cNvSpPr/>
          <p:nvPr/>
        </p:nvSpPr>
        <p:spPr>
          <a:xfrm>
            <a:off x="8094117" y="1819870"/>
            <a:ext cx="32266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B0F5"/>
                </a:solidFill>
                <a:latin typeface="IBM Plex Sans KR" pitchFamily="34" charset="0"/>
                <a:ea typeface="IBM Plex Sans KR" pitchFamily="34" charset="-122"/>
                <a:cs typeface="IBM Plex Sans KR" pitchFamily="34" charset="-120"/>
              </a:rPr>
              <a:t>3</a:t>
            </a:r>
            <a:r>
              <a:rPr lang="en-US" sz="1400" b="1" dirty="0">
                <a:solidFill>
                  <a:srgbClr val="F4F3EE"/>
                </a:solidFill>
                <a:latin typeface="IBM Plex Sans KR" pitchFamily="34" charset="0"/>
                <a:ea typeface="IBM Plex Sans KR" pitchFamily="34" charset="-122"/>
                <a:cs typeface="IBM Plex Sans KR" pitchFamily="34" charset="-120"/>
              </a:rPr>
              <a:t> 그래프는 JSON 한 컬럼</a:t>
            </a:r>
            <a:endParaRPr lang="en-US" sz="1400" dirty="0"/>
          </a:p>
        </p:txBody>
      </p:sp>
      <p:sp>
        <p:nvSpPr>
          <p:cNvPr id="12" name="Text 10"/>
          <p:cNvSpPr/>
          <p:nvPr/>
        </p:nvSpPr>
        <p:spPr>
          <a:xfrm>
            <a:off x="8094117" y="2096691"/>
            <a:ext cx="32266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노드 타입이 늘어도 스키마 변경 없음. 런에 그래프 스냅샷을 남겨 재현성 확보</a:t>
            </a:r>
            <a:endParaRPr lang="en-US" sz="1200" dirty="0"/>
          </a:p>
        </p:txBody>
      </p:sp>
      <p:sp>
        <p:nvSpPr>
          <p:cNvPr id="13" name="Shape 11"/>
          <p:cNvSpPr/>
          <p:nvPr/>
        </p:nvSpPr>
        <p:spPr>
          <a:xfrm>
            <a:off x="812800" y="2818011"/>
            <a:ext cx="3437434" cy="1023541"/>
          </a:xfrm>
          <a:prstGeom prst="roundRect">
            <a:avLst>
              <a:gd name="adj" fmla="val 8686"/>
            </a:avLst>
          </a:prstGeom>
          <a:solidFill>
            <a:srgbClr val="1E2638"/>
          </a:solidFill>
          <a:ln/>
        </p:spPr>
      </p:sp>
      <p:sp>
        <p:nvSpPr>
          <p:cNvPr id="14" name="Text 12"/>
          <p:cNvSpPr/>
          <p:nvPr/>
        </p:nvSpPr>
        <p:spPr>
          <a:xfrm>
            <a:off x="965200" y="2970411"/>
            <a:ext cx="32266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B0F5"/>
                </a:solidFill>
                <a:latin typeface="IBM Plex Sans KR" pitchFamily="34" charset="0"/>
                <a:ea typeface="IBM Plex Sans KR" pitchFamily="34" charset="-122"/>
                <a:cs typeface="IBM Plex Sans KR" pitchFamily="34" charset="-120"/>
              </a:rPr>
              <a:t>4</a:t>
            </a:r>
            <a:r>
              <a:rPr lang="en-US" sz="1400" b="1" dirty="0">
                <a:solidFill>
                  <a:srgbClr val="F4F3EE"/>
                </a:solidFill>
                <a:latin typeface="IBM Plex Sans KR" pitchFamily="34" charset="0"/>
                <a:ea typeface="IBM Plex Sans KR" pitchFamily="34" charset="-122"/>
                <a:cs typeface="IBM Plex Sans KR" pitchFamily="34" charset="-120"/>
              </a:rPr>
              <a:t> 벡터는 밖, 키만 안에</a:t>
            </a:r>
            <a:endParaRPr lang="en-US" sz="1400" dirty="0"/>
          </a:p>
        </p:txBody>
      </p:sp>
      <p:sp>
        <p:nvSpPr>
          <p:cNvPr id="15" name="Text 13"/>
          <p:cNvSpPr/>
          <p:nvPr/>
        </p:nvSpPr>
        <p:spPr>
          <a:xfrm>
            <a:off x="965200" y="3247231"/>
            <a:ext cx="32266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index_node_id로 32종 벡터 DB와 연결, 임베딩은 해시 캐시로 재사용</a:t>
            </a:r>
            <a:endParaRPr lang="en-US" sz="1200" dirty="0"/>
          </a:p>
        </p:txBody>
      </p:sp>
      <p:sp>
        <p:nvSpPr>
          <p:cNvPr id="16" name="Shape 14"/>
          <p:cNvSpPr/>
          <p:nvPr/>
        </p:nvSpPr>
        <p:spPr>
          <a:xfrm>
            <a:off x="4377234" y="2818011"/>
            <a:ext cx="3437483" cy="1023541"/>
          </a:xfrm>
          <a:prstGeom prst="roundRect">
            <a:avLst>
              <a:gd name="adj" fmla="val 8686"/>
            </a:avLst>
          </a:prstGeom>
          <a:solidFill>
            <a:srgbClr val="1E2638"/>
          </a:solidFill>
          <a:ln/>
        </p:spPr>
      </p:sp>
      <p:sp>
        <p:nvSpPr>
          <p:cNvPr id="17" name="Text 15"/>
          <p:cNvSpPr/>
          <p:nvPr/>
        </p:nvSpPr>
        <p:spPr>
          <a:xfrm>
            <a:off x="4529634" y="2970411"/>
            <a:ext cx="322666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B0F5"/>
                </a:solidFill>
                <a:latin typeface="IBM Plex Sans KR" pitchFamily="34" charset="0"/>
                <a:ea typeface="IBM Plex Sans KR" pitchFamily="34" charset="-122"/>
                <a:cs typeface="IBM Plex Sans KR" pitchFamily="34" charset="-120"/>
              </a:rPr>
              <a:t>5</a:t>
            </a:r>
            <a:r>
              <a:rPr lang="en-US" sz="1400" b="1" dirty="0">
                <a:solidFill>
                  <a:srgbClr val="F4F3EE"/>
                </a:solidFill>
                <a:latin typeface="IBM Plex Sans KR" pitchFamily="34" charset="0"/>
                <a:ea typeface="IBM Plex Sans KR" pitchFamily="34" charset="-122"/>
                <a:cs typeface="IBM Plex Sans KR" pitchFamily="34" charset="-120"/>
              </a:rPr>
              <a:t> 서비스 경계 = DB 경계</a:t>
            </a:r>
            <a:endParaRPr lang="en-US" sz="1400" dirty="0"/>
          </a:p>
        </p:txBody>
      </p:sp>
      <p:sp>
        <p:nvSpPr>
          <p:cNvPr id="18" name="Text 16"/>
          <p:cNvSpPr/>
          <p:nvPr/>
        </p:nvSpPr>
        <p:spPr>
          <a:xfrm>
            <a:off x="4529634" y="3247231"/>
            <a:ext cx="3226664"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플러그인 데몬은 dify_plugin DB를 단독 소유, api와는 HTTP로만 통신</a:t>
            </a:r>
            <a:endParaRPr lang="en-US" sz="1200" dirty="0"/>
          </a:p>
        </p:txBody>
      </p:sp>
      <p:sp>
        <p:nvSpPr>
          <p:cNvPr id="19" name="Shape 17"/>
          <p:cNvSpPr/>
          <p:nvPr/>
        </p:nvSpPr>
        <p:spPr>
          <a:xfrm>
            <a:off x="7941717" y="2818011"/>
            <a:ext cx="3437434" cy="1023541"/>
          </a:xfrm>
          <a:prstGeom prst="roundRect">
            <a:avLst>
              <a:gd name="adj" fmla="val 8686"/>
            </a:avLst>
          </a:prstGeom>
          <a:solidFill>
            <a:srgbClr val="1E2638"/>
          </a:solidFill>
          <a:ln/>
        </p:spPr>
      </p:sp>
      <p:sp>
        <p:nvSpPr>
          <p:cNvPr id="20" name="Text 18"/>
          <p:cNvSpPr/>
          <p:nvPr/>
        </p:nvSpPr>
        <p:spPr>
          <a:xfrm>
            <a:off x="8094117" y="2970411"/>
            <a:ext cx="322661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8FB0F5"/>
                </a:solidFill>
                <a:latin typeface="IBM Plex Sans KR" pitchFamily="34" charset="0"/>
                <a:ea typeface="IBM Plex Sans KR" pitchFamily="34" charset="-122"/>
                <a:cs typeface="IBM Plex Sans KR" pitchFamily="34" charset="-120"/>
              </a:rPr>
              <a:t>6</a:t>
            </a:r>
            <a:r>
              <a:rPr lang="en-US" sz="1400" b="1" dirty="0">
                <a:solidFill>
                  <a:srgbClr val="F4F3EE"/>
                </a:solidFill>
                <a:latin typeface="IBM Plex Sans KR" pitchFamily="34" charset="0"/>
                <a:ea typeface="IBM Plex Sans KR" pitchFamily="34" charset="-122"/>
                <a:cs typeface="IBM Plex Sans KR" pitchFamily="34" charset="-120"/>
              </a:rPr>
              <a:t> 자격증명 테넌트 암호화</a:t>
            </a:r>
            <a:endParaRPr lang="en-US" sz="1400" dirty="0"/>
          </a:p>
        </p:txBody>
      </p:sp>
      <p:sp>
        <p:nvSpPr>
          <p:cNvPr id="21" name="Text 19"/>
          <p:cNvSpPr/>
          <p:nvPr/>
        </p:nvSpPr>
        <p:spPr>
          <a:xfrm>
            <a:off x="8094117" y="3247231"/>
            <a:ext cx="322661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C9CEDA"/>
                </a:solidFill>
                <a:latin typeface="IBM Plex Sans KR" pitchFamily="34" charset="0"/>
                <a:ea typeface="IBM Plex Sans KR" pitchFamily="34" charset="-122"/>
                <a:cs typeface="IBM Plex Sans KR" pitchFamily="34" charset="-120"/>
              </a:rPr>
              <a:t>encrypted_config · encrypted_credentials, 키 제공자 인터페이스로 KMS 교체 여지</a:t>
            </a:r>
            <a:endParaRPr lang="en-US" sz="1200" dirty="0"/>
          </a:p>
        </p:txBody>
      </p:sp>
      <p:sp>
        <p:nvSpPr>
          <p:cNvPr id="22" name="Text 20"/>
          <p:cNvSpPr/>
          <p:nvPr/>
        </p:nvSpPr>
        <p:spPr>
          <a:xfrm>
            <a:off x="812800" y="4070152"/>
            <a:ext cx="1088339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3B5"/>
                </a:solidFill>
                <a:latin typeface="IBM Plex Sans KR" pitchFamily="34" charset="0"/>
                <a:ea typeface="IBM Plex Sans KR" pitchFamily="34" charset="-122"/>
                <a:cs typeface="IBM Plex Sans KR" pitchFamily="34" charset="-120"/>
              </a:rPr>
              <a:t>AI Agent Builder Platform에 적용한다면: 2·3번은 빌더의 기본기로 채택하고, 1번의 행 단위 tenant_id는 Kamaji 테넌트별 컨트롤 플레인과 겹쳐 이중 격리로 쓸 수 있습니다.</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3B5"/>
                </a:solidFill>
                <a:latin typeface="IBM Plex Sans KR" pitchFamily="34" charset="0"/>
                <a:ea typeface="IBM Plex Sans KR" pitchFamily="34" charset="-122"/>
                <a:cs typeface="IBM Plex Sans KR" pitchFamily="34" charset="-120"/>
              </a:rPr>
              <a:t>Dify 아키텍처 · 27 · 출처: api/models, api/AGENTS.md, core/helper/encrypter.py</a:t>
            </a:r>
            <a:endParaRPr lang="en-US" sz="1200" dirty="0"/>
          </a:p>
        </p:txBody>
      </p:sp>
    </p:spTree>
  </p:cSld>
  <p:clrMapOvr>
    <a:masterClrMapping/>
  </p:clrMapOvr>
</p:sld>
</file>

<file path=ppt/theme/theme1.xml><?xml version="1.0" encoding="utf-8"?>
<a:theme xmlns:a="http://schemas.openxmlformats.org/drawingml/2006/main" name="Dify 아키텍처">
  <a:themeElements>
    <a:clrScheme name="Dify 아키텍처">
      <a:dk1>
        <a:srgbClr val="131A2A"/>
      </a:dk1>
      <a:lt1>
        <a:srgbClr val="F4F3EE"/>
      </a:lt1>
      <a:dk2>
        <a:srgbClr val="4B505B"/>
      </a:dk2>
      <a:lt2>
        <a:srgbClr val="DEDDDA"/>
      </a:lt2>
      <a:accent1>
        <a:srgbClr val="2F5BB7"/>
      </a:accent1>
      <a:accent2>
        <a:srgbClr val="8FB0F5"/>
      </a:accent2>
      <a:accent3>
        <a:srgbClr val="B8521E"/>
      </a:accent3>
      <a:accent4>
        <a:srgbClr val="D9652B"/>
      </a:accent4>
      <a:accent5>
        <a:srgbClr val="F0B48A"/>
      </a:accent5>
      <a:accent6>
        <a:srgbClr val="FBE3D3"/>
      </a:accent6>
      <a:hlink>
        <a:srgbClr val="0563C1"/>
      </a:hlink>
      <a:folHlink>
        <a:srgbClr val="954F72"/>
      </a:folHlink>
    </a:clrScheme>
    <a:fontScheme name="Dify 아키텍처">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Dify 아키텍처</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2026-10-22T12:23:00Z</dcterms:created>
  <dcterms:modified xsi:type="dcterms:W3CDTF">2026-10-22T12:23:00Z</dcterms:modified>
</cp:coreProperties>
</file>