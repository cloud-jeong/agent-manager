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embeddedFontLst>
    <p:embeddedFont>
      <p:font typeface="JetBrains Mono" panose="02000009000000000000" pitchFamily="49" charset="0"/>
      <p:regular r:id="rId36"/>
      <p:bold r:id="rId3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36" Type="http://schemas.openxmlformats.org/officeDocument/2006/relationships/font" Target="fonts/font1.fntdata"/><Relationship Id="rId37"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공개 저장소의 코드(platform/backend, frontend, archestra-rs, helm)와 docs/pages 문서를 직접 읽고 정리한 자료입니다. 버전 표기는 2026-10-22 기준 main 브랜치입니다.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README 기준 누적 투자 1,350만 달러, Fortune-50 고객 3곳 배포를 주장합니다. 성능 수치는 Archestra 자체 벤치마크입니다.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공식 문서의 플랫폼 개요 다이어그램을 옮긴 것입니다. 핵심은 상위 계층(Chat, Runtime)도 하위 계층(프록시·가드레일)을 그대로 통과한다는 점입니다. 그래서 어떤 경로로 들어온 요청이든 같은 정책과 로그가 적용됩니다.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백엔드는 하나의 Fastify 프로세스 안에 LLM 프록시, MCP 게이트웨이, A2A, 에이전트 실행, RAG 질의를 모두 담고 있습니다. 무거운 비동기 작업(커넥터 동기화, 권한 동기화, 임베딩, 주기 작업)은 같은 이미지의 Worker 디플로이먼트가 PostgreSQL 기반 태스크 큐(content / permission / system 레인)로 처리합니다. MCP 서버와 전용 에이전트 런타임은 백엔드가 Kubernetes API로 직접 띄웁니다.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개발 환경은 Tilt로 전체 스택(백엔드, 프런트엔드, Postgres, Grafana/Tempo/Prometheus)을 띄우고, OrbStack 같은 로컬 K8s 위에서 MCP 서버 파드까지 실제로 돌려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 Code 같은 코딩 에이전트는 Connect 화면에서 base URL과 자격증명을 자동 설정합니다. 요청 헤더로 앱·실행·세션 라벨을 붙여 로그와 비용을 그룹화할 수 있지만, 헤더는 라벨일 뿐 신원 증명은 아닙니다.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원격 MCP 서버(이미 호스팅된 SaaS MCP)는 게이트웨이를 통해 바로 연결하고, stdio 등 셀프호스팅이 필요한 서버는 오케스트레이터가 클러스터 안에 파드로 띄웁니다. Docker 퀵스타트에서는 내장 Kubernetes 클러스터가 이 역할을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Migration Kit은 사용자 PC에서 단일 테넌트로 돌던 Claude Cowork, OpenClaw, Hermes 같은 에이전트를 이 전용 런타임으로 옮기는 경로를 제공합니다. 런타임 안의 에이전트도 모델은 LLM Proxy로, 도구는 MCP Gateway로만 접근하므로 중앙 정책을 벗어나지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별도 벡터 DB 없이 운영 DB(PostgreSQL)에 pgvector 확장만 켜서 쓰는 구조입니다. 마이그레이션 사용자에게 CREATE EXTENSION 권한이 필요합니다. 접근 제어가 걸린 Knowledge Base/RAG는 Enterprise 라이선스 기능입니다.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OpenAPPA 엔진 자체는 MIT 라이선스 별도 저장소이고, Archestra 통합은 Platform + AI Security 엔터프라이즈 티어입니다. 규칙이 없는 도구나 셸 명령은 빠른 모델(예: Haiku)인 annotator가 라벨을 붙입니다. APPA Keeper 에이전트가 현재 도구 목록에서 초기 정책을 작성해 줍니다. 현재 베타입니다.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napi-loader는 플랫폼별 네이티브 바이너리를 찾아 로드하는 공용 로더입니다. 텔레메트리도 Rust 쪽에서 OTel 컨텍스트를 이어받아 같은 트레이스로 묶입니다.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SSO, RBAC, 2FA, 보존 기간, 본문 암호화, RUM은 Enterprise 라이선스 영역입니다. Vault 연동도 .ee 파일로 표시되어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릴리스는 두 트랙입니다. 안정 버전(예: 1.3.x)은 보안 패치를 받는 단일 라인이고, latest 태그는 보통 RC를 가리키므로 운영에서는 정확한 버전 태그나 차트 버전으로 고정하라고 권고합니다.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코드에서는 .ee.ts 같은 파일명이나 영역 표시로 엔터프라이즈 코드를 구분합니다. AGPL이므로 수정본을 네트워크 서비스로 제공하면 소스 공개 의무가 생긴다는 점을 사업 검토 시 유의해야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슬라이드는 앞선 분석을 바탕으로 한 해석입니다. Archestra의 기능 범위(Chat, 런타임, RAG, 레지스트리)가 우리가 계획한 MCP·Skills·Agent 통합 포털과 거의 겹치므로, 차별화 포인트(반도체 도메인 에이전트, 폐쇄망, 국내 SSO 연동 등)를 어디에 둘지 함께 정리할 필요가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분석 대상: platform/backend/src의 routes/proxy/llm-proxy-handler.ts, routes/mcp-gateway, clients/mcp-client.ts, agents/a2a-executor.ts, knowledge-base, task-queue, k8s/mcp-server-runtime, database/schemas(Drizzle, 약 200개 테이블).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액터 구분은 문서의 사용자 유형과 RBAC 기본 역할(admin, editor, member) 및 서비스 계정 개념을 바탕으로 재구성했습니다. 외부 시스템(E)은 사람이 아니지만 서비스 계정·가상 키·OAuth 클라이언트로 인증되는 독립 주체입니다.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UC-03과 UC-04는 같은 실행기(executeA2AMessage)를 공유합니다. 차이는 진입점과 실행 주체뿐이며, 전용 런타임(Claude Code 등 컨테이너)을 선택하면 agent_runs 레코드로 별도 추적됩니다.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UC-05의 승인은 internal_mcp_catalog의 catalog_item_approval_status 컬럼으로 관리됩니다. UC-06의 기본 스케줄은 knowledge_base_connectors.schedule 기본값 "0 */6 * * *"입니다. UC-08 한도는 limits 테이블(entity_type, limit_type, limit_value, model)에 저장됩니다.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2단계 인증 우선순위: (1) 에이전트에 외부 IdP가 있으면 JWKS, (2) 헤더의 키 추출, (3) 플랫폼 가상 키·OAuth 액세스 토큰·개인 토큰, (4) 인앱 Chat의 원시 키, (5) 외부 요청은 플랫폼 자격증명 강제. 가상 키에는 레이트 리미터가 붙습니다. 4단계는 LimitValidationService.checkLimitsBeforeRequest와 모델 팀 접근 검사입니다. 5·8단계는 OpenAPPA가 켜졌을 때만 동작하며, 차단되면 응답의 tool call이 ruling과 remedy를 담은 notice 호출로 재작성되어 11단계에서 반환됩니다. 10단계는 스트림 종료 후 finalizeInteraction에서 비용을 계산해 저장합니다. 업스트림 실패 시 openUpstreamWithRetry가 연결 오류를 재시도합니다.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엔드포인트: POST /v1/mcp/:gatewayId (JSON-RPC, stateless). 6단계의 agent_tools.credential_resolution_mode는 세 가지입니다. static은 설치 시 저장한 공용 자격증명, dynamic은 호출한 사용자 본인의 설치(mcp_server_user)를 찾아 사용, enterprise_managed는 사용자의 IdP 토큰을 교환해 대상 서버용 토큰을 받는 On-Behalf-Of 방식입니다. OAuth 토큰 갱신은 secret 단위 락으로 동시 갱신을 막습니다. 8단계에서 하이버네이션된 로컬 서버는 먼저 깨우고(EE), 로컬 stdio 서버는 K8sAttachTransport로, streamable-http 서버와 원격 서버는 StreamableHTTPClientTransport로 연결합니다. 연결은 15분 유휴 TTL로 풀링됩니다. 내장(builtin) Archestra 도구와 MCP 앱(app 타입)은 프로세스 안에서 바로 처리됩니다.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1단계는 tasks 테이블에서 FOR UPDATE SKIP LOCKED로 dequeue합니다. 주기 태스크 check_due_schedule_triggers가 만료된 schedule_triggers를 찾아 schedule_trigger_runs 행과 실행 태스크를 만듭니다. 3단계에서 트리거의 actor user가 여전히 에이전트에 접근 가능한지 다시 확인합니다. 4~12단계는 executeA2AMessage가 담당하며, Chat·이메일·웹훅·A2A 진입점도 같은 함수를 씁니다. 5·8단계의 MCP 호출은 같은 프로세스의 /v1/mcp 로 loopback 접속하고, 6단계 모델 호출도 LLM Proxy를 loopback으로 경유합니다. 그래서 내부 에이전트도 외부 클라이언트와 똑같이 가드레일·로그·비용 한도를 적용받습니다. 에이전트에 전용 런타임이 설정되어 있으면 4단계 대신 startDetachedAgentTask로 K8s 컨테이너(agent_runs)를 띄웁니다.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적재: 주기 태스크 check_due_connectors가 connector_sync 태스크를 만들고, Worker는 connector_runs 행에 lease(lease_owner, lease_epoch)를 잡은 뒤 checkpoint부터 증분으로 가져옵니다. 문서는 content_hash로 변경 여부를 판단해 kb_documents에 upsert하고 parent-child 청킹 결과를 kb_chunks(tsvector, acl 포함)에 넣습니다. 임베딩은 batch_embedding 태스크로 분리되어 content 레인에서 처리되고, 끝나면 permission_sync가 permission 레인에서 소스의 그룹·ACL을 동기화합니다. 질의: 에이전트의 query_knowledge_sources 도구가 Query 서비스를 부르고, 사용자 principals(그룹 토큰)를 먼저 해석합니다. 질의 확장 후 각 질의를 임베딩해 벡터 검색과 BM25 키워드 검색을 병렬로 수행하고 RRF로 합친 뒤 리랭크, 부모 패시지 복원, 인접 청크 문맥 확장, 인용 검증을 거쳐 반환합니다.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2단계는 mcp-install-policy와 mcpServerInstallation 권한, 카탈로그 승인 상태를 확인합니다. 3단계에서 자격증명은 secret 테이블(DB 암호화 또는 Vault)에, 설치 정보는 mcp_server(catalog_id, scope, owner_id 또는 team_id)에 저장됩니다. 4단계 startServer는 mcp_deployment_leases로 여러 레플리카 간 중복 생성을 막습니다. 7단계 NetworkPolicy는 환경(environments.network_policy)에 따라 표준 K8s, Cilium, GKE FQDN, AWS 정책 중 하나로 적용됩니다. 원격(remote) 서버는 5~8단계 없이 server_url로 바로 연결하며, multitenant 카탈로그는 하나의 공유 Deployment를 여러 설치가 같이 씁니다. 하이버네이션(EE)이 켜지면 유휴 서버는 replicas 0으로 내려가고 다음 호출 때 깨어납니다.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테이블 수는 스키마 파일 기준이며 일부 파일은 여러 테이블을 정의하거나(openappa.ts), 공통 헬퍼만 담고 있습니다. 대표 테이블만 골랐고, 각 도메인마다 *_labels, *_team, *_user 같은 보조 테이블이 붙어 있습니다. 실제 이름이 직관과 다른 경우에 주의하세요: 프로바이더 API 키 테이블은 chat_api_keys, 카탈로그는 internal_mcp_catalog, 정책 리비전은 guardrails_policy_revisions입니다.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agent_tools는 에이전트와 도구의 N:M 연결이면서 어떤 설치(mcp_server_id)를 어떤 자격증명 해석 방식으로 쓸지까지 담습니다. tools.catalog_id는 MCP 서버에서 발견된 도구, tools.agent_id나 delegate_to_agent_id는 서브에이전트 위임 같은 플랫폼 도구를 나타냅니다. interactions.profile_id와 mcp_tool_calls.agent_id가 모두 agents를 가리키므로 LLM 호출과 도구 호출을 같은 에이전트·사용자·세션 기준으로 묶어 볼 수 있습니다. 가상 키는 virtual_api_key_provider_api_key 조인 테이블로 여러 프로바이더 키(chat_api_keys)에 매핑됩니다.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search_vector와 tok_len은 GENERATED ALWAYS AS ... STORED 컬럼으로 Postgres가 직접 계산합니다. BM25 통계는 kb_bm25_corpus_stats와 kb_bm25_term_stats에 별도로 유지되고 주기 태스크로 갱신됩니다. connector_runs의 lease_epoch는 여러 Worker 레플리카가 같은 커넥터를 동시에 동기화하지 못하게 하는 펜싱 토큰 역할을 합니다. knowledge_bases는 커넥터들을 묶는 논리 단위이고, 에이전트와는 agent_knowledge_base로 연결됩니다.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tasks의 레인은 테이블 컬럼이 아니라 task_type에서 정적으로 결정됩니다(content, permission, system). 각 레인은 dequeue 필터와 동시성 상한을 따로 가져서, 예를 들어 대량 문서 적재가 권한 동기화를 막지 못합니다. agent_runs.actor_kind는 user, team, organization, oauthClient 등이며 backend는 현재 kubernetes 하나입니다. 실행마다 전용 가상 키와 게이트웨이 토큰을 발급해 컨테이너 안의 Claude Code 같은 에이전트가 그 자격증명으로만 LLM Proxy와 MCP Gateway에 접근합니다. OpenAPPA 테이블은 Rust 네이티브 애드온이 관리하며 이벤트 payload는 바이너리로 저장됩니다.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문단은 분석을 바탕으로 한 제안입니다. Archestra는 단일 조직(organization) 안에서 팀·개인 scope를 나누는 모델이라, 고객사별로 컨트롤 플레인을 분리하는 CPaaS 구조와 결합할 때는 organization 경계를 테넌트 경계와 일치시킬지, 테넌트당 별도 인스턴스로 갈지를 먼저 정해야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3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00720"/>
            <a:ext cx="10566400" cy="438150"/>
          </a:xfrm>
          <a:prstGeom prst="rect">
            <a:avLst/>
          </a:prstGeom>
          <a:noFill/>
          <a:ln/>
        </p:spPr>
        <p:txBody>
          <a:bodyPr wrap="square" lIns="0" tIns="0" rIns="0" bIns="0" rtlCol="0" anchor="t"/>
          <a:lstStyle>
            <a:lvl1pPr algn="l" indent="0" marL="0">
              <a:lnSpc>
                <a:spcPct val="115000"/>
              </a:lnSpc>
              <a:buNone/>
              <a:defRPr lang="en-US" sz="3000" dirty="0">
                <a:solidFill>
                  <a:srgbClr val="131A2A"/>
                </a:solidFill>
                <a:latin typeface="IBM Plex Sans KR" pitchFamily="34" charset="0"/>
                <a:ea typeface="IBM Plex Sans KR" pitchFamily="34" charset="-122"/>
                <a:cs typeface="IBM Plex Sans KR"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743670"/>
            <a:ext cx="10566400" cy="4301530"/>
          </a:xfrm>
          <a:prstGeom prst="rect">
            <a:avLst/>
          </a:prstGeom>
          <a:noFill/>
          <a:ln/>
        </p:spPr>
        <p:txBody>
          <a:bodyPr wrap="square" lIns="0" tIns="0" rIns="0" bIns="0" rtlCol="0" anchor="t"/>
          <a:lstStyle>
            <a:lvl1pPr algn="l" indent="0" marL="0">
              <a:lnSpc>
                <a:spcPct val="140000"/>
              </a:lnSpc>
              <a:buNone/>
              <a:defRPr lang="en-US" sz="1600" dirty="0">
                <a:solidFill>
                  <a:srgbClr val="131A2A"/>
                </a:solidFill>
                <a:latin typeface="IBM Plex Sans KR" pitchFamily="34" charset="0"/>
                <a:ea typeface="IBM Plex Sans KR" pitchFamily="34" charset="-122"/>
                <a:cs typeface="IBM Plex Sans K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3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00720"/>
            <a:ext cx="10566400" cy="438150"/>
          </a:xfrm>
          <a:prstGeom prst="rect">
            <a:avLst/>
          </a:prstGeom>
          <a:noFill/>
          <a:ln/>
        </p:spPr>
        <p:txBody>
          <a:bodyPr wrap="square" lIns="0" tIns="0" rIns="0" bIns="0" rtlCol="0" anchor="t"/>
          <a:lstStyle>
            <a:lvl1pPr algn="l" indent="0" marL="0">
              <a:lnSpc>
                <a:spcPct val="115000"/>
              </a:lnSpc>
              <a:buNone/>
              <a:defRPr lang="en-US" sz="3000" dirty="0">
                <a:solidFill>
                  <a:srgbClr val="131A2A"/>
                </a:solidFill>
                <a:latin typeface="IBM Plex Sans KR" pitchFamily="34" charset="0"/>
                <a:ea typeface="IBM Plex Sans KR" pitchFamily="34" charset="-122"/>
                <a:cs typeface="IBM Plex Sans KR"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743670"/>
            <a:ext cx="10566400" cy="4301530"/>
          </a:xfrm>
          <a:prstGeom prst="rect">
            <a:avLst/>
          </a:prstGeom>
          <a:noFill/>
          <a:ln/>
        </p:spPr>
        <p:txBody>
          <a:bodyPr wrap="square" lIns="0" tIns="0" rIns="0" bIns="0" rtlCol="0" anchor="t"/>
          <a:lstStyle>
            <a:lvl1pPr algn="l" indent="0" marL="0">
              <a:lnSpc>
                <a:spcPct val="140000"/>
              </a:lnSpc>
              <a:buNone/>
              <a:defRPr lang="en-US" sz="1600" dirty="0">
                <a:solidFill>
                  <a:srgbClr val="131A2A"/>
                </a:solidFill>
                <a:latin typeface="IBM Plex Sans KR" pitchFamily="34" charset="0"/>
                <a:ea typeface="IBM Plex Sans KR" pitchFamily="34" charset="-122"/>
                <a:cs typeface="IBM Plex Sans K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2.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2.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image" Target="../media/image-20-9.png"/><Relationship Id="rId10" Type="http://schemas.openxmlformats.org/officeDocument/2006/relationships/image" Target="../media/image-20-10.png"/><Relationship Id="rId11" Type="http://schemas.openxmlformats.org/officeDocument/2006/relationships/slideLayout" Target="../slideLayouts/slideLayout2.xml"/><Relationship Id="rId1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slideLayout" Target="../slideLayouts/slideLayout2.xml"/><Relationship Id="rId10"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image" Target="../media/image-22-8.png"/><Relationship Id="rId9" Type="http://schemas.openxmlformats.org/officeDocument/2006/relationships/image" Target="../media/image-22-9.png"/><Relationship Id="rId10" Type="http://schemas.openxmlformats.org/officeDocument/2006/relationships/image" Target="../media/image-22-10.png"/><Relationship Id="rId11" Type="http://schemas.openxmlformats.org/officeDocument/2006/relationships/slideLayout" Target="../slideLayouts/slideLayout2.xml"/><Relationship Id="rId1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image" Target="../media/image-23-8.png"/><Relationship Id="rId9" Type="http://schemas.openxmlformats.org/officeDocument/2006/relationships/image" Target="../media/image-23-9.png"/><Relationship Id="rId10" Type="http://schemas.openxmlformats.org/officeDocument/2006/relationships/image" Target="../media/image-23-10.png"/><Relationship Id="rId11" Type="http://schemas.openxmlformats.org/officeDocument/2006/relationships/slideLayout" Target="../slideLayouts/slideLayout2.xml"/><Relationship Id="rId1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image" Target="../media/image-24-8.png"/><Relationship Id="rId9" Type="http://schemas.openxmlformats.org/officeDocument/2006/relationships/image" Target="../media/image-24-9.png"/><Relationship Id="rId10" Type="http://schemas.openxmlformats.org/officeDocument/2006/relationships/image" Target="../media/image-24-10.png"/><Relationship Id="rId11" Type="http://schemas.openxmlformats.org/officeDocument/2006/relationships/slideLayout" Target="../slideLayouts/slideLayout2.xml"/><Relationship Id="rId1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image" Target="../media/image-26-9.png"/><Relationship Id="rId10" Type="http://schemas.openxmlformats.org/officeDocument/2006/relationships/image" Target="../media/image-26-10.png"/><Relationship Id="rId11" Type="http://schemas.openxmlformats.org/officeDocument/2006/relationships/image" Target="../media/image-26-11.png"/><Relationship Id="rId12" Type="http://schemas.openxmlformats.org/officeDocument/2006/relationships/image" Target="../media/image-26-12.png"/><Relationship Id="rId13" Type="http://schemas.openxmlformats.org/officeDocument/2006/relationships/slideLayout" Target="../slideLayouts/slideLayout2.xml"/><Relationship Id="rId1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1A2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F08A4B"/>
                </a:solidFill>
                <a:latin typeface="JetBrains Mono" pitchFamily="49" charset="0"/>
                <a:ea typeface="JetBrains Mono" pitchFamily="49" charset="-122"/>
                <a:cs typeface="JetBrains Mono" pitchFamily="49" charset="-120"/>
              </a:rPr>
              <a:t>ARCHITECTURE REVIEW · 2026.10</a:t>
            </a:r>
            <a:endParaRPr lang="en-US" sz="1400" dirty="0"/>
          </a:p>
        </p:txBody>
      </p:sp>
      <p:sp>
        <p:nvSpPr>
          <p:cNvPr id="3" name="Text 1"/>
          <p:cNvSpPr/>
          <p:nvPr>
            <p:ph type="title"/>
          </p:nvPr>
        </p:nvSpPr>
        <p:spPr>
          <a:xfrm>
            <a:off x="812800" y="2580630"/>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4F3EE"/>
                </a:solidFill>
                <a:latin typeface="IBM Plex Sans KR" pitchFamily="34" charset="0"/>
                <a:ea typeface="IBM Plex Sans KR" pitchFamily="34" charset="-122"/>
                <a:cs typeface="IBM Plex Sans KR" pitchFamily="34" charset="-120"/>
              </a:rPr>
              <a:t>Archestra 아키텍처</a:t>
            </a:r>
            <a:endParaRPr lang="en-US" sz="6000" dirty="0"/>
          </a:p>
        </p:txBody>
      </p:sp>
      <p:sp>
        <p:nvSpPr>
          <p:cNvPr id="4" name="Text 2"/>
          <p:cNvSpPr/>
          <p:nvPr/>
        </p:nvSpPr>
        <p:spPr>
          <a:xfrm>
            <a:off x="812800" y="3583930"/>
            <a:ext cx="9156700" cy="7366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C9CEDA"/>
                </a:solidFill>
                <a:latin typeface="IBM Plex Sans KR" pitchFamily="34" charset="0"/>
                <a:ea typeface="IBM Plex Sans KR" pitchFamily="34" charset="-122"/>
                <a:cs typeface="IBM Plex Sans KR" pitchFamily="34" charset="-120"/>
              </a:rPr>
              <a:t>LLM·MCP·A2A 게이트웨이, 에이전트 런타임, RAG, 결정론적 가드레일을 하나로 묶은 엔터프라이즈 Secure AI Platform</a:t>
            </a:r>
            <a:endParaRPr lang="en-US" sz="2000" dirty="0"/>
          </a:p>
        </p:txBody>
      </p:sp>
      <p:sp>
        <p:nvSpPr>
          <p:cNvPr id="5" name="Text 3"/>
          <p:cNvSpPr/>
          <p:nvPr/>
        </p:nvSpPr>
        <p:spPr>
          <a:xfrm>
            <a:off x="812800" y="5814070"/>
            <a:ext cx="5047506"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AA3B5"/>
                </a:solidFill>
                <a:latin typeface="IBM Plex Sans KR" pitchFamily="34" charset="0"/>
                <a:ea typeface="IBM Plex Sans KR" pitchFamily="34" charset="-122"/>
                <a:cs typeface="IBM Plex Sans KR" pitchFamily="34" charset="-120"/>
              </a:rPr>
              <a:t>분석 기준: github.com/archestra-ai/archestra main (2026-10-22)</a:t>
            </a:r>
            <a:endParaRPr lang="en-US" sz="1300" dirty="0"/>
          </a:p>
        </p:txBody>
      </p:sp>
      <p:sp>
        <p:nvSpPr>
          <p:cNvPr id="6" name="Text 4"/>
          <p:cNvSpPr/>
          <p:nvPr/>
        </p:nvSpPr>
        <p:spPr>
          <a:xfrm>
            <a:off x="5860306" y="5814070"/>
            <a:ext cx="1917859"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AA3B5"/>
                </a:solidFill>
                <a:latin typeface="IBM Plex Sans KR" pitchFamily="34" charset="0"/>
                <a:ea typeface="IBM Plex Sans KR" pitchFamily="34" charset="-122"/>
                <a:cs typeface="IBM Plex Sans KR" pitchFamily="34" charset="-120"/>
              </a:rPr>
              <a:t>Helm chart 1.5.0-rc.3</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3EE"/>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B8521E"/>
                </a:solidFill>
                <a:latin typeface="JetBrains Mono" pitchFamily="49" charset="0"/>
                <a:ea typeface="JetBrains Mono" pitchFamily="49" charset="-122"/>
                <a:cs typeface="JetBrains Mono" pitchFamily="49" charset="-120"/>
              </a:rPr>
              <a:t>01 · OVERVIEW</a:t>
            </a:r>
            <a:endParaRPr lang="en-US" sz="1200" dirty="0"/>
          </a:p>
        </p:txBody>
      </p:sp>
      <p:sp>
        <p:nvSpPr>
          <p:cNvPr id="3" name="Text 1"/>
          <p:cNvSpPr/>
          <p:nvPr>
            <p:ph type="title"/>
          </p:nvPr>
        </p:nvSpPr>
        <p:spPr>
          <a:xfrm>
            <a:off x="812800" y="10007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1A2A"/>
                </a:solidFill>
                <a:latin typeface="IBM Plex Sans KR" pitchFamily="34" charset="0"/>
                <a:ea typeface="IBM Plex Sans KR" pitchFamily="34" charset="-122"/>
                <a:cs typeface="IBM Plex Sans KR" pitchFamily="34" charset="-120"/>
              </a:rPr>
              <a:t>하나의 URL 뒤에 모든 AI 트래픽을 모은다</a:t>
            </a:r>
            <a:endParaRPr lang="en-US" sz="3000" dirty="0"/>
          </a:p>
        </p:txBody>
      </p:sp>
      <p:sp>
        <p:nvSpPr>
          <p:cNvPr id="4" name="Text 2"/>
          <p:cNvSpPr/>
          <p:nvPr/>
        </p:nvSpPr>
        <p:spPr>
          <a:xfrm>
            <a:off x="812800" y="1692870"/>
            <a:ext cx="9810750"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4A5263"/>
                </a:solidFill>
                <a:latin typeface="IBM Plex Sans KR" pitchFamily="34" charset="0"/>
                <a:ea typeface="IBM Plex Sans KR" pitchFamily="34" charset="-122"/>
                <a:cs typeface="IBM Plex Sans KR" pitchFamily="34" charset="-120"/>
              </a:rPr>
              <a:t>사용자·에이전트·코딩 도구(Claude Code, Codex, Cursor)가 Archestra 한 곳만 바라보게 하고, 모델 호출과 도구 호출을 모두 그 안에서 인증·통제·기록하는 셀프호스팅 플랫폼입니다.</a:t>
            </a:r>
            <a:endParaRPr lang="en-US" sz="1500" dirty="0"/>
          </a:p>
        </p:txBody>
      </p:sp>
      <p:sp>
        <p:nvSpPr>
          <p:cNvPr id="5" name="Shape 3"/>
          <p:cNvSpPr/>
          <p:nvPr/>
        </p:nvSpPr>
        <p:spPr>
          <a:xfrm>
            <a:off x="815975" y="2521545"/>
            <a:ext cx="2520950" cy="1708100"/>
          </a:xfrm>
          <a:prstGeom prst="roundRect">
            <a:avLst>
              <a:gd name="adj" fmla="val 5762"/>
            </a:avLst>
          </a:prstGeom>
          <a:solidFill>
            <a:srgbClr val="FBFAF7"/>
          </a:solidFill>
          <a:ln w="6350">
            <a:solidFill>
              <a:srgbClr val="DCD9CF"/>
            </a:solidFill>
            <a:prstDash val="solid"/>
          </a:ln>
        </p:spPr>
      </p:sp>
      <p:sp>
        <p:nvSpPr>
          <p:cNvPr id="6" name="Text 4"/>
          <p:cNvSpPr/>
          <p:nvPr/>
        </p:nvSpPr>
        <p:spPr>
          <a:xfrm>
            <a:off x="1022350" y="2727920"/>
            <a:ext cx="21714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5BB7"/>
                </a:solidFill>
                <a:latin typeface="JetBrains Mono" pitchFamily="49" charset="0"/>
                <a:ea typeface="JetBrains Mono" pitchFamily="49" charset="-122"/>
                <a:cs typeface="JetBrains Mono" pitchFamily="49" charset="-120"/>
              </a:rPr>
              <a:t>비개발자</a:t>
            </a:r>
            <a:endParaRPr lang="en-US" sz="1200" dirty="0"/>
          </a:p>
        </p:txBody>
      </p:sp>
      <p:sp>
        <p:nvSpPr>
          <p:cNvPr id="7" name="Text 5"/>
          <p:cNvSpPr/>
          <p:nvPr/>
        </p:nvSpPr>
        <p:spPr>
          <a:xfrm>
            <a:off x="1022350" y="3017441"/>
            <a:ext cx="217144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1A2A"/>
                </a:solidFill>
                <a:latin typeface="IBM Plex Sans KR" pitchFamily="34" charset="0"/>
                <a:ea typeface="IBM Plex Sans KR" pitchFamily="34" charset="-122"/>
                <a:cs typeface="IBM Plex Sans KR" pitchFamily="34" charset="-120"/>
              </a:rPr>
              <a:t>Agentic Chat</a:t>
            </a:r>
            <a:endParaRPr lang="en-US" sz="1600" dirty="0"/>
          </a:p>
        </p:txBody>
      </p:sp>
      <p:sp>
        <p:nvSpPr>
          <p:cNvPr id="8" name="Text 6"/>
          <p:cNvSpPr/>
          <p:nvPr/>
        </p:nvSpPr>
        <p:spPr>
          <a:xfrm>
            <a:off x="1022350" y="3337471"/>
            <a:ext cx="2171446" cy="711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263"/>
                </a:solidFill>
                <a:latin typeface="IBM Plex Sans KR" pitchFamily="34" charset="0"/>
                <a:ea typeface="IBM Plex Sans KR" pitchFamily="34" charset="-122"/>
                <a:cs typeface="IBM Plex Sans KR" pitchFamily="34" charset="-120"/>
              </a:rPr>
              <a:t>사내 AI 어시스턴트, 프로젝트, MCP 앱. Slack·Teams·이메일 프런트엔드</a:t>
            </a:r>
            <a:endParaRPr lang="en-US" sz="1200" dirty="0"/>
          </a:p>
        </p:txBody>
      </p:sp>
      <p:sp>
        <p:nvSpPr>
          <p:cNvPr id="9" name="Shape 7"/>
          <p:cNvSpPr/>
          <p:nvPr/>
        </p:nvSpPr>
        <p:spPr>
          <a:xfrm>
            <a:off x="3495675" y="2521545"/>
            <a:ext cx="2520950" cy="1708100"/>
          </a:xfrm>
          <a:prstGeom prst="roundRect">
            <a:avLst>
              <a:gd name="adj" fmla="val 5762"/>
            </a:avLst>
          </a:prstGeom>
          <a:solidFill>
            <a:srgbClr val="FBFAF7"/>
          </a:solidFill>
          <a:ln w="6350">
            <a:solidFill>
              <a:srgbClr val="DCD9CF"/>
            </a:solidFill>
            <a:prstDash val="solid"/>
          </a:ln>
        </p:spPr>
      </p:sp>
      <p:sp>
        <p:nvSpPr>
          <p:cNvPr id="10" name="Text 8"/>
          <p:cNvSpPr/>
          <p:nvPr/>
        </p:nvSpPr>
        <p:spPr>
          <a:xfrm>
            <a:off x="3702050" y="2727920"/>
            <a:ext cx="21714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5BB7"/>
                </a:solidFill>
                <a:latin typeface="JetBrains Mono" pitchFamily="49" charset="0"/>
                <a:ea typeface="JetBrains Mono" pitchFamily="49" charset="-122"/>
                <a:cs typeface="JetBrains Mono" pitchFamily="49" charset="-120"/>
              </a:rPr>
              <a:t>개발자</a:t>
            </a:r>
            <a:endParaRPr lang="en-US" sz="1200" dirty="0"/>
          </a:p>
        </p:txBody>
      </p:sp>
      <p:sp>
        <p:nvSpPr>
          <p:cNvPr id="11" name="Text 9"/>
          <p:cNvSpPr/>
          <p:nvPr/>
        </p:nvSpPr>
        <p:spPr>
          <a:xfrm>
            <a:off x="3702050" y="3017441"/>
            <a:ext cx="217144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1A2A"/>
                </a:solidFill>
                <a:latin typeface="IBM Plex Sans KR" pitchFamily="34" charset="0"/>
                <a:ea typeface="IBM Plex Sans KR" pitchFamily="34" charset="-122"/>
                <a:cs typeface="IBM Plex Sans KR" pitchFamily="34" charset="-120"/>
              </a:rPr>
              <a:t>LLM·MCP 포털</a:t>
            </a:r>
            <a:endParaRPr lang="en-US" sz="1600" dirty="0"/>
          </a:p>
        </p:txBody>
      </p:sp>
      <p:sp>
        <p:nvSpPr>
          <p:cNvPr id="12" name="Text 10"/>
          <p:cNvSpPr/>
          <p:nvPr/>
        </p:nvSpPr>
        <p:spPr>
          <a:xfrm>
            <a:off x="3702050" y="3337471"/>
            <a:ext cx="2171446" cy="711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263"/>
                </a:solidFill>
                <a:latin typeface="IBM Plex Sans KR" pitchFamily="34" charset="0"/>
                <a:ea typeface="IBM Plex Sans KR" pitchFamily="34" charset="-122"/>
                <a:cs typeface="IBM Plex Sans KR" pitchFamily="34" charset="-120"/>
              </a:rPr>
              <a:t>토큰 하나로 코딩 에이전트의 모델·도구 접근. 가상 API 키, 모델 라우팅</a:t>
            </a:r>
            <a:endParaRPr lang="en-US" sz="1200" dirty="0"/>
          </a:p>
        </p:txBody>
      </p:sp>
      <p:sp>
        <p:nvSpPr>
          <p:cNvPr id="13" name="Shape 11"/>
          <p:cNvSpPr/>
          <p:nvPr/>
        </p:nvSpPr>
        <p:spPr>
          <a:xfrm>
            <a:off x="6175375" y="2521545"/>
            <a:ext cx="2520950" cy="1708100"/>
          </a:xfrm>
          <a:prstGeom prst="roundRect">
            <a:avLst>
              <a:gd name="adj" fmla="val 5762"/>
            </a:avLst>
          </a:prstGeom>
          <a:solidFill>
            <a:srgbClr val="FBFAF7"/>
          </a:solidFill>
          <a:ln w="6350">
            <a:solidFill>
              <a:srgbClr val="DCD9CF"/>
            </a:solidFill>
            <a:prstDash val="solid"/>
          </a:ln>
        </p:spPr>
      </p:sp>
      <p:sp>
        <p:nvSpPr>
          <p:cNvPr id="14" name="Text 12"/>
          <p:cNvSpPr/>
          <p:nvPr/>
        </p:nvSpPr>
        <p:spPr>
          <a:xfrm>
            <a:off x="6381750" y="2727920"/>
            <a:ext cx="21714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5BB7"/>
                </a:solidFill>
                <a:latin typeface="JetBrains Mono" pitchFamily="49" charset="0"/>
                <a:ea typeface="JetBrains Mono" pitchFamily="49" charset="-122"/>
                <a:cs typeface="JetBrains Mono" pitchFamily="49" charset="-120"/>
              </a:rPr>
              <a:t>플랫폼팀</a:t>
            </a:r>
            <a:endParaRPr lang="en-US" sz="1200" dirty="0"/>
          </a:p>
        </p:txBody>
      </p:sp>
      <p:sp>
        <p:nvSpPr>
          <p:cNvPr id="15" name="Text 13"/>
          <p:cNvSpPr/>
          <p:nvPr/>
        </p:nvSpPr>
        <p:spPr>
          <a:xfrm>
            <a:off x="6381750" y="3017441"/>
            <a:ext cx="217144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1A2A"/>
                </a:solidFill>
                <a:latin typeface="IBM Plex Sans KR" pitchFamily="34" charset="0"/>
                <a:ea typeface="IBM Plex Sans KR" pitchFamily="34" charset="-122"/>
                <a:cs typeface="IBM Plex Sans KR" pitchFamily="34" charset="-120"/>
              </a:rPr>
              <a:t>게이트웨이·런타임</a:t>
            </a:r>
            <a:endParaRPr lang="en-US" sz="1600" dirty="0"/>
          </a:p>
        </p:txBody>
      </p:sp>
      <p:sp>
        <p:nvSpPr>
          <p:cNvPr id="16" name="Text 14"/>
          <p:cNvSpPr/>
          <p:nvPr/>
        </p:nvSpPr>
        <p:spPr>
          <a:xfrm>
            <a:off x="6381750" y="3337471"/>
            <a:ext cx="2171446" cy="711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263"/>
                </a:solidFill>
                <a:latin typeface="IBM Plex Sans KR" pitchFamily="34" charset="0"/>
                <a:ea typeface="IBM Plex Sans KR" pitchFamily="34" charset="-122"/>
                <a:cs typeface="IBM Plex Sans KR" pitchFamily="34" charset="-120"/>
              </a:rPr>
              <a:t>LLM/MCP/A2A 게이트웨이, 프라이빗 MCP 레지스트리, K8s 오케스트레이터, 에이전트 런타임</a:t>
            </a:r>
            <a:endParaRPr lang="en-US" sz="1200" dirty="0"/>
          </a:p>
        </p:txBody>
      </p:sp>
      <p:sp>
        <p:nvSpPr>
          <p:cNvPr id="17" name="Shape 15"/>
          <p:cNvSpPr/>
          <p:nvPr/>
        </p:nvSpPr>
        <p:spPr>
          <a:xfrm>
            <a:off x="8855075" y="2521545"/>
            <a:ext cx="2520950" cy="1708100"/>
          </a:xfrm>
          <a:prstGeom prst="roundRect">
            <a:avLst>
              <a:gd name="adj" fmla="val 5762"/>
            </a:avLst>
          </a:prstGeom>
          <a:solidFill>
            <a:srgbClr val="FBFAF7"/>
          </a:solidFill>
          <a:ln w="6350">
            <a:solidFill>
              <a:srgbClr val="DCD9CF"/>
            </a:solidFill>
            <a:prstDash val="solid"/>
          </a:ln>
        </p:spPr>
      </p:sp>
      <p:sp>
        <p:nvSpPr>
          <p:cNvPr id="18" name="Text 16"/>
          <p:cNvSpPr/>
          <p:nvPr/>
        </p:nvSpPr>
        <p:spPr>
          <a:xfrm>
            <a:off x="9061450" y="2727920"/>
            <a:ext cx="21714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5BB7"/>
                </a:solidFill>
                <a:latin typeface="JetBrains Mono" pitchFamily="49" charset="0"/>
                <a:ea typeface="JetBrains Mono" pitchFamily="49" charset="-122"/>
                <a:cs typeface="JetBrains Mono" pitchFamily="49" charset="-120"/>
              </a:rPr>
              <a:t>보안·운영</a:t>
            </a:r>
            <a:endParaRPr lang="en-US" sz="1200" dirty="0"/>
          </a:p>
        </p:txBody>
      </p:sp>
      <p:sp>
        <p:nvSpPr>
          <p:cNvPr id="19" name="Text 17"/>
          <p:cNvSpPr/>
          <p:nvPr/>
        </p:nvSpPr>
        <p:spPr>
          <a:xfrm>
            <a:off x="9061450" y="3017441"/>
            <a:ext cx="217144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1A2A"/>
                </a:solidFill>
                <a:latin typeface="IBM Plex Sans KR" pitchFamily="34" charset="0"/>
                <a:ea typeface="IBM Plex Sans KR" pitchFamily="34" charset="-122"/>
                <a:cs typeface="IBM Plex Sans KR" pitchFamily="34" charset="-120"/>
              </a:rPr>
              <a:t>통제·관측</a:t>
            </a:r>
            <a:endParaRPr lang="en-US" sz="1600" dirty="0"/>
          </a:p>
        </p:txBody>
      </p:sp>
      <p:sp>
        <p:nvSpPr>
          <p:cNvPr id="20" name="Text 18"/>
          <p:cNvSpPr/>
          <p:nvPr/>
        </p:nvSpPr>
        <p:spPr>
          <a:xfrm>
            <a:off x="9061450" y="3337471"/>
            <a:ext cx="2171446"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263"/>
                </a:solidFill>
                <a:latin typeface="IBM Plex Sans KR" pitchFamily="34" charset="0"/>
                <a:ea typeface="IBM Plex Sans KR" pitchFamily="34" charset="-122"/>
                <a:cs typeface="IBM Plex Sans KR" pitchFamily="34" charset="-120"/>
              </a:rPr>
              <a:t>SSO·RBAC, 결정론적 가드레일, OTel 트레이스, 팀별 비용 한도</a:t>
            </a:r>
            <a:endParaRPr lang="en-US" sz="1200" dirty="0"/>
          </a:p>
        </p:txBody>
      </p:sp>
      <p:sp>
        <p:nvSpPr>
          <p:cNvPr id="21" name="Text 19"/>
          <p:cNvSpPr/>
          <p:nvPr/>
        </p:nvSpPr>
        <p:spPr>
          <a:xfrm>
            <a:off x="812800" y="4486821"/>
            <a:ext cx="2490837" cy="365720"/>
          </a:xfrm>
          <a:prstGeom prst="roundRect">
            <a:avLst>
              <a:gd name="adj" fmla="val 50000"/>
            </a:avLst>
          </a:prstGeom>
          <a:solidFill>
            <a:srgbClr val="131A2A"/>
          </a:solidFill>
          <a:ln/>
        </p:spPr>
        <p:txBody>
          <a:bodyPr wrap="none" lIns="0" tIns="0" rIns="0" bIns="0" rtlCol="0" anchor="ctr">
            <a:normAutofit/>
          </a:bodyPr>
          <a:lstStyle/>
          <a:p>
            <a:pPr algn="ctr" indent="0" marL="0">
              <a:lnSpc>
                <a:spcPts val="1680"/>
              </a:lnSpc>
              <a:buNone/>
            </a:pPr>
            <a:r>
              <a:rPr lang="en-US" sz="1200" dirty="0">
                <a:solidFill>
                  <a:srgbClr val="F4F3EE"/>
                </a:solidFill>
                <a:latin typeface="IBM Plex Sans KR" pitchFamily="34" charset="0"/>
                <a:ea typeface="IBM Plex Sans KR" pitchFamily="34" charset="-122"/>
                <a:cs typeface="IBM Plex Sans KR" pitchFamily="34" charset="-120"/>
              </a:rPr>
              <a:t>오픈코어 · AGPL-3.0 + Enterprise</a:t>
            </a:r>
            <a:endParaRPr lang="en-US" sz="1200" dirty="0"/>
          </a:p>
        </p:txBody>
      </p:sp>
      <p:sp>
        <p:nvSpPr>
          <p:cNvPr id="22" name="Text 20"/>
          <p:cNvSpPr/>
          <p:nvPr/>
        </p:nvSpPr>
        <p:spPr>
          <a:xfrm>
            <a:off x="3456037" y="4486821"/>
            <a:ext cx="2299146" cy="365720"/>
          </a:xfrm>
          <a:prstGeom prst="roundRect">
            <a:avLst>
              <a:gd name="adj" fmla="val 50000"/>
            </a:avLst>
          </a:prstGeom>
          <a:solidFill>
            <a:srgbClr val="E6E3DA"/>
          </a:solidFill>
          <a:ln/>
        </p:spPr>
        <p:txBody>
          <a:bodyPr wrap="none" lIns="0" tIns="0" rIns="0" bIns="0" rtlCol="0" anchor="ctr">
            <a:normAutofit/>
          </a:bodyPr>
          <a:lstStyle/>
          <a:p>
            <a:pPr algn="ct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CNCF / Linux Foundation 합류</a:t>
            </a:r>
            <a:endParaRPr lang="en-US" sz="1200" dirty="0"/>
          </a:p>
        </p:txBody>
      </p:sp>
      <p:sp>
        <p:nvSpPr>
          <p:cNvPr id="23" name="Text 21"/>
          <p:cNvSpPr/>
          <p:nvPr/>
        </p:nvSpPr>
        <p:spPr>
          <a:xfrm>
            <a:off x="5907584" y="4486821"/>
            <a:ext cx="3015407" cy="365720"/>
          </a:xfrm>
          <a:prstGeom prst="roundRect">
            <a:avLst>
              <a:gd name="adj" fmla="val 50000"/>
            </a:avLst>
          </a:prstGeom>
          <a:solidFill>
            <a:srgbClr val="E6E3DA"/>
          </a:solidFill>
          <a:ln/>
        </p:spPr>
        <p:txBody>
          <a:bodyPr wrap="none" lIns="0" tIns="0" rIns="0" bIns="0" rtlCol="0" anchor="ctr">
            <a:normAutofit/>
          </a:bodyPr>
          <a:lstStyle/>
          <a:p>
            <a:pPr algn="ct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프록시 오버헤드 p95 31ms (자사 벤치마크)</a:t>
            </a:r>
            <a:endParaRPr lang="en-US" sz="1200" dirty="0"/>
          </a:p>
        </p:txBody>
      </p:sp>
      <p:sp>
        <p:nvSpPr>
          <p:cNvPr id="24" name="Text 2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KR" pitchFamily="34" charset="0"/>
                <a:ea typeface="IBM Plex Sans KR" pitchFamily="34" charset="-122"/>
                <a:cs typeface="IBM Plex Sans KR" pitchFamily="34" charset="-120"/>
              </a:rPr>
              <a:t>Archestra 아키텍처 · 02 · 출처: README.md</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3EE"/>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B8521E"/>
                </a:solidFill>
                <a:latin typeface="JetBrains Mono" pitchFamily="49" charset="0"/>
                <a:ea typeface="JetBrains Mono" pitchFamily="49" charset="-122"/>
                <a:cs typeface="JetBrains Mono" pitchFamily="49" charset="-120"/>
              </a:rPr>
              <a:t>02 · LAYERS</a:t>
            </a:r>
            <a:endParaRPr lang="en-US" sz="1200" dirty="0"/>
          </a:p>
        </p:txBody>
      </p:sp>
      <p:sp>
        <p:nvSpPr>
          <p:cNvPr id="3" name="Text 1"/>
          <p:cNvSpPr/>
          <p:nvPr>
            <p:ph type="title"/>
          </p:nvPr>
        </p:nvSpPr>
        <p:spPr>
          <a:xfrm>
            <a:off x="812800" y="10007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1A2A"/>
                </a:solidFill>
                <a:latin typeface="IBM Plex Sans KR" pitchFamily="34" charset="0"/>
                <a:ea typeface="IBM Plex Sans KR" pitchFamily="34" charset="-122"/>
                <a:cs typeface="IBM Plex Sans KR" pitchFamily="34" charset="-120"/>
              </a:rPr>
              <a:t>5개 계층: 아래는 개발자, 위는 현업 사용자</a:t>
            </a:r>
            <a:endParaRPr lang="en-US" sz="3000" dirty="0"/>
          </a:p>
        </p:txBody>
      </p:sp>
      <p:sp>
        <p:nvSpPr>
          <p:cNvPr id="4" name="Text 2"/>
          <p:cNvSpPr/>
          <p:nvPr/>
        </p:nvSpPr>
        <p:spPr>
          <a:xfrm>
            <a:off x="2654300" y="1667470"/>
            <a:ext cx="3302000" cy="546100"/>
          </a:xfrm>
          <a:prstGeom prst="roundRect">
            <a:avLst>
              <a:gd name="adj" fmla="val 16279"/>
            </a:avLst>
          </a:prstGeom>
          <a:solidFill>
            <a:srgbClr val="131A2A"/>
          </a:solidFill>
          <a:ln/>
        </p:spPr>
        <p:txBody>
          <a:bodyPr wrap="square" lIns="68323" tIns="113662" rIns="68323" bIns="88262" rtlCol="0" anchor="t">
            <a:normAutofit/>
          </a:bodyPr>
          <a:lstStyle/>
          <a:p>
            <a:pPr algn="ctr" indent="0" marL="0">
              <a:lnSpc>
                <a:spcPts val="2100"/>
              </a:lnSpc>
              <a:buNone/>
            </a:pPr>
            <a:r>
              <a:rPr lang="en-US" sz="1500" b="1" dirty="0">
                <a:solidFill>
                  <a:srgbClr val="F4F3EE"/>
                </a:solidFill>
                <a:latin typeface="IBM Plex Sans KR" pitchFamily="34" charset="0"/>
                <a:ea typeface="IBM Plex Sans KR" pitchFamily="34" charset="-122"/>
                <a:cs typeface="IBM Plex Sans KR" pitchFamily="34" charset="-120"/>
              </a:rPr>
              <a:t>Agentic Chat</a:t>
            </a:r>
            <a:endParaRPr lang="en-US" sz="1500" dirty="0"/>
          </a:p>
        </p:txBody>
      </p:sp>
      <p:sp>
        <p:nvSpPr>
          <p:cNvPr id="5" name="Text 3"/>
          <p:cNvSpPr/>
          <p:nvPr/>
        </p:nvSpPr>
        <p:spPr>
          <a:xfrm>
            <a:off x="6604000" y="1833860"/>
            <a:ext cx="49053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“협력사 보고서가 프로젝트 일정과 맞는지 봐줘” — 현업 사용자</a:t>
            </a:r>
            <a:endParaRPr lang="en-US" sz="1200" dirty="0"/>
          </a:p>
        </p:txBody>
      </p:sp>
      <p:sp>
        <p:nvSpPr>
          <p:cNvPr id="6" name="Text 4"/>
          <p:cNvSpPr/>
          <p:nvPr/>
        </p:nvSpPr>
        <p:spPr>
          <a:xfrm>
            <a:off x="2082800" y="2315170"/>
            <a:ext cx="4064000" cy="546100"/>
          </a:xfrm>
          <a:prstGeom prst="roundRect">
            <a:avLst>
              <a:gd name="adj" fmla="val 16279"/>
            </a:avLst>
          </a:prstGeom>
          <a:solidFill>
            <a:srgbClr val="131A2A"/>
          </a:solidFill>
          <a:ln/>
        </p:spPr>
        <p:txBody>
          <a:bodyPr wrap="square" lIns="56893" tIns="113662" rIns="56893" bIns="88262" rtlCol="0" anchor="t">
            <a:normAutofit/>
          </a:bodyPr>
          <a:lstStyle/>
          <a:p>
            <a:pPr algn="ctr" indent="0" marL="0">
              <a:lnSpc>
                <a:spcPts val="2100"/>
              </a:lnSpc>
              <a:buNone/>
            </a:pPr>
            <a:r>
              <a:rPr lang="en-US" sz="1500" b="1" dirty="0">
                <a:solidFill>
                  <a:srgbClr val="F4F3EE"/>
                </a:solidFill>
                <a:latin typeface="IBM Plex Sans KR" pitchFamily="34" charset="0"/>
                <a:ea typeface="IBM Plex Sans KR" pitchFamily="34" charset="-122"/>
                <a:cs typeface="IBM Plex Sans KR" pitchFamily="34" charset="-120"/>
              </a:rPr>
              <a:t>Agent Runtime</a:t>
            </a:r>
            <a:endParaRPr lang="en-US" sz="1500" dirty="0"/>
          </a:p>
        </p:txBody>
      </p:sp>
      <p:sp>
        <p:nvSpPr>
          <p:cNvPr id="7" name="Text 5"/>
          <p:cNvSpPr/>
          <p:nvPr/>
        </p:nvSpPr>
        <p:spPr>
          <a:xfrm>
            <a:off x="6604000" y="2481560"/>
            <a:ext cx="49053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“프로젝트 X 일일 리포트를 보내줘” — 스케줄·트리거 에이전트</a:t>
            </a:r>
            <a:endParaRPr lang="en-US" sz="1200" dirty="0"/>
          </a:p>
        </p:txBody>
      </p:sp>
      <p:sp>
        <p:nvSpPr>
          <p:cNvPr id="8" name="Text 6"/>
          <p:cNvSpPr/>
          <p:nvPr/>
        </p:nvSpPr>
        <p:spPr>
          <a:xfrm>
            <a:off x="1511300" y="2962870"/>
            <a:ext cx="3175000" cy="546100"/>
          </a:xfrm>
          <a:prstGeom prst="roundRect">
            <a:avLst>
              <a:gd name="adj" fmla="val 16279"/>
            </a:avLst>
          </a:prstGeom>
          <a:solidFill>
            <a:srgbClr val="2F5BB7"/>
          </a:solidFill>
          <a:ln/>
        </p:spPr>
        <p:txBody>
          <a:bodyPr wrap="square" lIns="70228" tIns="113662" rIns="70228" bIns="88262" rtlCol="0" anchor="t">
            <a:normAutofit/>
          </a:bodyPr>
          <a:lstStyle/>
          <a:p>
            <a:pPr algn="ctr" indent="0" marL="0">
              <a:lnSpc>
                <a:spcPts val="2100"/>
              </a:lnSpc>
              <a:buNone/>
            </a:pPr>
            <a:r>
              <a:rPr lang="en-US" sz="1500" b="1" dirty="0">
                <a:solidFill>
                  <a:srgbClr val="F4F3EE"/>
                </a:solidFill>
                <a:latin typeface="IBM Plex Sans KR" pitchFamily="34" charset="0"/>
                <a:ea typeface="IBM Plex Sans KR" pitchFamily="34" charset="-122"/>
                <a:cs typeface="IBM Plex Sans KR" pitchFamily="34" charset="-120"/>
              </a:rPr>
              <a:t>MCP Orchestrator</a:t>
            </a:r>
            <a:endParaRPr lang="en-US" sz="1500" dirty="0"/>
          </a:p>
        </p:txBody>
      </p:sp>
      <p:sp>
        <p:nvSpPr>
          <p:cNvPr id="9" name="Text 7"/>
          <p:cNvSpPr/>
          <p:nvPr/>
        </p:nvSpPr>
        <p:spPr>
          <a:xfrm>
            <a:off x="4787900" y="2962870"/>
            <a:ext cx="1549400" cy="546100"/>
          </a:xfrm>
          <a:prstGeom prst="roundRect">
            <a:avLst>
              <a:gd name="adj" fmla="val 16279"/>
            </a:avLst>
          </a:prstGeom>
          <a:solidFill>
            <a:srgbClr val="2F5BB7"/>
          </a:solidFill>
          <a:ln/>
        </p:spPr>
        <p:txBody>
          <a:bodyPr wrap="square" lIns="88262" tIns="113662" rIns="88262" bIns="88262" rtlCol="0" anchor="t">
            <a:normAutofit/>
          </a:bodyPr>
          <a:lstStyle/>
          <a:p>
            <a:pPr algn="ctr" indent="0" marL="0">
              <a:lnSpc>
                <a:spcPts val="2100"/>
              </a:lnSpc>
              <a:buNone/>
            </a:pPr>
            <a:r>
              <a:rPr lang="en-US" sz="1500" b="1" dirty="0">
                <a:solidFill>
                  <a:srgbClr val="F4F3EE"/>
                </a:solidFill>
                <a:latin typeface="IBM Plex Sans KR" pitchFamily="34" charset="0"/>
                <a:ea typeface="IBM Plex Sans KR" pitchFamily="34" charset="-122"/>
                <a:cs typeface="IBM Plex Sans KR" pitchFamily="34" charset="-120"/>
              </a:rPr>
              <a:t>RAG</a:t>
            </a:r>
            <a:endParaRPr lang="en-US" sz="1500" dirty="0"/>
          </a:p>
        </p:txBody>
      </p:sp>
      <p:sp>
        <p:nvSpPr>
          <p:cNvPr id="10" name="Text 8"/>
          <p:cNvSpPr/>
          <p:nvPr/>
        </p:nvSpPr>
        <p:spPr>
          <a:xfrm>
            <a:off x="6604000" y="3129260"/>
            <a:ext cx="49053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“n8n으로 만든 에이전트가 사내 데이터에 접근해야 해”</a:t>
            </a:r>
            <a:endParaRPr lang="en-US" sz="1200" dirty="0"/>
          </a:p>
        </p:txBody>
      </p:sp>
      <p:sp>
        <p:nvSpPr>
          <p:cNvPr id="11" name="Text 9"/>
          <p:cNvSpPr/>
          <p:nvPr/>
        </p:nvSpPr>
        <p:spPr>
          <a:xfrm>
            <a:off x="1130300" y="3610570"/>
            <a:ext cx="5207000" cy="546100"/>
          </a:xfrm>
          <a:prstGeom prst="roundRect">
            <a:avLst>
              <a:gd name="adj" fmla="val 16279"/>
            </a:avLst>
          </a:prstGeom>
          <a:solidFill>
            <a:srgbClr val="2F5BB7"/>
          </a:solidFill>
          <a:ln/>
        </p:spPr>
        <p:txBody>
          <a:bodyPr wrap="square" lIns="39748" tIns="113662" rIns="39748" bIns="88262" rtlCol="0" anchor="t">
            <a:normAutofit/>
          </a:bodyPr>
          <a:lstStyle/>
          <a:p>
            <a:pPr algn="ctr" indent="0" marL="0">
              <a:lnSpc>
                <a:spcPts val="2100"/>
              </a:lnSpc>
              <a:buNone/>
            </a:pPr>
            <a:r>
              <a:rPr lang="en-US" sz="1500" b="1" dirty="0">
                <a:solidFill>
                  <a:srgbClr val="F4F3EE"/>
                </a:solidFill>
                <a:latin typeface="IBM Plex Sans KR" pitchFamily="34" charset="0"/>
                <a:ea typeface="IBM Plex Sans KR" pitchFamily="34" charset="-122"/>
                <a:cs typeface="IBM Plex Sans KR" pitchFamily="34" charset="-120"/>
              </a:rPr>
              <a:t>LLM &amp; MCP Proxies (Gateways)</a:t>
            </a:r>
            <a:endParaRPr lang="en-US" sz="1500" dirty="0"/>
          </a:p>
        </p:txBody>
      </p:sp>
      <p:sp>
        <p:nvSpPr>
          <p:cNvPr id="12" name="Text 10"/>
          <p:cNvSpPr/>
          <p:nvPr/>
        </p:nvSpPr>
        <p:spPr>
          <a:xfrm>
            <a:off x="6604000" y="3776960"/>
            <a:ext cx="49053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“LangChain 에이전트를 프로덕션 수준으로 만들고 싶어”</a:t>
            </a:r>
            <a:endParaRPr lang="en-US" sz="1200" dirty="0"/>
          </a:p>
        </p:txBody>
      </p:sp>
      <p:sp>
        <p:nvSpPr>
          <p:cNvPr id="13" name="Text 11"/>
          <p:cNvSpPr/>
          <p:nvPr/>
        </p:nvSpPr>
        <p:spPr>
          <a:xfrm>
            <a:off x="812800" y="4258270"/>
            <a:ext cx="2743200" cy="540990"/>
          </a:xfrm>
          <a:prstGeom prst="roundRect">
            <a:avLst>
              <a:gd name="adj" fmla="val 16433"/>
            </a:avLst>
          </a:prstGeom>
          <a:solidFill>
            <a:srgbClr val="D9652B"/>
          </a:solidFill>
          <a:ln/>
        </p:spPr>
        <p:txBody>
          <a:bodyPr wrap="square" lIns="83246" tIns="120012" rIns="83246" bIns="94612" rtlCol="0" anchor="t">
            <a:normAutofit/>
          </a:bodyPr>
          <a:lstStyle/>
          <a:p>
            <a:pPr algn="ctr" indent="0" marL="0">
              <a:lnSpc>
                <a:spcPts val="1960"/>
              </a:lnSpc>
              <a:buNone/>
            </a:pPr>
            <a:r>
              <a:rPr lang="en-US" sz="1400" b="1" dirty="0">
                <a:solidFill>
                  <a:srgbClr val="131A2A"/>
                </a:solidFill>
                <a:latin typeface="IBM Plex Sans KR" pitchFamily="34" charset="0"/>
                <a:ea typeface="IBM Plex Sans KR" pitchFamily="34" charset="-122"/>
                <a:cs typeface="IBM Plex Sans KR" pitchFamily="34" charset="-120"/>
              </a:rPr>
              <a:t>Security &amp; Guardrails</a:t>
            </a:r>
            <a:endParaRPr lang="en-US" sz="1400" dirty="0"/>
          </a:p>
        </p:txBody>
      </p:sp>
      <p:sp>
        <p:nvSpPr>
          <p:cNvPr id="14" name="Text 12"/>
          <p:cNvSpPr/>
          <p:nvPr/>
        </p:nvSpPr>
        <p:spPr>
          <a:xfrm>
            <a:off x="3657600" y="4258270"/>
            <a:ext cx="2743200" cy="540990"/>
          </a:xfrm>
          <a:prstGeom prst="roundRect">
            <a:avLst>
              <a:gd name="adj" fmla="val 16433"/>
            </a:avLst>
          </a:prstGeom>
          <a:solidFill>
            <a:srgbClr val="D9652B"/>
          </a:solidFill>
          <a:ln/>
        </p:spPr>
        <p:txBody>
          <a:bodyPr wrap="square" lIns="83246" tIns="120012" rIns="83246" bIns="94612" rtlCol="0" anchor="t">
            <a:normAutofit/>
          </a:bodyPr>
          <a:lstStyle/>
          <a:p>
            <a:pPr algn="ctr" indent="0" marL="0">
              <a:lnSpc>
                <a:spcPts val="1960"/>
              </a:lnSpc>
              <a:buNone/>
            </a:pPr>
            <a:r>
              <a:rPr lang="en-US" sz="1400" b="1" dirty="0">
                <a:solidFill>
                  <a:srgbClr val="131A2A"/>
                </a:solidFill>
                <a:latin typeface="IBM Plex Sans KR" pitchFamily="34" charset="0"/>
                <a:ea typeface="IBM Plex Sans KR" pitchFamily="34" charset="-122"/>
                <a:cs typeface="IBM Plex Sans KR" pitchFamily="34" charset="-120"/>
              </a:rPr>
              <a:t>Observability &amp; Cost</a:t>
            </a:r>
            <a:endParaRPr lang="en-US" sz="1400" dirty="0"/>
          </a:p>
        </p:txBody>
      </p:sp>
      <p:sp>
        <p:nvSpPr>
          <p:cNvPr id="15" name="Text 13"/>
          <p:cNvSpPr/>
          <p:nvPr/>
        </p:nvSpPr>
        <p:spPr>
          <a:xfrm>
            <a:off x="6604000" y="4422080"/>
            <a:ext cx="49053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모든 계층이 공유하는 기반: 정책·인증·로그·비용</a:t>
            </a:r>
            <a:endParaRPr lang="en-US" sz="12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KR" pitchFamily="34" charset="0"/>
                <a:ea typeface="IBM Plex Sans KR" pitchFamily="34" charset="-122"/>
                <a:cs typeface="IBM Plex Sans KR" pitchFamily="34" charset="-120"/>
              </a:rPr>
              <a:t>Archestra 아키텍처 · 03 · 출처: docs/assets/platform-overview-architecture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3EE"/>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B8521E"/>
                </a:solidFill>
                <a:latin typeface="JetBrains Mono" pitchFamily="49" charset="0"/>
                <a:ea typeface="JetBrains Mono" pitchFamily="49" charset="-122"/>
                <a:cs typeface="JetBrains Mono" pitchFamily="49" charset="-120"/>
              </a:rPr>
              <a:t>03 · SYSTEM VIEW</a:t>
            </a:r>
            <a:endParaRPr lang="en-US" sz="1200" dirty="0"/>
          </a:p>
        </p:txBody>
      </p:sp>
      <p:sp>
        <p:nvSpPr>
          <p:cNvPr id="3" name="Text 1"/>
          <p:cNvSpPr/>
          <p:nvPr>
            <p:ph type="title"/>
          </p:nvPr>
        </p:nvSpPr>
        <p:spPr>
          <a:xfrm>
            <a:off x="812800" y="10007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1A2A"/>
                </a:solidFill>
                <a:latin typeface="IBM Plex Sans KR" pitchFamily="34" charset="0"/>
                <a:ea typeface="IBM Plex Sans KR" pitchFamily="34" charset="-122"/>
                <a:cs typeface="IBM Plex Sans KR" pitchFamily="34" charset="-120"/>
              </a:rPr>
              <a:t>전체 구성도</a:t>
            </a:r>
            <a:endParaRPr lang="en-US" sz="3000" dirty="0"/>
          </a:p>
        </p:txBody>
      </p:sp>
      <p:sp>
        <p:nvSpPr>
          <p:cNvPr id="4" name="Text 2"/>
          <p:cNvSpPr/>
          <p:nvPr/>
        </p:nvSpPr>
        <p:spPr>
          <a:xfrm>
            <a:off x="812800" y="1616670"/>
            <a:ext cx="22237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JetBrains Mono" pitchFamily="49" charset="0"/>
                <a:ea typeface="JetBrains Mono" pitchFamily="49" charset="-122"/>
                <a:cs typeface="JetBrains Mono" pitchFamily="49" charset="-120"/>
              </a:rPr>
              <a:t>CLIENTS</a:t>
            </a:r>
            <a:endParaRPr lang="en-US" sz="1200" dirty="0"/>
          </a:p>
        </p:txBody>
      </p:sp>
      <p:sp>
        <p:nvSpPr>
          <p:cNvPr id="5" name="Text 3"/>
          <p:cNvSpPr/>
          <p:nvPr/>
        </p:nvSpPr>
        <p:spPr>
          <a:xfrm>
            <a:off x="815975" y="1896666"/>
            <a:ext cx="2152650" cy="397470"/>
          </a:xfrm>
          <a:prstGeom prst="roundRect">
            <a:avLst>
              <a:gd name="adj" fmla="val 15177"/>
            </a:avLst>
          </a:prstGeom>
          <a:solidFill>
            <a:srgbClr val="FBFAF7"/>
          </a:solidFill>
          <a:ln w="6350">
            <a:solidFill>
              <a:srgbClr val="DCD9CF"/>
            </a:solidFill>
            <a:prstDash val="solid"/>
          </a:ln>
        </p:spPr>
        <p:txBody>
          <a:bodyPr wrap="square" lIns="99806" tIns="74406" rIns="42275" bIns="49006" rtlCol="0" anchor="t">
            <a:normAutofit/>
          </a:bodyPr>
          <a:lstStyle/>
          <a:p>
            <a:pPr algn="l"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웹 Chat UI</a:t>
            </a:r>
            <a:endParaRPr lang="en-US" sz="1200" dirty="0"/>
          </a:p>
        </p:txBody>
      </p:sp>
      <p:sp>
        <p:nvSpPr>
          <p:cNvPr id="6" name="Text 4"/>
          <p:cNvSpPr/>
          <p:nvPr/>
        </p:nvSpPr>
        <p:spPr>
          <a:xfrm>
            <a:off x="815975" y="2363986"/>
            <a:ext cx="2152650" cy="610791"/>
          </a:xfrm>
          <a:prstGeom prst="roundRect">
            <a:avLst>
              <a:gd name="adj" fmla="val 9877"/>
            </a:avLst>
          </a:prstGeom>
          <a:solidFill>
            <a:srgbClr val="FBFAF7"/>
          </a:solidFill>
          <a:ln w="6350">
            <a:solidFill>
              <a:srgbClr val="DCD9CF"/>
            </a:solidFill>
            <a:prstDash val="solid"/>
          </a:ln>
        </p:spPr>
        <p:txBody>
          <a:bodyPr wrap="square" lIns="99806" tIns="74406" rIns="42275" bIns="49006" rtlCol="0" anchor="t">
            <a:normAutofit/>
          </a:bodyPr>
          <a:lstStyle/>
          <a:p>
            <a:pPr algn="l"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Claude Code · Codex · Cursor</a:t>
            </a:r>
            <a:endParaRPr lang="en-US" sz="1200" dirty="0"/>
          </a:p>
        </p:txBody>
      </p:sp>
      <p:sp>
        <p:nvSpPr>
          <p:cNvPr id="7" name="Text 5"/>
          <p:cNvSpPr/>
          <p:nvPr/>
        </p:nvSpPr>
        <p:spPr>
          <a:xfrm>
            <a:off x="815975" y="3044627"/>
            <a:ext cx="2152650" cy="397470"/>
          </a:xfrm>
          <a:prstGeom prst="roundRect">
            <a:avLst>
              <a:gd name="adj" fmla="val 15177"/>
            </a:avLst>
          </a:prstGeom>
          <a:solidFill>
            <a:srgbClr val="FBFAF7"/>
          </a:solidFill>
          <a:ln w="6350">
            <a:solidFill>
              <a:srgbClr val="DCD9CF"/>
            </a:solidFill>
            <a:prstDash val="solid"/>
          </a:ln>
        </p:spPr>
        <p:txBody>
          <a:bodyPr wrap="square" lIns="99806" tIns="74406" rIns="42275" bIns="49006" rtlCol="0" anchor="t">
            <a:normAutofit/>
          </a:bodyPr>
          <a:lstStyle/>
          <a:p>
            <a:pPr algn="l"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사내 앱 · LangChain · n8n</a:t>
            </a:r>
            <a:endParaRPr lang="en-US" sz="1200" dirty="0"/>
          </a:p>
        </p:txBody>
      </p:sp>
      <p:sp>
        <p:nvSpPr>
          <p:cNvPr id="8" name="Text 6"/>
          <p:cNvSpPr/>
          <p:nvPr/>
        </p:nvSpPr>
        <p:spPr>
          <a:xfrm>
            <a:off x="815975" y="3511947"/>
            <a:ext cx="2152650" cy="610791"/>
          </a:xfrm>
          <a:prstGeom prst="roundRect">
            <a:avLst>
              <a:gd name="adj" fmla="val 9877"/>
            </a:avLst>
          </a:prstGeom>
          <a:solidFill>
            <a:srgbClr val="FBFAF7"/>
          </a:solidFill>
          <a:ln w="6350">
            <a:solidFill>
              <a:srgbClr val="DCD9CF"/>
            </a:solidFill>
            <a:prstDash val="solid"/>
          </a:ln>
        </p:spPr>
        <p:txBody>
          <a:bodyPr wrap="square" lIns="99806" tIns="74406" rIns="42275" bIns="49006" rtlCol="0" anchor="t">
            <a:normAutofit/>
          </a:bodyPr>
          <a:lstStyle/>
          <a:p>
            <a:pPr algn="l"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Slack · Teams · Email · Webhook</a:t>
            </a:r>
            <a:endParaRPr lang="en-US" sz="1200" dirty="0"/>
          </a:p>
        </p:txBody>
      </p:sp>
      <p:pic>
        <p:nvPicPr>
          <p:cNvPr id="9" name="Image 0" descr="arrow-right">    </p:cNvPr>
          <p:cNvPicPr>
            <a:picLocks noChangeAspect="1"/>
          </p:cNvPicPr>
          <p:nvPr/>
        </p:nvPicPr>
        <p:blipFill>
          <a:blip r:embed="rId1"/>
          <a:srcRect l="0" r="0" t="0" b="0"/>
          <a:stretch/>
        </p:blipFill>
        <p:spPr>
          <a:xfrm>
            <a:off x="3048000" y="2782391"/>
            <a:ext cx="292100" cy="177800"/>
          </a:xfrm>
          <a:prstGeom prst="rect">
            <a:avLst/>
          </a:prstGeom>
        </p:spPr>
      </p:pic>
      <p:sp>
        <p:nvSpPr>
          <p:cNvPr id="10" name="Shape 7"/>
          <p:cNvSpPr/>
          <p:nvPr/>
        </p:nvSpPr>
        <p:spPr>
          <a:xfrm>
            <a:off x="3416300" y="1664891"/>
            <a:ext cx="5461000" cy="2412802"/>
          </a:xfrm>
          <a:prstGeom prst="roundRect">
            <a:avLst>
              <a:gd name="adj" fmla="val 4737"/>
            </a:avLst>
          </a:prstGeom>
          <a:solidFill>
            <a:srgbClr val="131A2A"/>
          </a:solidFill>
          <a:ln/>
        </p:spPr>
      </p:sp>
      <p:sp>
        <p:nvSpPr>
          <p:cNvPr id="11" name="Text 8"/>
          <p:cNvSpPr/>
          <p:nvPr/>
        </p:nvSpPr>
        <p:spPr>
          <a:xfrm>
            <a:off x="3568700" y="1817291"/>
            <a:ext cx="5156200" cy="365720"/>
          </a:xfrm>
          <a:prstGeom prst="roundRect">
            <a:avLst>
              <a:gd name="adj" fmla="val 17363"/>
            </a:avLst>
          </a:prstGeom>
          <a:solidFill>
            <a:srgbClr val="26304A"/>
          </a:solidFill>
          <a:ln/>
        </p:spPr>
        <p:txBody>
          <a:bodyPr wrap="square" lIns="95701" tIns="57601" rIns="0" bIns="32201" rtlCol="0" anchor="t">
            <a:normAutofit/>
          </a:bodyPr>
          <a:lstStyle/>
          <a:p>
            <a:pPr algn="l" indent="0" marL="0">
              <a:lnSpc>
                <a:spcPts val="1680"/>
              </a:lnSpc>
              <a:buNone/>
            </a:pPr>
            <a:r>
              <a:rPr lang="en-US" sz="1200" dirty="0">
                <a:solidFill>
                  <a:srgbClr val="F4F3EE"/>
                </a:solidFill>
                <a:latin typeface="IBM Plex Sans KR" pitchFamily="34" charset="0"/>
                <a:ea typeface="IBM Plex Sans KR" pitchFamily="34" charset="-122"/>
                <a:cs typeface="IBM Plex Sans KR" pitchFamily="34" charset="-120"/>
              </a:rPr>
              <a:t>Frontend · Next.js 16 / React 19 </a:t>
            </a:r>
            <a:r>
              <a:rPr lang="en-US" sz="1200" dirty="0">
                <a:solidFill>
                  <a:srgbClr val="9AA3B5"/>
                </a:solidFill>
                <a:latin typeface="IBM Plex Sans KR" pitchFamily="34" charset="0"/>
                <a:ea typeface="IBM Plex Sans KR" pitchFamily="34" charset="-122"/>
                <a:cs typeface="IBM Plex Sans KR" pitchFamily="34" charset="-120"/>
              </a:rPr>
              <a:t>(:3000)</a:t>
            </a:r>
            <a:endParaRPr lang="en-US" sz="1200" dirty="0"/>
          </a:p>
        </p:txBody>
      </p:sp>
      <p:sp>
        <p:nvSpPr>
          <p:cNvPr id="12" name="Shape 9"/>
          <p:cNvSpPr/>
          <p:nvPr/>
        </p:nvSpPr>
        <p:spPr>
          <a:xfrm>
            <a:off x="3568700" y="2259211"/>
            <a:ext cx="5156200" cy="1224161"/>
          </a:xfrm>
          <a:prstGeom prst="roundRect">
            <a:avLst>
              <a:gd name="adj" fmla="val 5187"/>
            </a:avLst>
          </a:prstGeom>
          <a:solidFill>
            <a:srgbClr val="26304A"/>
          </a:solidFill>
          <a:ln/>
        </p:spPr>
      </p:sp>
      <p:sp>
        <p:nvSpPr>
          <p:cNvPr id="13" name="Text 10"/>
          <p:cNvSpPr/>
          <p:nvPr/>
        </p:nvSpPr>
        <p:spPr>
          <a:xfrm>
            <a:off x="3670300" y="2360811"/>
            <a:ext cx="51015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F3EE"/>
                </a:solidFill>
                <a:latin typeface="IBM Plex Sans KR" pitchFamily="34" charset="0"/>
                <a:ea typeface="IBM Plex Sans KR" pitchFamily="34" charset="-122"/>
                <a:cs typeface="IBM Plex Sans KR" pitchFamily="34" charset="-120"/>
              </a:rPr>
              <a:t>Backend · Fastify 5 </a:t>
            </a:r>
            <a:r>
              <a:rPr lang="en-US" sz="1200" dirty="0">
                <a:solidFill>
                  <a:srgbClr val="9AA3B5"/>
                </a:solidFill>
                <a:latin typeface="IBM Plex Sans KR" pitchFamily="34" charset="0"/>
                <a:ea typeface="IBM Plex Sans KR" pitchFamily="34" charset="-122"/>
                <a:cs typeface="IBM Plex Sans KR" pitchFamily="34" charset="-120"/>
              </a:rPr>
              <a:t>(:9000, 메트릭 :9050)</a:t>
            </a:r>
            <a:endParaRPr lang="en-US" sz="1200" dirty="0"/>
          </a:p>
        </p:txBody>
      </p:sp>
      <p:sp>
        <p:nvSpPr>
          <p:cNvPr id="14" name="Text 11"/>
          <p:cNvSpPr/>
          <p:nvPr/>
        </p:nvSpPr>
        <p:spPr>
          <a:xfrm>
            <a:off x="3670300" y="2637631"/>
            <a:ext cx="1608634" cy="340320"/>
          </a:xfrm>
          <a:prstGeom prst="roundRect">
            <a:avLst>
              <a:gd name="adj" fmla="val 14927"/>
            </a:avLst>
          </a:prstGeom>
          <a:solidFill>
            <a:srgbClr val="F08A4B"/>
          </a:solidFill>
          <a:ln/>
        </p:spPr>
        <p:txBody>
          <a:bodyPr wrap="square" lIns="74021" tIns="48621" rIns="23221" bIns="23221" rtlCol="0" anchor="t">
            <a:normAutofit/>
          </a:bodyPr>
          <a:lstStyle/>
          <a:p>
            <a:pPr algn="l"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LLM Proxy</a:t>
            </a:r>
            <a:endParaRPr lang="en-US" sz="1200" dirty="0"/>
          </a:p>
        </p:txBody>
      </p:sp>
      <p:sp>
        <p:nvSpPr>
          <p:cNvPr id="15" name="Text 12"/>
          <p:cNvSpPr/>
          <p:nvPr/>
        </p:nvSpPr>
        <p:spPr>
          <a:xfrm>
            <a:off x="5342434" y="2637631"/>
            <a:ext cx="1608683" cy="340320"/>
          </a:xfrm>
          <a:prstGeom prst="roundRect">
            <a:avLst>
              <a:gd name="adj" fmla="val 14927"/>
            </a:avLst>
          </a:prstGeom>
          <a:solidFill>
            <a:srgbClr val="F08A4B"/>
          </a:solidFill>
          <a:ln/>
        </p:spPr>
        <p:txBody>
          <a:bodyPr wrap="square" lIns="74021" tIns="48621" rIns="23221" bIns="23221" rtlCol="0" anchor="t">
            <a:normAutofit/>
          </a:bodyPr>
          <a:lstStyle/>
          <a:p>
            <a:pPr algn="l"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MCP Gateway</a:t>
            </a:r>
            <a:endParaRPr lang="en-US" sz="1200" dirty="0"/>
          </a:p>
        </p:txBody>
      </p:sp>
      <p:sp>
        <p:nvSpPr>
          <p:cNvPr id="16" name="Text 13"/>
          <p:cNvSpPr/>
          <p:nvPr/>
        </p:nvSpPr>
        <p:spPr>
          <a:xfrm>
            <a:off x="7014617" y="2637631"/>
            <a:ext cx="1608634" cy="340320"/>
          </a:xfrm>
          <a:prstGeom prst="roundRect">
            <a:avLst>
              <a:gd name="adj" fmla="val 14927"/>
            </a:avLst>
          </a:prstGeom>
          <a:solidFill>
            <a:srgbClr val="F08A4B"/>
          </a:solidFill>
          <a:ln/>
        </p:spPr>
        <p:txBody>
          <a:bodyPr wrap="square" lIns="74021" tIns="48621" rIns="23221" bIns="23221" rtlCol="0" anchor="t">
            <a:normAutofit/>
          </a:bodyPr>
          <a:lstStyle/>
          <a:p>
            <a:pPr algn="l"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A2A Gateway</a:t>
            </a:r>
            <a:endParaRPr lang="en-US" sz="1200" dirty="0"/>
          </a:p>
        </p:txBody>
      </p:sp>
      <p:sp>
        <p:nvSpPr>
          <p:cNvPr id="17" name="Text 14"/>
          <p:cNvSpPr/>
          <p:nvPr/>
        </p:nvSpPr>
        <p:spPr>
          <a:xfrm>
            <a:off x="3670300" y="3041452"/>
            <a:ext cx="1608634" cy="340320"/>
          </a:xfrm>
          <a:prstGeom prst="roundRect">
            <a:avLst>
              <a:gd name="adj" fmla="val 14927"/>
            </a:avLst>
          </a:prstGeom>
          <a:solidFill>
            <a:srgbClr val="9DB8F0"/>
          </a:solidFill>
          <a:ln/>
        </p:spPr>
        <p:txBody>
          <a:bodyPr wrap="square" lIns="74021" tIns="48621" rIns="23221" bIns="23221" rtlCol="0" anchor="t">
            <a:normAutofit/>
          </a:bodyPr>
          <a:lstStyle/>
          <a:p>
            <a:pPr algn="l"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Agent 엔진</a:t>
            </a:r>
            <a:endParaRPr lang="en-US" sz="1200" dirty="0"/>
          </a:p>
        </p:txBody>
      </p:sp>
      <p:sp>
        <p:nvSpPr>
          <p:cNvPr id="18" name="Text 15"/>
          <p:cNvSpPr/>
          <p:nvPr/>
        </p:nvSpPr>
        <p:spPr>
          <a:xfrm>
            <a:off x="5342434" y="3041452"/>
            <a:ext cx="1608683" cy="340320"/>
          </a:xfrm>
          <a:prstGeom prst="roundRect">
            <a:avLst>
              <a:gd name="adj" fmla="val 14927"/>
            </a:avLst>
          </a:prstGeom>
          <a:solidFill>
            <a:srgbClr val="9DB8F0"/>
          </a:solidFill>
          <a:ln/>
        </p:spPr>
        <p:txBody>
          <a:bodyPr wrap="square" lIns="74021" tIns="48621" rIns="23221" bIns="23221" rtlCol="0" anchor="t">
            <a:normAutofit/>
          </a:bodyPr>
          <a:lstStyle/>
          <a:p>
            <a:pPr algn="l"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Knowledge Base</a:t>
            </a:r>
            <a:endParaRPr lang="en-US" sz="1200" dirty="0"/>
          </a:p>
        </p:txBody>
      </p:sp>
      <p:sp>
        <p:nvSpPr>
          <p:cNvPr id="19" name="Text 16"/>
          <p:cNvSpPr/>
          <p:nvPr/>
        </p:nvSpPr>
        <p:spPr>
          <a:xfrm>
            <a:off x="7014617" y="3041452"/>
            <a:ext cx="1608634" cy="340320"/>
          </a:xfrm>
          <a:prstGeom prst="roundRect">
            <a:avLst>
              <a:gd name="adj" fmla="val 14927"/>
            </a:avLst>
          </a:prstGeom>
          <a:solidFill>
            <a:srgbClr val="9DB8F0"/>
          </a:solidFill>
          <a:ln/>
        </p:spPr>
        <p:txBody>
          <a:bodyPr wrap="square" lIns="74021" tIns="48621" rIns="23221" bIns="23221" rtlCol="0" anchor="t">
            <a:normAutofit/>
          </a:bodyPr>
          <a:lstStyle/>
          <a:p>
            <a:pPr algn="l"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Auth · RBAC</a:t>
            </a:r>
            <a:endParaRPr lang="en-US" sz="1200" dirty="0"/>
          </a:p>
        </p:txBody>
      </p:sp>
      <p:sp>
        <p:nvSpPr>
          <p:cNvPr id="20" name="Text 17"/>
          <p:cNvSpPr/>
          <p:nvPr/>
        </p:nvSpPr>
        <p:spPr>
          <a:xfrm>
            <a:off x="3568700" y="3559572"/>
            <a:ext cx="5156200" cy="365720"/>
          </a:xfrm>
          <a:prstGeom prst="roundRect">
            <a:avLst>
              <a:gd name="adj" fmla="val 17363"/>
            </a:avLst>
          </a:prstGeom>
          <a:solidFill>
            <a:srgbClr val="26304A"/>
          </a:solidFill>
          <a:ln/>
        </p:spPr>
        <p:txBody>
          <a:bodyPr wrap="square" lIns="95701" tIns="57601" rIns="0" bIns="32201" rtlCol="0" anchor="t">
            <a:normAutofit/>
          </a:bodyPr>
          <a:lstStyle/>
          <a:p>
            <a:pPr algn="l" indent="0" marL="0">
              <a:lnSpc>
                <a:spcPts val="1680"/>
              </a:lnSpc>
              <a:buNone/>
            </a:pPr>
            <a:r>
              <a:rPr lang="en-US" sz="1200" dirty="0">
                <a:solidFill>
                  <a:srgbClr val="F4F3EE"/>
                </a:solidFill>
                <a:latin typeface="IBM Plex Sans KR" pitchFamily="34" charset="0"/>
                <a:ea typeface="IBM Plex Sans KR" pitchFamily="34" charset="-122"/>
                <a:cs typeface="IBM Plex Sans KR" pitchFamily="34" charset="-120"/>
              </a:rPr>
              <a:t>Worker · Postgres 태스크 큐 (동기화·임베딩·스케줄)</a:t>
            </a:r>
            <a:endParaRPr lang="en-US" sz="1200" dirty="0"/>
          </a:p>
        </p:txBody>
      </p:sp>
      <p:pic>
        <p:nvPicPr>
          <p:cNvPr id="21" name="Image 1" descr="arrow-right">    </p:cNvPr>
          <p:cNvPicPr>
            <a:picLocks noChangeAspect="1"/>
          </p:cNvPicPr>
          <p:nvPr/>
        </p:nvPicPr>
        <p:blipFill>
          <a:blip r:embed="rId2"/>
          <a:srcRect l="0" r="0" t="0" b="0"/>
          <a:stretch/>
        </p:blipFill>
        <p:spPr>
          <a:xfrm>
            <a:off x="8953500" y="2782391"/>
            <a:ext cx="292100" cy="177800"/>
          </a:xfrm>
          <a:prstGeom prst="rect">
            <a:avLst/>
          </a:prstGeom>
        </p:spPr>
      </p:pic>
      <p:sp>
        <p:nvSpPr>
          <p:cNvPr id="22" name="Text 18"/>
          <p:cNvSpPr/>
          <p:nvPr/>
        </p:nvSpPr>
        <p:spPr>
          <a:xfrm>
            <a:off x="9321800" y="1743670"/>
            <a:ext cx="21191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JetBrains Mono" pitchFamily="49" charset="0"/>
                <a:ea typeface="JetBrains Mono" pitchFamily="49" charset="-122"/>
                <a:cs typeface="JetBrains Mono" pitchFamily="49" charset="-120"/>
              </a:rPr>
              <a:t>UPSTREAM</a:t>
            </a:r>
            <a:endParaRPr lang="en-US" sz="1200" dirty="0"/>
          </a:p>
        </p:txBody>
      </p:sp>
      <p:sp>
        <p:nvSpPr>
          <p:cNvPr id="23" name="Text 19"/>
          <p:cNvSpPr/>
          <p:nvPr/>
        </p:nvSpPr>
        <p:spPr>
          <a:xfrm>
            <a:off x="9324975" y="2023666"/>
            <a:ext cx="2051050" cy="824111"/>
          </a:xfrm>
          <a:prstGeom prst="roundRect">
            <a:avLst>
              <a:gd name="adj" fmla="val 7320"/>
            </a:avLst>
          </a:prstGeom>
          <a:solidFill>
            <a:srgbClr val="FBFAF7"/>
          </a:solidFill>
          <a:ln w="6350">
            <a:solidFill>
              <a:srgbClr val="DCD9CF"/>
            </a:solidFill>
            <a:prstDash val="solid"/>
          </a:ln>
        </p:spPr>
        <p:txBody>
          <a:bodyPr wrap="square" lIns="99806" tIns="74406" rIns="45323" bIns="49006" rtlCol="0" anchor="t">
            <a:normAutofit/>
          </a:bodyPr>
          <a:lstStyle/>
          <a:p>
            <a:pPr algn="l"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LLM: Anthropic · OpenAI · Azure · Bedrock · Gemini · Ollama</a:t>
            </a:r>
            <a:endParaRPr lang="en-US" sz="1200" dirty="0"/>
          </a:p>
        </p:txBody>
      </p:sp>
      <p:sp>
        <p:nvSpPr>
          <p:cNvPr id="24" name="Text 20"/>
          <p:cNvSpPr/>
          <p:nvPr/>
        </p:nvSpPr>
        <p:spPr>
          <a:xfrm>
            <a:off x="9324975" y="2917627"/>
            <a:ext cx="2051050" cy="397470"/>
          </a:xfrm>
          <a:prstGeom prst="roundRect">
            <a:avLst>
              <a:gd name="adj" fmla="val 15177"/>
            </a:avLst>
          </a:prstGeom>
          <a:solidFill>
            <a:srgbClr val="FBFAF7"/>
          </a:solidFill>
          <a:ln w="6350">
            <a:solidFill>
              <a:srgbClr val="DCD9CF"/>
            </a:solidFill>
            <a:prstDash val="solid"/>
          </a:ln>
        </p:spPr>
        <p:txBody>
          <a:bodyPr wrap="square" lIns="99806" tIns="74406" rIns="45323" bIns="49006" rtlCol="0" anchor="t">
            <a:normAutofit/>
          </a:bodyPr>
          <a:lstStyle/>
          <a:p>
            <a:pPr algn="l"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원격 MCP 서버</a:t>
            </a:r>
            <a:endParaRPr lang="en-US" sz="1200" dirty="0"/>
          </a:p>
        </p:txBody>
      </p:sp>
      <p:sp>
        <p:nvSpPr>
          <p:cNvPr id="25" name="Text 21"/>
          <p:cNvSpPr/>
          <p:nvPr/>
        </p:nvSpPr>
        <p:spPr>
          <a:xfrm>
            <a:off x="9324975" y="3384947"/>
            <a:ext cx="2051050" cy="610791"/>
          </a:xfrm>
          <a:prstGeom prst="roundRect">
            <a:avLst>
              <a:gd name="adj" fmla="val 9877"/>
            </a:avLst>
          </a:prstGeom>
          <a:solidFill>
            <a:srgbClr val="FBFAF7"/>
          </a:solidFill>
          <a:ln w="6350">
            <a:solidFill>
              <a:srgbClr val="DCD9CF"/>
            </a:solidFill>
            <a:prstDash val="solid"/>
          </a:ln>
        </p:spPr>
        <p:txBody>
          <a:bodyPr wrap="square" lIns="99806" tIns="74406" rIns="45323" bIns="49006" rtlCol="0" anchor="t">
            <a:normAutofit/>
          </a:bodyPr>
          <a:lstStyle/>
          <a:p>
            <a:pPr algn="l"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지식 소스: Confluence · Jira · SharePoint …</a:t>
            </a:r>
            <a:endParaRPr lang="en-US" sz="1200" dirty="0"/>
          </a:p>
        </p:txBody>
      </p:sp>
      <p:sp>
        <p:nvSpPr>
          <p:cNvPr id="26" name="Text 22"/>
          <p:cNvSpPr/>
          <p:nvPr/>
        </p:nvSpPr>
        <p:spPr>
          <a:xfrm>
            <a:off x="812800" y="4303713"/>
            <a:ext cx="2565400" cy="589260"/>
          </a:xfrm>
          <a:prstGeom prst="roundRect">
            <a:avLst>
              <a:gd name="adj" fmla="val 10776"/>
            </a:avLst>
          </a:prstGeom>
          <a:solidFill>
            <a:srgbClr val="E6E3DA"/>
          </a:solidFill>
          <a:ln/>
        </p:spPr>
        <p:txBody>
          <a:bodyPr wrap="square" lIns="95701" tIns="70301" rIns="25597" bIns="44901" rtlCol="0" anchor="t">
            <a:normAutofit/>
          </a:bodyPr>
          <a:lstStyle/>
          <a:p>
            <a:pPr algn="l" indent="0" marL="0">
              <a:lnSpc>
                <a:spcPts val="1620"/>
              </a:lnSpc>
              <a:buNone/>
            </a:pPr>
            <a:r>
              <a:rPr lang="en-US" sz="1200" b="1" dirty="0">
                <a:solidFill>
                  <a:srgbClr val="131A2A"/>
                </a:solidFill>
                <a:latin typeface="IBM Plex Sans KR" pitchFamily="34" charset="0"/>
                <a:ea typeface="IBM Plex Sans KR" pitchFamily="34" charset="-122"/>
                <a:cs typeface="IBM Plex Sans KR" pitchFamily="34" charset="-120"/>
              </a:rPr>
              <a:t>PostgreSQL</a:t>
            </a:r>
            <a:endParaRPr lang="en-US" sz="1200" dirty="0"/>
          </a:p>
          <a:p>
            <a:pPr algn="l" indent="0" marL="0">
              <a:lnSpc>
                <a:spcPts val="1620"/>
              </a:lnSpc>
              <a:buNone/>
            </a:pPr>
            <a:r>
              <a:rPr lang="en-US" sz="1200" dirty="0">
                <a:solidFill>
                  <a:srgbClr val="131A2A"/>
                </a:solidFill>
                <a:latin typeface="IBM Plex Sans KR" pitchFamily="34" charset="0"/>
                <a:ea typeface="IBM Plex Sans KR" pitchFamily="34" charset="-122"/>
                <a:cs typeface="IBM Plex Sans KR" pitchFamily="34" charset="-120"/>
              </a:rPr>
              <a:t>Drizzle · pgvector</a:t>
            </a:r>
            <a:endParaRPr lang="en-US" sz="1200" dirty="0"/>
          </a:p>
        </p:txBody>
      </p:sp>
      <p:sp>
        <p:nvSpPr>
          <p:cNvPr id="27" name="Text 23"/>
          <p:cNvSpPr/>
          <p:nvPr/>
        </p:nvSpPr>
        <p:spPr>
          <a:xfrm>
            <a:off x="3479800" y="4303713"/>
            <a:ext cx="2565400" cy="589260"/>
          </a:xfrm>
          <a:prstGeom prst="roundRect">
            <a:avLst>
              <a:gd name="adj" fmla="val 10776"/>
            </a:avLst>
          </a:prstGeom>
          <a:solidFill>
            <a:srgbClr val="E6E3DA"/>
          </a:solidFill>
          <a:ln/>
        </p:spPr>
        <p:txBody>
          <a:bodyPr wrap="square" lIns="95701" tIns="70301" rIns="25597" bIns="44901" rtlCol="0" anchor="t">
            <a:normAutofit/>
          </a:bodyPr>
          <a:lstStyle/>
          <a:p>
            <a:pPr algn="l" indent="0" marL="0">
              <a:lnSpc>
                <a:spcPts val="1620"/>
              </a:lnSpc>
              <a:buNone/>
            </a:pPr>
            <a:r>
              <a:rPr lang="en-US" sz="1200" b="1" dirty="0">
                <a:solidFill>
                  <a:srgbClr val="131A2A"/>
                </a:solidFill>
                <a:latin typeface="IBM Plex Sans KR" pitchFamily="34" charset="0"/>
                <a:ea typeface="IBM Plex Sans KR" pitchFamily="34" charset="-122"/>
                <a:cs typeface="IBM Plex Sans KR" pitchFamily="34" charset="-120"/>
              </a:rPr>
              <a:t>Kubernetes</a:t>
            </a:r>
            <a:endParaRPr lang="en-US" sz="1200" dirty="0"/>
          </a:p>
          <a:p>
            <a:pPr algn="l" indent="0" marL="0">
              <a:lnSpc>
                <a:spcPts val="1620"/>
              </a:lnSpc>
              <a:buNone/>
            </a:pPr>
            <a:r>
              <a:rPr lang="en-US" sz="1200" dirty="0">
                <a:solidFill>
                  <a:srgbClr val="131A2A"/>
                </a:solidFill>
                <a:latin typeface="IBM Plex Sans KR" pitchFamily="34" charset="0"/>
                <a:ea typeface="IBM Plex Sans KR" pitchFamily="34" charset="-122"/>
                <a:cs typeface="IBM Plex Sans KR" pitchFamily="34" charset="-120"/>
              </a:rPr>
              <a:t>MCP 서버 파드 · Agent Sandbox</a:t>
            </a:r>
            <a:endParaRPr lang="en-US" sz="1200" dirty="0"/>
          </a:p>
        </p:txBody>
      </p:sp>
      <p:sp>
        <p:nvSpPr>
          <p:cNvPr id="28" name="Text 24"/>
          <p:cNvSpPr/>
          <p:nvPr/>
        </p:nvSpPr>
        <p:spPr>
          <a:xfrm>
            <a:off x="6146800" y="4303713"/>
            <a:ext cx="2565400" cy="589260"/>
          </a:xfrm>
          <a:prstGeom prst="roundRect">
            <a:avLst>
              <a:gd name="adj" fmla="val 10776"/>
            </a:avLst>
          </a:prstGeom>
          <a:solidFill>
            <a:srgbClr val="E6E3DA"/>
          </a:solidFill>
          <a:ln/>
        </p:spPr>
        <p:txBody>
          <a:bodyPr wrap="square" lIns="95701" tIns="70301" rIns="25597" bIns="44901" rtlCol="0" anchor="t">
            <a:normAutofit/>
          </a:bodyPr>
          <a:lstStyle/>
          <a:p>
            <a:pPr algn="l" indent="0" marL="0">
              <a:lnSpc>
                <a:spcPts val="1620"/>
              </a:lnSpc>
              <a:buNone/>
            </a:pPr>
            <a:r>
              <a:rPr lang="en-US" sz="1200" b="1" dirty="0">
                <a:solidFill>
                  <a:srgbClr val="131A2A"/>
                </a:solidFill>
                <a:latin typeface="IBM Plex Sans KR" pitchFamily="34" charset="0"/>
                <a:ea typeface="IBM Plex Sans KR" pitchFamily="34" charset="-122"/>
                <a:cs typeface="IBM Plex Sans KR" pitchFamily="34" charset="-120"/>
              </a:rPr>
              <a:t>Rust NAPI 코어</a:t>
            </a:r>
            <a:endParaRPr lang="en-US" sz="1200" dirty="0"/>
          </a:p>
          <a:p>
            <a:pPr algn="l" indent="0" marL="0">
              <a:lnSpc>
                <a:spcPts val="1620"/>
              </a:lnSpc>
              <a:buNone/>
            </a:pPr>
            <a:r>
              <a:rPr lang="en-US" sz="1200" dirty="0">
                <a:solidFill>
                  <a:srgbClr val="131A2A"/>
                </a:solidFill>
                <a:latin typeface="IBM Plex Sans KR" pitchFamily="34" charset="0"/>
                <a:ea typeface="IBM Plex Sans KR" pitchFamily="34" charset="-122"/>
                <a:cs typeface="IBM Plex Sans KR" pitchFamily="34" charset="-120"/>
              </a:rPr>
              <a:t>OpenAPPA · Sandbox</a:t>
            </a:r>
            <a:endParaRPr lang="en-US" sz="1200" dirty="0"/>
          </a:p>
        </p:txBody>
      </p:sp>
      <p:sp>
        <p:nvSpPr>
          <p:cNvPr id="29" name="Text 25"/>
          <p:cNvSpPr/>
          <p:nvPr/>
        </p:nvSpPr>
        <p:spPr>
          <a:xfrm>
            <a:off x="8813800" y="4303713"/>
            <a:ext cx="2565400" cy="589260"/>
          </a:xfrm>
          <a:prstGeom prst="roundRect">
            <a:avLst>
              <a:gd name="adj" fmla="val 10776"/>
            </a:avLst>
          </a:prstGeom>
          <a:solidFill>
            <a:srgbClr val="E6E3DA"/>
          </a:solidFill>
          <a:ln/>
        </p:spPr>
        <p:txBody>
          <a:bodyPr wrap="square" lIns="95701" tIns="70301" rIns="25597" bIns="44901" rtlCol="0" anchor="t">
            <a:normAutofit/>
          </a:bodyPr>
          <a:lstStyle/>
          <a:p>
            <a:pPr algn="l" indent="0" marL="0">
              <a:lnSpc>
                <a:spcPts val="1620"/>
              </a:lnSpc>
              <a:buNone/>
            </a:pPr>
            <a:r>
              <a:rPr lang="en-US" sz="1200" b="1" dirty="0">
                <a:solidFill>
                  <a:srgbClr val="131A2A"/>
                </a:solidFill>
                <a:latin typeface="IBM Plex Sans KR" pitchFamily="34" charset="0"/>
                <a:ea typeface="IBM Plex Sans KR" pitchFamily="34" charset="-122"/>
                <a:cs typeface="IBM Plex Sans KR" pitchFamily="34" charset="-120"/>
              </a:rPr>
              <a:t>관측</a:t>
            </a:r>
            <a:endParaRPr lang="en-US" sz="1200" dirty="0"/>
          </a:p>
          <a:p>
            <a:pPr algn="l" indent="0" marL="0">
              <a:lnSpc>
                <a:spcPts val="1620"/>
              </a:lnSpc>
              <a:buNone/>
            </a:pPr>
            <a:r>
              <a:rPr lang="en-US" sz="1200" dirty="0">
                <a:solidFill>
                  <a:srgbClr val="131A2A"/>
                </a:solidFill>
                <a:latin typeface="IBM Plex Sans KR" pitchFamily="34" charset="0"/>
                <a:ea typeface="IBM Plex Sans KR" pitchFamily="34" charset="-122"/>
                <a:cs typeface="IBM Plex Sans KR" pitchFamily="34" charset="-120"/>
              </a:rPr>
              <a:t>OTel · Prometheus</a:t>
            </a:r>
            <a:endParaRPr lang="en-US" sz="1200" dirty="0"/>
          </a:p>
        </p:txBody>
      </p:sp>
      <p:sp>
        <p:nvSpPr>
          <p:cNvPr id="30" name="Text 2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KR" pitchFamily="34" charset="0"/>
                <a:ea typeface="IBM Plex Sans KR" pitchFamily="34" charset="-122"/>
                <a:cs typeface="IBM Plex Sans KR" pitchFamily="34" charset="-120"/>
              </a:rPr>
              <a:t>Archestra 아키텍처 · 04 · 출처: platform/AGENTS.md, backend/src, helm/archestra</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3EE"/>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B8521E"/>
                </a:solidFill>
                <a:latin typeface="JetBrains Mono" pitchFamily="49" charset="0"/>
                <a:ea typeface="JetBrains Mono" pitchFamily="49" charset="-122"/>
                <a:cs typeface="JetBrains Mono" pitchFamily="49" charset="-120"/>
              </a:rPr>
              <a:t>04 · TECH STACK</a:t>
            </a:r>
            <a:endParaRPr lang="en-US" sz="1200" dirty="0"/>
          </a:p>
        </p:txBody>
      </p:sp>
      <p:sp>
        <p:nvSpPr>
          <p:cNvPr id="3" name="Text 1"/>
          <p:cNvSpPr/>
          <p:nvPr>
            <p:ph type="title"/>
          </p:nvPr>
        </p:nvSpPr>
        <p:spPr>
          <a:xfrm>
            <a:off x="812800" y="10007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1A2A"/>
                </a:solidFill>
                <a:latin typeface="IBM Plex Sans KR" pitchFamily="34" charset="0"/>
                <a:ea typeface="IBM Plex Sans KR" pitchFamily="34" charset="-122"/>
                <a:cs typeface="IBM Plex Sans KR" pitchFamily="34" charset="-120"/>
              </a:rPr>
              <a:t>TypeScript 모노레포 + Rust 네이티브 코어</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80170"/>
          <a:ext cx="10553700" cy="3326805"/>
        </p:xfrm>
        <a:graphic>
          <a:graphicData uri="http://schemas.openxmlformats.org/drawingml/2006/table">
            <a:tbl>
              <a:tblPr/>
              <a:tblGrid>
                <a:gridCol w="1899666"/>
                <a:gridCol w="4643628"/>
                <a:gridCol w="4010406"/>
              </a:tblGrid>
              <a:tr h="332680">
                <a:tc>
                  <a:txBody>
                    <a:bodyPr/>
                    <a:lstStyle/>
                    <a:p>
                      <a:pPr indent="0" marL="0">
                        <a:lnSpc>
                          <a:spcPts val="1680"/>
                        </a:lnSpc>
                        <a:buNone/>
                      </a:pPr>
                      <a:r>
                        <a:rPr lang="en-US" sz="1200" b="1" dirty="0">
                          <a:solidFill>
                            <a:srgbClr val="F4F3EE"/>
                          </a:solidFill>
                          <a:latin typeface="IBM Plex Sans KR" pitchFamily="34" charset="0"/>
                          <a:ea typeface="IBM Plex Sans KR" pitchFamily="34" charset="-122"/>
                          <a:cs typeface="IBM Plex Sans KR" pitchFamily="34" charset="-120"/>
                        </a:rPr>
                        <a:t>영역</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3C2BE"/>
                      </a:solidFill>
                      <a:prstDash val="solid"/>
                      <a:round/>
                      <a:headEnd type="none" w="med" len="med"/>
                      <a:tailEnd type="none" w="med" len="med"/>
                    </a:lnL>
                    <a:lnR w="12700" cap="flat" cmpd="sng" algn="ctr">
                      <a:solidFill>
                        <a:srgbClr val="131925"/>
                      </a:solidFill>
                      <a:prstDash val="solid"/>
                      <a:round/>
                      <a:headEnd type="none" w="med" len="med"/>
                      <a:tailEnd type="none" w="med" len="med"/>
                    </a:lnR>
                    <a:lnT w="12700" cap="flat" cmpd="sng" algn="ctr">
                      <a:solidFill>
                        <a:srgbClr val="C3C2BE"/>
                      </a:solidFill>
                      <a:prstDash val="solid"/>
                      <a:round/>
                      <a:headEnd type="none" w="med" len="med"/>
                      <a:tailEnd type="none" w="med" len="med"/>
                    </a:lnT>
                    <a:lnB w="12700" cap="flat" cmpd="sng" algn="ctr">
                      <a:solidFill>
                        <a:srgbClr val="131925"/>
                      </a:solidFill>
                      <a:prstDash val="solid"/>
                      <a:round/>
                      <a:headEnd type="none" w="med" len="med"/>
                      <a:tailEnd type="none" w="med" len="med"/>
                    </a:lnB>
                    <a:solidFill>
                      <a:srgbClr val="131A2A"/>
                    </a:solidFill>
                  </a:tcPr>
                </a:tc>
                <a:tc>
                  <a:txBody>
                    <a:bodyPr/>
                    <a:lstStyle/>
                    <a:p>
                      <a:pPr indent="0" marL="0">
                        <a:lnSpc>
                          <a:spcPts val="1680"/>
                        </a:lnSpc>
                        <a:buNone/>
                      </a:pPr>
                      <a:r>
                        <a:rPr lang="en-US" sz="1200" b="1" dirty="0">
                          <a:solidFill>
                            <a:srgbClr val="F4F3EE"/>
                          </a:solidFill>
                          <a:latin typeface="IBM Plex Sans KR" pitchFamily="34" charset="0"/>
                          <a:ea typeface="IBM Plex Sans KR" pitchFamily="34" charset="-122"/>
                          <a:cs typeface="IBM Plex Sans KR" pitchFamily="34" charset="-120"/>
                        </a:rPr>
                        <a:t>기술</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131925"/>
                      </a:solidFill>
                      <a:prstDash val="solid"/>
                      <a:round/>
                      <a:headEnd type="none" w="med" len="med"/>
                      <a:tailEnd type="none" w="med" len="med"/>
                    </a:lnL>
                    <a:lnR w="12700" cap="flat" cmpd="sng" algn="ctr">
                      <a:solidFill>
                        <a:srgbClr val="131925"/>
                      </a:solidFill>
                      <a:prstDash val="solid"/>
                      <a:round/>
                      <a:headEnd type="none" w="med" len="med"/>
                      <a:tailEnd type="none" w="med" len="med"/>
                    </a:lnR>
                    <a:lnT w="12700" cap="flat" cmpd="sng" algn="ctr">
                      <a:solidFill>
                        <a:srgbClr val="C3C2BE"/>
                      </a:solidFill>
                      <a:prstDash val="solid"/>
                      <a:round/>
                      <a:headEnd type="none" w="med" len="med"/>
                      <a:tailEnd type="none" w="med" len="med"/>
                    </a:lnT>
                    <a:lnB w="12700" cap="flat" cmpd="sng" algn="ctr">
                      <a:solidFill>
                        <a:srgbClr val="131925"/>
                      </a:solidFill>
                      <a:prstDash val="solid"/>
                      <a:round/>
                      <a:headEnd type="none" w="med" len="med"/>
                      <a:tailEnd type="none" w="med" len="med"/>
                    </a:lnB>
                    <a:solidFill>
                      <a:srgbClr val="131A2A"/>
                    </a:solidFill>
                  </a:tcPr>
                </a:tc>
                <a:tc>
                  <a:txBody>
                    <a:bodyPr/>
                    <a:lstStyle/>
                    <a:p>
                      <a:pPr indent="0" marL="0">
                        <a:lnSpc>
                          <a:spcPts val="1680"/>
                        </a:lnSpc>
                        <a:buNone/>
                      </a:pPr>
                      <a:r>
                        <a:rPr lang="en-US" sz="1200" b="1" dirty="0">
                          <a:solidFill>
                            <a:srgbClr val="F4F3EE"/>
                          </a:solidFill>
                          <a:latin typeface="IBM Plex Sans KR" pitchFamily="34" charset="0"/>
                          <a:ea typeface="IBM Plex Sans KR" pitchFamily="34" charset="-122"/>
                          <a:cs typeface="IBM Plex Sans KR" pitchFamily="34" charset="-120"/>
                        </a:rPr>
                        <a:t>메모</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131925"/>
                      </a:solidFill>
                      <a:prstDash val="solid"/>
                      <a:round/>
                      <a:headEnd type="none" w="med" len="med"/>
                      <a:tailEnd type="none" w="med" len="med"/>
                    </a:lnL>
                    <a:lnR w="12700" cap="flat" cmpd="sng" algn="ctr">
                      <a:solidFill>
                        <a:srgbClr val="131925"/>
                      </a:solidFill>
                      <a:prstDash val="solid"/>
                      <a:round/>
                      <a:headEnd type="none" w="med" len="med"/>
                      <a:tailEnd type="none" w="med" len="med"/>
                    </a:lnR>
                    <a:lnT w="12700" cap="flat" cmpd="sng" algn="ctr">
                      <a:solidFill>
                        <a:srgbClr val="C3C2BE"/>
                      </a:solidFill>
                      <a:prstDash val="solid"/>
                      <a:round/>
                      <a:headEnd type="none" w="med" len="med"/>
                      <a:tailEnd type="none" w="med" len="med"/>
                    </a:lnT>
                    <a:lnB w="12700" cap="flat" cmpd="sng" algn="ctr">
                      <a:solidFill>
                        <a:srgbClr val="131925"/>
                      </a:solidFill>
                      <a:prstDash val="solid"/>
                      <a:round/>
                      <a:headEnd type="none" w="med" len="med"/>
                      <a:tailEnd type="none" w="med" len="med"/>
                    </a:lnB>
                    <a:solidFill>
                      <a:srgbClr val="131A2A"/>
                    </a:solidFill>
                  </a:tcPr>
                </a:tc>
              </a:tr>
              <a:tr h="332680">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Frontend</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3C2BE"/>
                      </a:solidFill>
                      <a:prstDash val="solid"/>
                      <a:round/>
                      <a:headEnd type="none" w="med" len="med"/>
                      <a:tailEnd type="none" w="med" len="med"/>
                    </a:lnL>
                    <a:lnR w="12700" cap="flat" cmpd="sng" algn="ctr">
                      <a:solidFill>
                        <a:srgbClr val="C3C2BE"/>
                      </a:solidFill>
                      <a:prstDash val="solid"/>
                      <a:round/>
                      <a:headEnd type="none" w="med" len="med"/>
                      <a:tailEnd type="none" w="med" len="med"/>
                    </a:lnR>
                    <a:lnT w="12700" cap="flat" cmpd="sng" algn="ctr">
                      <a:solidFill>
                        <a:srgbClr val="131925"/>
                      </a:solidFill>
                      <a:prstDash val="solid"/>
                      <a:round/>
                      <a:headEnd type="none" w="med" len="med"/>
                      <a:tailEnd type="none" w="med" len="med"/>
                    </a:lnT>
                    <a:lnB w="12700" cap="flat" cmpd="sng" algn="ctr">
                      <a:solidFill>
                        <a:srgbClr val="C3C2BE"/>
                      </a:solidFill>
                      <a:prstDash val="solid"/>
                      <a:round/>
                      <a:headEnd type="none" w="med" len="med"/>
                      <a:tailEnd type="none" w="med" len="med"/>
                    </a:lnB>
                  </a:tcPr>
                </a:tc>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Next.js 16, React 19, TanStack Query</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3C2BE"/>
                      </a:solidFill>
                      <a:prstDash val="solid"/>
                      <a:round/>
                      <a:headEnd type="none" w="med" len="med"/>
                      <a:tailEnd type="none" w="med" len="med"/>
                    </a:lnL>
                    <a:lnR w="12700" cap="flat" cmpd="sng" algn="ctr">
                      <a:solidFill>
                        <a:srgbClr val="C3C2BE"/>
                      </a:solidFill>
                      <a:prstDash val="solid"/>
                      <a:round/>
                      <a:headEnd type="none" w="med" len="med"/>
                      <a:tailEnd type="none" w="med" len="med"/>
                    </a:lnR>
                    <a:lnT w="12700" cap="flat" cmpd="sng" algn="ctr">
                      <a:solidFill>
                        <a:srgbClr val="131925"/>
                      </a:solidFill>
                      <a:prstDash val="solid"/>
                      <a:round/>
                      <a:headEnd type="none" w="med" len="med"/>
                      <a:tailEnd type="none" w="med" len="med"/>
                    </a:lnT>
                    <a:lnB w="12700" cap="flat" cmpd="sng" algn="ctr">
                      <a:solidFill>
                        <a:srgbClr val="C3C2BE"/>
                      </a:solidFill>
                      <a:prstDash val="solid"/>
                      <a:round/>
                      <a:headEnd type="none" w="med" len="med"/>
                      <a:tailEnd type="none" w="med" len="med"/>
                    </a:lnB>
                  </a:tcPr>
                </a:tc>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OpenAPI에서 생성한 API 클라이언트</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3C2BE"/>
                      </a:solidFill>
                      <a:prstDash val="solid"/>
                      <a:round/>
                      <a:headEnd type="none" w="med" len="med"/>
                      <a:tailEnd type="none" w="med" len="med"/>
                    </a:lnL>
                    <a:lnR w="12700" cap="flat" cmpd="sng" algn="ctr">
                      <a:solidFill>
                        <a:srgbClr val="C3C2BE"/>
                      </a:solidFill>
                      <a:prstDash val="solid"/>
                      <a:round/>
                      <a:headEnd type="none" w="med" len="med"/>
                      <a:tailEnd type="none" w="med" len="med"/>
                    </a:lnR>
                    <a:lnT w="12700" cap="flat" cmpd="sng" algn="ctr">
                      <a:solidFill>
                        <a:srgbClr val="131925"/>
                      </a:solidFill>
                      <a:prstDash val="solid"/>
                      <a:round/>
                      <a:headEnd type="none" w="med" len="med"/>
                      <a:tailEnd type="none" w="med" len="med"/>
                    </a:lnT>
                    <a:lnB w="12700" cap="flat" cmpd="sng" algn="ctr">
                      <a:solidFill>
                        <a:srgbClr val="C3C2BE"/>
                      </a:solidFill>
                      <a:prstDash val="solid"/>
                      <a:round/>
                      <a:headEnd type="none" w="med" len="med"/>
                      <a:tailEnd type="none" w="med" len="med"/>
                    </a:lnB>
                  </a:tcPr>
                </a:tc>
              </a:tr>
              <a:tr h="332680">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Backend</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3C2BE"/>
                      </a:solidFill>
                      <a:prstDash val="solid"/>
                      <a:round/>
                      <a:headEnd type="none" w="med" len="med"/>
                      <a:tailEnd type="none" w="med" len="med"/>
                    </a:lnL>
                    <a:lnR w="12700" cap="flat" cmpd="sng" algn="ctr">
                      <a:solidFill>
                        <a:srgbClr val="BCB9B3"/>
                      </a:solidFill>
                      <a:prstDash val="solid"/>
                      <a:round/>
                      <a:headEnd type="none" w="med" len="med"/>
                      <a:tailEnd type="none" w="med" len="med"/>
                    </a:lnR>
                    <a:lnT w="12700" cap="flat" cmpd="sng" algn="ctr">
                      <a:solidFill>
                        <a:srgbClr val="C3C2BE"/>
                      </a:solidFill>
                      <a:prstDash val="solid"/>
                      <a:round/>
                      <a:headEnd type="none" w="med" len="med"/>
                      <a:tailEnd type="none" w="med" len="med"/>
                    </a:lnT>
                    <a:lnB w="12700" cap="flat" cmpd="sng" algn="ctr">
                      <a:solidFill>
                        <a:srgbClr val="BCB9B3"/>
                      </a:solidFill>
                      <a:prstDash val="solid"/>
                      <a:round/>
                      <a:headEnd type="none" w="med" len="med"/>
                      <a:tailEnd type="none" w="med" len="med"/>
                    </a:lnB>
                    <a:solidFill>
                      <a:srgbClr val="EBE8E0"/>
                    </a:solidFill>
                  </a:tcPr>
                </a:tc>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Node.js, Fastify 5, Zod, OpenAPI</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BCB9B3"/>
                      </a:solidFill>
                      <a:prstDash val="solid"/>
                      <a:round/>
                      <a:headEnd type="none" w="med" len="med"/>
                      <a:tailEnd type="none" w="med" len="med"/>
                    </a:lnL>
                    <a:lnR w="12700" cap="flat" cmpd="sng" algn="ctr">
                      <a:solidFill>
                        <a:srgbClr val="BCB9B3"/>
                      </a:solidFill>
                      <a:prstDash val="solid"/>
                      <a:round/>
                      <a:headEnd type="none" w="med" len="med"/>
                      <a:tailEnd type="none" w="med" len="med"/>
                    </a:lnR>
                    <a:lnT w="12700" cap="flat" cmpd="sng" algn="ctr">
                      <a:solidFill>
                        <a:srgbClr val="C3C2BE"/>
                      </a:solidFill>
                      <a:prstDash val="solid"/>
                      <a:round/>
                      <a:headEnd type="none" w="med" len="med"/>
                      <a:tailEnd type="none" w="med" len="med"/>
                    </a:lnT>
                    <a:lnB w="12700" cap="flat" cmpd="sng" algn="ctr">
                      <a:solidFill>
                        <a:srgbClr val="BCB9B3"/>
                      </a:solidFill>
                      <a:prstDash val="solid"/>
                      <a:round/>
                      <a:headEnd type="none" w="med" len="med"/>
                      <a:tailEnd type="none" w="med" len="med"/>
                    </a:lnB>
                    <a:solidFill>
                      <a:srgbClr val="EBE8E0"/>
                    </a:solidFill>
                  </a:tcPr>
                </a:tc>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프록시·게이트웨이·API가 한 서버</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BCB9B3"/>
                      </a:solidFill>
                      <a:prstDash val="solid"/>
                      <a:round/>
                      <a:headEnd type="none" w="med" len="med"/>
                      <a:tailEnd type="none" w="med" len="med"/>
                    </a:lnL>
                    <a:lnR w="12700" cap="flat" cmpd="sng" algn="ctr">
                      <a:solidFill>
                        <a:srgbClr val="BCB9B3"/>
                      </a:solidFill>
                      <a:prstDash val="solid"/>
                      <a:round/>
                      <a:headEnd type="none" w="med" len="med"/>
                      <a:tailEnd type="none" w="med" len="med"/>
                    </a:lnR>
                    <a:lnT w="12700" cap="flat" cmpd="sng" algn="ctr">
                      <a:solidFill>
                        <a:srgbClr val="C3C2BE"/>
                      </a:solidFill>
                      <a:prstDash val="solid"/>
                      <a:round/>
                      <a:headEnd type="none" w="med" len="med"/>
                      <a:tailEnd type="none" w="med" len="med"/>
                    </a:lnT>
                    <a:lnB w="12700" cap="flat" cmpd="sng" algn="ctr">
                      <a:solidFill>
                        <a:srgbClr val="BCB9B3"/>
                      </a:solidFill>
                      <a:prstDash val="solid"/>
                      <a:round/>
                      <a:headEnd type="none" w="med" len="med"/>
                      <a:tailEnd type="none" w="med" len="med"/>
                    </a:lnB>
                    <a:solidFill>
                      <a:srgbClr val="EBE8E0"/>
                    </a:solidFill>
                  </a:tcPr>
                </a:tc>
              </a:tr>
              <a:tr h="332680">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AI / 프로토콜</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3C2BE"/>
                      </a:solidFill>
                      <a:prstDash val="solid"/>
                      <a:round/>
                      <a:headEnd type="none" w="med" len="med"/>
                      <a:tailEnd type="none" w="med" len="med"/>
                    </a:lnL>
                    <a:lnR w="12700" cap="flat" cmpd="sng" algn="ctr">
                      <a:solidFill>
                        <a:srgbClr val="C3C2BE"/>
                      </a:solidFill>
                      <a:prstDash val="solid"/>
                      <a:round/>
                      <a:headEnd type="none" w="med" len="med"/>
                      <a:tailEnd type="none" w="med" len="med"/>
                    </a:lnR>
                    <a:lnT w="12700" cap="flat" cmpd="sng" algn="ctr">
                      <a:solidFill>
                        <a:srgbClr val="BCB9B3"/>
                      </a:solidFill>
                      <a:prstDash val="solid"/>
                      <a:round/>
                      <a:headEnd type="none" w="med" len="med"/>
                      <a:tailEnd type="none" w="med" len="med"/>
                    </a:lnT>
                    <a:lnB w="12700" cap="flat" cmpd="sng" algn="ctr">
                      <a:solidFill>
                        <a:srgbClr val="C3C2BE"/>
                      </a:solidFill>
                      <a:prstDash val="solid"/>
                      <a:round/>
                      <a:headEnd type="none" w="med" len="med"/>
                      <a:tailEnd type="none" w="med" len="med"/>
                    </a:lnB>
                  </a:tcPr>
                </a:tc>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Vercel AI SDK, MCP TypeScript SDK, A2A</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3C2BE"/>
                      </a:solidFill>
                      <a:prstDash val="solid"/>
                      <a:round/>
                      <a:headEnd type="none" w="med" len="med"/>
                      <a:tailEnd type="none" w="med" len="med"/>
                    </a:lnL>
                    <a:lnR w="12700" cap="flat" cmpd="sng" algn="ctr">
                      <a:solidFill>
                        <a:srgbClr val="C3C2BE"/>
                      </a:solidFill>
                      <a:prstDash val="solid"/>
                      <a:round/>
                      <a:headEnd type="none" w="med" len="med"/>
                      <a:tailEnd type="none" w="med" len="med"/>
                    </a:lnR>
                    <a:lnT w="12700" cap="flat" cmpd="sng" algn="ctr">
                      <a:solidFill>
                        <a:srgbClr val="BCB9B3"/>
                      </a:solidFill>
                      <a:prstDash val="solid"/>
                      <a:round/>
                      <a:headEnd type="none" w="med" len="med"/>
                      <a:tailEnd type="none" w="med" len="med"/>
                    </a:lnT>
                    <a:lnB w="12700" cap="flat" cmpd="sng" algn="ctr">
                      <a:solidFill>
                        <a:srgbClr val="C3C2BE"/>
                      </a:solidFill>
                      <a:prstDash val="solid"/>
                      <a:round/>
                      <a:headEnd type="none" w="med" len="med"/>
                      <a:tailEnd type="none" w="med" len="med"/>
                    </a:lnB>
                  </a:tcPr>
                </a:tc>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프로바이더별 어댑터 + 모델 라우터</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3C2BE"/>
                      </a:solidFill>
                      <a:prstDash val="solid"/>
                      <a:round/>
                      <a:headEnd type="none" w="med" len="med"/>
                      <a:tailEnd type="none" w="med" len="med"/>
                    </a:lnL>
                    <a:lnR w="12700" cap="flat" cmpd="sng" algn="ctr">
                      <a:solidFill>
                        <a:srgbClr val="C3C2BE"/>
                      </a:solidFill>
                      <a:prstDash val="solid"/>
                      <a:round/>
                      <a:headEnd type="none" w="med" len="med"/>
                      <a:tailEnd type="none" w="med" len="med"/>
                    </a:lnR>
                    <a:lnT w="12700" cap="flat" cmpd="sng" algn="ctr">
                      <a:solidFill>
                        <a:srgbClr val="BCB9B3"/>
                      </a:solidFill>
                      <a:prstDash val="solid"/>
                      <a:round/>
                      <a:headEnd type="none" w="med" len="med"/>
                      <a:tailEnd type="none" w="med" len="med"/>
                    </a:lnT>
                    <a:lnB w="12700" cap="flat" cmpd="sng" algn="ctr">
                      <a:solidFill>
                        <a:srgbClr val="C3C2BE"/>
                      </a:solidFill>
                      <a:prstDash val="solid"/>
                      <a:round/>
                      <a:headEnd type="none" w="med" len="med"/>
                      <a:tailEnd type="none" w="med" len="med"/>
                    </a:lnB>
                  </a:tcPr>
                </a:tc>
              </a:tr>
              <a:tr h="332680">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인증</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3C2BE"/>
                      </a:solidFill>
                      <a:prstDash val="solid"/>
                      <a:round/>
                      <a:headEnd type="none" w="med" len="med"/>
                      <a:tailEnd type="none" w="med" len="med"/>
                    </a:lnL>
                    <a:lnR w="12700" cap="flat" cmpd="sng" algn="ctr">
                      <a:solidFill>
                        <a:srgbClr val="BCB9B3"/>
                      </a:solidFill>
                      <a:prstDash val="solid"/>
                      <a:round/>
                      <a:headEnd type="none" w="med" len="med"/>
                      <a:tailEnd type="none" w="med" len="med"/>
                    </a:lnR>
                    <a:lnT w="12700" cap="flat" cmpd="sng" algn="ctr">
                      <a:solidFill>
                        <a:srgbClr val="C3C2BE"/>
                      </a:solidFill>
                      <a:prstDash val="solid"/>
                      <a:round/>
                      <a:headEnd type="none" w="med" len="med"/>
                      <a:tailEnd type="none" w="med" len="med"/>
                    </a:lnT>
                    <a:lnB w="12700" cap="flat" cmpd="sng" algn="ctr">
                      <a:solidFill>
                        <a:srgbClr val="BCB9B3"/>
                      </a:solidFill>
                      <a:prstDash val="solid"/>
                      <a:round/>
                      <a:headEnd type="none" w="med" len="med"/>
                      <a:tailEnd type="none" w="med" len="med"/>
                    </a:lnB>
                    <a:solidFill>
                      <a:srgbClr val="EBE8E0"/>
                    </a:solidFill>
                  </a:tcPr>
                </a:tc>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Better Auth, OIDC·SAML, 2FA</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BCB9B3"/>
                      </a:solidFill>
                      <a:prstDash val="solid"/>
                      <a:round/>
                      <a:headEnd type="none" w="med" len="med"/>
                      <a:tailEnd type="none" w="med" len="med"/>
                    </a:lnL>
                    <a:lnR w="12700" cap="flat" cmpd="sng" algn="ctr">
                      <a:solidFill>
                        <a:srgbClr val="BCB9B3"/>
                      </a:solidFill>
                      <a:prstDash val="solid"/>
                      <a:round/>
                      <a:headEnd type="none" w="med" len="med"/>
                      <a:tailEnd type="none" w="med" len="med"/>
                    </a:lnR>
                    <a:lnT w="12700" cap="flat" cmpd="sng" algn="ctr">
                      <a:solidFill>
                        <a:srgbClr val="C3C2BE"/>
                      </a:solidFill>
                      <a:prstDash val="solid"/>
                      <a:round/>
                      <a:headEnd type="none" w="med" len="med"/>
                      <a:tailEnd type="none" w="med" len="med"/>
                    </a:lnT>
                    <a:lnB w="12700" cap="flat" cmpd="sng" algn="ctr">
                      <a:solidFill>
                        <a:srgbClr val="BCB9B3"/>
                      </a:solidFill>
                      <a:prstDash val="solid"/>
                      <a:round/>
                      <a:headEnd type="none" w="med" len="med"/>
                      <a:tailEnd type="none" w="med" len="med"/>
                    </a:lnB>
                    <a:solidFill>
                      <a:srgbClr val="EBE8E0"/>
                    </a:solidFill>
                  </a:tcPr>
                </a:tc>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Okta·Entra 팀 동기화</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BCB9B3"/>
                      </a:solidFill>
                      <a:prstDash val="solid"/>
                      <a:round/>
                      <a:headEnd type="none" w="med" len="med"/>
                      <a:tailEnd type="none" w="med" len="med"/>
                    </a:lnL>
                    <a:lnR w="12700" cap="flat" cmpd="sng" algn="ctr">
                      <a:solidFill>
                        <a:srgbClr val="BCB9B3"/>
                      </a:solidFill>
                      <a:prstDash val="solid"/>
                      <a:round/>
                      <a:headEnd type="none" w="med" len="med"/>
                      <a:tailEnd type="none" w="med" len="med"/>
                    </a:lnR>
                    <a:lnT w="12700" cap="flat" cmpd="sng" algn="ctr">
                      <a:solidFill>
                        <a:srgbClr val="C3C2BE"/>
                      </a:solidFill>
                      <a:prstDash val="solid"/>
                      <a:round/>
                      <a:headEnd type="none" w="med" len="med"/>
                      <a:tailEnd type="none" w="med" len="med"/>
                    </a:lnT>
                    <a:lnB w="12700" cap="flat" cmpd="sng" algn="ctr">
                      <a:solidFill>
                        <a:srgbClr val="BCB9B3"/>
                      </a:solidFill>
                      <a:prstDash val="solid"/>
                      <a:round/>
                      <a:headEnd type="none" w="med" len="med"/>
                      <a:tailEnd type="none" w="med" len="med"/>
                    </a:lnB>
                    <a:solidFill>
                      <a:srgbClr val="EBE8E0"/>
                    </a:solidFill>
                  </a:tcPr>
                </a:tc>
              </a:tr>
              <a:tr h="332680">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데이터</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3C2BE"/>
                      </a:solidFill>
                      <a:prstDash val="solid"/>
                      <a:round/>
                      <a:headEnd type="none" w="med" len="med"/>
                      <a:tailEnd type="none" w="med" len="med"/>
                    </a:lnL>
                    <a:lnR w="12700" cap="flat" cmpd="sng" algn="ctr">
                      <a:solidFill>
                        <a:srgbClr val="C3C2BE"/>
                      </a:solidFill>
                      <a:prstDash val="solid"/>
                      <a:round/>
                      <a:headEnd type="none" w="med" len="med"/>
                      <a:tailEnd type="none" w="med" len="med"/>
                    </a:lnR>
                    <a:lnT w="12700" cap="flat" cmpd="sng" algn="ctr">
                      <a:solidFill>
                        <a:srgbClr val="BCB9B3"/>
                      </a:solidFill>
                      <a:prstDash val="solid"/>
                      <a:round/>
                      <a:headEnd type="none" w="med" len="med"/>
                      <a:tailEnd type="none" w="med" len="med"/>
                    </a:lnT>
                    <a:lnB w="12700" cap="flat" cmpd="sng" algn="ctr">
                      <a:solidFill>
                        <a:srgbClr val="C3C2BE"/>
                      </a:solidFill>
                      <a:prstDash val="solid"/>
                      <a:round/>
                      <a:headEnd type="none" w="med" len="med"/>
                      <a:tailEnd type="none" w="med" len="med"/>
                    </a:lnB>
                  </a:tcPr>
                </a:tc>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PostgreSQL, Drizzle ORM, pgvector</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3C2BE"/>
                      </a:solidFill>
                      <a:prstDash val="solid"/>
                      <a:round/>
                      <a:headEnd type="none" w="med" len="med"/>
                      <a:tailEnd type="none" w="med" len="med"/>
                    </a:lnL>
                    <a:lnR w="12700" cap="flat" cmpd="sng" algn="ctr">
                      <a:solidFill>
                        <a:srgbClr val="C3C2BE"/>
                      </a:solidFill>
                      <a:prstDash val="solid"/>
                      <a:round/>
                      <a:headEnd type="none" w="med" len="med"/>
                      <a:tailEnd type="none" w="med" len="med"/>
                    </a:lnR>
                    <a:lnT w="12700" cap="flat" cmpd="sng" algn="ctr">
                      <a:solidFill>
                        <a:srgbClr val="BCB9B3"/>
                      </a:solidFill>
                      <a:prstDash val="solid"/>
                      <a:round/>
                      <a:headEnd type="none" w="med" len="med"/>
                      <a:tailEnd type="none" w="med" len="med"/>
                    </a:lnT>
                    <a:lnB w="12700" cap="flat" cmpd="sng" algn="ctr">
                      <a:solidFill>
                        <a:srgbClr val="C3C2BE"/>
                      </a:solidFill>
                      <a:prstDash val="solid"/>
                      <a:round/>
                      <a:headEnd type="none" w="med" len="med"/>
                      <a:tailEnd type="none" w="med" len="med"/>
                    </a:lnB>
                  </a:tcPr>
                </a:tc>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태스크 큐도 Postgres 테이블</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3C2BE"/>
                      </a:solidFill>
                      <a:prstDash val="solid"/>
                      <a:round/>
                      <a:headEnd type="none" w="med" len="med"/>
                      <a:tailEnd type="none" w="med" len="med"/>
                    </a:lnL>
                    <a:lnR w="12700" cap="flat" cmpd="sng" algn="ctr">
                      <a:solidFill>
                        <a:srgbClr val="C3C2BE"/>
                      </a:solidFill>
                      <a:prstDash val="solid"/>
                      <a:round/>
                      <a:headEnd type="none" w="med" len="med"/>
                      <a:tailEnd type="none" w="med" len="med"/>
                    </a:lnR>
                    <a:lnT w="12700" cap="flat" cmpd="sng" algn="ctr">
                      <a:solidFill>
                        <a:srgbClr val="BCB9B3"/>
                      </a:solidFill>
                      <a:prstDash val="solid"/>
                      <a:round/>
                      <a:headEnd type="none" w="med" len="med"/>
                      <a:tailEnd type="none" w="med" len="med"/>
                    </a:lnT>
                    <a:lnB w="12700" cap="flat" cmpd="sng" algn="ctr">
                      <a:solidFill>
                        <a:srgbClr val="C3C2BE"/>
                      </a:solidFill>
                      <a:prstDash val="solid"/>
                      <a:round/>
                      <a:headEnd type="none" w="med" len="med"/>
                      <a:tailEnd type="none" w="med" len="med"/>
                    </a:lnB>
                  </a:tcPr>
                </a:tc>
              </a:tr>
              <a:tr h="332680">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네이티브 코어</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3C2BE"/>
                      </a:solidFill>
                      <a:prstDash val="solid"/>
                      <a:round/>
                      <a:headEnd type="none" w="med" len="med"/>
                      <a:tailEnd type="none" w="med" len="med"/>
                    </a:lnL>
                    <a:lnR w="12700" cap="flat" cmpd="sng" algn="ctr">
                      <a:solidFill>
                        <a:srgbClr val="BCB9B3"/>
                      </a:solidFill>
                      <a:prstDash val="solid"/>
                      <a:round/>
                      <a:headEnd type="none" w="med" len="med"/>
                      <a:tailEnd type="none" w="med" len="med"/>
                    </a:lnR>
                    <a:lnT w="12700" cap="flat" cmpd="sng" algn="ctr">
                      <a:solidFill>
                        <a:srgbClr val="C3C2BE"/>
                      </a:solidFill>
                      <a:prstDash val="solid"/>
                      <a:round/>
                      <a:headEnd type="none" w="med" len="med"/>
                      <a:tailEnd type="none" w="med" len="med"/>
                    </a:lnT>
                    <a:lnB w="12700" cap="flat" cmpd="sng" algn="ctr">
                      <a:solidFill>
                        <a:srgbClr val="BCB9B3"/>
                      </a:solidFill>
                      <a:prstDash val="solid"/>
                      <a:round/>
                      <a:headEnd type="none" w="med" len="med"/>
                      <a:tailEnd type="none" w="med" len="med"/>
                    </a:lnB>
                    <a:solidFill>
                      <a:srgbClr val="EBE8E0"/>
                    </a:solidFill>
                  </a:tcPr>
                </a:tc>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Rust + NAPI-RS (archestra-rs)</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BCB9B3"/>
                      </a:solidFill>
                      <a:prstDash val="solid"/>
                      <a:round/>
                      <a:headEnd type="none" w="med" len="med"/>
                      <a:tailEnd type="none" w="med" len="med"/>
                    </a:lnL>
                    <a:lnR w="12700" cap="flat" cmpd="sng" algn="ctr">
                      <a:solidFill>
                        <a:srgbClr val="BCB9B3"/>
                      </a:solidFill>
                      <a:prstDash val="solid"/>
                      <a:round/>
                      <a:headEnd type="none" w="med" len="med"/>
                      <a:tailEnd type="none" w="med" len="med"/>
                    </a:lnR>
                    <a:lnT w="12700" cap="flat" cmpd="sng" algn="ctr">
                      <a:solidFill>
                        <a:srgbClr val="C3C2BE"/>
                      </a:solidFill>
                      <a:prstDash val="solid"/>
                      <a:round/>
                      <a:headEnd type="none" w="med" len="med"/>
                      <a:tailEnd type="none" w="med" len="med"/>
                    </a:lnT>
                    <a:lnB w="12700" cap="flat" cmpd="sng" algn="ctr">
                      <a:solidFill>
                        <a:srgbClr val="BCB9B3"/>
                      </a:solidFill>
                      <a:prstDash val="solid"/>
                      <a:round/>
                      <a:headEnd type="none" w="med" len="med"/>
                      <a:tailEnd type="none" w="med" len="med"/>
                    </a:lnB>
                    <a:solidFill>
                      <a:srgbClr val="EBE8E0"/>
                    </a:solidFill>
                  </a:tcPr>
                </a:tc>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OpenAPPA, 샌드박스, 앱 런타임, 이미지</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BCB9B3"/>
                      </a:solidFill>
                      <a:prstDash val="solid"/>
                      <a:round/>
                      <a:headEnd type="none" w="med" len="med"/>
                      <a:tailEnd type="none" w="med" len="med"/>
                    </a:lnL>
                    <a:lnR w="12700" cap="flat" cmpd="sng" algn="ctr">
                      <a:solidFill>
                        <a:srgbClr val="BCB9B3"/>
                      </a:solidFill>
                      <a:prstDash val="solid"/>
                      <a:round/>
                      <a:headEnd type="none" w="med" len="med"/>
                      <a:tailEnd type="none" w="med" len="med"/>
                    </a:lnR>
                    <a:lnT w="12700" cap="flat" cmpd="sng" algn="ctr">
                      <a:solidFill>
                        <a:srgbClr val="C3C2BE"/>
                      </a:solidFill>
                      <a:prstDash val="solid"/>
                      <a:round/>
                      <a:headEnd type="none" w="med" len="med"/>
                      <a:tailEnd type="none" w="med" len="med"/>
                    </a:lnT>
                    <a:lnB w="12700" cap="flat" cmpd="sng" algn="ctr">
                      <a:solidFill>
                        <a:srgbClr val="BCB9B3"/>
                      </a:solidFill>
                      <a:prstDash val="solid"/>
                      <a:round/>
                      <a:headEnd type="none" w="med" len="med"/>
                      <a:tailEnd type="none" w="med" len="med"/>
                    </a:lnB>
                    <a:solidFill>
                      <a:srgbClr val="EBE8E0"/>
                    </a:solidFill>
                  </a:tcPr>
                </a:tc>
              </a:tr>
              <a:tr h="332680">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오케스트레이션</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3C2BE"/>
                      </a:solidFill>
                      <a:prstDash val="solid"/>
                      <a:round/>
                      <a:headEnd type="none" w="med" len="med"/>
                      <a:tailEnd type="none" w="med" len="med"/>
                    </a:lnL>
                    <a:lnR w="12700" cap="flat" cmpd="sng" algn="ctr">
                      <a:solidFill>
                        <a:srgbClr val="C3C2BE"/>
                      </a:solidFill>
                      <a:prstDash val="solid"/>
                      <a:round/>
                      <a:headEnd type="none" w="med" len="med"/>
                      <a:tailEnd type="none" w="med" len="med"/>
                    </a:lnR>
                    <a:lnT w="12700" cap="flat" cmpd="sng" algn="ctr">
                      <a:solidFill>
                        <a:srgbClr val="BCB9B3"/>
                      </a:solidFill>
                      <a:prstDash val="solid"/>
                      <a:round/>
                      <a:headEnd type="none" w="med" len="med"/>
                      <a:tailEnd type="none" w="med" len="med"/>
                    </a:lnT>
                    <a:lnB w="12700" cap="flat" cmpd="sng" algn="ctr">
                      <a:solidFill>
                        <a:srgbClr val="C3C2BE"/>
                      </a:solidFill>
                      <a:prstDash val="solid"/>
                      <a:round/>
                      <a:headEnd type="none" w="med" len="med"/>
                      <a:tailEnd type="none" w="med" len="med"/>
                    </a:lnB>
                  </a:tcPr>
                </a:tc>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@kubernetes/client-node, Agent Sandbox, Dagger</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3C2BE"/>
                      </a:solidFill>
                      <a:prstDash val="solid"/>
                      <a:round/>
                      <a:headEnd type="none" w="med" len="med"/>
                      <a:tailEnd type="none" w="med" len="med"/>
                    </a:lnL>
                    <a:lnR w="12700" cap="flat" cmpd="sng" algn="ctr">
                      <a:solidFill>
                        <a:srgbClr val="C3C2BE"/>
                      </a:solidFill>
                      <a:prstDash val="solid"/>
                      <a:round/>
                      <a:headEnd type="none" w="med" len="med"/>
                      <a:tailEnd type="none" w="med" len="med"/>
                    </a:lnR>
                    <a:lnT w="12700" cap="flat" cmpd="sng" algn="ctr">
                      <a:solidFill>
                        <a:srgbClr val="BCB9B3"/>
                      </a:solidFill>
                      <a:prstDash val="solid"/>
                      <a:round/>
                      <a:headEnd type="none" w="med" len="med"/>
                      <a:tailEnd type="none" w="med" len="med"/>
                    </a:lnT>
                    <a:lnB w="12700" cap="flat" cmpd="sng" algn="ctr">
                      <a:solidFill>
                        <a:srgbClr val="C3C2BE"/>
                      </a:solidFill>
                      <a:prstDash val="solid"/>
                      <a:round/>
                      <a:headEnd type="none" w="med" len="med"/>
                      <a:tailEnd type="none" w="med" len="med"/>
                    </a:lnB>
                  </a:tcPr>
                </a:tc>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MCP 파드·에이전트 컨테이너 직접 관리</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3C2BE"/>
                      </a:solidFill>
                      <a:prstDash val="solid"/>
                      <a:round/>
                      <a:headEnd type="none" w="med" len="med"/>
                      <a:tailEnd type="none" w="med" len="med"/>
                    </a:lnL>
                    <a:lnR w="12700" cap="flat" cmpd="sng" algn="ctr">
                      <a:solidFill>
                        <a:srgbClr val="C3C2BE"/>
                      </a:solidFill>
                      <a:prstDash val="solid"/>
                      <a:round/>
                      <a:headEnd type="none" w="med" len="med"/>
                      <a:tailEnd type="none" w="med" len="med"/>
                    </a:lnR>
                    <a:lnT w="12700" cap="flat" cmpd="sng" algn="ctr">
                      <a:solidFill>
                        <a:srgbClr val="BCB9B3"/>
                      </a:solidFill>
                      <a:prstDash val="solid"/>
                      <a:round/>
                      <a:headEnd type="none" w="med" len="med"/>
                      <a:tailEnd type="none" w="med" len="med"/>
                    </a:lnT>
                    <a:lnB w="12700" cap="flat" cmpd="sng" algn="ctr">
                      <a:solidFill>
                        <a:srgbClr val="C3C2BE"/>
                      </a:solidFill>
                      <a:prstDash val="solid"/>
                      <a:round/>
                      <a:headEnd type="none" w="med" len="med"/>
                      <a:tailEnd type="none" w="med" len="med"/>
                    </a:lnB>
                  </a:tcPr>
                </a:tc>
              </a:tr>
              <a:tr h="332680">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관측</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3C2BE"/>
                      </a:solidFill>
                      <a:prstDash val="solid"/>
                      <a:round/>
                      <a:headEnd type="none" w="med" len="med"/>
                      <a:tailEnd type="none" w="med" len="med"/>
                    </a:lnL>
                    <a:lnR w="12700" cap="flat" cmpd="sng" algn="ctr">
                      <a:solidFill>
                        <a:srgbClr val="BCB9B3"/>
                      </a:solidFill>
                      <a:prstDash val="solid"/>
                      <a:round/>
                      <a:headEnd type="none" w="med" len="med"/>
                      <a:tailEnd type="none" w="med" len="med"/>
                    </a:lnR>
                    <a:lnT w="12700" cap="flat" cmpd="sng" algn="ctr">
                      <a:solidFill>
                        <a:srgbClr val="C3C2BE"/>
                      </a:solidFill>
                      <a:prstDash val="solid"/>
                      <a:round/>
                      <a:headEnd type="none" w="med" len="med"/>
                      <a:tailEnd type="none" w="med" len="med"/>
                    </a:lnT>
                    <a:lnB w="12700" cap="flat" cmpd="sng" algn="ctr">
                      <a:solidFill>
                        <a:srgbClr val="BCB9B3"/>
                      </a:solidFill>
                      <a:prstDash val="solid"/>
                      <a:round/>
                      <a:headEnd type="none" w="med" len="med"/>
                      <a:tailEnd type="none" w="med" len="med"/>
                    </a:lnB>
                    <a:solidFill>
                      <a:srgbClr val="EBE8E0"/>
                    </a:solidFill>
                  </a:tcPr>
                </a:tc>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OpenTelemetry, Prometheus, Tempo, Grafana</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BCB9B3"/>
                      </a:solidFill>
                      <a:prstDash val="solid"/>
                      <a:round/>
                      <a:headEnd type="none" w="med" len="med"/>
                      <a:tailEnd type="none" w="med" len="med"/>
                    </a:lnL>
                    <a:lnR w="12700" cap="flat" cmpd="sng" algn="ctr">
                      <a:solidFill>
                        <a:srgbClr val="BCB9B3"/>
                      </a:solidFill>
                      <a:prstDash val="solid"/>
                      <a:round/>
                      <a:headEnd type="none" w="med" len="med"/>
                      <a:tailEnd type="none" w="med" len="med"/>
                    </a:lnR>
                    <a:lnT w="12700" cap="flat" cmpd="sng" algn="ctr">
                      <a:solidFill>
                        <a:srgbClr val="C3C2BE"/>
                      </a:solidFill>
                      <a:prstDash val="solid"/>
                      <a:round/>
                      <a:headEnd type="none" w="med" len="med"/>
                      <a:tailEnd type="none" w="med" len="med"/>
                    </a:lnT>
                    <a:lnB w="12700" cap="flat" cmpd="sng" algn="ctr">
                      <a:solidFill>
                        <a:srgbClr val="BCB9B3"/>
                      </a:solidFill>
                      <a:prstDash val="solid"/>
                      <a:round/>
                      <a:headEnd type="none" w="med" len="med"/>
                      <a:tailEnd type="none" w="med" len="med"/>
                    </a:lnB>
                    <a:solidFill>
                      <a:srgbClr val="EBE8E0"/>
                    </a:solidFill>
                  </a:tcPr>
                </a:tc>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LLM·MCP 스팬, 비용 메트릭</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BCB9B3"/>
                      </a:solidFill>
                      <a:prstDash val="solid"/>
                      <a:round/>
                      <a:headEnd type="none" w="med" len="med"/>
                      <a:tailEnd type="none" w="med" len="med"/>
                    </a:lnL>
                    <a:lnR w="12700" cap="flat" cmpd="sng" algn="ctr">
                      <a:solidFill>
                        <a:srgbClr val="BCB9B3"/>
                      </a:solidFill>
                      <a:prstDash val="solid"/>
                      <a:round/>
                      <a:headEnd type="none" w="med" len="med"/>
                      <a:tailEnd type="none" w="med" len="med"/>
                    </a:lnR>
                    <a:lnT w="12700" cap="flat" cmpd="sng" algn="ctr">
                      <a:solidFill>
                        <a:srgbClr val="C3C2BE"/>
                      </a:solidFill>
                      <a:prstDash val="solid"/>
                      <a:round/>
                      <a:headEnd type="none" w="med" len="med"/>
                      <a:tailEnd type="none" w="med" len="med"/>
                    </a:lnT>
                    <a:lnB w="12700" cap="flat" cmpd="sng" algn="ctr">
                      <a:solidFill>
                        <a:srgbClr val="BCB9B3"/>
                      </a:solidFill>
                      <a:prstDash val="solid"/>
                      <a:round/>
                      <a:headEnd type="none" w="med" len="med"/>
                      <a:tailEnd type="none" w="med" len="med"/>
                    </a:lnB>
                    <a:solidFill>
                      <a:srgbClr val="EBE8E0"/>
                    </a:solidFill>
                  </a:tcPr>
                </a:tc>
              </a:tr>
              <a:tr h="332680">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빌드·배포</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3C2BE"/>
                      </a:solidFill>
                      <a:prstDash val="solid"/>
                      <a:round/>
                      <a:headEnd type="none" w="med" len="med"/>
                      <a:tailEnd type="none" w="med" len="med"/>
                    </a:lnL>
                    <a:lnR w="12700" cap="flat" cmpd="sng" algn="ctr">
                      <a:solidFill>
                        <a:srgbClr val="C3C2BE"/>
                      </a:solidFill>
                      <a:prstDash val="solid"/>
                      <a:round/>
                      <a:headEnd type="none" w="med" len="med"/>
                      <a:tailEnd type="none" w="med" len="med"/>
                    </a:lnR>
                    <a:lnT w="12700" cap="flat" cmpd="sng" algn="ctr">
                      <a:solidFill>
                        <a:srgbClr val="BCB9B3"/>
                      </a:solidFill>
                      <a:prstDash val="solid"/>
                      <a:round/>
                      <a:headEnd type="none" w="med" len="med"/>
                      <a:tailEnd type="none" w="med" len="med"/>
                    </a:lnT>
                    <a:lnB w="12700" cap="flat" cmpd="sng" algn="ctr">
                      <a:solidFill>
                        <a:srgbClr val="C3C2BE"/>
                      </a:solidFill>
                      <a:prstDash val="solid"/>
                      <a:round/>
                      <a:headEnd type="none" w="med" len="med"/>
                      <a:tailEnd type="none" w="med" len="med"/>
                    </a:lnB>
                  </a:tcPr>
                </a:tc>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pnpm, Turborepo, Tilt, Docker, Helm</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3C2BE"/>
                      </a:solidFill>
                      <a:prstDash val="solid"/>
                      <a:round/>
                      <a:headEnd type="none" w="med" len="med"/>
                      <a:tailEnd type="none" w="med" len="med"/>
                    </a:lnL>
                    <a:lnR w="12700" cap="flat" cmpd="sng" algn="ctr">
                      <a:solidFill>
                        <a:srgbClr val="C3C2BE"/>
                      </a:solidFill>
                      <a:prstDash val="solid"/>
                      <a:round/>
                      <a:headEnd type="none" w="med" len="med"/>
                      <a:tailEnd type="none" w="med" len="med"/>
                    </a:lnR>
                    <a:lnT w="12700" cap="flat" cmpd="sng" algn="ctr">
                      <a:solidFill>
                        <a:srgbClr val="BCB9B3"/>
                      </a:solidFill>
                      <a:prstDash val="solid"/>
                      <a:round/>
                      <a:headEnd type="none" w="med" len="med"/>
                      <a:tailEnd type="none" w="med" len="med"/>
                    </a:lnT>
                    <a:lnB w="12700" cap="flat" cmpd="sng" algn="ctr">
                      <a:solidFill>
                        <a:srgbClr val="C3C2BE"/>
                      </a:solidFill>
                      <a:prstDash val="solid"/>
                      <a:round/>
                      <a:headEnd type="none" w="med" len="med"/>
                      <a:tailEnd type="none" w="med" len="med"/>
                    </a:lnB>
                  </a:tcPr>
                </a:tc>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Terraform provider 별도 제공</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3C2BE"/>
                      </a:solidFill>
                      <a:prstDash val="solid"/>
                      <a:round/>
                      <a:headEnd type="none" w="med" len="med"/>
                      <a:tailEnd type="none" w="med" len="med"/>
                    </a:lnL>
                    <a:lnR w="12700" cap="flat" cmpd="sng" algn="ctr">
                      <a:solidFill>
                        <a:srgbClr val="C3C2BE"/>
                      </a:solidFill>
                      <a:prstDash val="solid"/>
                      <a:round/>
                      <a:headEnd type="none" w="med" len="med"/>
                      <a:tailEnd type="none" w="med" len="med"/>
                    </a:lnR>
                    <a:lnT w="12700" cap="flat" cmpd="sng" algn="ctr">
                      <a:solidFill>
                        <a:srgbClr val="BCB9B3"/>
                      </a:solidFill>
                      <a:prstDash val="solid"/>
                      <a:round/>
                      <a:headEnd type="none" w="med" len="med"/>
                      <a:tailEnd type="none" w="med" len="med"/>
                    </a:lnT>
                    <a:lnB w="12700" cap="flat" cmpd="sng" algn="ctr">
                      <a:solidFill>
                        <a:srgbClr val="C3C2BE"/>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KR" pitchFamily="34" charset="0"/>
                <a:ea typeface="IBM Plex Sans KR" pitchFamily="34" charset="-122"/>
                <a:cs typeface="IBM Plex Sans KR" pitchFamily="34" charset="-120"/>
              </a:rPr>
              <a:t>Archestra 아키텍처 · 05 · 출처: platform/*/package.json, archestra-rs/Cargo.toml</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3EE"/>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B8521E"/>
                </a:solidFill>
                <a:latin typeface="JetBrains Mono" pitchFamily="49" charset="0"/>
                <a:ea typeface="JetBrains Mono" pitchFamily="49" charset="-122"/>
                <a:cs typeface="JetBrains Mono" pitchFamily="49" charset="-120"/>
              </a:rPr>
              <a:t>05 · LLM PROXY</a:t>
            </a:r>
            <a:endParaRPr lang="en-US" sz="1200" dirty="0"/>
          </a:p>
        </p:txBody>
      </p:sp>
      <p:sp>
        <p:nvSpPr>
          <p:cNvPr id="3" name="Text 1"/>
          <p:cNvSpPr/>
          <p:nvPr>
            <p:ph type="title"/>
          </p:nvPr>
        </p:nvSpPr>
        <p:spPr>
          <a:xfrm>
            <a:off x="812800" y="10007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1A2A"/>
                </a:solidFill>
                <a:latin typeface="IBM Plex Sans KR" pitchFamily="34" charset="0"/>
                <a:ea typeface="IBM Plex Sans KR" pitchFamily="34" charset="-122"/>
                <a:cs typeface="IBM Plex Sans KR" pitchFamily="34" charset="-120"/>
              </a:rPr>
              <a:t>LLM Proxy: base URL과 키만 바꾸면 통제 대상</a:t>
            </a:r>
            <a:endParaRPr lang="en-US" sz="3000" dirty="0"/>
          </a:p>
        </p:txBody>
      </p:sp>
      <p:sp>
        <p:nvSpPr>
          <p:cNvPr id="4" name="Shape 2"/>
          <p:cNvSpPr/>
          <p:nvPr/>
        </p:nvSpPr>
        <p:spPr>
          <a:xfrm>
            <a:off x="815975" y="1802705"/>
            <a:ext cx="1454150" cy="725091"/>
          </a:xfrm>
          <a:prstGeom prst="roundRect">
            <a:avLst>
              <a:gd name="adj" fmla="val 10071"/>
            </a:avLst>
          </a:prstGeom>
          <a:solidFill>
            <a:srgbClr val="FBFAF7"/>
          </a:solidFill>
          <a:ln w="6350">
            <a:solidFill>
              <a:srgbClr val="DCD9CF"/>
            </a:solidFill>
            <a:prstDash val="solid"/>
          </a:ln>
        </p:spPr>
      </p:sp>
      <p:sp>
        <p:nvSpPr>
          <p:cNvPr id="5" name="Text 3"/>
          <p:cNvSpPr/>
          <p:nvPr/>
        </p:nvSpPr>
        <p:spPr>
          <a:xfrm>
            <a:off x="946150" y="1932880"/>
            <a:ext cx="12446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1A2A"/>
                </a:solidFill>
                <a:latin typeface="IBM Plex Sans KR" pitchFamily="34" charset="0"/>
                <a:ea typeface="IBM Plex Sans KR" pitchFamily="34" charset="-122"/>
                <a:cs typeface="IBM Plex Sans KR" pitchFamily="34" charset="-120"/>
              </a:rPr>
              <a:t>클라이언트</a:t>
            </a:r>
            <a:endParaRPr lang="en-US" sz="1400" dirty="0"/>
          </a:p>
        </p:txBody>
      </p:sp>
      <p:sp>
        <p:nvSpPr>
          <p:cNvPr id="6" name="Text 4"/>
          <p:cNvSpPr/>
          <p:nvPr/>
        </p:nvSpPr>
        <p:spPr>
          <a:xfrm>
            <a:off x="946150" y="2184301"/>
            <a:ext cx="1244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가상 키·OAuth</a:t>
            </a:r>
            <a:endParaRPr lang="en-US" sz="1200" dirty="0"/>
          </a:p>
        </p:txBody>
      </p:sp>
      <p:pic>
        <p:nvPicPr>
          <p:cNvPr id="7" name="Image 0" descr="arrow-right">    </p:cNvPr>
          <p:cNvPicPr>
            <a:picLocks noChangeAspect="1"/>
          </p:cNvPicPr>
          <p:nvPr/>
        </p:nvPicPr>
        <p:blipFill>
          <a:blip r:embed="rId1"/>
          <a:srcRect l="0" r="0" t="0" b="0"/>
          <a:stretch/>
        </p:blipFill>
        <p:spPr>
          <a:xfrm>
            <a:off x="2336800" y="2095401"/>
            <a:ext cx="254000" cy="139700"/>
          </a:xfrm>
          <a:prstGeom prst="rect">
            <a:avLst/>
          </a:prstGeom>
        </p:spPr>
      </p:pic>
      <p:sp>
        <p:nvSpPr>
          <p:cNvPr id="8" name="Shape 5"/>
          <p:cNvSpPr/>
          <p:nvPr/>
        </p:nvSpPr>
        <p:spPr>
          <a:xfrm>
            <a:off x="2654300" y="1805880"/>
            <a:ext cx="1460500" cy="718741"/>
          </a:xfrm>
          <a:prstGeom prst="roundRect">
            <a:avLst>
              <a:gd name="adj" fmla="val 10602"/>
            </a:avLst>
          </a:prstGeom>
          <a:solidFill>
            <a:srgbClr val="131A2A"/>
          </a:solidFill>
          <a:ln/>
        </p:spPr>
      </p:sp>
      <p:sp>
        <p:nvSpPr>
          <p:cNvPr id="9" name="Text 6"/>
          <p:cNvSpPr/>
          <p:nvPr/>
        </p:nvSpPr>
        <p:spPr>
          <a:xfrm>
            <a:off x="2781300" y="1932880"/>
            <a:ext cx="12573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4F3EE"/>
                </a:solidFill>
                <a:latin typeface="IBM Plex Sans KR" pitchFamily="34" charset="0"/>
                <a:ea typeface="IBM Plex Sans KR" pitchFamily="34" charset="-122"/>
                <a:cs typeface="IBM Plex Sans KR" pitchFamily="34" charset="-120"/>
              </a:rPr>
              <a:t>인증</a:t>
            </a:r>
            <a:endParaRPr lang="en-US" sz="1400" dirty="0"/>
          </a:p>
        </p:txBody>
      </p:sp>
      <p:sp>
        <p:nvSpPr>
          <p:cNvPr id="10" name="Text 7"/>
          <p:cNvSpPr/>
          <p:nvPr/>
        </p:nvSpPr>
        <p:spPr>
          <a:xfrm>
            <a:off x="2781300" y="2184301"/>
            <a:ext cx="1257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EDA"/>
                </a:solidFill>
                <a:latin typeface="IBM Plex Sans KR" pitchFamily="34" charset="0"/>
                <a:ea typeface="IBM Plex Sans KR" pitchFamily="34" charset="-122"/>
                <a:cs typeface="IBM Plex Sans KR" pitchFamily="34" charset="-120"/>
              </a:rPr>
              <a:t>키 → 사용자·앱</a:t>
            </a:r>
            <a:endParaRPr lang="en-US" sz="1200" dirty="0"/>
          </a:p>
        </p:txBody>
      </p:sp>
      <p:pic>
        <p:nvPicPr>
          <p:cNvPr id="11" name="Image 1" descr="arrow-right">    </p:cNvPr>
          <p:cNvPicPr>
            <a:picLocks noChangeAspect="1"/>
          </p:cNvPicPr>
          <p:nvPr/>
        </p:nvPicPr>
        <p:blipFill>
          <a:blip r:embed="rId2"/>
          <a:srcRect l="0" r="0" t="0" b="0"/>
          <a:stretch/>
        </p:blipFill>
        <p:spPr>
          <a:xfrm>
            <a:off x="4178300" y="2095401"/>
            <a:ext cx="254000" cy="139700"/>
          </a:xfrm>
          <a:prstGeom prst="rect">
            <a:avLst/>
          </a:prstGeom>
        </p:spPr>
      </p:pic>
      <p:sp>
        <p:nvSpPr>
          <p:cNvPr id="12" name="Shape 8"/>
          <p:cNvSpPr/>
          <p:nvPr/>
        </p:nvSpPr>
        <p:spPr>
          <a:xfrm>
            <a:off x="4495800" y="1805880"/>
            <a:ext cx="1460500" cy="718741"/>
          </a:xfrm>
          <a:prstGeom prst="roundRect">
            <a:avLst>
              <a:gd name="adj" fmla="val 10602"/>
            </a:avLst>
          </a:prstGeom>
          <a:solidFill>
            <a:srgbClr val="131A2A"/>
          </a:solidFill>
          <a:ln/>
        </p:spPr>
      </p:sp>
      <p:sp>
        <p:nvSpPr>
          <p:cNvPr id="13" name="Text 9"/>
          <p:cNvSpPr/>
          <p:nvPr/>
        </p:nvSpPr>
        <p:spPr>
          <a:xfrm>
            <a:off x="4622800" y="1932880"/>
            <a:ext cx="12573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4F3EE"/>
                </a:solidFill>
                <a:latin typeface="IBM Plex Sans KR" pitchFamily="34" charset="0"/>
                <a:ea typeface="IBM Plex Sans KR" pitchFamily="34" charset="-122"/>
                <a:cs typeface="IBM Plex Sans KR" pitchFamily="34" charset="-120"/>
              </a:rPr>
              <a:t>모델 라우터</a:t>
            </a:r>
            <a:endParaRPr lang="en-US" sz="1400" dirty="0"/>
          </a:p>
        </p:txBody>
      </p:sp>
      <p:sp>
        <p:nvSpPr>
          <p:cNvPr id="14" name="Text 10"/>
          <p:cNvSpPr/>
          <p:nvPr/>
        </p:nvSpPr>
        <p:spPr>
          <a:xfrm>
            <a:off x="4622800" y="2184301"/>
            <a:ext cx="1257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EDA"/>
                </a:solidFill>
                <a:latin typeface="IBM Plex Sans KR" pitchFamily="34" charset="0"/>
                <a:ea typeface="IBM Plex Sans KR" pitchFamily="34" charset="-122"/>
                <a:cs typeface="IBM Plex Sans KR" pitchFamily="34" charset="-120"/>
              </a:rPr>
              <a:t>provider:model</a:t>
            </a:r>
            <a:endParaRPr lang="en-US" sz="1200" dirty="0"/>
          </a:p>
        </p:txBody>
      </p:sp>
      <p:pic>
        <p:nvPicPr>
          <p:cNvPr id="15" name="Image 2" descr="arrow-right">    </p:cNvPr>
          <p:cNvPicPr>
            <a:picLocks noChangeAspect="1"/>
          </p:cNvPicPr>
          <p:nvPr/>
        </p:nvPicPr>
        <p:blipFill>
          <a:blip r:embed="rId3"/>
          <a:srcRect l="0" r="0" t="0" b="0"/>
          <a:stretch/>
        </p:blipFill>
        <p:spPr>
          <a:xfrm>
            <a:off x="6019800" y="2095401"/>
            <a:ext cx="254000" cy="139700"/>
          </a:xfrm>
          <a:prstGeom prst="rect">
            <a:avLst/>
          </a:prstGeom>
        </p:spPr>
      </p:pic>
      <p:sp>
        <p:nvSpPr>
          <p:cNvPr id="16" name="Shape 11"/>
          <p:cNvSpPr/>
          <p:nvPr/>
        </p:nvSpPr>
        <p:spPr>
          <a:xfrm>
            <a:off x="6337300" y="1805880"/>
            <a:ext cx="1460500" cy="718741"/>
          </a:xfrm>
          <a:prstGeom prst="roundRect">
            <a:avLst>
              <a:gd name="adj" fmla="val 10602"/>
            </a:avLst>
          </a:prstGeom>
          <a:solidFill>
            <a:srgbClr val="D9652B"/>
          </a:solidFill>
          <a:ln/>
        </p:spPr>
      </p:sp>
      <p:sp>
        <p:nvSpPr>
          <p:cNvPr id="17" name="Text 12"/>
          <p:cNvSpPr/>
          <p:nvPr/>
        </p:nvSpPr>
        <p:spPr>
          <a:xfrm>
            <a:off x="6464300" y="1932880"/>
            <a:ext cx="12573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1A2A"/>
                </a:solidFill>
                <a:latin typeface="IBM Plex Sans KR" pitchFamily="34" charset="0"/>
                <a:ea typeface="IBM Plex Sans KR" pitchFamily="34" charset="-122"/>
                <a:cs typeface="IBM Plex Sans KR" pitchFamily="34" charset="-120"/>
              </a:rPr>
              <a:t>가드레일</a:t>
            </a:r>
            <a:endParaRPr lang="en-US" sz="1400" dirty="0"/>
          </a:p>
        </p:txBody>
      </p:sp>
      <p:sp>
        <p:nvSpPr>
          <p:cNvPr id="18" name="Text 13"/>
          <p:cNvSpPr/>
          <p:nvPr/>
        </p:nvSpPr>
        <p:spPr>
          <a:xfrm>
            <a:off x="6464300" y="2184301"/>
            <a:ext cx="1257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tool call 판정</a:t>
            </a:r>
            <a:endParaRPr lang="en-US" sz="1200" dirty="0"/>
          </a:p>
        </p:txBody>
      </p:sp>
      <p:pic>
        <p:nvPicPr>
          <p:cNvPr id="19" name="Image 3" descr="arrow-right">    </p:cNvPr>
          <p:cNvPicPr>
            <a:picLocks noChangeAspect="1"/>
          </p:cNvPicPr>
          <p:nvPr/>
        </p:nvPicPr>
        <p:blipFill>
          <a:blip r:embed="rId4"/>
          <a:srcRect l="0" r="0" t="0" b="0"/>
          <a:stretch/>
        </p:blipFill>
        <p:spPr>
          <a:xfrm>
            <a:off x="7861300" y="2095401"/>
            <a:ext cx="254000" cy="139700"/>
          </a:xfrm>
          <a:prstGeom prst="rect">
            <a:avLst/>
          </a:prstGeom>
        </p:spPr>
      </p:pic>
      <p:sp>
        <p:nvSpPr>
          <p:cNvPr id="20" name="Shape 14"/>
          <p:cNvSpPr/>
          <p:nvPr/>
        </p:nvSpPr>
        <p:spPr>
          <a:xfrm>
            <a:off x="8178800" y="1805880"/>
            <a:ext cx="1460500" cy="718741"/>
          </a:xfrm>
          <a:prstGeom prst="roundRect">
            <a:avLst>
              <a:gd name="adj" fmla="val 10602"/>
            </a:avLst>
          </a:prstGeom>
          <a:solidFill>
            <a:srgbClr val="131A2A"/>
          </a:solidFill>
          <a:ln/>
        </p:spPr>
      </p:sp>
      <p:sp>
        <p:nvSpPr>
          <p:cNvPr id="21" name="Text 15"/>
          <p:cNvSpPr/>
          <p:nvPr/>
        </p:nvSpPr>
        <p:spPr>
          <a:xfrm>
            <a:off x="8305800" y="1932880"/>
            <a:ext cx="12573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4F3EE"/>
                </a:solidFill>
                <a:latin typeface="IBM Plex Sans KR" pitchFamily="34" charset="0"/>
                <a:ea typeface="IBM Plex Sans KR" pitchFamily="34" charset="-122"/>
                <a:cs typeface="IBM Plex Sans KR" pitchFamily="34" charset="-120"/>
              </a:rPr>
              <a:t>비용 한도</a:t>
            </a:r>
            <a:endParaRPr lang="en-US" sz="1400" dirty="0"/>
          </a:p>
        </p:txBody>
      </p:sp>
      <p:sp>
        <p:nvSpPr>
          <p:cNvPr id="22" name="Text 16"/>
          <p:cNvSpPr/>
          <p:nvPr/>
        </p:nvSpPr>
        <p:spPr>
          <a:xfrm>
            <a:off x="8305800" y="2184301"/>
            <a:ext cx="1257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EDA"/>
                </a:solidFill>
                <a:latin typeface="IBM Plex Sans KR" pitchFamily="34" charset="0"/>
                <a:ea typeface="IBM Plex Sans KR" pitchFamily="34" charset="-122"/>
                <a:cs typeface="IBM Plex Sans KR" pitchFamily="34" charset="-120"/>
              </a:rPr>
              <a:t>예산 초과 차단</a:t>
            </a:r>
            <a:endParaRPr lang="en-US" sz="1200" dirty="0"/>
          </a:p>
        </p:txBody>
      </p:sp>
      <p:pic>
        <p:nvPicPr>
          <p:cNvPr id="23" name="Image 4" descr="arrow-right">    </p:cNvPr>
          <p:cNvPicPr>
            <a:picLocks noChangeAspect="1"/>
          </p:cNvPicPr>
          <p:nvPr/>
        </p:nvPicPr>
        <p:blipFill>
          <a:blip r:embed="rId5"/>
          <a:srcRect l="0" r="0" t="0" b="0"/>
          <a:stretch/>
        </p:blipFill>
        <p:spPr>
          <a:xfrm>
            <a:off x="9702800" y="2095401"/>
            <a:ext cx="254000" cy="139700"/>
          </a:xfrm>
          <a:prstGeom prst="rect">
            <a:avLst/>
          </a:prstGeom>
        </p:spPr>
      </p:pic>
      <p:sp>
        <p:nvSpPr>
          <p:cNvPr id="24" name="Shape 17"/>
          <p:cNvSpPr/>
          <p:nvPr/>
        </p:nvSpPr>
        <p:spPr>
          <a:xfrm>
            <a:off x="10023475" y="1696045"/>
            <a:ext cx="946150" cy="938411"/>
          </a:xfrm>
          <a:prstGeom prst="roundRect">
            <a:avLst>
              <a:gd name="adj" fmla="val 7782"/>
            </a:avLst>
          </a:prstGeom>
          <a:solidFill>
            <a:srgbClr val="FBFAF7"/>
          </a:solidFill>
          <a:ln w="6350">
            <a:solidFill>
              <a:srgbClr val="DCD9CF"/>
            </a:solidFill>
            <a:prstDash val="solid"/>
          </a:ln>
        </p:spPr>
      </p:sp>
      <p:sp>
        <p:nvSpPr>
          <p:cNvPr id="25" name="Text 18"/>
          <p:cNvSpPr/>
          <p:nvPr/>
        </p:nvSpPr>
        <p:spPr>
          <a:xfrm>
            <a:off x="10153650" y="1826220"/>
            <a:ext cx="7366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1A2A"/>
                </a:solidFill>
                <a:latin typeface="IBM Plex Sans KR" pitchFamily="34" charset="0"/>
                <a:ea typeface="IBM Plex Sans KR" pitchFamily="34" charset="-122"/>
                <a:cs typeface="IBM Plex Sans KR" pitchFamily="34" charset="-120"/>
              </a:rPr>
              <a:t>LLM</a:t>
            </a:r>
            <a:endParaRPr lang="en-US" sz="1400" dirty="0"/>
          </a:p>
        </p:txBody>
      </p:sp>
      <p:sp>
        <p:nvSpPr>
          <p:cNvPr id="26" name="Text 19"/>
          <p:cNvSpPr/>
          <p:nvPr/>
        </p:nvSpPr>
        <p:spPr>
          <a:xfrm>
            <a:off x="10153650" y="2077641"/>
            <a:ext cx="7366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클라우드·로컬</a:t>
            </a:r>
            <a:endParaRPr lang="en-US" sz="1200" dirty="0"/>
          </a:p>
        </p:txBody>
      </p:sp>
      <p:sp>
        <p:nvSpPr>
          <p:cNvPr id="27" name="Shape 20"/>
          <p:cNvSpPr/>
          <p:nvPr/>
        </p:nvSpPr>
        <p:spPr>
          <a:xfrm>
            <a:off x="812800" y="2904331"/>
            <a:ext cx="3420517" cy="0"/>
          </a:xfrm>
          <a:prstGeom prst="line">
            <a:avLst/>
          </a:prstGeom>
          <a:noFill/>
          <a:ln w="25400">
            <a:solidFill>
              <a:srgbClr val="2F5BB7"/>
            </a:solidFill>
            <a:prstDash val="solid"/>
          </a:ln>
        </p:spPr>
      </p:sp>
      <p:sp>
        <p:nvSpPr>
          <p:cNvPr id="28" name="Text 21"/>
          <p:cNvSpPr/>
          <p:nvPr/>
        </p:nvSpPr>
        <p:spPr>
          <a:xfrm>
            <a:off x="812800" y="3069431"/>
            <a:ext cx="352313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1A2A"/>
                </a:solidFill>
                <a:latin typeface="IBM Plex Sans KR" pitchFamily="34" charset="0"/>
                <a:ea typeface="IBM Plex Sans KR" pitchFamily="34" charset="-122"/>
                <a:cs typeface="IBM Plex Sans KR" pitchFamily="34" charset="-120"/>
              </a:rPr>
              <a:t>키를 앱에 주지 않는다</a:t>
            </a:r>
            <a:endParaRPr lang="en-US" sz="1600" dirty="0"/>
          </a:p>
        </p:txBody>
      </p:sp>
      <p:sp>
        <p:nvSpPr>
          <p:cNvPr id="29" name="Text 22"/>
          <p:cNvSpPr/>
          <p:nvPr/>
        </p:nvSpPr>
        <p:spPr>
          <a:xfrm>
            <a:off x="812800" y="3389461"/>
            <a:ext cx="3523132"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263"/>
                </a:solidFill>
                <a:latin typeface="IBM Plex Sans KR" pitchFamily="34" charset="0"/>
                <a:ea typeface="IBM Plex Sans KR" pitchFamily="34" charset="-122"/>
                <a:cs typeface="IBM Plex Sans KR" pitchFamily="34" charset="-120"/>
              </a:rPr>
              <a:t>앱은 가상 API 키만 갖고, 실제 프로바이더 키는 Archestra 시크릿 저장소에. 앱 단위로 개별 회수.</a:t>
            </a:r>
            <a:endParaRPr lang="en-US" sz="1200" dirty="0"/>
          </a:p>
        </p:txBody>
      </p:sp>
      <p:sp>
        <p:nvSpPr>
          <p:cNvPr id="30" name="Shape 23"/>
          <p:cNvSpPr/>
          <p:nvPr/>
        </p:nvSpPr>
        <p:spPr>
          <a:xfrm>
            <a:off x="4385717" y="2904331"/>
            <a:ext cx="3420517" cy="0"/>
          </a:xfrm>
          <a:prstGeom prst="line">
            <a:avLst/>
          </a:prstGeom>
          <a:noFill/>
          <a:ln w="25400">
            <a:solidFill>
              <a:srgbClr val="2F5BB7"/>
            </a:solidFill>
            <a:prstDash val="solid"/>
          </a:ln>
        </p:spPr>
      </p:sp>
      <p:sp>
        <p:nvSpPr>
          <p:cNvPr id="31" name="Text 24"/>
          <p:cNvSpPr/>
          <p:nvPr/>
        </p:nvSpPr>
        <p:spPr>
          <a:xfrm>
            <a:off x="4385717" y="3069431"/>
            <a:ext cx="352313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1A2A"/>
                </a:solidFill>
                <a:latin typeface="IBM Plex Sans KR" pitchFamily="34" charset="0"/>
                <a:ea typeface="IBM Plex Sans KR" pitchFamily="34" charset="-122"/>
                <a:cs typeface="IBM Plex Sans KR" pitchFamily="34" charset="-120"/>
              </a:rPr>
              <a:t>하나의 URL, 여러 프로바이더</a:t>
            </a:r>
            <a:endParaRPr lang="en-US" sz="1600" dirty="0"/>
          </a:p>
        </p:txBody>
      </p:sp>
      <p:sp>
        <p:nvSpPr>
          <p:cNvPr id="32" name="Text 25"/>
          <p:cNvSpPr/>
          <p:nvPr/>
        </p:nvSpPr>
        <p:spPr>
          <a:xfrm>
            <a:off x="4385717" y="3389461"/>
            <a:ext cx="3523132"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263"/>
                </a:solidFill>
                <a:latin typeface="IBM Plex Sans KR" pitchFamily="34" charset="0"/>
                <a:ea typeface="IBM Plex Sans KR" pitchFamily="34" charset="-122"/>
                <a:cs typeface="IBM Plex Sans KR" pitchFamily="34" charset="-120"/>
              </a:rPr>
              <a:t>각 프로바이더 API 형식을 그대로 받아 중계. Model Router가 </a:t>
            </a:r>
            <a:r>
              <a:rPr lang="en-US" sz="1200" dirty="0">
                <a:solidFill>
                  <a:srgbClr val="B8521E"/>
                </a:solidFill>
                <a:latin typeface="IBM Plex Sans KR" pitchFamily="34" charset="0"/>
                <a:ea typeface="IBM Plex Sans KR" pitchFamily="34" charset="-122"/>
                <a:cs typeface="IBM Plex Sans KR" pitchFamily="34" charset="-120"/>
              </a:rPr>
              <a:t>anthropic:…</a:t>
            </a:r>
            <a:r>
              <a:rPr lang="en-US" sz="1200" dirty="0">
                <a:solidFill>
                  <a:srgbClr val="4A5263"/>
                </a:solidFill>
                <a:latin typeface="IBM Plex Sans KR" pitchFamily="34" charset="0"/>
                <a:ea typeface="IBM Plex Sans KR" pitchFamily="34" charset="-122"/>
                <a:cs typeface="IBM Plex Sans KR" pitchFamily="34" charset="-120"/>
              </a:rPr>
              <a:t>, </a:t>
            </a:r>
            <a:r>
              <a:rPr lang="en-US" sz="1200" dirty="0">
                <a:solidFill>
                  <a:srgbClr val="B8521E"/>
                </a:solidFill>
                <a:latin typeface="IBM Plex Sans KR" pitchFamily="34" charset="0"/>
                <a:ea typeface="IBM Plex Sans KR" pitchFamily="34" charset="-122"/>
                <a:cs typeface="IBM Plex Sans KR" pitchFamily="34" charset="-120"/>
              </a:rPr>
              <a:t>openai:…</a:t>
            </a:r>
            <a:r>
              <a:rPr lang="en-US" sz="1200" dirty="0">
                <a:solidFill>
                  <a:srgbClr val="4A5263"/>
                </a:solidFill>
                <a:latin typeface="IBM Plex Sans KR" pitchFamily="34" charset="0"/>
                <a:ea typeface="IBM Plex Sans KR" pitchFamily="34" charset="-122"/>
                <a:cs typeface="IBM Plex Sans KR" pitchFamily="34" charset="-120"/>
              </a:rPr>
              <a:t>를 분기.</a:t>
            </a:r>
            <a:endParaRPr lang="en-US" sz="1200" dirty="0"/>
          </a:p>
        </p:txBody>
      </p:sp>
      <p:sp>
        <p:nvSpPr>
          <p:cNvPr id="33" name="Shape 26"/>
          <p:cNvSpPr/>
          <p:nvPr/>
        </p:nvSpPr>
        <p:spPr>
          <a:xfrm>
            <a:off x="7958634" y="2904331"/>
            <a:ext cx="3420566" cy="0"/>
          </a:xfrm>
          <a:prstGeom prst="line">
            <a:avLst/>
          </a:prstGeom>
          <a:noFill/>
          <a:ln w="25400">
            <a:solidFill>
              <a:srgbClr val="2F5BB7"/>
            </a:solidFill>
            <a:prstDash val="solid"/>
          </a:ln>
        </p:spPr>
      </p:sp>
      <p:sp>
        <p:nvSpPr>
          <p:cNvPr id="34" name="Text 27"/>
          <p:cNvSpPr/>
          <p:nvPr/>
        </p:nvSpPr>
        <p:spPr>
          <a:xfrm>
            <a:off x="7958634" y="3069431"/>
            <a:ext cx="3523183"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1A2A"/>
                </a:solidFill>
                <a:latin typeface="IBM Plex Sans KR" pitchFamily="34" charset="0"/>
                <a:ea typeface="IBM Plex Sans KR" pitchFamily="34" charset="-122"/>
                <a:cs typeface="IBM Plex Sans KR" pitchFamily="34" charset="-120"/>
              </a:rPr>
              <a:t>사람·팀·앱 단위 비용</a:t>
            </a:r>
            <a:endParaRPr lang="en-US" sz="1600" dirty="0"/>
          </a:p>
        </p:txBody>
      </p:sp>
      <p:sp>
        <p:nvSpPr>
          <p:cNvPr id="35" name="Text 28"/>
          <p:cNvSpPr/>
          <p:nvPr/>
        </p:nvSpPr>
        <p:spPr>
          <a:xfrm>
            <a:off x="7958634" y="3389461"/>
            <a:ext cx="3523183"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263"/>
                </a:solidFill>
                <a:latin typeface="IBM Plex Sans KR" pitchFamily="34" charset="0"/>
                <a:ea typeface="IBM Plex Sans KR" pitchFamily="34" charset="-122"/>
                <a:cs typeface="IBM Plex Sans KR" pitchFamily="34" charset="-120"/>
              </a:rPr>
              <a:t>요청마다 모델·호출자·토큰·비용 로그. 구독(Claude/ChatGPT) 트래픽은 $0로 따로 집계.</a:t>
            </a:r>
            <a:endParaRPr lang="en-US" sz="1200" dirty="0"/>
          </a:p>
        </p:txBody>
      </p:sp>
      <p:sp>
        <p:nvSpPr>
          <p:cNvPr id="36" name="Text 2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KR" pitchFamily="34" charset="0"/>
                <a:ea typeface="IBM Plex Sans KR" pitchFamily="34" charset="-122"/>
                <a:cs typeface="IBM Plex Sans KR" pitchFamily="34" charset="-120"/>
              </a:rPr>
              <a:t>Archestra 아키텍처 · 06 · 출처: docs/pages/llm-proxy</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3EE"/>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B8521E"/>
                </a:solidFill>
                <a:latin typeface="JetBrains Mono" pitchFamily="49" charset="0"/>
                <a:ea typeface="JetBrains Mono" pitchFamily="49" charset="-122"/>
                <a:cs typeface="JetBrains Mono" pitchFamily="49" charset="-120"/>
              </a:rPr>
              <a:t>06 · MCP</a:t>
            </a:r>
            <a:endParaRPr lang="en-US" sz="1200" dirty="0"/>
          </a:p>
        </p:txBody>
      </p:sp>
      <p:sp>
        <p:nvSpPr>
          <p:cNvPr id="3" name="Text 1"/>
          <p:cNvSpPr/>
          <p:nvPr>
            <p:ph type="title"/>
          </p:nvPr>
        </p:nvSpPr>
        <p:spPr>
          <a:xfrm>
            <a:off x="812800" y="10007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1A2A"/>
                </a:solidFill>
                <a:latin typeface="IBM Plex Sans KR" pitchFamily="34" charset="0"/>
                <a:ea typeface="IBM Plex Sans KR" pitchFamily="34" charset="-122"/>
                <a:cs typeface="IBM Plex Sans KR" pitchFamily="34" charset="-120"/>
              </a:rPr>
              <a:t>MCP Gateway가 노출하고, Orchestrator가 띄운다</a:t>
            </a:r>
            <a:endParaRPr lang="en-US" sz="3000" dirty="0"/>
          </a:p>
        </p:txBody>
      </p:sp>
      <p:sp>
        <p:nvSpPr>
          <p:cNvPr id="4" name="Shape 2"/>
          <p:cNvSpPr/>
          <p:nvPr/>
        </p:nvSpPr>
        <p:spPr>
          <a:xfrm>
            <a:off x="815975" y="1696045"/>
            <a:ext cx="5181600" cy="2913311"/>
          </a:xfrm>
          <a:prstGeom prst="roundRect">
            <a:avLst>
              <a:gd name="adj" fmla="val 3378"/>
            </a:avLst>
          </a:prstGeom>
          <a:solidFill>
            <a:srgbClr val="FBFAF7"/>
          </a:solidFill>
          <a:ln w="6350">
            <a:solidFill>
              <a:srgbClr val="DCD9CF"/>
            </a:solidFill>
            <a:prstDash val="solid"/>
          </a:ln>
        </p:spPr>
      </p:sp>
      <p:sp>
        <p:nvSpPr>
          <p:cNvPr id="5" name="Text 3"/>
          <p:cNvSpPr/>
          <p:nvPr/>
        </p:nvSpPr>
        <p:spPr>
          <a:xfrm>
            <a:off x="1047750" y="1927820"/>
            <a:ext cx="48595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5BB7"/>
                </a:solidFill>
                <a:latin typeface="JetBrains Mono" pitchFamily="49" charset="0"/>
                <a:ea typeface="JetBrains Mono" pitchFamily="49" charset="-122"/>
                <a:cs typeface="JetBrains Mono" pitchFamily="49" charset="-120"/>
              </a:rPr>
              <a:t>/v1/mcp/:gatewayId</a:t>
            </a:r>
            <a:endParaRPr lang="en-US" sz="1200" dirty="0"/>
          </a:p>
        </p:txBody>
      </p:sp>
      <p:sp>
        <p:nvSpPr>
          <p:cNvPr id="6" name="Text 4"/>
          <p:cNvSpPr/>
          <p:nvPr/>
        </p:nvSpPr>
        <p:spPr>
          <a:xfrm>
            <a:off x="1047750" y="2255441"/>
            <a:ext cx="4859592"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1A2A"/>
                </a:solidFill>
                <a:latin typeface="IBM Plex Sans KR" pitchFamily="34" charset="0"/>
                <a:ea typeface="IBM Plex Sans KR" pitchFamily="34" charset="-122"/>
                <a:cs typeface="IBM Plex Sans KR" pitchFamily="34" charset="-120"/>
              </a:rPr>
              <a:t>MCP Gateway</a:t>
            </a:r>
            <a:endParaRPr lang="en-US" sz="1800" dirty="0"/>
          </a:p>
        </p:txBody>
      </p:sp>
      <p:sp>
        <p:nvSpPr>
          <p:cNvPr id="7" name="Text 5"/>
          <p:cNvSpPr/>
          <p:nvPr/>
        </p:nvSpPr>
        <p:spPr>
          <a:xfrm>
            <a:off x="1133094" y="2644031"/>
            <a:ext cx="4766628" cy="1758950"/>
          </a:xfrm>
          <a:prstGeom prst="rect">
            <a:avLst/>
          </a:prstGeom>
          <a:noFill/>
          <a:ln/>
        </p:spPr>
        <p:txBody>
          <a:bodyPr wrap="square" lIns="0" tIns="0" rIns="0" bIns="0" rtlCol="0" anchor="t">
            <a:normAutofit/>
          </a:bodyPr>
          <a:lstStyle/>
          <a:p>
            <a:pPr algn="l" marL="168656" indent="-168656">
              <a:lnSpc>
                <a:spcPts val="1950"/>
              </a:lnSpc>
              <a:buSzPct val="100000"/>
              <a:buChar char="•"/>
            </a:pPr>
            <a:r>
              <a:rPr lang="en-US" sz="1300" dirty="0">
                <a:solidFill>
                  <a:srgbClr val="4A5263"/>
                </a:solidFill>
                <a:latin typeface="IBM Plex Sans KR" pitchFamily="34" charset="0"/>
                <a:ea typeface="IBM Plex Sans KR" pitchFamily="34" charset="-122"/>
                <a:cs typeface="IBM Plex Sans KR" pitchFamily="34" charset="-120"/>
              </a:rPr>
              <a:t>OAuth + On-Behalf-Of: 공용 서비스 계정이 아니라 사용자 본인 권한으로 도구 실행</a:t>
            </a:r>
            <a:endParaRPr lang="en-US" sz="1300" dirty="0"/>
          </a:p>
          <a:p>
            <a:pPr algn="l" marL="168656" indent="-168656">
              <a:lnSpc>
                <a:spcPts val="1950"/>
              </a:lnSpc>
              <a:buSzPct val="100000"/>
              <a:buChar char="•"/>
            </a:pPr>
            <a:r>
              <a:rPr lang="en-US" sz="1300" dirty="0">
                <a:solidFill>
                  <a:srgbClr val="4A5263"/>
                </a:solidFill>
                <a:latin typeface="IBM Plex Sans KR" pitchFamily="34" charset="0"/>
                <a:ea typeface="IBM Plex Sans KR" pitchFamily="34" charset="-122"/>
                <a:cs typeface="IBM Plex Sans KR" pitchFamily="34" charset="-120"/>
              </a:rPr>
              <a:t>클라이언트별 인증: 브라우저 OAuth, 토큰, OAuth 클라이언트, IdP JWT</a:t>
            </a:r>
            <a:endParaRPr lang="en-US" sz="1300" dirty="0"/>
          </a:p>
          <a:p>
            <a:pPr algn="l" marL="168656" indent="-168656">
              <a:lnSpc>
                <a:spcPts val="1950"/>
              </a:lnSpc>
              <a:buSzPct val="100000"/>
              <a:buChar char="•"/>
            </a:pPr>
            <a:r>
              <a:rPr lang="en-US" sz="1300" dirty="0">
                <a:solidFill>
                  <a:srgbClr val="4A5263"/>
                </a:solidFill>
                <a:latin typeface="IBM Plex Sans KR" pitchFamily="34" charset="0"/>
                <a:ea typeface="IBM Plex Sans KR" pitchFamily="34" charset="-122"/>
                <a:cs typeface="IBM Plex Sans KR" pitchFamily="34" charset="-120"/>
              </a:rPr>
              <a:t>게이트웨이마다 도구 묶음 지정 (개발팀용, 지원팀용, 앱용)</a:t>
            </a:r>
            <a:endParaRPr lang="en-US" sz="1300" dirty="0"/>
          </a:p>
          <a:p>
            <a:pPr algn="l" marL="168656" indent="-168656">
              <a:lnSpc>
                <a:spcPts val="1950"/>
              </a:lnSpc>
              <a:buSzPct val="100000"/>
              <a:buChar char="•"/>
            </a:pPr>
            <a:r>
              <a:rPr lang="en-US" sz="1300" dirty="0">
                <a:solidFill>
                  <a:srgbClr val="4A5263"/>
                </a:solidFill>
                <a:latin typeface="IBM Plex Sans KR" pitchFamily="34" charset="0"/>
                <a:ea typeface="IBM Plex Sans KR" pitchFamily="34" charset="-122"/>
                <a:cs typeface="IBM Plex Sans KR" pitchFamily="34" charset="-120"/>
              </a:rPr>
              <a:t>도구 수백 개 대신 search · run 2개만 노출해 컨텍스트 절약</a:t>
            </a:r>
            <a:endParaRPr lang="en-US" sz="1300" dirty="0"/>
          </a:p>
          <a:p>
            <a:pPr algn="l" marL="168656" indent="-168656">
              <a:lnSpc>
                <a:spcPts val="1950"/>
              </a:lnSpc>
              <a:buSzPct val="100000"/>
              <a:buChar char="•"/>
            </a:pPr>
            <a:r>
              <a:rPr lang="en-US" sz="1300" dirty="0">
                <a:solidFill>
                  <a:srgbClr val="4A5263"/>
                </a:solidFill>
                <a:latin typeface="IBM Plex Sans KR" pitchFamily="34" charset="0"/>
                <a:ea typeface="IBM Plex Sans KR" pitchFamily="34" charset="-122"/>
                <a:cs typeface="IBM Plex Sans KR" pitchFamily="34" charset="-120"/>
              </a:rPr>
              <a:t>지식, 서브에이전트, 스킬도 같은 URL로 제공</a:t>
            </a:r>
            <a:endParaRPr lang="en-US" sz="1300" dirty="0"/>
          </a:p>
        </p:txBody>
      </p:sp>
      <p:sp>
        <p:nvSpPr>
          <p:cNvPr id="8" name="Shape 6"/>
          <p:cNvSpPr/>
          <p:nvPr/>
        </p:nvSpPr>
        <p:spPr>
          <a:xfrm>
            <a:off x="6203950" y="1692870"/>
            <a:ext cx="5175250" cy="2919661"/>
          </a:xfrm>
          <a:prstGeom prst="roundRect">
            <a:avLst>
              <a:gd name="adj" fmla="val 3480"/>
            </a:avLst>
          </a:prstGeom>
          <a:solidFill>
            <a:srgbClr val="131A2A"/>
          </a:solidFill>
          <a:ln/>
        </p:spPr>
      </p:sp>
      <p:sp>
        <p:nvSpPr>
          <p:cNvPr id="9" name="Text 7"/>
          <p:cNvSpPr/>
          <p:nvPr/>
        </p:nvSpPr>
        <p:spPr>
          <a:xfrm>
            <a:off x="6432550" y="1921470"/>
            <a:ext cx="48595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08A4B"/>
                </a:solidFill>
                <a:latin typeface="JetBrains Mono" pitchFamily="49" charset="0"/>
                <a:ea typeface="JetBrains Mono" pitchFamily="49" charset="-122"/>
                <a:cs typeface="JetBrains Mono" pitchFamily="49" charset="-120"/>
              </a:rPr>
              <a:t>McpServerRuntimeManager</a:t>
            </a:r>
            <a:endParaRPr lang="en-US" sz="1200" dirty="0"/>
          </a:p>
        </p:txBody>
      </p:sp>
      <p:sp>
        <p:nvSpPr>
          <p:cNvPr id="10" name="Text 8"/>
          <p:cNvSpPr/>
          <p:nvPr/>
        </p:nvSpPr>
        <p:spPr>
          <a:xfrm>
            <a:off x="6432550" y="2249091"/>
            <a:ext cx="4859592"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4F3EE"/>
                </a:solidFill>
                <a:latin typeface="IBM Plex Sans KR" pitchFamily="34" charset="0"/>
                <a:ea typeface="IBM Plex Sans KR" pitchFamily="34" charset="-122"/>
                <a:cs typeface="IBM Plex Sans KR" pitchFamily="34" charset="-120"/>
              </a:rPr>
              <a:t>MCP Orchestrator (K8s)</a:t>
            </a:r>
            <a:endParaRPr lang="en-US" sz="1800" dirty="0"/>
          </a:p>
        </p:txBody>
      </p:sp>
      <p:sp>
        <p:nvSpPr>
          <p:cNvPr id="11" name="Text 9"/>
          <p:cNvSpPr/>
          <p:nvPr/>
        </p:nvSpPr>
        <p:spPr>
          <a:xfrm>
            <a:off x="6517894" y="2637681"/>
            <a:ext cx="4766628" cy="1511300"/>
          </a:xfrm>
          <a:prstGeom prst="rect">
            <a:avLst/>
          </a:prstGeom>
          <a:noFill/>
          <a:ln/>
        </p:spPr>
        <p:txBody>
          <a:bodyPr wrap="square" lIns="0" tIns="0" rIns="0" bIns="0" rtlCol="0" anchor="t">
            <a:normAutofit/>
          </a:bodyPr>
          <a:lstStyle/>
          <a:p>
            <a:pPr algn="l" marL="168656" indent="-168656">
              <a:lnSpc>
                <a:spcPts val="1950"/>
              </a:lnSpc>
              <a:buSzPct val="100000"/>
              <a:buChar char="•"/>
            </a:pPr>
            <a:r>
              <a:rPr lang="en-US" sz="1300" dirty="0">
                <a:solidFill>
                  <a:srgbClr val="C9CEDA"/>
                </a:solidFill>
                <a:latin typeface="IBM Plex Sans KR" pitchFamily="34" charset="0"/>
                <a:ea typeface="IBM Plex Sans KR" pitchFamily="34" charset="-122"/>
                <a:cs typeface="IBM Plex Sans KR" pitchFamily="34" charset="-120"/>
              </a:rPr>
              <a:t>서버 1개 = Deployment + Secret (+ streamable-http면 Service)</a:t>
            </a:r>
            <a:endParaRPr lang="en-US" sz="1300" dirty="0"/>
          </a:p>
          <a:p>
            <a:pPr algn="l" marL="168656" indent="-168656">
              <a:lnSpc>
                <a:spcPts val="1950"/>
              </a:lnSpc>
              <a:buSzPct val="100000"/>
              <a:buChar char="•"/>
            </a:pPr>
            <a:r>
              <a:rPr lang="en-US" sz="1300" dirty="0">
                <a:solidFill>
                  <a:srgbClr val="C9CEDA"/>
                </a:solidFill>
                <a:latin typeface="IBM Plex Sans KR" pitchFamily="34" charset="0"/>
                <a:ea typeface="IBM Plex Sans KR" pitchFamily="34" charset="-122"/>
                <a:cs typeface="IBM Plex Sans KR" pitchFamily="34" charset="-120"/>
              </a:rPr>
              <a:t>백엔드가 /mcp_proxy/:id 로 파드에 JSON-RPC 중계</a:t>
            </a:r>
            <a:endParaRPr lang="en-US" sz="1300" dirty="0"/>
          </a:p>
          <a:p>
            <a:pPr algn="l" marL="168656" indent="-168656">
              <a:lnSpc>
                <a:spcPts val="1950"/>
              </a:lnSpc>
              <a:buSzPct val="100000"/>
              <a:buChar char="•"/>
            </a:pPr>
            <a:r>
              <a:rPr lang="en-US" sz="1300" dirty="0">
                <a:solidFill>
                  <a:srgbClr val="C9CEDA"/>
                </a:solidFill>
                <a:latin typeface="IBM Plex Sans KR" pitchFamily="34" charset="0"/>
                <a:ea typeface="IBM Plex Sans KR" pitchFamily="34" charset="-122"/>
                <a:cs typeface="IBM Plex Sans KR" pitchFamily="34" charset="-120"/>
              </a:rPr>
              <a:t>환경별 egress NetworkPolicy로 외부 통신 제한</a:t>
            </a:r>
            <a:endParaRPr lang="en-US" sz="1300" dirty="0"/>
          </a:p>
          <a:p>
            <a:pPr algn="l" marL="168656" indent="-168656">
              <a:lnSpc>
                <a:spcPts val="1950"/>
              </a:lnSpc>
              <a:buSzPct val="100000"/>
              <a:buChar char="•"/>
            </a:pPr>
            <a:r>
              <a:rPr lang="en-US" sz="1300" dirty="0">
                <a:solidFill>
                  <a:srgbClr val="C9CEDA"/>
                </a:solidFill>
                <a:latin typeface="IBM Plex Sans KR" pitchFamily="34" charset="0"/>
                <a:ea typeface="IBM Plex Sans KR" pitchFamily="34" charset="-122"/>
                <a:cs typeface="IBM Plex Sans KR" pitchFamily="34" charset="-120"/>
              </a:rPr>
              <a:t>프라이빗 레지스트리 + 공개 카탈로그(mcp-catalog)에서 설치</a:t>
            </a:r>
            <a:endParaRPr lang="en-US" sz="1300" dirty="0"/>
          </a:p>
          <a:p>
            <a:pPr algn="l" marL="168656" indent="-168656">
              <a:lnSpc>
                <a:spcPts val="1950"/>
              </a:lnSpc>
              <a:buSzPct val="100000"/>
              <a:buChar char="•"/>
            </a:pPr>
            <a:r>
              <a:rPr lang="en-US" sz="1300" dirty="0">
                <a:solidFill>
                  <a:srgbClr val="C9CEDA"/>
                </a:solidFill>
                <a:latin typeface="IBM Plex Sans KR" pitchFamily="34" charset="0"/>
                <a:ea typeface="IBM Plex Sans KR" pitchFamily="34" charset="-122"/>
                <a:cs typeface="IBM Plex Sans KR" pitchFamily="34" charset="-120"/>
              </a:rPr>
              <a:t>유휴 서버 scale-to-zero 하이버네이션, 이미지 프리풀 (EE)</a:t>
            </a:r>
            <a:endParaRPr lang="en-US" sz="1300" dirty="0"/>
          </a:p>
        </p:txBody>
      </p:sp>
      <p:sp>
        <p:nvSpPr>
          <p:cNvPr id="12"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KR" pitchFamily="34" charset="0"/>
                <a:ea typeface="IBM Plex Sans KR" pitchFamily="34" charset="-122"/>
                <a:cs typeface="IBM Plex Sans KR" pitchFamily="34" charset="-120"/>
              </a:rPr>
              <a:t>Archestra 아키텍처 · 07 · 출처: docs/pages/mcp/gateway.md, backend/src/k8s/mcp-server-runtime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3EE"/>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B8521E"/>
                </a:solidFill>
                <a:latin typeface="JetBrains Mono" pitchFamily="49" charset="0"/>
                <a:ea typeface="JetBrains Mono" pitchFamily="49" charset="-122"/>
                <a:cs typeface="JetBrains Mono" pitchFamily="49" charset="-120"/>
              </a:rPr>
              <a:t>07 · AGENT RUNTIME</a:t>
            </a:r>
            <a:endParaRPr lang="en-US" sz="1200" dirty="0"/>
          </a:p>
        </p:txBody>
      </p:sp>
      <p:sp>
        <p:nvSpPr>
          <p:cNvPr id="3" name="Text 1"/>
          <p:cNvSpPr/>
          <p:nvPr>
            <p:ph type="title"/>
          </p:nvPr>
        </p:nvSpPr>
        <p:spPr>
          <a:xfrm>
            <a:off x="812800" y="10007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1A2A"/>
                </a:solidFill>
                <a:latin typeface="IBM Plex Sans KR" pitchFamily="34" charset="0"/>
                <a:ea typeface="IBM Plex Sans KR" pitchFamily="34" charset="-122"/>
                <a:cs typeface="IBM Plex Sans KR" pitchFamily="34" charset="-120"/>
              </a:rPr>
              <a:t>에이전트는 어디서 돌든 같은 프록시를 지난다</a:t>
            </a:r>
            <a:endParaRPr lang="en-US" sz="3000" dirty="0"/>
          </a:p>
        </p:txBody>
      </p:sp>
      <p:sp>
        <p:nvSpPr>
          <p:cNvPr id="4" name="Text 2"/>
          <p:cNvSpPr/>
          <p:nvPr/>
        </p:nvSpPr>
        <p:spPr>
          <a:xfrm>
            <a:off x="812800" y="1997720"/>
            <a:ext cx="1962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JetBrains Mono" pitchFamily="49" charset="0"/>
                <a:ea typeface="JetBrains Mono" pitchFamily="49" charset="-122"/>
                <a:cs typeface="JetBrains Mono" pitchFamily="49" charset="-120"/>
              </a:rPr>
              <a:t>TRIGGERS</a:t>
            </a:r>
            <a:endParaRPr lang="en-US" sz="1200" dirty="0"/>
          </a:p>
        </p:txBody>
      </p:sp>
      <p:sp>
        <p:nvSpPr>
          <p:cNvPr id="5" name="Text 3"/>
          <p:cNvSpPr/>
          <p:nvPr/>
        </p:nvSpPr>
        <p:spPr>
          <a:xfrm>
            <a:off x="815975" y="2277715"/>
            <a:ext cx="1898650" cy="372070"/>
          </a:xfrm>
          <a:prstGeom prst="roundRect">
            <a:avLst>
              <a:gd name="adj" fmla="val 16213"/>
            </a:avLst>
          </a:prstGeom>
          <a:solidFill>
            <a:srgbClr val="FBFAF7"/>
          </a:solidFill>
          <a:ln w="6350">
            <a:solidFill>
              <a:srgbClr val="DCD9CF"/>
            </a:solidFill>
            <a:prstDash val="solid"/>
          </a:ln>
        </p:spPr>
        <p:txBody>
          <a:bodyPr wrap="square" lIns="99806" tIns="61706" rIns="49006" bIns="36306" rtlCol="0" anchor="t">
            <a:normAutofit/>
          </a:bodyPr>
          <a:lstStyle/>
          <a:p>
            <a:pPr algn="l"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Chat · 스케줄</a:t>
            </a:r>
            <a:endParaRPr lang="en-US" sz="1200" dirty="0"/>
          </a:p>
        </p:txBody>
      </p:sp>
      <p:sp>
        <p:nvSpPr>
          <p:cNvPr id="6" name="Text 4"/>
          <p:cNvSpPr/>
          <p:nvPr/>
        </p:nvSpPr>
        <p:spPr>
          <a:xfrm>
            <a:off x="815975" y="2719636"/>
            <a:ext cx="1898650" cy="372070"/>
          </a:xfrm>
          <a:prstGeom prst="roundRect">
            <a:avLst>
              <a:gd name="adj" fmla="val 16213"/>
            </a:avLst>
          </a:prstGeom>
          <a:solidFill>
            <a:srgbClr val="FBFAF7"/>
          </a:solidFill>
          <a:ln w="6350">
            <a:solidFill>
              <a:srgbClr val="DCD9CF"/>
            </a:solidFill>
            <a:prstDash val="solid"/>
          </a:ln>
        </p:spPr>
        <p:txBody>
          <a:bodyPr wrap="square" lIns="99806" tIns="61706" rIns="49006" bIns="36306" rtlCol="0" anchor="t">
            <a:normAutofit/>
          </a:bodyPr>
          <a:lstStyle/>
          <a:p>
            <a:pPr algn="l"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Email · Webhook / A2A</a:t>
            </a:r>
            <a:endParaRPr lang="en-US" sz="1200" dirty="0"/>
          </a:p>
        </p:txBody>
      </p:sp>
      <p:sp>
        <p:nvSpPr>
          <p:cNvPr id="7" name="Text 5"/>
          <p:cNvSpPr/>
          <p:nvPr/>
        </p:nvSpPr>
        <p:spPr>
          <a:xfrm>
            <a:off x="815975" y="3161556"/>
            <a:ext cx="1898650" cy="585391"/>
          </a:xfrm>
          <a:prstGeom prst="roundRect">
            <a:avLst>
              <a:gd name="adj" fmla="val 10305"/>
            </a:avLst>
          </a:prstGeom>
          <a:solidFill>
            <a:srgbClr val="FBFAF7"/>
          </a:solidFill>
          <a:ln w="6350">
            <a:solidFill>
              <a:srgbClr val="DCD9CF"/>
            </a:solidFill>
            <a:prstDash val="solid"/>
          </a:ln>
        </p:spPr>
        <p:txBody>
          <a:bodyPr wrap="square" lIns="99806" tIns="61706" rIns="49006" bIns="36306" rtlCol="0" anchor="t">
            <a:normAutofit/>
          </a:bodyPr>
          <a:lstStyle/>
          <a:p>
            <a:pPr algn="l"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Slack · Teams · Telegram</a:t>
            </a:r>
            <a:endParaRPr lang="en-US" sz="1200" dirty="0"/>
          </a:p>
        </p:txBody>
      </p:sp>
      <p:pic>
        <p:nvPicPr>
          <p:cNvPr id="8" name="Image 0" descr="arrow-right">    </p:cNvPr>
          <p:cNvPicPr>
            <a:picLocks noChangeAspect="1"/>
          </p:cNvPicPr>
          <p:nvPr/>
        </p:nvPicPr>
        <p:blipFill>
          <a:blip r:embed="rId1"/>
          <a:srcRect l="0" r="0" t="0" b="0"/>
          <a:stretch/>
        </p:blipFill>
        <p:spPr>
          <a:xfrm>
            <a:off x="2819400" y="2791371"/>
            <a:ext cx="304800" cy="165100"/>
          </a:xfrm>
          <a:prstGeom prst="rect">
            <a:avLst/>
          </a:prstGeom>
        </p:spPr>
      </p:pic>
      <p:sp>
        <p:nvSpPr>
          <p:cNvPr id="9" name="Shape 6"/>
          <p:cNvSpPr/>
          <p:nvPr/>
        </p:nvSpPr>
        <p:spPr>
          <a:xfrm>
            <a:off x="3225800" y="1692870"/>
            <a:ext cx="3175000" cy="1026120"/>
          </a:xfrm>
          <a:prstGeom prst="roundRect">
            <a:avLst>
              <a:gd name="adj" fmla="val 8664"/>
            </a:avLst>
          </a:prstGeom>
          <a:solidFill>
            <a:srgbClr val="131A2A"/>
          </a:solidFill>
          <a:ln/>
        </p:spPr>
      </p:sp>
      <p:sp>
        <p:nvSpPr>
          <p:cNvPr id="10" name="Text 7"/>
          <p:cNvSpPr/>
          <p:nvPr/>
        </p:nvSpPr>
        <p:spPr>
          <a:xfrm>
            <a:off x="3378200" y="1845270"/>
            <a:ext cx="295630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4F3EE"/>
                </a:solidFill>
                <a:latin typeface="IBM Plex Sans KR" pitchFamily="34" charset="0"/>
                <a:ea typeface="IBM Plex Sans KR" pitchFamily="34" charset="-122"/>
                <a:cs typeface="IBM Plex Sans KR" pitchFamily="34" charset="-120"/>
              </a:rPr>
              <a:t>내장 에이전트 루프</a:t>
            </a:r>
            <a:endParaRPr lang="en-US" sz="1500" dirty="0"/>
          </a:p>
        </p:txBody>
      </p:sp>
      <p:sp>
        <p:nvSpPr>
          <p:cNvPr id="11" name="Text 8"/>
          <p:cNvSpPr/>
          <p:nvPr/>
        </p:nvSpPr>
        <p:spPr>
          <a:xfrm>
            <a:off x="3378200" y="2124670"/>
            <a:ext cx="2956306"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C9CEDA"/>
                </a:solidFill>
                <a:latin typeface="IBM Plex Sans KR" pitchFamily="34" charset="0"/>
                <a:ea typeface="IBM Plex Sans KR" pitchFamily="34" charset="-122"/>
                <a:cs typeface="IBM Plex Sans KR" pitchFamily="34" charset="-120"/>
              </a:rPr>
              <a:t>지시문 + 도구 + 스킬 + 지식 + 권한. 서브에이전트 위임, A2A 실행기</a:t>
            </a:r>
            <a:endParaRPr lang="en-US" sz="1200" dirty="0"/>
          </a:p>
        </p:txBody>
      </p:sp>
      <p:sp>
        <p:nvSpPr>
          <p:cNvPr id="12" name="Shape 9"/>
          <p:cNvSpPr/>
          <p:nvPr/>
        </p:nvSpPr>
        <p:spPr>
          <a:xfrm>
            <a:off x="3225800" y="2807891"/>
            <a:ext cx="3175000" cy="1247080"/>
          </a:xfrm>
          <a:prstGeom prst="roundRect">
            <a:avLst>
              <a:gd name="adj" fmla="val 7129"/>
            </a:avLst>
          </a:prstGeom>
          <a:solidFill>
            <a:srgbClr val="2F5BB7"/>
          </a:solidFill>
          <a:ln/>
        </p:spPr>
      </p:sp>
      <p:sp>
        <p:nvSpPr>
          <p:cNvPr id="13" name="Text 10"/>
          <p:cNvSpPr/>
          <p:nvPr/>
        </p:nvSpPr>
        <p:spPr>
          <a:xfrm>
            <a:off x="3378200" y="2960291"/>
            <a:ext cx="295630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4F3EE"/>
                </a:solidFill>
                <a:latin typeface="IBM Plex Sans KR" pitchFamily="34" charset="0"/>
                <a:ea typeface="IBM Plex Sans KR" pitchFamily="34" charset="-122"/>
                <a:cs typeface="IBM Plex Sans KR" pitchFamily="34" charset="-120"/>
              </a:rPr>
              <a:t>전용 런타임 (컨테이너)</a:t>
            </a:r>
            <a:endParaRPr lang="en-US" sz="1500" dirty="0"/>
          </a:p>
        </p:txBody>
      </p:sp>
      <p:sp>
        <p:nvSpPr>
          <p:cNvPr id="14" name="Text 11"/>
          <p:cNvSpPr/>
          <p:nvPr/>
        </p:nvSpPr>
        <p:spPr>
          <a:xfrm>
            <a:off x="3378200" y="3239691"/>
            <a:ext cx="2956306"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E3EAFB"/>
                </a:solidFill>
                <a:latin typeface="IBM Plex Sans KR" pitchFamily="34" charset="0"/>
                <a:ea typeface="IBM Plex Sans KR" pitchFamily="34" charset="-122"/>
                <a:cs typeface="IBM Plex Sans KR" pitchFamily="34" charset="-120"/>
              </a:rPr>
              <a:t>Claude Code · Codex · OpenCode · Hermes · OpenClaw. 라이브 터미널, 파일 영속</a:t>
            </a:r>
            <a:endParaRPr lang="en-US" sz="1200" dirty="0"/>
          </a:p>
        </p:txBody>
      </p:sp>
      <p:pic>
        <p:nvPicPr>
          <p:cNvPr id="15" name="Image 1" descr="arrow-right">    </p:cNvPr>
          <p:cNvPicPr>
            <a:picLocks noChangeAspect="1"/>
          </p:cNvPicPr>
          <p:nvPr/>
        </p:nvPicPr>
        <p:blipFill>
          <a:blip r:embed="rId2"/>
          <a:srcRect l="0" r="0" t="0" b="0"/>
          <a:stretch/>
        </p:blipFill>
        <p:spPr>
          <a:xfrm>
            <a:off x="6502400" y="2791371"/>
            <a:ext cx="304800" cy="165100"/>
          </a:xfrm>
          <a:prstGeom prst="rect">
            <a:avLst/>
          </a:prstGeom>
        </p:spPr>
      </p:pic>
      <p:sp>
        <p:nvSpPr>
          <p:cNvPr id="16" name="Text 12"/>
          <p:cNvSpPr/>
          <p:nvPr/>
        </p:nvSpPr>
        <p:spPr>
          <a:xfrm>
            <a:off x="6908800" y="2061170"/>
            <a:ext cx="1905000" cy="510530"/>
          </a:xfrm>
          <a:prstGeom prst="roundRect">
            <a:avLst>
              <a:gd name="adj" fmla="val 14926"/>
            </a:avLst>
          </a:prstGeom>
          <a:solidFill>
            <a:srgbClr val="D9652B"/>
          </a:solidFill>
          <a:ln/>
        </p:spPr>
        <p:txBody>
          <a:bodyPr wrap="square" lIns="117382" tIns="117382" rIns="66582" bIns="91982" rtlCol="0" anchor="t">
            <a:normAutofit/>
          </a:bodyPr>
          <a:lstStyle/>
          <a:p>
            <a:pPr algn="l" indent="0" marL="0">
              <a:lnSpc>
                <a:spcPts val="1820"/>
              </a:lnSpc>
              <a:buNone/>
            </a:pPr>
            <a:r>
              <a:rPr lang="en-US" sz="1300" b="1" dirty="0">
                <a:solidFill>
                  <a:srgbClr val="131A2A"/>
                </a:solidFill>
                <a:latin typeface="IBM Plex Sans KR" pitchFamily="34" charset="0"/>
                <a:ea typeface="IBM Plex Sans KR" pitchFamily="34" charset="-122"/>
                <a:cs typeface="IBM Plex Sans KR" pitchFamily="34" charset="-120"/>
              </a:rPr>
              <a:t>LLM Proxy</a:t>
            </a:r>
            <a:endParaRPr lang="en-US" sz="1300" dirty="0"/>
          </a:p>
        </p:txBody>
      </p:sp>
      <p:sp>
        <p:nvSpPr>
          <p:cNvPr id="17" name="Text 13"/>
          <p:cNvSpPr/>
          <p:nvPr/>
        </p:nvSpPr>
        <p:spPr>
          <a:xfrm>
            <a:off x="6908800" y="2660600"/>
            <a:ext cx="1905000" cy="510530"/>
          </a:xfrm>
          <a:prstGeom prst="roundRect">
            <a:avLst>
              <a:gd name="adj" fmla="val 14926"/>
            </a:avLst>
          </a:prstGeom>
          <a:solidFill>
            <a:srgbClr val="D9652B"/>
          </a:solidFill>
          <a:ln/>
        </p:spPr>
        <p:txBody>
          <a:bodyPr wrap="square" lIns="117382" tIns="117382" rIns="66582" bIns="91982" rtlCol="0" anchor="t">
            <a:normAutofit/>
          </a:bodyPr>
          <a:lstStyle/>
          <a:p>
            <a:pPr algn="l" indent="0" marL="0">
              <a:lnSpc>
                <a:spcPts val="1820"/>
              </a:lnSpc>
              <a:buNone/>
            </a:pPr>
            <a:r>
              <a:rPr lang="en-US" sz="1300" b="1" dirty="0">
                <a:solidFill>
                  <a:srgbClr val="131A2A"/>
                </a:solidFill>
                <a:latin typeface="IBM Plex Sans KR" pitchFamily="34" charset="0"/>
                <a:ea typeface="IBM Plex Sans KR" pitchFamily="34" charset="-122"/>
                <a:cs typeface="IBM Plex Sans KR" pitchFamily="34" charset="-120"/>
              </a:rPr>
              <a:t>MCP Gateway</a:t>
            </a:r>
            <a:endParaRPr lang="en-US" sz="1300" dirty="0"/>
          </a:p>
        </p:txBody>
      </p:sp>
      <p:sp>
        <p:nvSpPr>
          <p:cNvPr id="18" name="Text 14"/>
          <p:cNvSpPr/>
          <p:nvPr/>
        </p:nvSpPr>
        <p:spPr>
          <a:xfrm>
            <a:off x="6908800" y="3260030"/>
            <a:ext cx="196215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로그·가드레일·비용 한도 동일 적용</a:t>
            </a:r>
            <a:endParaRPr lang="en-US" sz="1200" dirty="0"/>
          </a:p>
        </p:txBody>
      </p:sp>
      <p:sp>
        <p:nvSpPr>
          <p:cNvPr id="19" name="Shape 15"/>
          <p:cNvSpPr/>
          <p:nvPr/>
        </p:nvSpPr>
        <p:spPr>
          <a:xfrm>
            <a:off x="812800" y="4318496"/>
            <a:ext cx="3420517" cy="0"/>
          </a:xfrm>
          <a:prstGeom prst="line">
            <a:avLst/>
          </a:prstGeom>
          <a:noFill/>
          <a:ln w="19050">
            <a:solidFill>
              <a:srgbClr val="131A2A"/>
            </a:solidFill>
            <a:prstDash val="solid"/>
          </a:ln>
        </p:spPr>
      </p:sp>
      <p:sp>
        <p:nvSpPr>
          <p:cNvPr id="20" name="Text 16"/>
          <p:cNvSpPr/>
          <p:nvPr/>
        </p:nvSpPr>
        <p:spPr>
          <a:xfrm>
            <a:off x="812800" y="4442321"/>
            <a:ext cx="3523132" cy="482600"/>
          </a:xfrm>
          <a:prstGeom prst="rect">
            <a:avLst/>
          </a:prstGeom>
          <a:noFill/>
          <a:ln/>
        </p:spPr>
        <p:txBody>
          <a:bodyPr wrap="square" lIns="0" tIns="0" rIns="0" bIns="0" rtlCol="0" anchor="t">
            <a:normAutofit/>
          </a:bodyPr>
          <a:lstStyle/>
          <a:p>
            <a:pPr algn="l" indent="0" marL="0">
              <a:lnSpc>
                <a:spcPts val="1800"/>
              </a:lnSpc>
              <a:buNone/>
            </a:pPr>
            <a:r>
              <a:rPr lang="en-US" sz="1200" b="1" dirty="0">
                <a:solidFill>
                  <a:srgbClr val="131A2A"/>
                </a:solidFill>
                <a:latin typeface="IBM Plex Sans KR" pitchFamily="34" charset="0"/>
                <a:ea typeface="IBM Plex Sans KR" pitchFamily="34" charset="-122"/>
                <a:cs typeface="IBM Plex Sans KR" pitchFamily="34" charset="-120"/>
              </a:rPr>
              <a:t>Agent Sandbox API</a:t>
            </a:r>
            <a:r>
              <a:rPr lang="en-US" sz="1200" dirty="0">
                <a:solidFill>
                  <a:srgbClr val="4A5263"/>
                </a:solidFill>
                <a:latin typeface="IBM Plex Sans KR" pitchFamily="34" charset="0"/>
                <a:ea typeface="IBM Plex Sans KR" pitchFamily="34" charset="-122"/>
                <a:cs typeface="IBM Plex Sans KR" pitchFamily="34" charset="-120"/>
              </a:rPr>
              <a:t> — K8s 컨트롤러 위에서 에이전트별 컨테이너, PVC로 작업 파일 유지</a:t>
            </a:r>
            <a:endParaRPr lang="en-US" sz="1200" dirty="0"/>
          </a:p>
        </p:txBody>
      </p:sp>
      <p:sp>
        <p:nvSpPr>
          <p:cNvPr id="21" name="Shape 17"/>
          <p:cNvSpPr/>
          <p:nvPr/>
        </p:nvSpPr>
        <p:spPr>
          <a:xfrm>
            <a:off x="4385717" y="4318496"/>
            <a:ext cx="3420517" cy="0"/>
          </a:xfrm>
          <a:prstGeom prst="line">
            <a:avLst/>
          </a:prstGeom>
          <a:noFill/>
          <a:ln w="19050">
            <a:solidFill>
              <a:srgbClr val="131A2A"/>
            </a:solidFill>
            <a:prstDash val="solid"/>
          </a:ln>
        </p:spPr>
      </p:sp>
      <p:sp>
        <p:nvSpPr>
          <p:cNvPr id="22" name="Text 18"/>
          <p:cNvSpPr/>
          <p:nvPr/>
        </p:nvSpPr>
        <p:spPr>
          <a:xfrm>
            <a:off x="4385717" y="4442321"/>
            <a:ext cx="3523132" cy="482600"/>
          </a:xfrm>
          <a:prstGeom prst="rect">
            <a:avLst/>
          </a:prstGeom>
          <a:noFill/>
          <a:ln/>
        </p:spPr>
        <p:txBody>
          <a:bodyPr wrap="square" lIns="0" tIns="0" rIns="0" bIns="0" rtlCol="0" anchor="t">
            <a:normAutofit/>
          </a:bodyPr>
          <a:lstStyle/>
          <a:p>
            <a:pPr algn="l" indent="0" marL="0">
              <a:lnSpc>
                <a:spcPts val="1800"/>
              </a:lnSpc>
              <a:buNone/>
            </a:pPr>
            <a:r>
              <a:rPr lang="en-US" sz="1200" b="1" dirty="0">
                <a:solidFill>
                  <a:srgbClr val="131A2A"/>
                </a:solidFill>
                <a:latin typeface="IBM Plex Sans KR" pitchFamily="34" charset="0"/>
                <a:ea typeface="IBM Plex Sans KR" pitchFamily="34" charset="-122"/>
                <a:cs typeface="IBM Plex Sans KR" pitchFamily="34" charset="-120"/>
              </a:rPr>
              <a:t>웜 풀 · 이미지 프리페치</a:t>
            </a:r>
            <a:r>
              <a:rPr lang="en-US" sz="1200" dirty="0">
                <a:solidFill>
                  <a:srgbClr val="4A5263"/>
                </a:solidFill>
                <a:latin typeface="IBM Plex Sans KR" pitchFamily="34" charset="0"/>
                <a:ea typeface="IBM Plex Sans KR" pitchFamily="34" charset="-122"/>
                <a:cs typeface="IBM Plex Sans KR" pitchFamily="34" charset="-120"/>
              </a:rPr>
              <a:t> — 콜드 스타트 단축, 실패·중단 시 트랜스크립트 복구</a:t>
            </a:r>
            <a:endParaRPr lang="en-US" sz="1200" dirty="0"/>
          </a:p>
        </p:txBody>
      </p:sp>
      <p:sp>
        <p:nvSpPr>
          <p:cNvPr id="23" name="Shape 19"/>
          <p:cNvSpPr/>
          <p:nvPr/>
        </p:nvSpPr>
        <p:spPr>
          <a:xfrm>
            <a:off x="7958634" y="4318496"/>
            <a:ext cx="3420566" cy="0"/>
          </a:xfrm>
          <a:prstGeom prst="line">
            <a:avLst/>
          </a:prstGeom>
          <a:noFill/>
          <a:ln w="19050">
            <a:solidFill>
              <a:srgbClr val="131A2A"/>
            </a:solidFill>
            <a:prstDash val="solid"/>
          </a:ln>
        </p:spPr>
      </p:sp>
      <p:sp>
        <p:nvSpPr>
          <p:cNvPr id="24" name="Text 20"/>
          <p:cNvSpPr/>
          <p:nvPr/>
        </p:nvSpPr>
        <p:spPr>
          <a:xfrm>
            <a:off x="7958634" y="4442321"/>
            <a:ext cx="3523183" cy="482600"/>
          </a:xfrm>
          <a:prstGeom prst="rect">
            <a:avLst/>
          </a:prstGeom>
          <a:noFill/>
          <a:ln/>
        </p:spPr>
        <p:txBody>
          <a:bodyPr wrap="square" lIns="0" tIns="0" rIns="0" bIns="0" rtlCol="0" anchor="t">
            <a:normAutofit/>
          </a:bodyPr>
          <a:lstStyle/>
          <a:p>
            <a:pPr algn="l" indent="0" marL="0">
              <a:lnSpc>
                <a:spcPts val="1800"/>
              </a:lnSpc>
              <a:buNone/>
            </a:pPr>
            <a:r>
              <a:rPr lang="en-US" sz="1200" b="1" dirty="0">
                <a:solidFill>
                  <a:srgbClr val="131A2A"/>
                </a:solidFill>
                <a:latin typeface="IBM Plex Sans KR" pitchFamily="34" charset="0"/>
                <a:ea typeface="IBM Plex Sans KR" pitchFamily="34" charset="-122"/>
                <a:cs typeface="IBM Plex Sans KR" pitchFamily="34" charset="-120"/>
              </a:rPr>
              <a:t>코드 실행 샌드박스</a:t>
            </a:r>
            <a:r>
              <a:rPr lang="en-US" sz="1200" dirty="0">
                <a:solidFill>
                  <a:srgbClr val="4A5263"/>
                </a:solidFill>
                <a:latin typeface="IBM Plex Sans KR" pitchFamily="34" charset="0"/>
                <a:ea typeface="IBM Plex Sans KR" pitchFamily="34" charset="-122"/>
                <a:cs typeface="IBM Plex Sans KR" pitchFamily="34" charset="-120"/>
              </a:rPr>
              <a:t> — Rust sandbox-core가 Dagger 엔진에서 run_command 격리 실행</a:t>
            </a:r>
            <a:endParaRPr lang="en-US" sz="1200" dirty="0"/>
          </a:p>
        </p:txBody>
      </p:sp>
      <p:sp>
        <p:nvSpPr>
          <p:cNvPr id="25" name="Text 2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KR" pitchFamily="34" charset="0"/>
                <a:ea typeface="IBM Plex Sans KR" pitchFamily="34" charset="-122"/>
                <a:cs typeface="IBM Plex Sans KR" pitchFamily="34" charset="-120"/>
              </a:rPr>
              <a:t>Archestra 아키텍처 · 08 · 출처: docs/pages/agents, backend/src/k8s/agent-runtime, archestra-rs/sandbox-core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3EE"/>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B8521E"/>
                </a:solidFill>
                <a:latin typeface="JetBrains Mono" pitchFamily="49" charset="0"/>
                <a:ea typeface="JetBrains Mono" pitchFamily="49" charset="-122"/>
                <a:cs typeface="JetBrains Mono" pitchFamily="49" charset="-120"/>
              </a:rPr>
              <a:t>08 · KNOWLEDGE BASE</a:t>
            </a:r>
            <a:endParaRPr lang="en-US" sz="1200" dirty="0"/>
          </a:p>
        </p:txBody>
      </p:sp>
      <p:sp>
        <p:nvSpPr>
          <p:cNvPr id="3" name="Text 1"/>
          <p:cNvSpPr/>
          <p:nvPr>
            <p:ph type="title"/>
          </p:nvPr>
        </p:nvSpPr>
        <p:spPr>
          <a:xfrm>
            <a:off x="812800" y="10007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1A2A"/>
                </a:solidFill>
                <a:latin typeface="IBM Plex Sans KR" pitchFamily="34" charset="0"/>
                <a:ea typeface="IBM Plex Sans KR" pitchFamily="34" charset="-122"/>
                <a:cs typeface="IBM Plex Sans KR" pitchFamily="34" charset="-120"/>
              </a:rPr>
              <a:t>RAG: pgvector 하이브리드 검색 + 원본 권한 동기화</a:t>
            </a:r>
            <a:endParaRPr lang="en-US" sz="3000" dirty="0"/>
          </a:p>
        </p:txBody>
      </p:sp>
      <p:sp>
        <p:nvSpPr>
          <p:cNvPr id="4" name="Text 2"/>
          <p:cNvSpPr/>
          <p:nvPr/>
        </p:nvSpPr>
        <p:spPr>
          <a:xfrm>
            <a:off x="812800" y="169287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JetBrains Mono" pitchFamily="49" charset="0"/>
                <a:ea typeface="JetBrains Mono" pitchFamily="49" charset="-122"/>
                <a:cs typeface="JetBrains Mono" pitchFamily="49" charset="-120"/>
              </a:rPr>
              <a:t>INGEST · Worker</a:t>
            </a:r>
            <a:endParaRPr lang="en-US" sz="1200" dirty="0"/>
          </a:p>
        </p:txBody>
      </p:sp>
      <p:sp>
        <p:nvSpPr>
          <p:cNvPr id="5" name="Text 3"/>
          <p:cNvSpPr/>
          <p:nvPr/>
        </p:nvSpPr>
        <p:spPr>
          <a:xfrm>
            <a:off x="815975" y="1998266"/>
            <a:ext cx="2660650" cy="849511"/>
          </a:xfrm>
          <a:prstGeom prst="roundRect">
            <a:avLst>
              <a:gd name="adj" fmla="val 7101"/>
            </a:avLst>
          </a:prstGeom>
          <a:solidFill>
            <a:srgbClr val="FBFAF7"/>
          </a:solidFill>
          <a:ln w="6350">
            <a:solidFill>
              <a:srgbClr val="DCD9CF"/>
            </a:solidFill>
            <a:prstDash val="solid"/>
          </a:ln>
        </p:spPr>
        <p:txBody>
          <a:bodyPr wrap="square" lIns="99806" tIns="87106" rIns="27035" bIns="61706" rtlCol="0" anchor="t">
            <a:normAutofit/>
          </a:bodyPr>
          <a:lstStyle/>
          <a:p>
            <a:pPr algn="l"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커넥터: Confluence · Jira · SharePoint · GitHub · Notion · 웹 크롤러 …</a:t>
            </a:r>
            <a:endParaRPr lang="en-US" sz="1200" dirty="0"/>
          </a:p>
        </p:txBody>
      </p:sp>
      <p:pic>
        <p:nvPicPr>
          <p:cNvPr id="6" name="Image 0" descr="arrow-right">    </p:cNvPr>
          <p:cNvPicPr>
            <a:picLocks noChangeAspect="1"/>
          </p:cNvPicPr>
          <p:nvPr/>
        </p:nvPicPr>
        <p:blipFill>
          <a:blip r:embed="rId1"/>
          <a:srcRect l="0" r="0" t="0" b="0"/>
          <a:stretch/>
        </p:blipFill>
        <p:spPr>
          <a:xfrm>
            <a:off x="3543300" y="2353171"/>
            <a:ext cx="254000" cy="139700"/>
          </a:xfrm>
          <a:prstGeom prst="rect">
            <a:avLst/>
          </a:prstGeom>
        </p:spPr>
      </p:pic>
      <p:sp>
        <p:nvSpPr>
          <p:cNvPr id="7" name="Text 4"/>
          <p:cNvSpPr/>
          <p:nvPr/>
        </p:nvSpPr>
        <p:spPr>
          <a:xfrm>
            <a:off x="3860800" y="2214761"/>
            <a:ext cx="1651000" cy="416520"/>
          </a:xfrm>
          <a:prstGeom prst="roundRect">
            <a:avLst>
              <a:gd name="adj" fmla="val 15245"/>
            </a:avLst>
          </a:prstGeom>
          <a:solidFill>
            <a:srgbClr val="131A2A"/>
          </a:solidFill>
          <a:ln/>
        </p:spPr>
        <p:txBody>
          <a:bodyPr wrap="square" lIns="95701" tIns="83001" rIns="44901" bIns="57601" rtlCol="0" anchor="t">
            <a:normAutofit/>
          </a:bodyPr>
          <a:lstStyle/>
          <a:p>
            <a:pPr algn="l" indent="0" marL="0">
              <a:lnSpc>
                <a:spcPts val="1680"/>
              </a:lnSpc>
              <a:buNone/>
            </a:pPr>
            <a:r>
              <a:rPr lang="en-US" sz="1200" dirty="0">
                <a:solidFill>
                  <a:srgbClr val="F4F3EE"/>
                </a:solidFill>
                <a:latin typeface="IBM Plex Sans KR" pitchFamily="34" charset="0"/>
                <a:ea typeface="IBM Plex Sans KR" pitchFamily="34" charset="-122"/>
                <a:cs typeface="IBM Plex Sans KR" pitchFamily="34" charset="-120"/>
              </a:rPr>
              <a:t>청킹 (parent-child)</a:t>
            </a:r>
            <a:endParaRPr lang="en-US" sz="1200" dirty="0"/>
          </a:p>
        </p:txBody>
      </p:sp>
      <p:pic>
        <p:nvPicPr>
          <p:cNvPr id="8" name="Image 1" descr="arrow-right">    </p:cNvPr>
          <p:cNvPicPr>
            <a:picLocks noChangeAspect="1"/>
          </p:cNvPicPr>
          <p:nvPr/>
        </p:nvPicPr>
        <p:blipFill>
          <a:blip r:embed="rId2"/>
          <a:srcRect l="0" r="0" t="0" b="0"/>
          <a:stretch/>
        </p:blipFill>
        <p:spPr>
          <a:xfrm>
            <a:off x="5575300" y="2353171"/>
            <a:ext cx="254000" cy="139700"/>
          </a:xfrm>
          <a:prstGeom prst="rect">
            <a:avLst/>
          </a:prstGeom>
        </p:spPr>
      </p:pic>
      <p:sp>
        <p:nvSpPr>
          <p:cNvPr id="9" name="Text 5"/>
          <p:cNvSpPr/>
          <p:nvPr/>
        </p:nvSpPr>
        <p:spPr>
          <a:xfrm>
            <a:off x="5892800" y="2214761"/>
            <a:ext cx="1524000" cy="416520"/>
          </a:xfrm>
          <a:prstGeom prst="roundRect">
            <a:avLst>
              <a:gd name="adj" fmla="val 15245"/>
            </a:avLst>
          </a:prstGeom>
          <a:solidFill>
            <a:srgbClr val="131A2A"/>
          </a:solidFill>
          <a:ln/>
        </p:spPr>
        <p:txBody>
          <a:bodyPr wrap="square" lIns="95701" tIns="83001" rIns="44901" bIns="57601" rtlCol="0" anchor="t">
            <a:normAutofit/>
          </a:bodyPr>
          <a:lstStyle/>
          <a:p>
            <a:pPr algn="l" indent="0" marL="0">
              <a:lnSpc>
                <a:spcPts val="1680"/>
              </a:lnSpc>
              <a:buNone/>
            </a:pPr>
            <a:r>
              <a:rPr lang="en-US" sz="1200" dirty="0">
                <a:solidFill>
                  <a:srgbClr val="F4F3EE"/>
                </a:solidFill>
                <a:latin typeface="IBM Plex Sans KR" pitchFamily="34" charset="0"/>
                <a:ea typeface="IBM Plex Sans KR" pitchFamily="34" charset="-122"/>
                <a:cs typeface="IBM Plex Sans KR" pitchFamily="34" charset="-120"/>
              </a:rPr>
              <a:t>임베딩 · PDF OCR</a:t>
            </a:r>
            <a:endParaRPr lang="en-US" sz="1200" dirty="0"/>
          </a:p>
        </p:txBody>
      </p:sp>
      <p:pic>
        <p:nvPicPr>
          <p:cNvPr id="10" name="Image 2" descr="arrow-right">    </p:cNvPr>
          <p:cNvPicPr>
            <a:picLocks noChangeAspect="1"/>
          </p:cNvPicPr>
          <p:nvPr/>
        </p:nvPicPr>
        <p:blipFill>
          <a:blip r:embed="rId3"/>
          <a:srcRect l="0" r="0" t="0" b="0"/>
          <a:stretch/>
        </p:blipFill>
        <p:spPr>
          <a:xfrm>
            <a:off x="7480300" y="2353171"/>
            <a:ext cx="254000" cy="139700"/>
          </a:xfrm>
          <a:prstGeom prst="rect">
            <a:avLst/>
          </a:prstGeom>
        </p:spPr>
      </p:pic>
      <p:sp>
        <p:nvSpPr>
          <p:cNvPr id="11" name="Text 6"/>
          <p:cNvSpPr/>
          <p:nvPr/>
        </p:nvSpPr>
        <p:spPr>
          <a:xfrm>
            <a:off x="7797800" y="2214761"/>
            <a:ext cx="3175000" cy="416520"/>
          </a:xfrm>
          <a:prstGeom prst="roundRect">
            <a:avLst>
              <a:gd name="adj" fmla="val 15245"/>
            </a:avLst>
          </a:prstGeom>
          <a:solidFill>
            <a:srgbClr val="2F5BB7"/>
          </a:solidFill>
          <a:ln/>
        </p:spPr>
        <p:txBody>
          <a:bodyPr wrap="square" lIns="95701" tIns="83001" rIns="7309" bIns="57601" rtlCol="0" anchor="t">
            <a:normAutofit/>
          </a:bodyPr>
          <a:lstStyle/>
          <a:p>
            <a:pPr algn="l" indent="0" marL="0">
              <a:lnSpc>
                <a:spcPts val="1680"/>
              </a:lnSpc>
              <a:buNone/>
            </a:pPr>
            <a:r>
              <a:rPr lang="en-US" sz="1200" dirty="0">
                <a:solidFill>
                  <a:srgbClr val="F4F3EE"/>
                </a:solidFill>
                <a:latin typeface="IBM Plex Sans KR" pitchFamily="34" charset="0"/>
                <a:ea typeface="IBM Plex Sans KR" pitchFamily="34" charset="-122"/>
                <a:cs typeface="IBM Plex Sans KR" pitchFamily="34" charset="-120"/>
              </a:rPr>
              <a:t>PostgreSQL: 벡터(pgvector) + BM25 + ACL</a:t>
            </a:r>
            <a:endParaRPr lang="en-US" sz="1200" dirty="0"/>
          </a:p>
        </p:txBody>
      </p:sp>
      <p:sp>
        <p:nvSpPr>
          <p:cNvPr id="12" name="Text 7"/>
          <p:cNvSpPr/>
          <p:nvPr/>
        </p:nvSpPr>
        <p:spPr>
          <a:xfrm>
            <a:off x="812800" y="3041452"/>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JetBrains Mono" pitchFamily="49" charset="0"/>
                <a:ea typeface="JetBrains Mono" pitchFamily="49" charset="-122"/>
                <a:cs typeface="JetBrains Mono" pitchFamily="49" charset="-120"/>
              </a:rPr>
              <a:t>QUERY · Backend</a:t>
            </a:r>
            <a:endParaRPr lang="en-US" sz="1200" dirty="0"/>
          </a:p>
        </p:txBody>
      </p:sp>
      <p:sp>
        <p:nvSpPr>
          <p:cNvPr id="13" name="Text 8"/>
          <p:cNvSpPr/>
          <p:nvPr/>
        </p:nvSpPr>
        <p:spPr>
          <a:xfrm>
            <a:off x="815975" y="3346847"/>
            <a:ext cx="1454150" cy="422870"/>
          </a:xfrm>
          <a:prstGeom prst="roundRect">
            <a:avLst>
              <a:gd name="adj" fmla="val 14266"/>
            </a:avLst>
          </a:prstGeom>
          <a:solidFill>
            <a:srgbClr val="FBFAF7"/>
          </a:solidFill>
          <a:ln w="6350">
            <a:solidFill>
              <a:srgbClr val="DCD9CF"/>
            </a:solidFill>
            <a:prstDash val="solid"/>
          </a:ln>
        </p:spPr>
        <p:txBody>
          <a:bodyPr wrap="square" lIns="99806" tIns="87106" rIns="49006" bIns="61706" rtlCol="0" anchor="t">
            <a:normAutofit/>
          </a:bodyPr>
          <a:lstStyle/>
          <a:p>
            <a:pPr algn="l"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질의 확장</a:t>
            </a:r>
            <a:endParaRPr lang="en-US" sz="1200" dirty="0"/>
          </a:p>
        </p:txBody>
      </p:sp>
      <p:pic>
        <p:nvPicPr>
          <p:cNvPr id="14" name="Image 3" descr="arrow-right">    </p:cNvPr>
          <p:cNvPicPr>
            <a:picLocks noChangeAspect="1"/>
          </p:cNvPicPr>
          <p:nvPr/>
        </p:nvPicPr>
        <p:blipFill>
          <a:blip r:embed="rId4"/>
          <a:srcRect l="0" r="0" t="0" b="0"/>
          <a:stretch/>
        </p:blipFill>
        <p:spPr>
          <a:xfrm>
            <a:off x="2336800" y="3488432"/>
            <a:ext cx="254000" cy="139700"/>
          </a:xfrm>
          <a:prstGeom prst="rect">
            <a:avLst/>
          </a:prstGeom>
        </p:spPr>
      </p:pic>
      <p:sp>
        <p:nvSpPr>
          <p:cNvPr id="15" name="Text 9"/>
          <p:cNvSpPr/>
          <p:nvPr/>
        </p:nvSpPr>
        <p:spPr>
          <a:xfrm>
            <a:off x="2657475" y="3346847"/>
            <a:ext cx="2089150" cy="422870"/>
          </a:xfrm>
          <a:prstGeom prst="roundRect">
            <a:avLst>
              <a:gd name="adj" fmla="val 14266"/>
            </a:avLst>
          </a:prstGeom>
          <a:solidFill>
            <a:srgbClr val="FBFAF7"/>
          </a:solidFill>
          <a:ln w="6350">
            <a:solidFill>
              <a:srgbClr val="DCD9CF"/>
            </a:solidFill>
            <a:prstDash val="solid"/>
          </a:ln>
        </p:spPr>
        <p:txBody>
          <a:bodyPr wrap="square" lIns="99806" tIns="87106" rIns="44180" bIns="61706" rtlCol="0" anchor="t">
            <a:normAutofit/>
          </a:bodyPr>
          <a:lstStyle/>
          <a:p>
            <a:pPr algn="l"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벡터 + 키워드 검색</a:t>
            </a:r>
            <a:endParaRPr lang="en-US" sz="1200" dirty="0"/>
          </a:p>
        </p:txBody>
      </p:sp>
      <p:pic>
        <p:nvPicPr>
          <p:cNvPr id="16" name="Image 4" descr="arrow-right">    </p:cNvPr>
          <p:cNvPicPr>
            <a:picLocks noChangeAspect="1"/>
          </p:cNvPicPr>
          <p:nvPr/>
        </p:nvPicPr>
        <p:blipFill>
          <a:blip r:embed="rId5"/>
          <a:srcRect l="0" r="0" t="0" b="0"/>
          <a:stretch/>
        </p:blipFill>
        <p:spPr>
          <a:xfrm>
            <a:off x="4813300" y="3488432"/>
            <a:ext cx="254000" cy="139700"/>
          </a:xfrm>
          <a:prstGeom prst="rect">
            <a:avLst/>
          </a:prstGeom>
        </p:spPr>
      </p:pic>
      <p:sp>
        <p:nvSpPr>
          <p:cNvPr id="17" name="Text 10"/>
          <p:cNvSpPr/>
          <p:nvPr/>
        </p:nvSpPr>
        <p:spPr>
          <a:xfrm>
            <a:off x="5133975" y="3346847"/>
            <a:ext cx="1263650" cy="422870"/>
          </a:xfrm>
          <a:prstGeom prst="roundRect">
            <a:avLst>
              <a:gd name="adj" fmla="val 14266"/>
            </a:avLst>
          </a:prstGeom>
          <a:solidFill>
            <a:srgbClr val="FBFAF7"/>
          </a:solidFill>
          <a:ln w="6350">
            <a:solidFill>
              <a:srgbClr val="DCD9CF"/>
            </a:solidFill>
            <a:prstDash val="solid"/>
          </a:ln>
        </p:spPr>
        <p:txBody>
          <a:bodyPr wrap="square" lIns="99806" tIns="87106" rIns="49006" bIns="61706" rtlCol="0" anchor="t">
            <a:normAutofit/>
          </a:bodyPr>
          <a:lstStyle/>
          <a:p>
            <a:pPr algn="l"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RRF 융합</a:t>
            </a:r>
            <a:endParaRPr lang="en-US" sz="1200" dirty="0"/>
          </a:p>
        </p:txBody>
      </p:sp>
      <p:pic>
        <p:nvPicPr>
          <p:cNvPr id="18" name="Image 5" descr="arrow-right">    </p:cNvPr>
          <p:cNvPicPr>
            <a:picLocks noChangeAspect="1"/>
          </p:cNvPicPr>
          <p:nvPr/>
        </p:nvPicPr>
        <p:blipFill>
          <a:blip r:embed="rId6"/>
          <a:srcRect l="0" r="0" t="0" b="0"/>
          <a:stretch/>
        </p:blipFill>
        <p:spPr>
          <a:xfrm>
            <a:off x="6464300" y="3488432"/>
            <a:ext cx="254000" cy="139700"/>
          </a:xfrm>
          <a:prstGeom prst="rect">
            <a:avLst/>
          </a:prstGeom>
        </p:spPr>
      </p:pic>
      <p:sp>
        <p:nvSpPr>
          <p:cNvPr id="19" name="Text 11"/>
          <p:cNvSpPr/>
          <p:nvPr/>
        </p:nvSpPr>
        <p:spPr>
          <a:xfrm>
            <a:off x="6784975" y="3346847"/>
            <a:ext cx="1263650" cy="422870"/>
          </a:xfrm>
          <a:prstGeom prst="roundRect">
            <a:avLst>
              <a:gd name="adj" fmla="val 14266"/>
            </a:avLst>
          </a:prstGeom>
          <a:solidFill>
            <a:srgbClr val="FBFAF7"/>
          </a:solidFill>
          <a:ln w="6350">
            <a:solidFill>
              <a:srgbClr val="DCD9CF"/>
            </a:solidFill>
            <a:prstDash val="solid"/>
          </a:ln>
        </p:spPr>
        <p:txBody>
          <a:bodyPr wrap="square" lIns="99806" tIns="87106" rIns="49006" bIns="61706" rtlCol="0" anchor="t">
            <a:normAutofit/>
          </a:bodyPr>
          <a:lstStyle/>
          <a:p>
            <a:pPr algn="l"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리랭킹</a:t>
            </a:r>
            <a:endParaRPr lang="en-US" sz="1200" dirty="0"/>
          </a:p>
        </p:txBody>
      </p:sp>
      <p:pic>
        <p:nvPicPr>
          <p:cNvPr id="20" name="Image 6" descr="arrow-right">    </p:cNvPr>
          <p:cNvPicPr>
            <a:picLocks noChangeAspect="1"/>
          </p:cNvPicPr>
          <p:nvPr/>
        </p:nvPicPr>
        <p:blipFill>
          <a:blip r:embed="rId7"/>
          <a:srcRect l="0" r="0" t="0" b="0"/>
          <a:stretch/>
        </p:blipFill>
        <p:spPr>
          <a:xfrm>
            <a:off x="8115300" y="3488432"/>
            <a:ext cx="254000" cy="139700"/>
          </a:xfrm>
          <a:prstGeom prst="rect">
            <a:avLst/>
          </a:prstGeom>
        </p:spPr>
      </p:pic>
      <p:sp>
        <p:nvSpPr>
          <p:cNvPr id="21" name="Text 12"/>
          <p:cNvSpPr/>
          <p:nvPr/>
        </p:nvSpPr>
        <p:spPr>
          <a:xfrm>
            <a:off x="8432800" y="3350022"/>
            <a:ext cx="2540000" cy="416520"/>
          </a:xfrm>
          <a:prstGeom prst="roundRect">
            <a:avLst>
              <a:gd name="adj" fmla="val 15245"/>
            </a:avLst>
          </a:prstGeom>
          <a:solidFill>
            <a:srgbClr val="D9652B"/>
          </a:solidFill>
          <a:ln/>
        </p:spPr>
        <p:txBody>
          <a:bodyPr wrap="square" lIns="95701" tIns="83001" rIns="26359" bIns="57601" rtlCol="0" anchor="t">
            <a:normAutofit/>
          </a:bodyPr>
          <a:lstStyle/>
          <a:p>
            <a:pPr algn="l"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문맥 확장 · 인용 검증</a:t>
            </a:r>
            <a:endParaRPr lang="en-US" sz="1200" dirty="0"/>
          </a:p>
        </p:txBody>
      </p:sp>
      <p:sp>
        <p:nvSpPr>
          <p:cNvPr id="22" name="Shape 13"/>
          <p:cNvSpPr/>
          <p:nvPr/>
        </p:nvSpPr>
        <p:spPr>
          <a:xfrm>
            <a:off x="812800" y="4036417"/>
            <a:ext cx="5207000" cy="0"/>
          </a:xfrm>
          <a:prstGeom prst="line">
            <a:avLst/>
          </a:prstGeom>
          <a:noFill/>
          <a:ln w="19050">
            <a:solidFill>
              <a:srgbClr val="131A2A"/>
            </a:solidFill>
            <a:prstDash val="solid"/>
          </a:ln>
        </p:spPr>
      </p:sp>
      <p:sp>
        <p:nvSpPr>
          <p:cNvPr id="23" name="Text 14"/>
          <p:cNvSpPr/>
          <p:nvPr/>
        </p:nvSpPr>
        <p:spPr>
          <a:xfrm>
            <a:off x="812800" y="4160242"/>
            <a:ext cx="5363210" cy="482600"/>
          </a:xfrm>
          <a:prstGeom prst="rect">
            <a:avLst/>
          </a:prstGeom>
          <a:noFill/>
          <a:ln/>
        </p:spPr>
        <p:txBody>
          <a:bodyPr wrap="square" lIns="0" tIns="0" rIns="0" bIns="0" rtlCol="0" anchor="t">
            <a:normAutofit/>
          </a:bodyPr>
          <a:lstStyle/>
          <a:p>
            <a:pPr algn="l" indent="0" marL="0">
              <a:lnSpc>
                <a:spcPts val="1800"/>
              </a:lnSpc>
              <a:buNone/>
            </a:pPr>
            <a:r>
              <a:rPr lang="en-US" sz="1200" b="1" dirty="0">
                <a:solidFill>
                  <a:srgbClr val="131A2A"/>
                </a:solidFill>
                <a:latin typeface="IBM Plex Sans KR" pitchFamily="34" charset="0"/>
                <a:ea typeface="IBM Plex Sans KR" pitchFamily="34" charset="-122"/>
                <a:cs typeface="IBM Plex Sans KR" pitchFamily="34" charset="-120"/>
              </a:rPr>
              <a:t>권한 동기화</a:t>
            </a:r>
            <a:r>
              <a:rPr lang="en-US" sz="1200" dirty="0">
                <a:solidFill>
                  <a:srgbClr val="4A5263"/>
                </a:solidFill>
                <a:latin typeface="IBM Plex Sans KR" pitchFamily="34" charset="0"/>
                <a:ea typeface="IBM Plex Sans KR" pitchFamily="34" charset="-122"/>
                <a:cs typeface="IBM Plex Sans KR" pitchFamily="34" charset="-120"/>
              </a:rPr>
              <a:t> — 소스 시스템의 그룹·ACL을 주기적으로 가져와 사용자가 원본에서 볼 수 있는 청크만 반환</a:t>
            </a:r>
            <a:endParaRPr lang="en-US" sz="1200" dirty="0"/>
          </a:p>
        </p:txBody>
      </p:sp>
      <p:sp>
        <p:nvSpPr>
          <p:cNvPr id="24" name="Shape 15"/>
          <p:cNvSpPr/>
          <p:nvPr/>
        </p:nvSpPr>
        <p:spPr>
          <a:xfrm>
            <a:off x="6172200" y="4036417"/>
            <a:ext cx="5207000" cy="0"/>
          </a:xfrm>
          <a:prstGeom prst="line">
            <a:avLst/>
          </a:prstGeom>
          <a:noFill/>
          <a:ln w="19050">
            <a:solidFill>
              <a:srgbClr val="131A2A"/>
            </a:solidFill>
            <a:prstDash val="solid"/>
          </a:ln>
        </p:spPr>
      </p:sp>
      <p:sp>
        <p:nvSpPr>
          <p:cNvPr id="25" name="Text 16"/>
          <p:cNvSpPr/>
          <p:nvPr/>
        </p:nvSpPr>
        <p:spPr>
          <a:xfrm>
            <a:off x="6172200" y="4160242"/>
            <a:ext cx="5363210" cy="482600"/>
          </a:xfrm>
          <a:prstGeom prst="rect">
            <a:avLst/>
          </a:prstGeom>
          <a:noFill/>
          <a:ln/>
        </p:spPr>
        <p:txBody>
          <a:bodyPr wrap="square" lIns="0" tIns="0" rIns="0" bIns="0" rtlCol="0" anchor="t">
            <a:normAutofit/>
          </a:bodyPr>
          <a:lstStyle/>
          <a:p>
            <a:pPr algn="l" indent="0" marL="0">
              <a:lnSpc>
                <a:spcPts val="1800"/>
              </a:lnSpc>
              <a:buNone/>
            </a:pPr>
            <a:r>
              <a:rPr lang="en-US" sz="1200" b="1" dirty="0">
                <a:solidFill>
                  <a:srgbClr val="131A2A"/>
                </a:solidFill>
                <a:latin typeface="IBM Plex Sans KR" pitchFamily="34" charset="0"/>
                <a:ea typeface="IBM Plex Sans KR" pitchFamily="34" charset="-122"/>
                <a:cs typeface="IBM Plex Sans KR" pitchFamily="34" charset="-120"/>
              </a:rPr>
              <a:t>교체 가능한 백엔드</a:t>
            </a:r>
            <a:r>
              <a:rPr lang="en-US" sz="1200" dirty="0">
                <a:solidFill>
                  <a:srgbClr val="4A5263"/>
                </a:solidFill>
                <a:latin typeface="IBM Plex Sans KR" pitchFamily="34" charset="0"/>
                <a:ea typeface="IBM Plex Sans KR" pitchFamily="34" charset="-122"/>
                <a:cs typeface="IBM Plex Sans KR" pitchFamily="34" charset="-120"/>
              </a:rPr>
              <a:t> — KnowledgeRetrievalBackend 인터페이스로 분리, 현재 구현은 Postgres 하나</a:t>
            </a:r>
            <a:endParaRPr lang="en-US" sz="1200" dirty="0"/>
          </a:p>
        </p:txBody>
      </p:sp>
      <p:sp>
        <p:nvSpPr>
          <p:cNvPr id="26" name="Text 1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KR" pitchFamily="34" charset="0"/>
                <a:ea typeface="IBM Plex Sans KR" pitchFamily="34" charset="-122"/>
                <a:cs typeface="IBM Plex Sans KR" pitchFamily="34" charset="-120"/>
              </a:rPr>
              <a:t>Archestra 아키텍처 · 09 · 출처: backend/src/knowledge-base, RETRIEVAL_BACKENDS.md</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31A2A"/>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F08A4B"/>
                </a:solidFill>
                <a:latin typeface="JetBrains Mono" pitchFamily="49" charset="0"/>
                <a:ea typeface="JetBrains Mono" pitchFamily="49" charset="-122"/>
                <a:cs typeface="JetBrains Mono" pitchFamily="49" charset="-120"/>
              </a:rPr>
              <a:t>09 · GUARDRAILS</a:t>
            </a:r>
            <a:endParaRPr lang="en-US" sz="1200" dirty="0"/>
          </a:p>
        </p:txBody>
      </p:sp>
      <p:sp>
        <p:nvSpPr>
          <p:cNvPr id="3" name="Text 1"/>
          <p:cNvSpPr/>
          <p:nvPr>
            <p:ph type="title"/>
          </p:nvPr>
        </p:nvSpPr>
        <p:spPr>
          <a:xfrm>
            <a:off x="812800" y="10007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F4F3EE"/>
                </a:solidFill>
                <a:latin typeface="IBM Plex Sans KR" pitchFamily="34" charset="0"/>
                <a:ea typeface="IBM Plex Sans KR" pitchFamily="34" charset="-122"/>
                <a:cs typeface="IBM Plex Sans KR" pitchFamily="34" charset="-120"/>
              </a:rPr>
              <a:t>LLM에게 묻지 않고 규칙으로 막는다 (OpenAPPA)</a:t>
            </a:r>
            <a:endParaRPr lang="en-US" sz="3000" dirty="0"/>
          </a:p>
        </p:txBody>
      </p:sp>
      <p:sp>
        <p:nvSpPr>
          <p:cNvPr id="4" name="Text 2"/>
          <p:cNvSpPr/>
          <p:nvPr/>
        </p:nvSpPr>
        <p:spPr>
          <a:xfrm>
            <a:off x="812800" y="1692870"/>
            <a:ext cx="4970780" cy="558800"/>
          </a:xfrm>
          <a:prstGeom prst="rect">
            <a:avLst/>
          </a:prstGeom>
          <a:noFill/>
          <a:ln/>
        </p:spPr>
        <p:txBody>
          <a:bodyPr wrap="square" lIns="0" tIns="0" rIns="0" bIns="0" rtlCol="0" anchor="t">
            <a:normAutofit/>
          </a:bodyPr>
          <a:lstStyle/>
          <a:p>
            <a:pPr algn="l" indent="0" marL="0">
              <a:lnSpc>
                <a:spcPts val="2100"/>
              </a:lnSpc>
              <a:buNone/>
            </a:pPr>
            <a:r>
              <a:rPr lang="en-US" sz="1400" b="1" dirty="0">
                <a:solidFill>
                  <a:srgbClr val="F4F3EE"/>
                </a:solidFill>
                <a:latin typeface="IBM Plex Sans KR" pitchFamily="34" charset="0"/>
                <a:ea typeface="IBM Plex Sans KR" pitchFamily="34" charset="-122"/>
                <a:cs typeface="IBM Plex Sans KR" pitchFamily="34" charset="-120"/>
              </a:rPr>
              <a:t>Lethal Trifecta</a:t>
            </a:r>
            <a:r>
              <a:rPr lang="en-US" sz="1400" dirty="0">
                <a:solidFill>
                  <a:srgbClr val="C9CEDA"/>
                </a:solidFill>
                <a:latin typeface="IBM Plex Sans KR" pitchFamily="34" charset="0"/>
                <a:ea typeface="IBM Plex Sans KR" pitchFamily="34" charset="-122"/>
                <a:cs typeface="IBM Plex Sans KR" pitchFamily="34" charset="-120"/>
              </a:rPr>
              <a:t> = 사내 데이터 읽기 + 신뢰할 수 없는 콘텐츠 읽기 + 외부 전송. 셋이 모이면 프롬프트 인젝션 한 줄로 유출된다.</a:t>
            </a:r>
            <a:endParaRPr lang="en-US" sz="1400" dirty="0"/>
          </a:p>
        </p:txBody>
      </p:sp>
      <p:sp>
        <p:nvSpPr>
          <p:cNvPr id="5" name="Text 3"/>
          <p:cNvSpPr/>
          <p:nvPr/>
        </p:nvSpPr>
        <p:spPr>
          <a:xfrm>
            <a:off x="812800" y="2353270"/>
            <a:ext cx="4970780"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C9CEDA"/>
                </a:solidFill>
                <a:latin typeface="IBM Plex Sans KR" pitchFamily="34" charset="0"/>
                <a:ea typeface="IBM Plex Sans KR" pitchFamily="34" charset="-122"/>
                <a:cs typeface="IBM Plex Sans KR" pitchFamily="34" charset="-120"/>
              </a:rPr>
              <a:t>모든 세션에 </a:t>
            </a:r>
            <a:r>
              <a:rPr lang="en-US" sz="1400" b="1" dirty="0">
                <a:solidFill>
                  <a:srgbClr val="F08A4B"/>
                </a:solidFill>
                <a:latin typeface="IBM Plex Sans KR" pitchFamily="34" charset="0"/>
                <a:ea typeface="IBM Plex Sans KR" pitchFamily="34" charset="-122"/>
                <a:cs typeface="IBM Plex Sans KR" pitchFamily="34" charset="-120"/>
              </a:rPr>
              <a:t>라벨(trust · audience)</a:t>
            </a:r>
            <a:r>
              <a:rPr lang="en-US" sz="1400" dirty="0">
                <a:solidFill>
                  <a:srgbClr val="C9CEDA"/>
                </a:solidFill>
                <a:latin typeface="IBM Plex Sans KR" pitchFamily="34" charset="0"/>
                <a:ea typeface="IBM Plex Sans KR" pitchFamily="34" charset="-122"/>
                <a:cs typeface="IBM Plex Sans KR" pitchFamily="34" charset="-120"/>
              </a:rPr>
              <a:t>을 붙이고, 도구 결과가 라벨을 좁히며, 다음 호출이 요구 라벨을 만족 못하면 실행 전에 차단.</a:t>
            </a:r>
            <a:endParaRPr lang="en-US" sz="1400" dirty="0"/>
          </a:p>
        </p:txBody>
      </p:sp>
      <p:sp>
        <p:nvSpPr>
          <p:cNvPr id="6" name="Text 4"/>
          <p:cNvSpPr/>
          <p:nvPr/>
        </p:nvSpPr>
        <p:spPr>
          <a:xfrm>
            <a:off x="812800" y="3013670"/>
            <a:ext cx="2374900" cy="391120"/>
          </a:xfrm>
          <a:prstGeom prst="roundRect">
            <a:avLst>
              <a:gd name="adj" fmla="val 16235"/>
            </a:avLst>
          </a:prstGeom>
          <a:solidFill>
            <a:srgbClr val="26304A"/>
          </a:solidFill>
          <a:ln/>
        </p:spPr>
        <p:txBody>
          <a:bodyPr wrap="square" lIns="95701" tIns="70301" rIns="31312" bIns="44901" rtlCol="0" anchor="t">
            <a:normAutofit/>
          </a:bodyPr>
          <a:lstStyle/>
          <a:p>
            <a:pPr algn="l" indent="0" marL="0">
              <a:lnSpc>
                <a:spcPts val="1680"/>
              </a:lnSpc>
              <a:buNone/>
            </a:pPr>
            <a:r>
              <a:rPr lang="en-US" sz="1200" dirty="0">
                <a:solidFill>
                  <a:srgbClr val="F4F3EE"/>
                </a:solidFill>
                <a:latin typeface="IBM Plex Sans KR" pitchFamily="34" charset="0"/>
                <a:ea typeface="IBM Plex Sans KR" pitchFamily="34" charset="-122"/>
                <a:cs typeface="IBM Plex Sans KR" pitchFamily="34" charset="-120"/>
              </a:rPr>
              <a:t>사람 승인 (authority)</a:t>
            </a:r>
            <a:endParaRPr lang="en-US" sz="1200" dirty="0"/>
          </a:p>
        </p:txBody>
      </p:sp>
      <p:sp>
        <p:nvSpPr>
          <p:cNvPr id="7" name="Text 5"/>
          <p:cNvSpPr/>
          <p:nvPr/>
        </p:nvSpPr>
        <p:spPr>
          <a:xfrm>
            <a:off x="3263900" y="3013670"/>
            <a:ext cx="2374900" cy="391120"/>
          </a:xfrm>
          <a:prstGeom prst="roundRect">
            <a:avLst>
              <a:gd name="adj" fmla="val 16235"/>
            </a:avLst>
          </a:prstGeom>
          <a:solidFill>
            <a:srgbClr val="26304A"/>
          </a:solidFill>
          <a:ln/>
        </p:spPr>
        <p:txBody>
          <a:bodyPr wrap="square" lIns="95701" tIns="70301" rIns="31312" bIns="44901" rtlCol="0" anchor="t">
            <a:normAutofit/>
          </a:bodyPr>
          <a:lstStyle/>
          <a:p>
            <a:pPr algn="l" indent="0" marL="0">
              <a:lnSpc>
                <a:spcPts val="1680"/>
              </a:lnSpc>
              <a:buNone/>
            </a:pPr>
            <a:r>
              <a:rPr lang="en-US" sz="1200" dirty="0">
                <a:solidFill>
                  <a:srgbClr val="F4F3EE"/>
                </a:solidFill>
                <a:latin typeface="IBM Plex Sans KR" pitchFamily="34" charset="0"/>
                <a:ea typeface="IBM Plex Sans KR" pitchFamily="34" charset="-122"/>
                <a:cs typeface="IBM Plex Sans KR" pitchFamily="34" charset="-120"/>
              </a:rPr>
              <a:t>Sanitizer로 정제</a:t>
            </a:r>
            <a:endParaRPr lang="en-US" sz="1200" dirty="0"/>
          </a:p>
        </p:txBody>
      </p:sp>
      <p:sp>
        <p:nvSpPr>
          <p:cNvPr id="8" name="Text 6"/>
          <p:cNvSpPr/>
          <p:nvPr/>
        </p:nvSpPr>
        <p:spPr>
          <a:xfrm>
            <a:off x="812800" y="3480991"/>
            <a:ext cx="2374900" cy="391120"/>
          </a:xfrm>
          <a:prstGeom prst="roundRect">
            <a:avLst>
              <a:gd name="adj" fmla="val 16235"/>
            </a:avLst>
          </a:prstGeom>
          <a:solidFill>
            <a:srgbClr val="26304A"/>
          </a:solidFill>
          <a:ln/>
        </p:spPr>
        <p:txBody>
          <a:bodyPr wrap="square" lIns="95701" tIns="70301" rIns="31312" bIns="44901" rtlCol="0" anchor="t">
            <a:normAutofit/>
          </a:bodyPr>
          <a:lstStyle/>
          <a:p>
            <a:pPr algn="l" indent="0" marL="0">
              <a:lnSpc>
                <a:spcPts val="1680"/>
              </a:lnSpc>
              <a:buNone/>
            </a:pPr>
            <a:r>
              <a:rPr lang="en-US" sz="1200" dirty="0">
                <a:solidFill>
                  <a:srgbClr val="F4F3EE"/>
                </a:solidFill>
                <a:latin typeface="IBM Plex Sans KR" pitchFamily="34" charset="0"/>
                <a:ea typeface="IBM Plex Sans KR" pitchFamily="34" charset="-122"/>
                <a:cs typeface="IBM Plex Sans KR" pitchFamily="34" charset="-120"/>
              </a:rPr>
              <a:t>attest-schema 서브에이전트</a:t>
            </a:r>
            <a:endParaRPr lang="en-US" sz="1200" dirty="0"/>
          </a:p>
        </p:txBody>
      </p:sp>
      <p:sp>
        <p:nvSpPr>
          <p:cNvPr id="9" name="Text 7"/>
          <p:cNvSpPr/>
          <p:nvPr/>
        </p:nvSpPr>
        <p:spPr>
          <a:xfrm>
            <a:off x="3263900" y="3480991"/>
            <a:ext cx="2374900" cy="391120"/>
          </a:xfrm>
          <a:prstGeom prst="roundRect">
            <a:avLst>
              <a:gd name="adj" fmla="val 16235"/>
            </a:avLst>
          </a:prstGeom>
          <a:solidFill>
            <a:srgbClr val="26304A"/>
          </a:solidFill>
          <a:ln/>
        </p:spPr>
        <p:txBody>
          <a:bodyPr wrap="square" lIns="95701" tIns="70301" rIns="31312" bIns="44901" rtlCol="0" anchor="t">
            <a:normAutofit/>
          </a:bodyPr>
          <a:lstStyle/>
          <a:p>
            <a:pPr algn="l" indent="0" marL="0">
              <a:lnSpc>
                <a:spcPts val="1680"/>
              </a:lnSpc>
              <a:buNone/>
            </a:pPr>
            <a:r>
              <a:rPr lang="en-US" sz="1200" dirty="0">
                <a:solidFill>
                  <a:srgbClr val="F4F3EE"/>
                </a:solidFill>
                <a:latin typeface="IBM Plex Sans KR" pitchFamily="34" charset="0"/>
                <a:ea typeface="IBM Plex Sans KR" pitchFamily="34" charset="-122"/>
                <a:cs typeface="IBM Plex Sans KR" pitchFamily="34" charset="-120"/>
              </a:rPr>
              <a:t>제약 수용 후 진행</a:t>
            </a:r>
            <a:endParaRPr lang="en-US" sz="1200" dirty="0"/>
          </a:p>
        </p:txBody>
      </p:sp>
      <p:sp>
        <p:nvSpPr>
          <p:cNvPr id="10" name="Text 8"/>
          <p:cNvSpPr/>
          <p:nvPr/>
        </p:nvSpPr>
        <p:spPr>
          <a:xfrm>
            <a:off x="812800" y="3999111"/>
            <a:ext cx="49707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3B5"/>
                </a:solidFill>
                <a:latin typeface="IBM Plex Sans KR" pitchFamily="34" charset="0"/>
                <a:ea typeface="IBM Plex Sans KR" pitchFamily="34" charset="-122"/>
                <a:cs typeface="IBM Plex Sans KR" pitchFamily="34" charset="-120"/>
              </a:rPr>
              <a:t>차단 시 에이전트가 고르는 4가지 remedy</a:t>
            </a:r>
            <a:endParaRPr lang="en-US" sz="1200" dirty="0"/>
          </a:p>
        </p:txBody>
      </p:sp>
      <p:sp>
        <p:nvSpPr>
          <p:cNvPr id="11" name="Text 9"/>
          <p:cNvSpPr/>
          <p:nvPr/>
        </p:nvSpPr>
        <p:spPr>
          <a:xfrm>
            <a:off x="5892800" y="1692870"/>
            <a:ext cx="5486400" cy="2743101"/>
          </a:xfrm>
          <a:prstGeom prst="roundRect">
            <a:avLst>
              <a:gd name="adj" fmla="val 2778"/>
            </a:avLst>
          </a:prstGeom>
          <a:solidFill>
            <a:srgbClr val="0B1020"/>
          </a:solidFill>
          <a:ln/>
        </p:spPr>
        <p:txBody>
          <a:bodyPr wrap="square" lIns="130082" tIns="130082" rIns="0" bIns="104682" rtlCol="0" anchor="t">
            <a:normAutofit/>
          </a:bodyPr>
          <a:lstStyle/>
          <a:p>
            <a:pPr algn="l" indent="0" marL="0">
              <a:lnSpc>
                <a:spcPts val="1920"/>
              </a:lnSpc>
              <a:buNone/>
            </a:pPr>
            <a:r>
              <a:rPr lang="en-US" sz="1200" dirty="0">
                <a:solidFill>
                  <a:srgbClr val="9AA3B5"/>
                </a:solidFill>
                <a:latin typeface="JetBrains Mono" pitchFamily="49" charset="0"/>
                <a:ea typeface="JetBrains Mono" pitchFamily="49" charset="-122"/>
                <a:cs typeface="JetBrains Mono" pitchFamily="49" charset="-120"/>
              </a:rPr>
              <a:t># 내부 문서를 읽으면 audience 축소</a:t>
            </a:r>
            <a:endParaRPr lang="en-US" sz="1200" dirty="0"/>
          </a:p>
          <a:p>
            <a:pPr algn="l" indent="0" marL="0">
              <a:lnSpc>
                <a:spcPts val="1920"/>
              </a:lnSpc>
              <a:buNone/>
            </a:pPr>
            <a:r>
              <a:rPr lang="en-US" sz="1200" dirty="0">
                <a:solidFill>
                  <a:srgbClr val="E3E6EC"/>
                </a:solidFill>
                <a:latin typeface="JetBrains Mono" pitchFamily="49" charset="0"/>
                <a:ea typeface="JetBrains Mono" pitchFamily="49" charset="-122"/>
                <a:cs typeface="JetBrains Mono" pitchFamily="49" charset="-120"/>
              </a:rPr>
              <a:t>[[policy.tool]]</a:t>
            </a:r>
            <a:endParaRPr lang="en-US" sz="1200" dirty="0"/>
          </a:p>
          <a:p>
            <a:pPr algn="l" indent="0" marL="0">
              <a:lnSpc>
                <a:spcPts val="1920"/>
              </a:lnSpc>
              <a:buNone/>
            </a:pPr>
            <a:r>
              <a:rPr lang="en-US" sz="1200" dirty="0">
                <a:solidFill>
                  <a:srgbClr val="E3E6EC"/>
                </a:solidFill>
                <a:latin typeface="JetBrains Mono" pitchFamily="49" charset="0"/>
                <a:ea typeface="JetBrains Mono" pitchFamily="49" charset="-122"/>
                <a:cs typeface="JetBrains Mono" pitchFamily="49" charset="-120"/>
              </a:rPr>
              <a:t>name = "docs__read_internal"</a:t>
            </a:r>
            <a:endParaRPr lang="en-US" sz="1200" dirty="0"/>
          </a:p>
          <a:p>
            <a:pPr algn="l" indent="0" marL="0">
              <a:lnSpc>
                <a:spcPts val="1920"/>
              </a:lnSpc>
              <a:buNone/>
            </a:pPr>
            <a:r>
              <a:rPr lang="en-US" sz="1200" dirty="0">
                <a:solidFill>
                  <a:srgbClr val="E3E6EC"/>
                </a:solidFill>
                <a:latin typeface="JetBrains Mono" pitchFamily="49" charset="0"/>
                <a:ea typeface="JetBrains Mono" pitchFamily="49" charset="-122"/>
                <a:cs typeface="JetBrains Mono" pitchFamily="49" charset="-120"/>
              </a:rPr>
              <a:t>delta = { audience = ["internal"] }</a:t>
            </a:r>
            <a:endParaRPr lang="en-US" sz="1200" dirty="0"/>
          </a:p>
          <a:p>
            <a:pPr algn="l" indent="0" marL="0">
              <a:lnSpc>
                <a:spcPts val="1920"/>
              </a:lnSpc>
              <a:buNone/>
            </a:pPr>
            <a:endParaRPr lang="en-US" sz="1200" dirty="0"/>
          </a:p>
          <a:p>
            <a:pPr algn="l" indent="0" marL="0">
              <a:lnSpc>
                <a:spcPts val="1920"/>
              </a:lnSpc>
              <a:buNone/>
            </a:pPr>
            <a:r>
              <a:rPr lang="en-US" sz="1200" dirty="0">
                <a:solidFill>
                  <a:srgbClr val="9AA3B5"/>
                </a:solidFill>
                <a:latin typeface="JetBrains Mono" pitchFamily="49" charset="0"/>
                <a:ea typeface="JetBrains Mono" pitchFamily="49" charset="-122"/>
                <a:cs typeface="JetBrains Mono" pitchFamily="49" charset="-120"/>
              </a:rPr>
              <a:t># 공개 게시는 public audience 필요</a:t>
            </a:r>
            <a:endParaRPr lang="en-US" sz="1200" dirty="0"/>
          </a:p>
          <a:p>
            <a:pPr algn="l" indent="0" marL="0">
              <a:lnSpc>
                <a:spcPts val="1920"/>
              </a:lnSpc>
              <a:buNone/>
            </a:pPr>
            <a:r>
              <a:rPr lang="en-US" sz="1200" dirty="0">
                <a:solidFill>
                  <a:srgbClr val="E3E6EC"/>
                </a:solidFill>
                <a:latin typeface="JetBrains Mono" pitchFamily="49" charset="0"/>
                <a:ea typeface="JetBrains Mono" pitchFamily="49" charset="-122"/>
                <a:cs typeface="JetBrains Mono" pitchFamily="49" charset="-120"/>
              </a:rPr>
              <a:t>[[policy.tool]]</a:t>
            </a:r>
            <a:endParaRPr lang="en-US" sz="1200" dirty="0"/>
          </a:p>
          <a:p>
            <a:pPr algn="l" indent="0" marL="0">
              <a:lnSpc>
                <a:spcPts val="1920"/>
              </a:lnSpc>
              <a:buNone/>
            </a:pPr>
            <a:r>
              <a:rPr lang="en-US" sz="1200" dirty="0">
                <a:solidFill>
                  <a:srgbClr val="E3E6EC"/>
                </a:solidFill>
                <a:latin typeface="JetBrains Mono" pitchFamily="49" charset="0"/>
                <a:ea typeface="JetBrains Mono" pitchFamily="49" charset="-122"/>
                <a:cs typeface="JetBrains Mono" pitchFamily="49" charset="-120"/>
              </a:rPr>
              <a:t>name = "blog__publish_post"</a:t>
            </a:r>
            <a:endParaRPr lang="en-US" sz="1200" dirty="0"/>
          </a:p>
          <a:p>
            <a:pPr algn="l" indent="0" marL="0">
              <a:lnSpc>
                <a:spcPts val="1920"/>
              </a:lnSpc>
              <a:buNone/>
            </a:pPr>
            <a:r>
              <a:rPr lang="en-US" sz="1200" dirty="0">
                <a:solidFill>
                  <a:srgbClr val="E3E6EC"/>
                </a:solidFill>
                <a:latin typeface="JetBrains Mono" pitchFamily="49" charset="0"/>
                <a:ea typeface="JetBrains Mono" pitchFamily="49" charset="-122"/>
                <a:cs typeface="JetBrains Mono" pitchFamily="49" charset="-120"/>
              </a:rPr>
              <a:t>requires = { trust = "trusted",</a:t>
            </a:r>
            <a:endParaRPr lang="en-US" sz="1200" dirty="0"/>
          </a:p>
          <a:p>
            <a:pPr algn="l" indent="0" marL="0">
              <a:lnSpc>
                <a:spcPts val="1920"/>
              </a:lnSpc>
              <a:buNone/>
            </a:pPr>
            <a:r>
              <a:rPr lang="en-US" sz="1200" dirty="0">
                <a:solidFill>
                  <a:srgbClr val="E3E6EC"/>
                </a:solidFill>
                <a:latin typeface="JetBrains Mono" pitchFamily="49" charset="0"/>
                <a:ea typeface="JetBrains Mono" pitchFamily="49" charset="-122"/>
                <a:cs typeface="JetBrains Mono" pitchFamily="49" charset="-120"/>
              </a:rPr>
              <a:t>audience = { contains = ["public"] } }</a:t>
            </a:r>
            <a:endParaRPr lang="en-US" sz="1200" dirty="0"/>
          </a:p>
        </p:txBody>
      </p:sp>
      <p:sp>
        <p:nvSpPr>
          <p:cNvPr id="12" name="Text 10"/>
          <p:cNvSpPr/>
          <p:nvPr/>
        </p:nvSpPr>
        <p:spPr>
          <a:xfrm>
            <a:off x="5892800" y="4537571"/>
            <a:ext cx="5650992"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C9CEDA"/>
                </a:solidFill>
                <a:latin typeface="IBM Plex Sans KR" pitchFamily="34" charset="0"/>
                <a:ea typeface="IBM Plex Sans KR" pitchFamily="34" charset="-122"/>
                <a:cs typeface="IBM Plex Sans KR" pitchFamily="34" charset="-120"/>
              </a:rPr>
              <a:t>구현: LLM Proxy 플러그인 + MCP Gateway → TS 서비스 → </a:t>
            </a:r>
            <a:r>
              <a:rPr lang="en-US" sz="1200" b="1" dirty="0">
                <a:solidFill>
                  <a:srgbClr val="F4F3EE"/>
                </a:solidFill>
                <a:latin typeface="IBM Plex Sans KR" pitchFamily="34" charset="0"/>
                <a:ea typeface="IBM Plex Sans KR" pitchFamily="34" charset="-122"/>
                <a:cs typeface="IBM Plex Sans KR" pitchFamily="34" charset="-120"/>
              </a:rPr>
              <a:t>Rust NAPI 애드온</a:t>
            </a:r>
            <a:r>
              <a:rPr lang="en-US" sz="1200" dirty="0">
                <a:solidFill>
                  <a:srgbClr val="C9CEDA"/>
                </a:solidFill>
                <a:latin typeface="IBM Plex Sans KR" pitchFamily="34" charset="0"/>
                <a:ea typeface="IBM Plex Sans KR" pitchFamily="34" charset="-122"/>
                <a:cs typeface="IBM Plex Sans KR" pitchFamily="34" charset="-120"/>
              </a:rPr>
              <a:t> → Postgres 이벤트·영수증. 정책 리비전은 DB 저장, GitHub 동기화.</a:t>
            </a:r>
            <a:endParaRPr lang="en-US" sz="12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3B5"/>
                </a:solidFill>
                <a:latin typeface="IBM Plex Sans KR" pitchFamily="34" charset="0"/>
                <a:ea typeface="IBM Plex Sans KR" pitchFamily="34" charset="-122"/>
                <a:cs typeface="IBM Plex Sans KR" pitchFamily="34" charset="-120"/>
              </a:rPr>
              <a:t>Archestra 아키텍처 · 10 · 출처: docs/pages/agents/guardrails, docs/openappa-architecture.md</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3EE"/>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B8521E"/>
                </a:solidFill>
                <a:latin typeface="JetBrains Mono" pitchFamily="49" charset="0"/>
                <a:ea typeface="JetBrains Mono" pitchFamily="49" charset="-122"/>
                <a:cs typeface="JetBrains Mono" pitchFamily="49" charset="-120"/>
              </a:rPr>
              <a:t>10 · NATIVE CORE</a:t>
            </a:r>
            <a:endParaRPr lang="en-US" sz="1200" dirty="0"/>
          </a:p>
        </p:txBody>
      </p:sp>
      <p:sp>
        <p:nvSpPr>
          <p:cNvPr id="3" name="Text 1"/>
          <p:cNvSpPr/>
          <p:nvPr>
            <p:ph type="title"/>
          </p:nvPr>
        </p:nvSpPr>
        <p:spPr>
          <a:xfrm>
            <a:off x="812800" y="10007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1A2A"/>
                </a:solidFill>
                <a:latin typeface="IBM Plex Sans KR" pitchFamily="34" charset="0"/>
                <a:ea typeface="IBM Plex Sans KR" pitchFamily="34" charset="-122"/>
                <a:cs typeface="IBM Plex Sans KR" pitchFamily="34" charset="-120"/>
              </a:rPr>
              <a:t>보안 민감 로직은 Rust로, Node에는 NAPI로 연결</a:t>
            </a:r>
            <a:endParaRPr lang="en-US" sz="3000" dirty="0"/>
          </a:p>
        </p:txBody>
      </p:sp>
      <p:sp>
        <p:nvSpPr>
          <p:cNvPr id="4" name="Shape 2"/>
          <p:cNvSpPr/>
          <p:nvPr/>
        </p:nvSpPr>
        <p:spPr>
          <a:xfrm>
            <a:off x="815975" y="1696045"/>
            <a:ext cx="5200650" cy="885180"/>
          </a:xfrm>
          <a:prstGeom prst="roundRect">
            <a:avLst>
              <a:gd name="adj" fmla="val 9684"/>
            </a:avLst>
          </a:prstGeom>
          <a:solidFill>
            <a:srgbClr val="FBFAF7"/>
          </a:solidFill>
          <a:ln w="6350">
            <a:solidFill>
              <a:srgbClr val="DCD9CF"/>
            </a:solidFill>
            <a:prstDash val="solid"/>
          </a:ln>
        </p:spPr>
      </p:sp>
      <p:sp>
        <p:nvSpPr>
          <p:cNvPr id="5" name="Text 3"/>
          <p:cNvSpPr/>
          <p:nvPr/>
        </p:nvSpPr>
        <p:spPr>
          <a:xfrm>
            <a:off x="996950" y="1877020"/>
            <a:ext cx="4983861"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5BB7"/>
                </a:solidFill>
                <a:latin typeface="JetBrains Mono" pitchFamily="49" charset="0"/>
                <a:ea typeface="JetBrains Mono" pitchFamily="49" charset="-122"/>
                <a:cs typeface="JetBrains Mono" pitchFamily="49" charset="-120"/>
              </a:rPr>
              <a:t>openappa-rs</a:t>
            </a:r>
            <a:endParaRPr lang="en-US" sz="1300" dirty="0"/>
          </a:p>
        </p:txBody>
      </p:sp>
      <p:sp>
        <p:nvSpPr>
          <p:cNvPr id="6" name="Text 4"/>
          <p:cNvSpPr/>
          <p:nvPr/>
        </p:nvSpPr>
        <p:spPr>
          <a:xfrm>
            <a:off x="996950" y="2171650"/>
            <a:ext cx="4983861"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263"/>
                </a:solidFill>
                <a:latin typeface="IBM Plex Sans KR" pitchFamily="34" charset="0"/>
                <a:ea typeface="IBM Plex Sans KR" pitchFamily="34" charset="-122"/>
                <a:cs typeface="IBM Plex Sans KR" pitchFamily="34" charset="-120"/>
              </a:rPr>
              <a:t>OpenAPPA 정책 런타임 바인딩. 세션 라벨 판정, 호출 예약, 영수증 커밋</a:t>
            </a:r>
            <a:endParaRPr lang="en-US" sz="1200" dirty="0"/>
          </a:p>
        </p:txBody>
      </p:sp>
      <p:sp>
        <p:nvSpPr>
          <p:cNvPr id="7" name="Shape 5"/>
          <p:cNvSpPr/>
          <p:nvPr/>
        </p:nvSpPr>
        <p:spPr>
          <a:xfrm>
            <a:off x="6175375" y="1696045"/>
            <a:ext cx="5200650" cy="885180"/>
          </a:xfrm>
          <a:prstGeom prst="roundRect">
            <a:avLst>
              <a:gd name="adj" fmla="val 9684"/>
            </a:avLst>
          </a:prstGeom>
          <a:solidFill>
            <a:srgbClr val="FBFAF7"/>
          </a:solidFill>
          <a:ln w="6350">
            <a:solidFill>
              <a:srgbClr val="DCD9CF"/>
            </a:solidFill>
            <a:prstDash val="solid"/>
          </a:ln>
        </p:spPr>
      </p:sp>
      <p:sp>
        <p:nvSpPr>
          <p:cNvPr id="8" name="Text 6"/>
          <p:cNvSpPr/>
          <p:nvPr/>
        </p:nvSpPr>
        <p:spPr>
          <a:xfrm>
            <a:off x="6356350" y="1877020"/>
            <a:ext cx="4983861"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5BB7"/>
                </a:solidFill>
                <a:latin typeface="JetBrains Mono" pitchFamily="49" charset="0"/>
                <a:ea typeface="JetBrains Mono" pitchFamily="49" charset="-122"/>
                <a:cs typeface="JetBrains Mono" pitchFamily="49" charset="-120"/>
              </a:rPr>
              <a:t>sandbox-core / sandbox-rs</a:t>
            </a:r>
            <a:endParaRPr lang="en-US" sz="1300" dirty="0"/>
          </a:p>
        </p:txBody>
      </p:sp>
      <p:sp>
        <p:nvSpPr>
          <p:cNvPr id="9" name="Text 7"/>
          <p:cNvSpPr/>
          <p:nvPr/>
        </p:nvSpPr>
        <p:spPr>
          <a:xfrm>
            <a:off x="6356350" y="2171650"/>
            <a:ext cx="4983861"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263"/>
                </a:solidFill>
                <a:latin typeface="IBM Plex Sans KR" pitchFamily="34" charset="0"/>
                <a:ea typeface="IBM Plex Sans KR" pitchFamily="34" charset="-122"/>
                <a:cs typeface="IBM Plex Sans KR" pitchFamily="34" charset="-120"/>
              </a:rPr>
              <a:t>코드 실행 샌드박스. Dagger 백엔드, 경로·시크릿·stdin 검증, 세션 감독</a:t>
            </a:r>
            <a:endParaRPr lang="en-US" sz="1200" dirty="0"/>
          </a:p>
        </p:txBody>
      </p:sp>
      <p:sp>
        <p:nvSpPr>
          <p:cNvPr id="10" name="Shape 8"/>
          <p:cNvSpPr/>
          <p:nvPr/>
        </p:nvSpPr>
        <p:spPr>
          <a:xfrm>
            <a:off x="815975" y="2739975"/>
            <a:ext cx="5200650" cy="885180"/>
          </a:xfrm>
          <a:prstGeom prst="roundRect">
            <a:avLst>
              <a:gd name="adj" fmla="val 9684"/>
            </a:avLst>
          </a:prstGeom>
          <a:solidFill>
            <a:srgbClr val="FBFAF7"/>
          </a:solidFill>
          <a:ln w="6350">
            <a:solidFill>
              <a:srgbClr val="DCD9CF"/>
            </a:solidFill>
            <a:prstDash val="solid"/>
          </a:ln>
        </p:spPr>
      </p:sp>
      <p:sp>
        <p:nvSpPr>
          <p:cNvPr id="11" name="Text 9"/>
          <p:cNvSpPr/>
          <p:nvPr/>
        </p:nvSpPr>
        <p:spPr>
          <a:xfrm>
            <a:off x="996950" y="2920950"/>
            <a:ext cx="4983861"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5BB7"/>
                </a:solidFill>
                <a:latin typeface="JetBrains Mono" pitchFamily="49" charset="0"/>
                <a:ea typeface="JetBrains Mono" pitchFamily="49" charset="-122"/>
                <a:cs typeface="JetBrains Mono" pitchFamily="49" charset="-120"/>
              </a:rPr>
              <a:t>app-runtime-core / -rs</a:t>
            </a:r>
            <a:endParaRPr lang="en-US" sz="1300" dirty="0"/>
          </a:p>
        </p:txBody>
      </p:sp>
      <p:sp>
        <p:nvSpPr>
          <p:cNvPr id="12" name="Text 10"/>
          <p:cNvSpPr/>
          <p:nvPr/>
        </p:nvSpPr>
        <p:spPr>
          <a:xfrm>
            <a:off x="996950" y="3215580"/>
            <a:ext cx="4983861"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263"/>
                </a:solidFill>
                <a:latin typeface="IBM Plex Sans KR" pitchFamily="34" charset="0"/>
                <a:ea typeface="IBM Plex Sans KR" pitchFamily="34" charset="-122"/>
                <a:cs typeface="IBM Plex Sans KR" pitchFamily="34" charset="-120"/>
              </a:rPr>
              <a:t>미니 앱(MCP 앱) HTML을 뷰어별 컨텍스트와 묶어 샌드박스용 HTML로 변환</a:t>
            </a:r>
            <a:endParaRPr lang="en-US" sz="1200" dirty="0"/>
          </a:p>
        </p:txBody>
      </p:sp>
      <p:sp>
        <p:nvSpPr>
          <p:cNvPr id="13" name="Shape 11"/>
          <p:cNvSpPr/>
          <p:nvPr/>
        </p:nvSpPr>
        <p:spPr>
          <a:xfrm>
            <a:off x="6175375" y="2739975"/>
            <a:ext cx="5200650" cy="885180"/>
          </a:xfrm>
          <a:prstGeom prst="roundRect">
            <a:avLst>
              <a:gd name="adj" fmla="val 9684"/>
            </a:avLst>
          </a:prstGeom>
          <a:solidFill>
            <a:srgbClr val="FBFAF7"/>
          </a:solidFill>
          <a:ln w="6350">
            <a:solidFill>
              <a:srgbClr val="DCD9CF"/>
            </a:solidFill>
            <a:prstDash val="solid"/>
          </a:ln>
        </p:spPr>
      </p:sp>
      <p:sp>
        <p:nvSpPr>
          <p:cNvPr id="14" name="Text 12"/>
          <p:cNvSpPr/>
          <p:nvPr/>
        </p:nvSpPr>
        <p:spPr>
          <a:xfrm>
            <a:off x="6356350" y="2920950"/>
            <a:ext cx="4983861"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5BB7"/>
                </a:solidFill>
                <a:latin typeface="JetBrains Mono" pitchFamily="49" charset="0"/>
                <a:ea typeface="JetBrains Mono" pitchFamily="49" charset="-122"/>
                <a:cs typeface="JetBrains Mono" pitchFamily="49" charset="-120"/>
              </a:rPr>
              <a:t>image-core / image-rs</a:t>
            </a:r>
            <a:endParaRPr lang="en-US" sz="1300" dirty="0"/>
          </a:p>
        </p:txBody>
      </p:sp>
      <p:sp>
        <p:nvSpPr>
          <p:cNvPr id="15" name="Text 13"/>
          <p:cNvSpPr/>
          <p:nvPr/>
        </p:nvSpPr>
        <p:spPr>
          <a:xfrm>
            <a:off x="6356350" y="3215580"/>
            <a:ext cx="4983861"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263"/>
                </a:solidFill>
                <a:latin typeface="IBM Plex Sans KR" pitchFamily="34" charset="0"/>
                <a:ea typeface="IBM Plex Sans KR" pitchFamily="34" charset="-122"/>
                <a:cs typeface="IBM Plex Sans KR" pitchFamily="34" charset="-120"/>
              </a:rPr>
              <a:t>신뢰할 수 없는 첨부 이미지를 자원 한도 안에서 디코딩·축소 (압축 폭탄 방어)</a:t>
            </a:r>
            <a:endParaRPr lang="en-US" sz="1200" dirty="0"/>
          </a:p>
        </p:txBody>
      </p:sp>
      <p:sp>
        <p:nvSpPr>
          <p:cNvPr id="16" name="Text 14"/>
          <p:cNvSpPr/>
          <p:nvPr/>
        </p:nvSpPr>
        <p:spPr>
          <a:xfrm>
            <a:off x="812800" y="3882330"/>
            <a:ext cx="9810750"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A5263"/>
                </a:solidFill>
                <a:latin typeface="IBM Plex Sans KR" pitchFamily="34" charset="0"/>
                <a:ea typeface="IBM Plex Sans KR" pitchFamily="34" charset="-122"/>
                <a:cs typeface="IBM Plex Sans KR" pitchFamily="34" charset="-120"/>
              </a:rPr>
              <a:t>공통 원칙: core 크레이트는 Node·NAPI 의존이 없는 순수 로직으로 두고, </a:t>
            </a:r>
            <a:r>
              <a:rPr lang="en-US" sz="1400" b="1" dirty="0">
                <a:solidFill>
                  <a:srgbClr val="131A2A"/>
                </a:solidFill>
                <a:latin typeface="IBM Plex Sans KR" pitchFamily="34" charset="0"/>
                <a:ea typeface="IBM Plex Sans KR" pitchFamily="34" charset="-122"/>
                <a:cs typeface="IBM Plex Sans KR" pitchFamily="34" charset="-120"/>
              </a:rPr>
              <a:t>-rs</a:t>
            </a:r>
            <a:r>
              <a:rPr lang="en-US" sz="1400" dirty="0">
                <a:solidFill>
                  <a:srgbClr val="4A5263"/>
                </a:solidFill>
                <a:latin typeface="IBM Plex Sans KR" pitchFamily="34" charset="0"/>
                <a:ea typeface="IBM Plex Sans KR" pitchFamily="34" charset="-122"/>
                <a:cs typeface="IBM Plex Sans KR" pitchFamily="34" charset="-120"/>
              </a:rPr>
              <a:t> 어댑터만 NAPI로 노출합니다. 나중에 Rust 단독 컴패니언 프로세스에서도 같은 코어를 재사용하려는 설계입니다.</a:t>
            </a:r>
            <a:endParaRPr lang="en-US" sz="14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KR" pitchFamily="34" charset="0"/>
                <a:ea typeface="IBM Plex Sans KR" pitchFamily="34" charset="-122"/>
                <a:cs typeface="IBM Plex Sans KR" pitchFamily="34" charset="-120"/>
              </a:rPr>
              <a:t>Archestra 아키텍처 · 11 · 출처: platform/archestra-rs/*/src/lib.rs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3EE"/>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B8521E"/>
                </a:solidFill>
                <a:latin typeface="JetBrains Mono" pitchFamily="49" charset="0"/>
                <a:ea typeface="JetBrains Mono" pitchFamily="49" charset="-122"/>
                <a:cs typeface="JetBrains Mono" pitchFamily="49" charset="-120"/>
              </a:rPr>
              <a:t>11 · IDENTITY · SECURITY · OBSERVABILITY</a:t>
            </a:r>
            <a:endParaRPr lang="en-US" sz="1200" dirty="0"/>
          </a:p>
        </p:txBody>
      </p:sp>
      <p:sp>
        <p:nvSpPr>
          <p:cNvPr id="3" name="Text 1"/>
          <p:cNvSpPr/>
          <p:nvPr>
            <p:ph type="title"/>
          </p:nvPr>
        </p:nvSpPr>
        <p:spPr>
          <a:xfrm>
            <a:off x="812800" y="10007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1A2A"/>
                </a:solidFill>
                <a:latin typeface="IBM Plex Sans KR" pitchFamily="34" charset="0"/>
                <a:ea typeface="IBM Plex Sans KR" pitchFamily="34" charset="-122"/>
                <a:cs typeface="IBM Plex Sans KR" pitchFamily="34" charset="-120"/>
              </a:rPr>
              <a:t>신원·비밀·관측은 처음부터 내장</a:t>
            </a:r>
            <a:endParaRPr lang="en-US" sz="3000" dirty="0"/>
          </a:p>
        </p:txBody>
      </p:sp>
      <p:sp>
        <p:nvSpPr>
          <p:cNvPr id="4" name="Shape 2"/>
          <p:cNvSpPr/>
          <p:nvPr/>
        </p:nvSpPr>
        <p:spPr>
          <a:xfrm>
            <a:off x="815975" y="1696045"/>
            <a:ext cx="3397250" cy="2596952"/>
          </a:xfrm>
          <a:prstGeom prst="roundRect">
            <a:avLst>
              <a:gd name="adj" fmla="val 3790"/>
            </a:avLst>
          </a:prstGeom>
          <a:solidFill>
            <a:srgbClr val="FBFAF7"/>
          </a:solidFill>
          <a:ln w="6350">
            <a:solidFill>
              <a:srgbClr val="DCD9CF"/>
            </a:solidFill>
            <a:prstDash val="solid"/>
          </a:ln>
        </p:spPr>
      </p:sp>
      <p:pic>
        <p:nvPicPr>
          <p:cNvPr id="5" name="Image 0" descr="Users">    </p:cNvPr>
          <p:cNvPicPr>
            <a:picLocks noChangeAspect="1"/>
          </p:cNvPicPr>
          <p:nvPr/>
        </p:nvPicPr>
        <p:blipFill>
          <a:blip r:embed="rId1"/>
          <a:srcRect l="0" r="0" t="0" b="0"/>
          <a:stretch/>
        </p:blipFill>
        <p:spPr>
          <a:xfrm>
            <a:off x="1022350" y="1902420"/>
            <a:ext cx="304800" cy="304800"/>
          </a:xfrm>
          <a:prstGeom prst="rect">
            <a:avLst/>
          </a:prstGeom>
        </p:spPr>
      </p:pic>
      <p:sp>
        <p:nvSpPr>
          <p:cNvPr id="6" name="Text 3"/>
          <p:cNvSpPr/>
          <p:nvPr/>
        </p:nvSpPr>
        <p:spPr>
          <a:xfrm>
            <a:off x="1022350" y="2308820"/>
            <a:ext cx="3074035"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31A2A"/>
                </a:solidFill>
                <a:latin typeface="IBM Plex Sans KR" pitchFamily="34" charset="0"/>
                <a:ea typeface="IBM Plex Sans KR" pitchFamily="34" charset="-122"/>
                <a:cs typeface="IBM Plex Sans KR" pitchFamily="34" charset="-120"/>
              </a:rPr>
              <a:t>신원 · 접근</a:t>
            </a:r>
            <a:endParaRPr lang="en-US" sz="1700" dirty="0"/>
          </a:p>
        </p:txBody>
      </p:sp>
      <p:sp>
        <p:nvSpPr>
          <p:cNvPr id="7" name="Text 4"/>
          <p:cNvSpPr/>
          <p:nvPr/>
        </p:nvSpPr>
        <p:spPr>
          <a:xfrm>
            <a:off x="1114806" y="2669480"/>
            <a:ext cx="2973959" cy="1206351"/>
          </a:xfrm>
          <a:prstGeom prst="rect">
            <a:avLst/>
          </a:prstGeom>
          <a:noFill/>
          <a:ln/>
        </p:spPr>
        <p:txBody>
          <a:bodyPr wrap="square" lIns="0" tIns="0" rIns="0" bIns="0" rtlCol="0" anchor="t">
            <a:normAutofit/>
          </a:bodyPr>
          <a:lstStyle/>
          <a:p>
            <a:pPr algn="l" marL="161544" indent="-161544">
              <a:lnSpc>
                <a:spcPts val="1860"/>
              </a:lnSpc>
              <a:buSzPct val="100000"/>
              <a:buChar char="•"/>
            </a:pPr>
            <a:r>
              <a:rPr lang="en-US" sz="1200" dirty="0">
                <a:solidFill>
                  <a:srgbClr val="4A5263"/>
                </a:solidFill>
                <a:latin typeface="IBM Plex Sans KR" pitchFamily="34" charset="0"/>
                <a:ea typeface="IBM Plex Sans KR" pitchFamily="34" charset="-122"/>
                <a:cs typeface="IBM Plex Sans KR" pitchFamily="34" charset="-120"/>
              </a:rPr>
              <a:t>SSO: OIDC, SAML, Okta, Entra</a:t>
            </a:r>
            <a:endParaRPr lang="en-US" sz="1200" dirty="0"/>
          </a:p>
          <a:p>
            <a:pPr algn="l" marL="161544" indent="-161544">
              <a:lnSpc>
                <a:spcPts val="1860"/>
              </a:lnSpc>
              <a:buSzPct val="100000"/>
              <a:buChar char="•"/>
            </a:pPr>
            <a:r>
              <a:rPr lang="en-US" sz="1200" dirty="0">
                <a:solidFill>
                  <a:srgbClr val="4A5263"/>
                </a:solidFill>
                <a:latin typeface="IBM Plex Sans KR" pitchFamily="34" charset="0"/>
                <a:ea typeface="IBM Plex Sans KR" pitchFamily="34" charset="-122"/>
                <a:cs typeface="IBM Plex Sans KR" pitchFamily="34" charset="-120"/>
              </a:rPr>
              <a:t>RBAC + 커스텀 역할, IdP 역할 매핑·팀 동기화</a:t>
            </a:r>
            <a:endParaRPr lang="en-US" sz="1200" dirty="0"/>
          </a:p>
          <a:p>
            <a:pPr algn="l" marL="161544" indent="-161544">
              <a:lnSpc>
                <a:spcPts val="1860"/>
              </a:lnSpc>
              <a:buSzPct val="100000"/>
              <a:buChar char="•"/>
            </a:pPr>
            <a:r>
              <a:rPr lang="en-US" sz="1200" dirty="0">
                <a:solidFill>
                  <a:srgbClr val="4A5263"/>
                </a:solidFill>
                <a:latin typeface="IBM Plex Sans KR" pitchFamily="34" charset="0"/>
                <a:ea typeface="IBM Plex Sans KR" pitchFamily="34" charset="-122"/>
                <a:cs typeface="IBM Plex Sans KR" pitchFamily="34" charset="-120"/>
              </a:rPr>
              <a:t>리소스 단위 권한 (사람·팀·역할·서비스 계정)</a:t>
            </a:r>
            <a:endParaRPr lang="en-US" sz="1200" dirty="0"/>
          </a:p>
          <a:p>
            <a:pPr algn="l" marL="161544" indent="-161544">
              <a:lnSpc>
                <a:spcPts val="1860"/>
              </a:lnSpc>
              <a:buSzPct val="100000"/>
              <a:buChar char="•"/>
            </a:pPr>
            <a:r>
              <a:rPr lang="en-US" sz="1200" dirty="0">
                <a:solidFill>
                  <a:srgbClr val="4A5263"/>
                </a:solidFill>
                <a:latin typeface="IBM Plex Sans KR" pitchFamily="34" charset="0"/>
                <a:ea typeface="IBM Plex Sans KR" pitchFamily="34" charset="-122"/>
                <a:cs typeface="IBM Plex Sans KR" pitchFamily="34" charset="-120"/>
              </a:rPr>
              <a:t>TOTP 2FA, 세션 수명 제한</a:t>
            </a:r>
            <a:endParaRPr lang="en-US" sz="1200" dirty="0"/>
          </a:p>
        </p:txBody>
      </p:sp>
      <p:sp>
        <p:nvSpPr>
          <p:cNvPr id="8" name="Shape 5"/>
          <p:cNvSpPr/>
          <p:nvPr/>
        </p:nvSpPr>
        <p:spPr>
          <a:xfrm>
            <a:off x="4397375" y="1696045"/>
            <a:ext cx="3397250" cy="2596952"/>
          </a:xfrm>
          <a:prstGeom prst="roundRect">
            <a:avLst>
              <a:gd name="adj" fmla="val 3790"/>
            </a:avLst>
          </a:prstGeom>
          <a:solidFill>
            <a:srgbClr val="FBFAF7"/>
          </a:solidFill>
          <a:ln w="6350">
            <a:solidFill>
              <a:srgbClr val="DCD9CF"/>
            </a:solidFill>
            <a:prstDash val="solid"/>
          </a:ln>
        </p:spPr>
      </p:sp>
      <p:pic>
        <p:nvPicPr>
          <p:cNvPr id="9" name="Image 1" descr="Key">    </p:cNvPr>
          <p:cNvPicPr>
            <a:picLocks noChangeAspect="1"/>
          </p:cNvPicPr>
          <p:nvPr/>
        </p:nvPicPr>
        <p:blipFill>
          <a:blip r:embed="rId2"/>
          <a:srcRect l="0" r="0" t="0" b="0"/>
          <a:stretch/>
        </p:blipFill>
        <p:spPr>
          <a:xfrm>
            <a:off x="4603750" y="1902420"/>
            <a:ext cx="304800" cy="304800"/>
          </a:xfrm>
          <a:prstGeom prst="rect">
            <a:avLst/>
          </a:prstGeom>
        </p:spPr>
      </p:pic>
      <p:sp>
        <p:nvSpPr>
          <p:cNvPr id="10" name="Text 6"/>
          <p:cNvSpPr/>
          <p:nvPr/>
        </p:nvSpPr>
        <p:spPr>
          <a:xfrm>
            <a:off x="4603750" y="2308820"/>
            <a:ext cx="3074035"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31A2A"/>
                </a:solidFill>
                <a:latin typeface="IBM Plex Sans KR" pitchFamily="34" charset="0"/>
                <a:ea typeface="IBM Plex Sans KR" pitchFamily="34" charset="-122"/>
                <a:cs typeface="IBM Plex Sans KR" pitchFamily="34" charset="-120"/>
              </a:rPr>
              <a:t>비밀 · 데이터</a:t>
            </a:r>
            <a:endParaRPr lang="en-US" sz="1700" dirty="0"/>
          </a:p>
        </p:txBody>
      </p:sp>
      <p:sp>
        <p:nvSpPr>
          <p:cNvPr id="11" name="Text 7"/>
          <p:cNvSpPr/>
          <p:nvPr/>
        </p:nvSpPr>
        <p:spPr>
          <a:xfrm>
            <a:off x="4696206" y="2669480"/>
            <a:ext cx="2973959" cy="1442541"/>
          </a:xfrm>
          <a:prstGeom prst="rect">
            <a:avLst/>
          </a:prstGeom>
          <a:noFill/>
          <a:ln/>
        </p:spPr>
        <p:txBody>
          <a:bodyPr wrap="square" lIns="0" tIns="0" rIns="0" bIns="0" rtlCol="0" anchor="t">
            <a:normAutofit/>
          </a:bodyPr>
          <a:lstStyle/>
          <a:p>
            <a:pPr algn="l" marL="161544" indent="-161544">
              <a:lnSpc>
                <a:spcPts val="1860"/>
              </a:lnSpc>
              <a:buSzPct val="100000"/>
              <a:buChar char="•"/>
            </a:pPr>
            <a:r>
              <a:rPr lang="en-US" sz="1200" dirty="0">
                <a:solidFill>
                  <a:srgbClr val="4A5263"/>
                </a:solidFill>
                <a:latin typeface="IBM Plex Sans KR" pitchFamily="34" charset="0"/>
                <a:ea typeface="IBM Plex Sans KR" pitchFamily="34" charset="-122"/>
                <a:cs typeface="IBM Plex Sans KR" pitchFamily="34" charset="-120"/>
              </a:rPr>
              <a:t>시크릿: DB 암호화 저장 또는 HashiCorp Vault</a:t>
            </a:r>
            <a:endParaRPr lang="en-US" sz="1200" dirty="0"/>
          </a:p>
          <a:p>
            <a:pPr algn="l" marL="161544" indent="-161544">
              <a:lnSpc>
                <a:spcPts val="1860"/>
              </a:lnSpc>
              <a:buSzPct val="100000"/>
              <a:buChar char="•"/>
            </a:pPr>
            <a:r>
              <a:rPr lang="en-US" sz="1200" dirty="0">
                <a:solidFill>
                  <a:srgbClr val="4A5263"/>
                </a:solidFill>
                <a:latin typeface="IBM Plex Sans KR" pitchFamily="34" charset="0"/>
                <a:ea typeface="IBM Plex Sans KR" pitchFamily="34" charset="-122"/>
                <a:cs typeface="IBM Plex Sans KR" pitchFamily="34" charset="-120"/>
              </a:rPr>
              <a:t>LLM 로그·채팅 본문 저장 시 별도 키로 암호화</a:t>
            </a:r>
            <a:endParaRPr lang="en-US" sz="1200" dirty="0"/>
          </a:p>
          <a:p>
            <a:pPr algn="l" marL="161544" indent="-161544">
              <a:lnSpc>
                <a:spcPts val="1860"/>
              </a:lnSpc>
              <a:buSzPct val="100000"/>
              <a:buChar char="•"/>
            </a:pPr>
            <a:r>
              <a:rPr lang="en-US" sz="1200" dirty="0">
                <a:solidFill>
                  <a:srgbClr val="4A5263"/>
                </a:solidFill>
                <a:latin typeface="IBM Plex Sans KR" pitchFamily="34" charset="0"/>
                <a:ea typeface="IBM Plex Sans KR" pitchFamily="34" charset="-122"/>
                <a:cs typeface="IBM Plex Sans KR" pitchFamily="34" charset="-120"/>
              </a:rPr>
              <a:t>로그·유휴 채팅 보존 기간 자동 삭제</a:t>
            </a:r>
            <a:endParaRPr lang="en-US" sz="1200" dirty="0"/>
          </a:p>
          <a:p>
            <a:pPr algn="l" marL="161544" indent="-161544">
              <a:lnSpc>
                <a:spcPts val="1860"/>
              </a:lnSpc>
              <a:buSzPct val="100000"/>
              <a:buChar char="•"/>
            </a:pPr>
            <a:r>
              <a:rPr lang="en-US" sz="1200" dirty="0">
                <a:solidFill>
                  <a:srgbClr val="4A5263"/>
                </a:solidFill>
                <a:latin typeface="IBM Plex Sans KR" pitchFamily="34" charset="0"/>
                <a:ea typeface="IBM Plex Sans KR" pitchFamily="34" charset="-122"/>
                <a:cs typeface="IBM Plex Sans KR" pitchFamily="34" charset="-120"/>
              </a:rPr>
              <a:t>환경(dev/prod)별 egress 정책·비용 한도</a:t>
            </a:r>
            <a:endParaRPr lang="en-US" sz="1200" dirty="0"/>
          </a:p>
        </p:txBody>
      </p:sp>
      <p:sp>
        <p:nvSpPr>
          <p:cNvPr id="12" name="Shape 8"/>
          <p:cNvSpPr/>
          <p:nvPr/>
        </p:nvSpPr>
        <p:spPr>
          <a:xfrm>
            <a:off x="7978775" y="1696045"/>
            <a:ext cx="3397250" cy="2596952"/>
          </a:xfrm>
          <a:prstGeom prst="roundRect">
            <a:avLst>
              <a:gd name="adj" fmla="val 3790"/>
            </a:avLst>
          </a:prstGeom>
          <a:solidFill>
            <a:srgbClr val="FBFAF7"/>
          </a:solidFill>
          <a:ln w="6350">
            <a:solidFill>
              <a:srgbClr val="DCD9CF"/>
            </a:solidFill>
            <a:prstDash val="solid"/>
          </a:ln>
        </p:spPr>
      </p:sp>
      <p:pic>
        <p:nvPicPr>
          <p:cNvPr id="13" name="Image 2" descr="Activity">    </p:cNvPr>
          <p:cNvPicPr>
            <a:picLocks noChangeAspect="1"/>
          </p:cNvPicPr>
          <p:nvPr/>
        </p:nvPicPr>
        <p:blipFill>
          <a:blip r:embed="rId3"/>
          <a:srcRect l="0" r="0" t="0" b="0"/>
          <a:stretch/>
        </p:blipFill>
        <p:spPr>
          <a:xfrm>
            <a:off x="8185150" y="1902420"/>
            <a:ext cx="304800" cy="304800"/>
          </a:xfrm>
          <a:prstGeom prst="rect">
            <a:avLst/>
          </a:prstGeom>
        </p:spPr>
      </p:pic>
      <p:sp>
        <p:nvSpPr>
          <p:cNvPr id="14" name="Text 9"/>
          <p:cNvSpPr/>
          <p:nvPr/>
        </p:nvSpPr>
        <p:spPr>
          <a:xfrm>
            <a:off x="8185150" y="2308820"/>
            <a:ext cx="3074035"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31A2A"/>
                </a:solidFill>
                <a:latin typeface="IBM Plex Sans KR" pitchFamily="34" charset="0"/>
                <a:ea typeface="IBM Plex Sans KR" pitchFamily="34" charset="-122"/>
                <a:cs typeface="IBM Plex Sans KR" pitchFamily="34" charset="-120"/>
              </a:rPr>
              <a:t>관측</a:t>
            </a:r>
            <a:endParaRPr lang="en-US" sz="1700" dirty="0"/>
          </a:p>
        </p:txBody>
      </p:sp>
      <p:sp>
        <p:nvSpPr>
          <p:cNvPr id="15" name="Text 10"/>
          <p:cNvSpPr/>
          <p:nvPr/>
        </p:nvSpPr>
        <p:spPr>
          <a:xfrm>
            <a:off x="8277606" y="2669480"/>
            <a:ext cx="2973959" cy="970161"/>
          </a:xfrm>
          <a:prstGeom prst="rect">
            <a:avLst/>
          </a:prstGeom>
          <a:noFill/>
          <a:ln/>
        </p:spPr>
        <p:txBody>
          <a:bodyPr wrap="square" lIns="0" tIns="0" rIns="0" bIns="0" rtlCol="0" anchor="t">
            <a:normAutofit/>
          </a:bodyPr>
          <a:lstStyle/>
          <a:p>
            <a:pPr algn="l" marL="161544" indent="-161544">
              <a:lnSpc>
                <a:spcPts val="1860"/>
              </a:lnSpc>
              <a:buSzPct val="100000"/>
              <a:buChar char="•"/>
            </a:pPr>
            <a:r>
              <a:rPr lang="en-US" sz="1200" dirty="0">
                <a:solidFill>
                  <a:srgbClr val="4A5263"/>
                </a:solidFill>
                <a:latin typeface="IBM Plex Sans KR" pitchFamily="34" charset="0"/>
                <a:ea typeface="IBM Plex Sans KR" pitchFamily="34" charset="-122"/>
                <a:cs typeface="IBM Plex Sans KR" pitchFamily="34" charset="-120"/>
              </a:rPr>
              <a:t>OpenTelemetry 트레이스: LLM·MCP 스팬</a:t>
            </a:r>
            <a:endParaRPr lang="en-US" sz="1200" dirty="0"/>
          </a:p>
          <a:p>
            <a:pPr algn="l" marL="161544" indent="-161544">
              <a:lnSpc>
                <a:spcPts val="1860"/>
              </a:lnSpc>
              <a:buSzPct val="100000"/>
              <a:buChar char="•"/>
            </a:pPr>
            <a:r>
              <a:rPr lang="en-US" sz="1200" dirty="0">
                <a:solidFill>
                  <a:srgbClr val="4A5263"/>
                </a:solidFill>
                <a:latin typeface="IBM Plex Sans KR" pitchFamily="34" charset="0"/>
                <a:ea typeface="IBM Plex Sans KR" pitchFamily="34" charset="-122"/>
                <a:cs typeface="IBM Plex Sans KR" pitchFamily="34" charset="-120"/>
              </a:rPr>
              <a:t>Prometheus 메트릭 (:9050/metrics)</a:t>
            </a:r>
            <a:endParaRPr lang="en-US" sz="1200" dirty="0"/>
          </a:p>
          <a:p>
            <a:pPr algn="l" marL="161544" indent="-161544">
              <a:lnSpc>
                <a:spcPts val="1860"/>
              </a:lnSpc>
              <a:buSzPct val="100000"/>
              <a:buChar char="•"/>
            </a:pPr>
            <a:r>
              <a:rPr lang="en-US" sz="1200" dirty="0">
                <a:solidFill>
                  <a:srgbClr val="4A5263"/>
                </a:solidFill>
                <a:latin typeface="IBM Plex Sans KR" pitchFamily="34" charset="0"/>
                <a:ea typeface="IBM Plex Sans KR" pitchFamily="34" charset="-122"/>
                <a:cs typeface="IBM Plex Sans KR" pitchFamily="34" charset="-120"/>
              </a:rPr>
              <a:t>Tempo + Grafana 대시보드</a:t>
            </a:r>
            <a:endParaRPr lang="en-US" sz="1200" dirty="0"/>
          </a:p>
          <a:p>
            <a:pPr algn="l" marL="161544" indent="-161544">
              <a:lnSpc>
                <a:spcPts val="1860"/>
              </a:lnSpc>
              <a:buSzPct val="100000"/>
              <a:buChar char="•"/>
            </a:pPr>
            <a:r>
              <a:rPr lang="en-US" sz="1200" dirty="0">
                <a:solidFill>
                  <a:srgbClr val="4A5263"/>
                </a:solidFill>
                <a:latin typeface="IBM Plex Sans KR" pitchFamily="34" charset="0"/>
                <a:ea typeface="IBM Plex Sans KR" pitchFamily="34" charset="-122"/>
                <a:cs typeface="IBM Plex Sans KR" pitchFamily="34" charset="-120"/>
              </a:rPr>
              <a:t>LLM·MCP 호출 로그, 팀별 비용 통계, RUM</a:t>
            </a:r>
            <a:endParaRPr lang="en-US" sz="1200" dirty="0"/>
          </a:p>
        </p:txBody>
      </p:sp>
      <p:sp>
        <p:nvSpPr>
          <p:cNvPr id="16"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KR" pitchFamily="34" charset="0"/>
                <a:ea typeface="IBM Plex Sans KR" pitchFamily="34" charset="-122"/>
                <a:cs typeface="IBM Plex Sans KR" pitchFamily="34" charset="-120"/>
              </a:rPr>
              <a:t>Archestra 아키텍처 · 12 · 출처: README.md, docs/pages/admin, backend/src/secrets-manager</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3EE"/>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B8521E"/>
                </a:solidFill>
                <a:latin typeface="JetBrains Mono" pitchFamily="49" charset="0"/>
                <a:ea typeface="JetBrains Mono" pitchFamily="49" charset="-122"/>
                <a:cs typeface="JetBrains Mono" pitchFamily="49" charset="-120"/>
              </a:rPr>
              <a:t>12 · DEPLOYMENT</a:t>
            </a:r>
            <a:endParaRPr lang="en-US" sz="1200" dirty="0"/>
          </a:p>
        </p:txBody>
      </p:sp>
      <p:sp>
        <p:nvSpPr>
          <p:cNvPr id="3" name="Text 1"/>
          <p:cNvSpPr/>
          <p:nvPr>
            <p:ph type="title"/>
          </p:nvPr>
        </p:nvSpPr>
        <p:spPr>
          <a:xfrm>
            <a:off x="812800" y="10007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1A2A"/>
                </a:solidFill>
                <a:latin typeface="IBM Plex Sans KR" pitchFamily="34" charset="0"/>
                <a:ea typeface="IBM Plex Sans KR" pitchFamily="34" charset="-122"/>
                <a:cs typeface="IBM Plex Sans KR" pitchFamily="34" charset="-120"/>
              </a:rPr>
              <a:t>Docker 한 줄로 시작, 운영은 Helm</a:t>
            </a:r>
            <a:endParaRPr lang="en-US" sz="3000" dirty="0"/>
          </a:p>
        </p:txBody>
      </p:sp>
      <p:sp>
        <p:nvSpPr>
          <p:cNvPr id="4" name="Shape 2"/>
          <p:cNvSpPr/>
          <p:nvPr/>
        </p:nvSpPr>
        <p:spPr>
          <a:xfrm>
            <a:off x="815975" y="1670645"/>
            <a:ext cx="3549650" cy="3041352"/>
          </a:xfrm>
          <a:prstGeom prst="roundRect">
            <a:avLst>
              <a:gd name="adj" fmla="val 3236"/>
            </a:avLst>
          </a:prstGeom>
          <a:solidFill>
            <a:srgbClr val="FBFAF7"/>
          </a:solidFill>
          <a:ln w="6350">
            <a:solidFill>
              <a:srgbClr val="DCD9CF"/>
            </a:solidFill>
            <a:prstDash val="solid"/>
          </a:ln>
        </p:spPr>
      </p:sp>
      <p:sp>
        <p:nvSpPr>
          <p:cNvPr id="5" name="Text 3"/>
          <p:cNvSpPr/>
          <p:nvPr/>
        </p:nvSpPr>
        <p:spPr>
          <a:xfrm>
            <a:off x="1022350" y="1877020"/>
            <a:ext cx="32310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5BB7"/>
                </a:solidFill>
                <a:latin typeface="JetBrains Mono" pitchFamily="49" charset="0"/>
                <a:ea typeface="JetBrains Mono" pitchFamily="49" charset="-122"/>
                <a:cs typeface="JetBrains Mono" pitchFamily="49" charset="-120"/>
              </a:rPr>
              <a:t>QUICKSTART</a:t>
            </a:r>
            <a:endParaRPr lang="en-US" sz="1200" dirty="0"/>
          </a:p>
        </p:txBody>
      </p:sp>
      <p:sp>
        <p:nvSpPr>
          <p:cNvPr id="6" name="Text 4"/>
          <p:cNvSpPr/>
          <p:nvPr/>
        </p:nvSpPr>
        <p:spPr>
          <a:xfrm>
            <a:off x="1022350" y="2191941"/>
            <a:ext cx="323100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31A2A"/>
                </a:solidFill>
                <a:latin typeface="IBM Plex Sans KR" pitchFamily="34" charset="0"/>
                <a:ea typeface="IBM Plex Sans KR" pitchFamily="34" charset="-122"/>
                <a:cs typeface="IBM Plex Sans KR" pitchFamily="34" charset="-120"/>
              </a:rPr>
              <a:t>단일 컨테이너</a:t>
            </a:r>
            <a:endParaRPr lang="en-US" sz="1700" dirty="0"/>
          </a:p>
        </p:txBody>
      </p:sp>
      <p:sp>
        <p:nvSpPr>
          <p:cNvPr id="7" name="Text 5"/>
          <p:cNvSpPr/>
          <p:nvPr/>
        </p:nvSpPr>
        <p:spPr>
          <a:xfrm>
            <a:off x="1114806" y="2552601"/>
            <a:ext cx="3130931" cy="1206351"/>
          </a:xfrm>
          <a:prstGeom prst="rect">
            <a:avLst/>
          </a:prstGeom>
          <a:noFill/>
          <a:ln/>
        </p:spPr>
        <p:txBody>
          <a:bodyPr wrap="square" lIns="0" tIns="0" rIns="0" bIns="0" rtlCol="0" anchor="t">
            <a:normAutofit/>
          </a:bodyPr>
          <a:lstStyle/>
          <a:p>
            <a:pPr algn="l" marL="161544" indent="-161544">
              <a:lnSpc>
                <a:spcPts val="1860"/>
              </a:lnSpc>
              <a:buSzPct val="100000"/>
              <a:buChar char="•"/>
            </a:pPr>
            <a:r>
              <a:rPr lang="en-US" sz="1200" dirty="0">
                <a:solidFill>
                  <a:srgbClr val="4A5263"/>
                </a:solidFill>
                <a:latin typeface="IBM Plex Sans KR" pitchFamily="34" charset="0"/>
                <a:ea typeface="IBM Plex Sans KR" pitchFamily="34" charset="-122"/>
                <a:cs typeface="IBM Plex Sans KR" pitchFamily="34" charset="-120"/>
              </a:rPr>
              <a:t>archestra/platform 이미지 하나</a:t>
            </a:r>
            <a:endParaRPr lang="en-US" sz="1200" dirty="0"/>
          </a:p>
          <a:p>
            <a:pPr algn="l" marL="161544" indent="-161544">
              <a:lnSpc>
                <a:spcPts val="1860"/>
              </a:lnSpc>
              <a:buSzPct val="100000"/>
              <a:buChar char="•"/>
            </a:pPr>
            <a:r>
              <a:rPr lang="en-US" sz="1200" dirty="0">
                <a:solidFill>
                  <a:srgbClr val="4A5263"/>
                </a:solidFill>
                <a:latin typeface="IBM Plex Sans KR" pitchFamily="34" charset="0"/>
                <a:ea typeface="IBM Plex Sans KR" pitchFamily="34" charset="-122"/>
                <a:cs typeface="IBM Plex Sans KR" pitchFamily="34" charset="-120"/>
              </a:rPr>
              <a:t>내장 PostgreSQL (볼륨 유지)</a:t>
            </a:r>
            <a:endParaRPr lang="en-US" sz="1200" dirty="0"/>
          </a:p>
          <a:p>
            <a:pPr algn="l" marL="161544" indent="-161544">
              <a:lnSpc>
                <a:spcPts val="1860"/>
              </a:lnSpc>
              <a:buSzPct val="100000"/>
              <a:buChar char="•"/>
            </a:pPr>
            <a:r>
              <a:rPr lang="en-US" sz="1200" dirty="0">
                <a:solidFill>
                  <a:srgbClr val="4A5263"/>
                </a:solidFill>
                <a:latin typeface="IBM Plex Sans KR" pitchFamily="34" charset="0"/>
                <a:ea typeface="IBM Plex Sans KR" pitchFamily="34" charset="-122"/>
                <a:cs typeface="IBM Plex Sans KR" pitchFamily="34" charset="-120"/>
              </a:rPr>
              <a:t>docker.sock 마운트 → 내장 K8s에서 MCP 서버 실행</a:t>
            </a:r>
            <a:endParaRPr lang="en-US" sz="1200" dirty="0"/>
          </a:p>
          <a:p>
            <a:pPr algn="l" marL="161544" indent="-161544">
              <a:lnSpc>
                <a:spcPts val="1860"/>
              </a:lnSpc>
              <a:buSzPct val="100000"/>
              <a:buChar char="•"/>
            </a:pPr>
            <a:r>
              <a:rPr lang="en-US" sz="1200" dirty="0">
                <a:solidFill>
                  <a:srgbClr val="4A5263"/>
                </a:solidFill>
                <a:latin typeface="IBM Plex Sans KR" pitchFamily="34" charset="0"/>
                <a:ea typeface="IBM Plex Sans KR" pitchFamily="34" charset="-122"/>
                <a:cs typeface="IBM Plex Sans KR" pitchFamily="34" charset="-120"/>
              </a:rPr>
              <a:t>UI :3000, API :9000</a:t>
            </a:r>
            <a:endParaRPr lang="en-US" sz="1200" dirty="0"/>
          </a:p>
        </p:txBody>
      </p:sp>
      <p:sp>
        <p:nvSpPr>
          <p:cNvPr id="8" name="Shape 6"/>
          <p:cNvSpPr/>
          <p:nvPr/>
        </p:nvSpPr>
        <p:spPr>
          <a:xfrm>
            <a:off x="4546600" y="1667470"/>
            <a:ext cx="6832600" cy="3047702"/>
          </a:xfrm>
          <a:prstGeom prst="roundRect">
            <a:avLst>
              <a:gd name="adj" fmla="val 3334"/>
            </a:avLst>
          </a:prstGeom>
          <a:solidFill>
            <a:srgbClr val="131A2A"/>
          </a:solidFill>
          <a:ln/>
        </p:spPr>
      </p:sp>
      <p:sp>
        <p:nvSpPr>
          <p:cNvPr id="9" name="Text 7"/>
          <p:cNvSpPr/>
          <p:nvPr/>
        </p:nvSpPr>
        <p:spPr>
          <a:xfrm>
            <a:off x="4749800" y="1870670"/>
            <a:ext cx="661898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08A4B"/>
                </a:solidFill>
                <a:latin typeface="JetBrains Mono" pitchFamily="49" charset="0"/>
                <a:ea typeface="JetBrains Mono" pitchFamily="49" charset="-122"/>
                <a:cs typeface="JetBrains Mono" pitchFamily="49" charset="-120"/>
              </a:rPr>
              <a:t>HELM · archestra-platform</a:t>
            </a:r>
            <a:endParaRPr lang="en-US" sz="1200" dirty="0"/>
          </a:p>
        </p:txBody>
      </p:sp>
      <p:sp>
        <p:nvSpPr>
          <p:cNvPr id="10" name="Text 8"/>
          <p:cNvSpPr/>
          <p:nvPr/>
        </p:nvSpPr>
        <p:spPr>
          <a:xfrm>
            <a:off x="4749800" y="2185591"/>
            <a:ext cx="6618986"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4F3EE"/>
                </a:solidFill>
                <a:latin typeface="IBM Plex Sans KR" pitchFamily="34" charset="0"/>
                <a:ea typeface="IBM Plex Sans KR" pitchFamily="34" charset="-122"/>
                <a:cs typeface="IBM Plex Sans KR" pitchFamily="34" charset="-120"/>
              </a:rPr>
              <a:t>Kubernetes 프로덕션</a:t>
            </a:r>
            <a:endParaRPr lang="en-US" sz="1700" dirty="0"/>
          </a:p>
        </p:txBody>
      </p:sp>
      <p:sp>
        <p:nvSpPr>
          <p:cNvPr id="11" name="Text 9"/>
          <p:cNvSpPr/>
          <p:nvPr/>
        </p:nvSpPr>
        <p:spPr>
          <a:xfrm>
            <a:off x="4749800" y="2546251"/>
            <a:ext cx="3175000" cy="604441"/>
          </a:xfrm>
          <a:prstGeom prst="roundRect">
            <a:avLst>
              <a:gd name="adj" fmla="val 10506"/>
            </a:avLst>
          </a:prstGeom>
          <a:solidFill>
            <a:srgbClr val="26304A"/>
          </a:solidFill>
          <a:ln/>
        </p:spPr>
        <p:txBody>
          <a:bodyPr wrap="square" lIns="95701" tIns="70301" rIns="7309" bIns="44901" rtlCol="0" anchor="t">
            <a:normAutofit/>
          </a:bodyPr>
          <a:lstStyle/>
          <a:p>
            <a:pPr algn="l" indent="0" marL="0">
              <a:lnSpc>
                <a:spcPts val="1680"/>
              </a:lnSpc>
              <a:buNone/>
            </a:pPr>
            <a:r>
              <a:rPr lang="en-US" sz="1200" b="1" dirty="0">
                <a:solidFill>
                  <a:srgbClr val="F4F3EE"/>
                </a:solidFill>
                <a:latin typeface="IBM Plex Sans KR" pitchFamily="34" charset="0"/>
                <a:ea typeface="IBM Plex Sans KR" pitchFamily="34" charset="-122"/>
                <a:cs typeface="IBM Plex Sans KR" pitchFamily="34" charset="-120"/>
              </a:rPr>
              <a:t>platform</a:t>
            </a:r>
            <a:r>
              <a:rPr lang="en-US" sz="1200" dirty="0">
                <a:solidFill>
                  <a:srgbClr val="F4F3EE"/>
                </a:solidFill>
                <a:latin typeface="IBM Plex Sans KR" pitchFamily="34" charset="0"/>
                <a:ea typeface="IBM Plex Sans KR" pitchFamily="34" charset="-122"/>
                <a:cs typeface="IBM Plex Sans KR" pitchFamily="34" charset="-120"/>
              </a:rPr>
              <a:t> Deployment</a:t>
            </a:r>
            <a:endParaRPr lang="en-US" sz="1200" dirty="0"/>
          </a:p>
          <a:p>
            <a:pPr algn="l" indent="0" marL="0">
              <a:lnSpc>
                <a:spcPts val="1680"/>
              </a:lnSpc>
              <a:buNone/>
            </a:pPr>
            <a:r>
              <a:rPr lang="en-US" sz="1200" dirty="0">
                <a:solidFill>
                  <a:srgbClr val="9AA3B5"/>
                </a:solidFill>
                <a:latin typeface="IBM Plex Sans KR" pitchFamily="34" charset="0"/>
                <a:ea typeface="IBM Plex Sans KR" pitchFamily="34" charset="-122"/>
                <a:cs typeface="IBM Plex Sans KR" pitchFamily="34" charset="-120"/>
              </a:rPr>
              <a:t>웹·API, HPA, PDB, Ingress</a:t>
            </a:r>
            <a:endParaRPr lang="en-US" sz="1200" dirty="0"/>
          </a:p>
        </p:txBody>
      </p:sp>
      <p:sp>
        <p:nvSpPr>
          <p:cNvPr id="12" name="Text 10"/>
          <p:cNvSpPr/>
          <p:nvPr/>
        </p:nvSpPr>
        <p:spPr>
          <a:xfrm>
            <a:off x="8001000" y="2546251"/>
            <a:ext cx="3175000" cy="604441"/>
          </a:xfrm>
          <a:prstGeom prst="roundRect">
            <a:avLst>
              <a:gd name="adj" fmla="val 10506"/>
            </a:avLst>
          </a:prstGeom>
          <a:solidFill>
            <a:srgbClr val="26304A"/>
          </a:solidFill>
          <a:ln/>
        </p:spPr>
        <p:txBody>
          <a:bodyPr wrap="square" lIns="95701" tIns="70301" rIns="7309" bIns="44901" rtlCol="0" anchor="t">
            <a:normAutofit/>
          </a:bodyPr>
          <a:lstStyle/>
          <a:p>
            <a:pPr algn="l" indent="0" marL="0">
              <a:lnSpc>
                <a:spcPts val="1680"/>
              </a:lnSpc>
              <a:buNone/>
            </a:pPr>
            <a:r>
              <a:rPr lang="en-US" sz="1200" b="1" dirty="0">
                <a:solidFill>
                  <a:srgbClr val="F4F3EE"/>
                </a:solidFill>
                <a:latin typeface="IBM Plex Sans KR" pitchFamily="34" charset="0"/>
                <a:ea typeface="IBM Plex Sans KR" pitchFamily="34" charset="-122"/>
                <a:cs typeface="IBM Plex Sans KR" pitchFamily="34" charset="-120"/>
              </a:rPr>
              <a:t>worker</a:t>
            </a:r>
            <a:r>
              <a:rPr lang="en-US" sz="1200" dirty="0">
                <a:solidFill>
                  <a:srgbClr val="F4F3EE"/>
                </a:solidFill>
                <a:latin typeface="IBM Plex Sans KR" pitchFamily="34" charset="0"/>
                <a:ea typeface="IBM Plex Sans KR" pitchFamily="34" charset="-122"/>
                <a:cs typeface="IBM Plex Sans KR" pitchFamily="34" charset="-120"/>
              </a:rPr>
              <a:t> Deployment</a:t>
            </a:r>
            <a:endParaRPr lang="en-US" sz="1200" dirty="0"/>
          </a:p>
          <a:p>
            <a:pPr algn="l" indent="0" marL="0">
              <a:lnSpc>
                <a:spcPts val="1680"/>
              </a:lnSpc>
              <a:buNone/>
            </a:pPr>
            <a:r>
              <a:rPr lang="en-US" sz="1200" dirty="0">
                <a:solidFill>
                  <a:srgbClr val="9AA3B5"/>
                </a:solidFill>
                <a:latin typeface="IBM Plex Sans KR" pitchFamily="34" charset="0"/>
                <a:ea typeface="IBM Plex Sans KR" pitchFamily="34" charset="-122"/>
                <a:cs typeface="IBM Plex Sans KR" pitchFamily="34" charset="-120"/>
              </a:rPr>
              <a:t>동기화·임베딩·주기 작업</a:t>
            </a:r>
            <a:endParaRPr lang="en-US" sz="1200" dirty="0"/>
          </a:p>
        </p:txBody>
      </p:sp>
      <p:sp>
        <p:nvSpPr>
          <p:cNvPr id="13" name="Text 11"/>
          <p:cNvSpPr/>
          <p:nvPr/>
        </p:nvSpPr>
        <p:spPr>
          <a:xfrm>
            <a:off x="4749800" y="3226891"/>
            <a:ext cx="3175000" cy="604441"/>
          </a:xfrm>
          <a:prstGeom prst="roundRect">
            <a:avLst>
              <a:gd name="adj" fmla="val 10506"/>
            </a:avLst>
          </a:prstGeom>
          <a:solidFill>
            <a:srgbClr val="26304A"/>
          </a:solidFill>
          <a:ln/>
        </p:spPr>
        <p:txBody>
          <a:bodyPr wrap="square" lIns="95701" tIns="70301" rIns="7309" bIns="44901" rtlCol="0" anchor="t">
            <a:normAutofit/>
          </a:bodyPr>
          <a:lstStyle/>
          <a:p>
            <a:pPr algn="l" indent="0" marL="0">
              <a:lnSpc>
                <a:spcPts val="1680"/>
              </a:lnSpc>
              <a:buNone/>
            </a:pPr>
            <a:r>
              <a:rPr lang="en-US" sz="1200" b="1" dirty="0">
                <a:solidFill>
                  <a:srgbClr val="F4F3EE"/>
                </a:solidFill>
                <a:latin typeface="IBM Plex Sans KR" pitchFamily="34" charset="0"/>
                <a:ea typeface="IBM Plex Sans KR" pitchFamily="34" charset="-122"/>
                <a:cs typeface="IBM Plex Sans KR" pitchFamily="34" charset="-120"/>
              </a:rPr>
              <a:t>migration</a:t>
            </a:r>
            <a:r>
              <a:rPr lang="en-US" sz="1200" dirty="0">
                <a:solidFill>
                  <a:srgbClr val="F4F3EE"/>
                </a:solidFill>
                <a:latin typeface="IBM Plex Sans KR" pitchFamily="34" charset="0"/>
                <a:ea typeface="IBM Plex Sans KR" pitchFamily="34" charset="-122"/>
                <a:cs typeface="IBM Plex Sans KR" pitchFamily="34" charset="-120"/>
              </a:rPr>
              <a:t> Job</a:t>
            </a:r>
            <a:endParaRPr lang="en-US" sz="1200" dirty="0"/>
          </a:p>
          <a:p>
            <a:pPr algn="l" indent="0" marL="0">
              <a:lnSpc>
                <a:spcPts val="1680"/>
              </a:lnSpc>
              <a:buNone/>
            </a:pPr>
            <a:r>
              <a:rPr lang="en-US" sz="1200" dirty="0">
                <a:solidFill>
                  <a:srgbClr val="9AA3B5"/>
                </a:solidFill>
                <a:latin typeface="IBM Plex Sans KR" pitchFamily="34" charset="0"/>
                <a:ea typeface="IBM Plex Sans KR" pitchFamily="34" charset="-122"/>
                <a:cs typeface="IBM Plex Sans KR" pitchFamily="34" charset="-120"/>
              </a:rPr>
              <a:t>업그레이드 전 Drizzle 마이그레이션</a:t>
            </a:r>
            <a:endParaRPr lang="en-US" sz="1200" dirty="0"/>
          </a:p>
        </p:txBody>
      </p:sp>
      <p:sp>
        <p:nvSpPr>
          <p:cNvPr id="14" name="Text 12"/>
          <p:cNvSpPr/>
          <p:nvPr/>
        </p:nvSpPr>
        <p:spPr>
          <a:xfrm>
            <a:off x="8001000" y="3226891"/>
            <a:ext cx="3175000" cy="604441"/>
          </a:xfrm>
          <a:prstGeom prst="roundRect">
            <a:avLst>
              <a:gd name="adj" fmla="val 10506"/>
            </a:avLst>
          </a:prstGeom>
          <a:solidFill>
            <a:srgbClr val="26304A"/>
          </a:solidFill>
          <a:ln/>
        </p:spPr>
        <p:txBody>
          <a:bodyPr wrap="square" lIns="95701" tIns="70301" rIns="7309" bIns="44901" rtlCol="0" anchor="t">
            <a:normAutofit/>
          </a:bodyPr>
          <a:lstStyle/>
          <a:p>
            <a:pPr algn="l" indent="0" marL="0">
              <a:lnSpc>
                <a:spcPts val="1680"/>
              </a:lnSpc>
              <a:buNone/>
            </a:pPr>
            <a:r>
              <a:rPr lang="en-US" sz="1200" b="1" dirty="0">
                <a:solidFill>
                  <a:srgbClr val="F4F3EE"/>
                </a:solidFill>
                <a:latin typeface="IBM Plex Sans KR" pitchFamily="34" charset="0"/>
                <a:ea typeface="IBM Plex Sans KR" pitchFamily="34" charset="-122"/>
                <a:cs typeface="IBM Plex Sans KR" pitchFamily="34" charset="-120"/>
              </a:rPr>
              <a:t>PostgreSQL</a:t>
            </a:r>
            <a:endParaRPr lang="en-US" sz="1200" dirty="0"/>
          </a:p>
          <a:p>
            <a:pPr algn="l" indent="0" marL="0">
              <a:lnSpc>
                <a:spcPts val="1680"/>
              </a:lnSpc>
              <a:buNone/>
            </a:pPr>
            <a:r>
              <a:rPr lang="en-US" sz="1200" dirty="0">
                <a:solidFill>
                  <a:srgbClr val="9AA3B5"/>
                </a:solidFill>
                <a:latin typeface="IBM Plex Sans KR" pitchFamily="34" charset="0"/>
                <a:ea typeface="IBM Plex Sans KR" pitchFamily="34" charset="-122"/>
                <a:cs typeface="IBM Plex Sans KR" pitchFamily="34" charset="-120"/>
              </a:rPr>
              <a:t>번들 1 replica 또는 외부 DB</a:t>
            </a:r>
            <a:endParaRPr lang="en-US" sz="1200" dirty="0"/>
          </a:p>
        </p:txBody>
      </p:sp>
      <p:sp>
        <p:nvSpPr>
          <p:cNvPr id="15" name="Text 13"/>
          <p:cNvSpPr/>
          <p:nvPr/>
        </p:nvSpPr>
        <p:spPr>
          <a:xfrm>
            <a:off x="4749800" y="3907532"/>
            <a:ext cx="3175000" cy="604441"/>
          </a:xfrm>
          <a:prstGeom prst="roundRect">
            <a:avLst>
              <a:gd name="adj" fmla="val 10506"/>
            </a:avLst>
          </a:prstGeom>
          <a:solidFill>
            <a:srgbClr val="26304A"/>
          </a:solidFill>
          <a:ln/>
        </p:spPr>
        <p:txBody>
          <a:bodyPr wrap="square" lIns="95701" tIns="70301" rIns="7309" bIns="44901" rtlCol="0" anchor="t">
            <a:normAutofit/>
          </a:bodyPr>
          <a:lstStyle/>
          <a:p>
            <a:pPr algn="l" indent="0" marL="0">
              <a:lnSpc>
                <a:spcPts val="1680"/>
              </a:lnSpc>
              <a:buNone/>
            </a:pPr>
            <a:r>
              <a:rPr lang="en-US" sz="1200" b="1" dirty="0">
                <a:solidFill>
                  <a:srgbClr val="F4F3EE"/>
                </a:solidFill>
                <a:latin typeface="IBM Plex Sans KR" pitchFamily="34" charset="0"/>
                <a:ea typeface="IBM Plex Sans KR" pitchFamily="34" charset="-122"/>
                <a:cs typeface="IBM Plex Sans KR" pitchFamily="34" charset="-120"/>
              </a:rPr>
              <a:t>MCP ServiceAccount</a:t>
            </a:r>
            <a:endParaRPr lang="en-US" sz="1200" dirty="0"/>
          </a:p>
          <a:p>
            <a:pPr algn="l" indent="0" marL="0">
              <a:lnSpc>
                <a:spcPts val="1680"/>
              </a:lnSpc>
              <a:buNone/>
            </a:pPr>
            <a:r>
              <a:rPr lang="en-US" sz="1200" dirty="0">
                <a:solidFill>
                  <a:srgbClr val="9AA3B5"/>
                </a:solidFill>
                <a:latin typeface="IBM Plex Sans KR" pitchFamily="34" charset="0"/>
                <a:ea typeface="IBM Plex Sans KR" pitchFamily="34" charset="-122"/>
                <a:cs typeface="IBM Plex Sans KR" pitchFamily="34" charset="-120"/>
              </a:rPr>
              <a:t>파드 생성 권한</a:t>
            </a:r>
            <a:endParaRPr lang="en-US" sz="1200" dirty="0"/>
          </a:p>
        </p:txBody>
      </p:sp>
      <p:sp>
        <p:nvSpPr>
          <p:cNvPr id="16" name="Text 14"/>
          <p:cNvSpPr/>
          <p:nvPr/>
        </p:nvSpPr>
        <p:spPr>
          <a:xfrm>
            <a:off x="8001000" y="3907532"/>
            <a:ext cx="3175000" cy="604441"/>
          </a:xfrm>
          <a:prstGeom prst="roundRect">
            <a:avLst>
              <a:gd name="adj" fmla="val 10506"/>
            </a:avLst>
          </a:prstGeom>
          <a:solidFill>
            <a:srgbClr val="26304A"/>
          </a:solidFill>
          <a:ln/>
        </p:spPr>
        <p:txBody>
          <a:bodyPr wrap="square" lIns="95701" tIns="70301" rIns="7309" bIns="44901" rtlCol="0" anchor="t">
            <a:normAutofit/>
          </a:bodyPr>
          <a:lstStyle/>
          <a:p>
            <a:pPr algn="l" indent="0" marL="0">
              <a:lnSpc>
                <a:spcPts val="1680"/>
              </a:lnSpc>
              <a:buNone/>
            </a:pPr>
            <a:r>
              <a:rPr lang="en-US" sz="1200" b="1" dirty="0">
                <a:solidFill>
                  <a:srgbClr val="F4F3EE"/>
                </a:solidFill>
                <a:latin typeface="IBM Plex Sans KR" pitchFamily="34" charset="0"/>
                <a:ea typeface="IBM Plex Sans KR" pitchFamily="34" charset="-122"/>
                <a:cs typeface="IBM Plex Sans KR" pitchFamily="34" charset="-120"/>
              </a:rPr>
              <a:t>Secrets</a:t>
            </a:r>
            <a:endParaRPr lang="en-US" sz="1200" dirty="0"/>
          </a:p>
          <a:p>
            <a:pPr algn="l" indent="0" marL="0">
              <a:lnSpc>
                <a:spcPts val="1680"/>
              </a:lnSpc>
              <a:buNone/>
            </a:pPr>
            <a:r>
              <a:rPr lang="en-US" sz="1200" dirty="0">
                <a:solidFill>
                  <a:srgbClr val="9AA3B5"/>
                </a:solidFill>
                <a:latin typeface="IBM Plex Sans KR" pitchFamily="34" charset="0"/>
                <a:ea typeface="IBM Plex Sans KR" pitchFamily="34" charset="-122"/>
                <a:cs typeface="IBM Plex Sans KR" pitchFamily="34" charset="-120"/>
              </a:rPr>
              <a:t>auth·session·암호화 키</a:t>
            </a:r>
            <a:endParaRPr lang="en-US" sz="1200" dirty="0"/>
          </a:p>
        </p:txBody>
      </p:sp>
      <p:sp>
        <p:nvSpPr>
          <p:cNvPr id="17" name="Text 15"/>
          <p:cNvSpPr/>
          <p:nvPr/>
        </p:nvSpPr>
        <p:spPr>
          <a:xfrm>
            <a:off x="812800" y="4943773"/>
            <a:ext cx="10883392"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263"/>
                </a:solidFill>
                <a:latin typeface="IBM Plex Sans KR" pitchFamily="34" charset="0"/>
                <a:ea typeface="IBM Plex Sans KR" pitchFamily="34" charset="-122"/>
                <a:cs typeface="IBM Plex Sans KR" pitchFamily="34" charset="-120"/>
              </a:rPr>
              <a:t>운영 체크: 외부 Postgres에 pgvector 필요 · 파드당 DB 커넥션 13개 이상 예산 · NetworkPolicy 강제 CNI 필요 · Terraform provider로 설정 코드화</a:t>
            </a:r>
            <a:endParaRPr lang="en-US" sz="1300" dirty="0"/>
          </a:p>
        </p:txBody>
      </p:sp>
      <p:sp>
        <p:nvSpPr>
          <p:cNvPr id="18"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KR" pitchFamily="34" charset="0"/>
                <a:ea typeface="IBM Plex Sans KR" pitchFamily="34" charset="-122"/>
                <a:cs typeface="IBM Plex Sans KR" pitchFamily="34" charset="-120"/>
              </a:rPr>
              <a:t>Archestra 아키텍처 · 13 · 출처: docs/pages/admin/deployment.md, platform/helm/archestra/templates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3EE"/>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B8521E"/>
                </a:solidFill>
                <a:latin typeface="JetBrains Mono" pitchFamily="49" charset="0"/>
                <a:ea typeface="JetBrains Mono" pitchFamily="49" charset="-122"/>
                <a:cs typeface="JetBrains Mono" pitchFamily="49" charset="-120"/>
              </a:rPr>
              <a:t>13 · LICENSING</a:t>
            </a:r>
            <a:endParaRPr lang="en-US" sz="1200" dirty="0"/>
          </a:p>
        </p:txBody>
      </p:sp>
      <p:sp>
        <p:nvSpPr>
          <p:cNvPr id="3" name="Text 1"/>
          <p:cNvSpPr/>
          <p:nvPr>
            <p:ph type="title"/>
          </p:nvPr>
        </p:nvSpPr>
        <p:spPr>
          <a:xfrm>
            <a:off x="812800" y="10007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1A2A"/>
                </a:solidFill>
                <a:latin typeface="IBM Plex Sans KR" pitchFamily="34" charset="0"/>
                <a:ea typeface="IBM Plex Sans KR" pitchFamily="34" charset="-122"/>
                <a:cs typeface="IBM Plex Sans KR" pitchFamily="34" charset="-120"/>
              </a:rPr>
              <a:t>오픈코어: 파일·영역 단위로 라이선스가 갈린다</a:t>
            </a:r>
            <a:endParaRPr lang="en-US" sz="3000" dirty="0"/>
          </a:p>
        </p:txBody>
      </p:sp>
      <p:sp>
        <p:nvSpPr>
          <p:cNvPr id="4" name="Shape 2"/>
          <p:cNvSpPr/>
          <p:nvPr/>
        </p:nvSpPr>
        <p:spPr>
          <a:xfrm>
            <a:off x="815975" y="1696045"/>
            <a:ext cx="3422650" cy="1771501"/>
          </a:xfrm>
          <a:prstGeom prst="roundRect">
            <a:avLst>
              <a:gd name="adj" fmla="val 5556"/>
            </a:avLst>
          </a:prstGeom>
          <a:solidFill>
            <a:srgbClr val="FBFAF7"/>
          </a:solidFill>
          <a:ln w="6350">
            <a:solidFill>
              <a:srgbClr val="DCD9CF"/>
            </a:solidFill>
            <a:prstDash val="solid"/>
          </a:ln>
        </p:spPr>
      </p:sp>
      <p:sp>
        <p:nvSpPr>
          <p:cNvPr id="5" name="Text 3"/>
          <p:cNvSpPr/>
          <p:nvPr/>
        </p:nvSpPr>
        <p:spPr>
          <a:xfrm>
            <a:off x="1022350" y="1902420"/>
            <a:ext cx="310019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5BB7"/>
                </a:solidFill>
                <a:latin typeface="JetBrains Mono" pitchFamily="49" charset="0"/>
                <a:ea typeface="JetBrains Mono" pitchFamily="49" charset="-122"/>
                <a:cs typeface="JetBrains Mono" pitchFamily="49" charset="-120"/>
              </a:rPr>
              <a:t>AGPL-3.0</a:t>
            </a:r>
            <a:endParaRPr lang="en-US" sz="1200" dirty="0"/>
          </a:p>
        </p:txBody>
      </p:sp>
      <p:sp>
        <p:nvSpPr>
          <p:cNvPr id="6" name="Text 4"/>
          <p:cNvSpPr/>
          <p:nvPr/>
        </p:nvSpPr>
        <p:spPr>
          <a:xfrm>
            <a:off x="1022350" y="2204641"/>
            <a:ext cx="310019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31A2A"/>
                </a:solidFill>
                <a:latin typeface="IBM Plex Sans KR" pitchFamily="34" charset="0"/>
                <a:ea typeface="IBM Plex Sans KR" pitchFamily="34" charset="-122"/>
                <a:cs typeface="IBM Plex Sans KR" pitchFamily="34" charset="-120"/>
              </a:rPr>
              <a:t>Core</a:t>
            </a:r>
            <a:endParaRPr lang="en-US" sz="1700" dirty="0"/>
          </a:p>
        </p:txBody>
      </p:sp>
      <p:sp>
        <p:nvSpPr>
          <p:cNvPr id="7" name="Text 5"/>
          <p:cNvSpPr/>
          <p:nvPr/>
        </p:nvSpPr>
        <p:spPr>
          <a:xfrm>
            <a:off x="1022350" y="2552601"/>
            <a:ext cx="3100197" cy="733971"/>
          </a:xfrm>
          <a:prstGeom prst="rect">
            <a:avLst/>
          </a:prstGeom>
          <a:noFill/>
          <a:ln/>
        </p:spPr>
        <p:txBody>
          <a:bodyPr wrap="square" lIns="0" tIns="0" rIns="0" bIns="0" rtlCol="0" anchor="t">
            <a:normAutofit/>
          </a:bodyPr>
          <a:lstStyle/>
          <a:p>
            <a:pPr algn="l" indent="0" marL="0">
              <a:lnSpc>
                <a:spcPts val="1860"/>
              </a:lnSpc>
              <a:buNone/>
            </a:pPr>
            <a:r>
              <a:rPr lang="en-US" sz="1200" dirty="0">
                <a:solidFill>
                  <a:srgbClr val="4A5263"/>
                </a:solidFill>
                <a:latin typeface="IBM Plex Sans KR" pitchFamily="34" charset="0"/>
                <a:ea typeface="IBM Plex Sans KR" pitchFamily="34" charset="-122"/>
                <a:cs typeface="IBM Plex Sans KR" pitchFamily="34" charset="-120"/>
              </a:rPr>
              <a:t>LLM/MCP/A2A 게이트웨이, Chat, 에이전트, MCP 레지스트리·오케스트레이터, 비용·로그, 관측</a:t>
            </a:r>
            <a:endParaRPr lang="en-US" sz="1200" dirty="0"/>
          </a:p>
        </p:txBody>
      </p:sp>
      <p:sp>
        <p:nvSpPr>
          <p:cNvPr id="8" name="Shape 6"/>
          <p:cNvSpPr/>
          <p:nvPr/>
        </p:nvSpPr>
        <p:spPr>
          <a:xfrm>
            <a:off x="4394200" y="1692870"/>
            <a:ext cx="3416300" cy="1777851"/>
          </a:xfrm>
          <a:prstGeom prst="roundRect">
            <a:avLst>
              <a:gd name="adj" fmla="val 5715"/>
            </a:avLst>
          </a:prstGeom>
          <a:solidFill>
            <a:srgbClr val="131A2A"/>
          </a:solidFill>
          <a:ln/>
        </p:spPr>
      </p:sp>
      <p:sp>
        <p:nvSpPr>
          <p:cNvPr id="9" name="Text 7"/>
          <p:cNvSpPr/>
          <p:nvPr/>
        </p:nvSpPr>
        <p:spPr>
          <a:xfrm>
            <a:off x="4597400" y="1896070"/>
            <a:ext cx="310019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08A4B"/>
                </a:solidFill>
                <a:latin typeface="JetBrains Mono" pitchFamily="49" charset="0"/>
                <a:ea typeface="JetBrains Mono" pitchFamily="49" charset="-122"/>
                <a:cs typeface="JetBrains Mono" pitchFamily="49" charset="-120"/>
              </a:rPr>
              <a:t>ENTERPRISE LICENSE</a:t>
            </a:r>
            <a:endParaRPr lang="en-US" sz="1200" dirty="0"/>
          </a:p>
        </p:txBody>
      </p:sp>
      <p:sp>
        <p:nvSpPr>
          <p:cNvPr id="10" name="Text 8"/>
          <p:cNvSpPr/>
          <p:nvPr/>
        </p:nvSpPr>
        <p:spPr>
          <a:xfrm>
            <a:off x="4597400" y="2198291"/>
            <a:ext cx="310019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4F3EE"/>
                </a:solidFill>
                <a:latin typeface="IBM Plex Sans KR" pitchFamily="34" charset="0"/>
                <a:ea typeface="IBM Plex Sans KR" pitchFamily="34" charset="-122"/>
                <a:cs typeface="IBM Plex Sans KR" pitchFamily="34" charset="-120"/>
              </a:rPr>
              <a:t>Enterprise</a:t>
            </a:r>
            <a:endParaRPr lang="en-US" sz="1700" dirty="0"/>
          </a:p>
        </p:txBody>
      </p:sp>
      <p:sp>
        <p:nvSpPr>
          <p:cNvPr id="11" name="Text 9"/>
          <p:cNvSpPr/>
          <p:nvPr/>
        </p:nvSpPr>
        <p:spPr>
          <a:xfrm>
            <a:off x="4597400" y="2546251"/>
            <a:ext cx="3100197" cy="497780"/>
          </a:xfrm>
          <a:prstGeom prst="rect">
            <a:avLst/>
          </a:prstGeom>
          <a:noFill/>
          <a:ln/>
        </p:spPr>
        <p:txBody>
          <a:bodyPr wrap="square" lIns="0" tIns="0" rIns="0" bIns="0" rtlCol="0" anchor="t">
            <a:normAutofit/>
          </a:bodyPr>
          <a:lstStyle/>
          <a:p>
            <a:pPr algn="l" indent="0" marL="0">
              <a:lnSpc>
                <a:spcPts val="1860"/>
              </a:lnSpc>
              <a:buNone/>
            </a:pPr>
            <a:r>
              <a:rPr lang="en-US" sz="1200" dirty="0">
                <a:solidFill>
                  <a:srgbClr val="C9CEDA"/>
                </a:solidFill>
                <a:latin typeface="IBM Plex Sans KR" pitchFamily="34" charset="0"/>
                <a:ea typeface="IBM Plex Sans KR" pitchFamily="34" charset="-122"/>
                <a:cs typeface="IBM Plex Sans KR" pitchFamily="34" charset="-120"/>
              </a:rPr>
              <a:t>RBAC·세분 권한, SSO, 접근 제어 RAG, 보존 기간, 본문 암호화, 2FA, RUM, MCP 하이버네이션</a:t>
            </a:r>
            <a:endParaRPr lang="en-US" sz="1200" dirty="0"/>
          </a:p>
        </p:txBody>
      </p:sp>
      <p:sp>
        <p:nvSpPr>
          <p:cNvPr id="12" name="Shape 10"/>
          <p:cNvSpPr/>
          <p:nvPr/>
        </p:nvSpPr>
        <p:spPr>
          <a:xfrm>
            <a:off x="7962900" y="1692870"/>
            <a:ext cx="3416300" cy="1777851"/>
          </a:xfrm>
          <a:prstGeom prst="roundRect">
            <a:avLst>
              <a:gd name="adj" fmla="val 5715"/>
            </a:avLst>
          </a:prstGeom>
          <a:solidFill>
            <a:srgbClr val="D9652B"/>
          </a:solidFill>
          <a:ln/>
        </p:spPr>
      </p:sp>
      <p:sp>
        <p:nvSpPr>
          <p:cNvPr id="13" name="Text 11"/>
          <p:cNvSpPr/>
          <p:nvPr/>
        </p:nvSpPr>
        <p:spPr>
          <a:xfrm>
            <a:off x="8166100" y="1896070"/>
            <a:ext cx="310019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1A2A"/>
                </a:solidFill>
                <a:latin typeface="JetBrains Mono" pitchFamily="49" charset="0"/>
                <a:ea typeface="JetBrains Mono" pitchFamily="49" charset="-122"/>
                <a:cs typeface="JetBrains Mono" pitchFamily="49" charset="-120"/>
              </a:rPr>
              <a:t>+ AI SECURITY</a:t>
            </a:r>
            <a:endParaRPr lang="en-US" sz="1200" dirty="0"/>
          </a:p>
        </p:txBody>
      </p:sp>
      <p:sp>
        <p:nvSpPr>
          <p:cNvPr id="14" name="Text 12"/>
          <p:cNvSpPr/>
          <p:nvPr/>
        </p:nvSpPr>
        <p:spPr>
          <a:xfrm>
            <a:off x="8166100" y="2198291"/>
            <a:ext cx="310019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31A2A"/>
                </a:solidFill>
                <a:latin typeface="IBM Plex Sans KR" pitchFamily="34" charset="0"/>
                <a:ea typeface="IBM Plex Sans KR" pitchFamily="34" charset="-122"/>
                <a:cs typeface="IBM Plex Sans KR" pitchFamily="34" charset="-120"/>
              </a:rPr>
              <a:t>Platform + AI Security</a:t>
            </a:r>
            <a:endParaRPr lang="en-US" sz="1700" dirty="0"/>
          </a:p>
        </p:txBody>
      </p:sp>
      <p:sp>
        <p:nvSpPr>
          <p:cNvPr id="15" name="Text 13"/>
          <p:cNvSpPr/>
          <p:nvPr/>
        </p:nvSpPr>
        <p:spPr>
          <a:xfrm>
            <a:off x="8166100" y="2546251"/>
            <a:ext cx="3100197" cy="497780"/>
          </a:xfrm>
          <a:prstGeom prst="rect">
            <a:avLst/>
          </a:prstGeom>
          <a:noFill/>
          <a:ln/>
        </p:spPr>
        <p:txBody>
          <a:bodyPr wrap="square" lIns="0" tIns="0" rIns="0" bIns="0" rtlCol="0" anchor="t">
            <a:normAutofit/>
          </a:bodyPr>
          <a:lstStyle/>
          <a:p>
            <a:pPr algn="l" indent="0" marL="0">
              <a:lnSpc>
                <a:spcPts val="1860"/>
              </a:lnSpc>
              <a:buNone/>
            </a:pPr>
            <a:r>
              <a:rPr lang="en-US" sz="1200" dirty="0">
                <a:solidFill>
                  <a:srgbClr val="131A2A"/>
                </a:solidFill>
                <a:latin typeface="IBM Plex Sans KR" pitchFamily="34" charset="0"/>
                <a:ea typeface="IBM Plex Sans KR" pitchFamily="34" charset="-122"/>
                <a:cs typeface="IBM Plex Sans KR" pitchFamily="34" charset="-120"/>
              </a:rPr>
              <a:t>Guardrails (OpenAPPA 통합, 베타). 엔진 자체는 MIT</a:t>
            </a:r>
            <a:endParaRPr lang="en-US" sz="1200" dirty="0"/>
          </a:p>
        </p:txBody>
      </p:sp>
      <p:sp>
        <p:nvSpPr>
          <p:cNvPr id="16" name="Shape 14"/>
          <p:cNvSpPr/>
          <p:nvPr/>
        </p:nvSpPr>
        <p:spPr>
          <a:xfrm>
            <a:off x="812800" y="3734246"/>
            <a:ext cx="10566400" cy="0"/>
          </a:xfrm>
          <a:prstGeom prst="line">
            <a:avLst/>
          </a:prstGeom>
          <a:noFill/>
          <a:ln w="19050">
            <a:solidFill>
              <a:srgbClr val="131A2A"/>
            </a:solidFill>
            <a:prstDash val="solid"/>
          </a:ln>
        </p:spPr>
      </p:sp>
      <p:sp>
        <p:nvSpPr>
          <p:cNvPr id="17" name="Text 15"/>
          <p:cNvSpPr/>
          <p:nvPr/>
        </p:nvSpPr>
        <p:spPr>
          <a:xfrm>
            <a:off x="812800" y="3921571"/>
            <a:ext cx="1389509" cy="665460"/>
          </a:xfrm>
          <a:prstGeom prst="rect">
            <a:avLst/>
          </a:prstGeom>
          <a:noFill/>
          <a:ln/>
        </p:spPr>
        <p:txBody>
          <a:bodyPr wrap="none" lIns="0" tIns="0" rIns="0" bIns="0" rtlCol="0" anchor="t">
            <a:normAutofit/>
          </a:bodyPr>
          <a:lstStyle/>
          <a:p>
            <a:pPr algn="l" indent="0" marL="0">
              <a:lnSpc>
                <a:spcPts val="5040"/>
              </a:lnSpc>
              <a:buNone/>
            </a:pPr>
            <a:r>
              <a:rPr lang="en-US" sz="3600" b="1" dirty="0">
                <a:solidFill>
                  <a:srgbClr val="B8521E"/>
                </a:solidFill>
                <a:latin typeface="IBM Plex Sans KR" pitchFamily="34" charset="0"/>
                <a:ea typeface="IBM Plex Sans KR" pitchFamily="34" charset="-122"/>
                <a:cs typeface="IBM Plex Sans KR" pitchFamily="34" charset="-120"/>
              </a:rPr>
              <a:t>&lt; 30명</a:t>
            </a:r>
            <a:endParaRPr lang="en-US" sz="3600" dirty="0"/>
          </a:p>
        </p:txBody>
      </p:sp>
      <p:sp>
        <p:nvSpPr>
          <p:cNvPr id="18" name="Text 16"/>
          <p:cNvSpPr/>
          <p:nvPr/>
        </p:nvSpPr>
        <p:spPr>
          <a:xfrm>
            <a:off x="2354709" y="4108252"/>
            <a:ext cx="9024491"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A5263"/>
                </a:solidFill>
                <a:latin typeface="IBM Plex Sans KR" pitchFamily="34" charset="0"/>
                <a:ea typeface="IBM Plex Sans KR" pitchFamily="34" charset="-122"/>
                <a:cs typeface="IBM Plex Sans KR" pitchFamily="34" charset="-120"/>
              </a:rPr>
              <a:t>회사 전체 사용자가 30명 미만이면 Enterprise 기능도 프로덕션에서 무료. 30명 이상부터 라이선스 필요.</a:t>
            </a:r>
            <a:endParaRPr lang="en-US" sz="1400" dirty="0"/>
          </a:p>
        </p:txBody>
      </p:sp>
      <p:sp>
        <p:nvSpPr>
          <p:cNvPr id="19" name="Text 1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KR" pitchFamily="34" charset="0"/>
                <a:ea typeface="IBM Plex Sans KR" pitchFamily="34" charset="-122"/>
                <a:cs typeface="IBM Plex Sans KR" pitchFamily="34" charset="-120"/>
              </a:rPr>
              <a:t>Archestra 아키텍처 · 14 · 출처: docs/pages/get-started/pricing-model.md, LICENSE.md</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31A2A"/>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F08A4B"/>
                </a:solidFill>
                <a:latin typeface="JetBrains Mono" pitchFamily="49" charset="0"/>
                <a:ea typeface="JetBrains Mono" pitchFamily="49" charset="-122"/>
                <a:cs typeface="JetBrains Mono" pitchFamily="49" charset="-120"/>
              </a:rPr>
              <a:t>14 · IMPLICATIONS</a:t>
            </a:r>
            <a:endParaRPr lang="en-US" sz="1200" dirty="0"/>
          </a:p>
        </p:txBody>
      </p:sp>
      <p:sp>
        <p:nvSpPr>
          <p:cNvPr id="3" name="Text 1"/>
          <p:cNvSpPr/>
          <p:nvPr>
            <p:ph type="title"/>
          </p:nvPr>
        </p:nvSpPr>
        <p:spPr>
          <a:xfrm>
            <a:off x="812800" y="10007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F4F3EE"/>
                </a:solidFill>
                <a:latin typeface="IBM Plex Sans KR" pitchFamily="34" charset="0"/>
                <a:ea typeface="IBM Plex Sans KR" pitchFamily="34" charset="-122"/>
                <a:cs typeface="IBM Plex Sans KR" pitchFamily="34" charset="-120"/>
              </a:rPr>
              <a:t>AI Agent Builder Platform에 가져올 설계 포인트</a:t>
            </a:r>
            <a:endParaRPr lang="en-US" sz="3000" dirty="0"/>
          </a:p>
        </p:txBody>
      </p:sp>
      <p:sp>
        <p:nvSpPr>
          <p:cNvPr id="4" name="Shape 2"/>
          <p:cNvSpPr/>
          <p:nvPr/>
        </p:nvSpPr>
        <p:spPr>
          <a:xfrm>
            <a:off x="812800" y="1692870"/>
            <a:ext cx="5207000" cy="1092200"/>
          </a:xfrm>
          <a:prstGeom prst="roundRect">
            <a:avLst>
              <a:gd name="adj" fmla="val 8140"/>
            </a:avLst>
          </a:prstGeom>
          <a:solidFill>
            <a:srgbClr val="1E2638"/>
          </a:solidFill>
          <a:ln/>
        </p:spPr>
      </p:sp>
      <p:sp>
        <p:nvSpPr>
          <p:cNvPr id="5" name="Text 3"/>
          <p:cNvSpPr/>
          <p:nvPr/>
        </p:nvSpPr>
        <p:spPr>
          <a:xfrm>
            <a:off x="990600" y="1870670"/>
            <a:ext cx="179338" cy="76200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08A4B"/>
                </a:solidFill>
                <a:latin typeface="JetBrains Mono" pitchFamily="49" charset="0"/>
                <a:ea typeface="JetBrains Mono" pitchFamily="49" charset="-122"/>
                <a:cs typeface="JetBrains Mono" pitchFamily="49" charset="-120"/>
              </a:rPr>
              <a:t>1</a:t>
            </a:r>
            <a:endParaRPr lang="en-US" sz="2200" dirty="0"/>
          </a:p>
        </p:txBody>
      </p:sp>
      <p:sp>
        <p:nvSpPr>
          <p:cNvPr id="6" name="Text 4"/>
          <p:cNvSpPr/>
          <p:nvPr/>
        </p:nvSpPr>
        <p:spPr>
          <a:xfrm>
            <a:off x="1271538" y="1870670"/>
            <a:ext cx="470757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4F3EE"/>
                </a:solidFill>
                <a:latin typeface="IBM Plex Sans KR" pitchFamily="34" charset="0"/>
                <a:ea typeface="IBM Plex Sans KR" pitchFamily="34" charset="-122"/>
                <a:cs typeface="IBM Plex Sans KR" pitchFamily="34" charset="-120"/>
              </a:rPr>
              <a:t>게이트웨이가 곧 통제 지점</a:t>
            </a:r>
            <a:endParaRPr lang="en-US" sz="1500" dirty="0"/>
          </a:p>
        </p:txBody>
      </p:sp>
      <p:sp>
        <p:nvSpPr>
          <p:cNvPr id="7" name="Text 5"/>
          <p:cNvSpPr/>
          <p:nvPr/>
        </p:nvSpPr>
        <p:spPr>
          <a:xfrm>
            <a:off x="1271538" y="2150070"/>
            <a:ext cx="4707576"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C9CEDA"/>
                </a:solidFill>
                <a:latin typeface="IBM Plex Sans KR" pitchFamily="34" charset="0"/>
                <a:ea typeface="IBM Plex Sans KR" pitchFamily="34" charset="-122"/>
                <a:cs typeface="IBM Plex Sans KR" pitchFamily="34" charset="-120"/>
              </a:rPr>
              <a:t>빌더·런타임·외부 도구 모두 LLM/MCP 게이트웨이 경유를 강제하면 정책·로그·비용이 한 번에 해결</a:t>
            </a:r>
            <a:endParaRPr lang="en-US" sz="1200" dirty="0"/>
          </a:p>
        </p:txBody>
      </p:sp>
      <p:sp>
        <p:nvSpPr>
          <p:cNvPr id="8" name="Shape 6"/>
          <p:cNvSpPr/>
          <p:nvPr/>
        </p:nvSpPr>
        <p:spPr>
          <a:xfrm>
            <a:off x="6172200" y="1692870"/>
            <a:ext cx="5207000" cy="1092200"/>
          </a:xfrm>
          <a:prstGeom prst="roundRect">
            <a:avLst>
              <a:gd name="adj" fmla="val 8140"/>
            </a:avLst>
          </a:prstGeom>
          <a:solidFill>
            <a:srgbClr val="1E2638"/>
          </a:solidFill>
          <a:ln/>
        </p:spPr>
      </p:sp>
      <p:sp>
        <p:nvSpPr>
          <p:cNvPr id="9" name="Text 7"/>
          <p:cNvSpPr/>
          <p:nvPr/>
        </p:nvSpPr>
        <p:spPr>
          <a:xfrm>
            <a:off x="6350000" y="1870670"/>
            <a:ext cx="167630" cy="76200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08A4B"/>
                </a:solidFill>
                <a:latin typeface="JetBrains Mono" pitchFamily="49" charset="0"/>
                <a:ea typeface="JetBrains Mono" pitchFamily="49" charset="-122"/>
                <a:cs typeface="JetBrains Mono" pitchFamily="49" charset="-120"/>
              </a:rPr>
              <a:t>2</a:t>
            </a:r>
            <a:endParaRPr lang="en-US" sz="2200" dirty="0"/>
          </a:p>
        </p:txBody>
      </p:sp>
      <p:sp>
        <p:nvSpPr>
          <p:cNvPr id="10" name="Text 8"/>
          <p:cNvSpPr/>
          <p:nvPr/>
        </p:nvSpPr>
        <p:spPr>
          <a:xfrm>
            <a:off x="6619230" y="1870670"/>
            <a:ext cx="471963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4F3EE"/>
                </a:solidFill>
                <a:latin typeface="IBM Plex Sans KR" pitchFamily="34" charset="0"/>
                <a:ea typeface="IBM Plex Sans KR" pitchFamily="34" charset="-122"/>
                <a:cs typeface="IBM Plex Sans KR" pitchFamily="34" charset="-120"/>
              </a:rPr>
              <a:t>MCP 서버 = K8s 워크로드</a:t>
            </a:r>
            <a:endParaRPr lang="en-US" sz="1500" dirty="0"/>
          </a:p>
        </p:txBody>
      </p:sp>
      <p:sp>
        <p:nvSpPr>
          <p:cNvPr id="11" name="Text 9"/>
          <p:cNvSpPr/>
          <p:nvPr/>
        </p:nvSpPr>
        <p:spPr>
          <a:xfrm>
            <a:off x="6619230" y="2150070"/>
            <a:ext cx="4719635"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C9CEDA"/>
                </a:solidFill>
                <a:latin typeface="IBM Plex Sans KR" pitchFamily="34" charset="0"/>
                <a:ea typeface="IBM Plex Sans KR" pitchFamily="34" charset="-122"/>
                <a:cs typeface="IBM Plex Sans KR" pitchFamily="34" charset="-120"/>
              </a:rPr>
              <a:t>Deployment + Secret + NetworkPolicy 표준 단위. Kamaji 기반 CPaaS 위 멀티테넌트와 자연스럽게 결합</a:t>
            </a:r>
            <a:endParaRPr lang="en-US" sz="1200" dirty="0"/>
          </a:p>
        </p:txBody>
      </p:sp>
      <p:sp>
        <p:nvSpPr>
          <p:cNvPr id="12" name="Shape 10"/>
          <p:cNvSpPr/>
          <p:nvPr/>
        </p:nvSpPr>
        <p:spPr>
          <a:xfrm>
            <a:off x="812800" y="2937470"/>
            <a:ext cx="5207000" cy="1092200"/>
          </a:xfrm>
          <a:prstGeom prst="roundRect">
            <a:avLst>
              <a:gd name="adj" fmla="val 8140"/>
            </a:avLst>
          </a:prstGeom>
          <a:solidFill>
            <a:srgbClr val="1E2638"/>
          </a:solidFill>
          <a:ln/>
        </p:spPr>
      </p:sp>
      <p:sp>
        <p:nvSpPr>
          <p:cNvPr id="13" name="Text 11"/>
          <p:cNvSpPr/>
          <p:nvPr/>
        </p:nvSpPr>
        <p:spPr>
          <a:xfrm>
            <a:off x="990600" y="3115270"/>
            <a:ext cx="186730" cy="76200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08A4B"/>
                </a:solidFill>
                <a:latin typeface="JetBrains Mono" pitchFamily="49" charset="0"/>
                <a:ea typeface="JetBrains Mono" pitchFamily="49" charset="-122"/>
                <a:cs typeface="JetBrains Mono" pitchFamily="49" charset="-120"/>
              </a:rPr>
              <a:t>3</a:t>
            </a:r>
            <a:endParaRPr lang="en-US" sz="2200" dirty="0"/>
          </a:p>
        </p:txBody>
      </p:sp>
      <p:sp>
        <p:nvSpPr>
          <p:cNvPr id="14" name="Text 12"/>
          <p:cNvSpPr/>
          <p:nvPr/>
        </p:nvSpPr>
        <p:spPr>
          <a:xfrm>
            <a:off x="1278930" y="3115270"/>
            <a:ext cx="469996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4F3EE"/>
                </a:solidFill>
                <a:latin typeface="IBM Plex Sans KR" pitchFamily="34" charset="0"/>
                <a:ea typeface="IBM Plex Sans KR" pitchFamily="34" charset="-122"/>
                <a:cs typeface="IBM Plex Sans KR" pitchFamily="34" charset="-120"/>
              </a:rPr>
              <a:t>가드레일은 결정론적으로</a:t>
            </a:r>
            <a:endParaRPr lang="en-US" sz="1500" dirty="0"/>
          </a:p>
        </p:txBody>
      </p:sp>
      <p:sp>
        <p:nvSpPr>
          <p:cNvPr id="15" name="Text 13"/>
          <p:cNvSpPr/>
          <p:nvPr/>
        </p:nvSpPr>
        <p:spPr>
          <a:xfrm>
            <a:off x="1278930" y="3394670"/>
            <a:ext cx="4699962"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C9CEDA"/>
                </a:solidFill>
                <a:latin typeface="IBM Plex Sans KR" pitchFamily="34" charset="0"/>
                <a:ea typeface="IBM Plex Sans KR" pitchFamily="34" charset="-122"/>
                <a:cs typeface="IBM Plex Sans KR" pitchFamily="34" charset="-120"/>
              </a:rPr>
              <a:t>LLM 판정이 아닌 라벨·규칙 기반. 반도체 고객의 데이터 유출 우려에 대한 가장 설득력 있는 답</a:t>
            </a:r>
            <a:endParaRPr lang="en-US" sz="1200" dirty="0"/>
          </a:p>
        </p:txBody>
      </p:sp>
      <p:sp>
        <p:nvSpPr>
          <p:cNvPr id="16" name="Shape 14"/>
          <p:cNvSpPr/>
          <p:nvPr/>
        </p:nvSpPr>
        <p:spPr>
          <a:xfrm>
            <a:off x="6172200" y="2937470"/>
            <a:ext cx="5207000" cy="1092200"/>
          </a:xfrm>
          <a:prstGeom prst="roundRect">
            <a:avLst>
              <a:gd name="adj" fmla="val 8140"/>
            </a:avLst>
          </a:prstGeom>
          <a:solidFill>
            <a:srgbClr val="1E2638"/>
          </a:solidFill>
          <a:ln/>
        </p:spPr>
      </p:sp>
      <p:sp>
        <p:nvSpPr>
          <p:cNvPr id="17" name="Text 15"/>
          <p:cNvSpPr/>
          <p:nvPr/>
        </p:nvSpPr>
        <p:spPr>
          <a:xfrm>
            <a:off x="6350000" y="3115270"/>
            <a:ext cx="176957" cy="76200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08A4B"/>
                </a:solidFill>
                <a:latin typeface="JetBrains Mono" pitchFamily="49" charset="0"/>
                <a:ea typeface="JetBrains Mono" pitchFamily="49" charset="-122"/>
                <a:cs typeface="JetBrains Mono" pitchFamily="49" charset="-120"/>
              </a:rPr>
              <a:t>4</a:t>
            </a:r>
            <a:endParaRPr lang="en-US" sz="2200" dirty="0"/>
          </a:p>
        </p:txBody>
      </p:sp>
      <p:sp>
        <p:nvSpPr>
          <p:cNvPr id="18" name="Text 16"/>
          <p:cNvSpPr/>
          <p:nvPr/>
        </p:nvSpPr>
        <p:spPr>
          <a:xfrm>
            <a:off x="6628557" y="3115270"/>
            <a:ext cx="471002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4F3EE"/>
                </a:solidFill>
                <a:latin typeface="IBM Plex Sans KR" pitchFamily="34" charset="0"/>
                <a:ea typeface="IBM Plex Sans KR" pitchFamily="34" charset="-122"/>
                <a:cs typeface="IBM Plex Sans KR" pitchFamily="34" charset="-120"/>
              </a:rPr>
              <a:t>단순한 데이터 계층</a:t>
            </a:r>
            <a:endParaRPr lang="en-US" sz="1500" dirty="0"/>
          </a:p>
        </p:txBody>
      </p:sp>
      <p:sp>
        <p:nvSpPr>
          <p:cNvPr id="19" name="Text 17"/>
          <p:cNvSpPr/>
          <p:nvPr/>
        </p:nvSpPr>
        <p:spPr>
          <a:xfrm>
            <a:off x="6628557" y="3394670"/>
            <a:ext cx="4710029"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C9CEDA"/>
                </a:solidFill>
                <a:latin typeface="IBM Plex Sans KR" pitchFamily="34" charset="0"/>
                <a:ea typeface="IBM Plex Sans KR" pitchFamily="34" charset="-122"/>
                <a:cs typeface="IBM Plex Sans KR" pitchFamily="34" charset="-120"/>
              </a:rPr>
              <a:t>Postgres 하나로 메타·큐·벡터까지. 폐쇄망 설치·운영 부담 최소화, 백엔드는 인터페이스로 교체 여지</a:t>
            </a:r>
            <a:endParaRPr lang="en-US" sz="1200" dirty="0"/>
          </a:p>
        </p:txBody>
      </p:sp>
      <p:sp>
        <p:nvSpPr>
          <p:cNvPr id="20" name="Text 18"/>
          <p:cNvSpPr/>
          <p:nvPr/>
        </p:nvSpPr>
        <p:spPr>
          <a:xfrm>
            <a:off x="812800" y="4283670"/>
            <a:ext cx="10464800"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9AA3B5"/>
                </a:solidFill>
                <a:latin typeface="IBM Plex Sans KR" pitchFamily="34" charset="0"/>
                <a:ea typeface="IBM Plex Sans KR" pitchFamily="34" charset="-122"/>
                <a:cs typeface="IBM Plex Sans KR" pitchFamily="34" charset="-120"/>
              </a:rPr>
              <a:t>주의: AGPL 코어를 그대로 가져다 SaaS로 제공하면 소스 공개 의무 발생 — 참조 아키텍처로 활용하고 자체 구현하는 편이 안전합니다.</a:t>
            </a:r>
            <a:endParaRPr lang="en-US" sz="1300" dirty="0"/>
          </a:p>
        </p:txBody>
      </p:sp>
      <p:sp>
        <p:nvSpPr>
          <p:cNvPr id="21" name="Text 1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3B5"/>
                </a:solidFill>
                <a:latin typeface="IBM Plex Sans KR" pitchFamily="34" charset="0"/>
                <a:ea typeface="IBM Plex Sans KR" pitchFamily="34" charset="-122"/>
                <a:cs typeface="IBM Plex Sans KR" pitchFamily="34" charset="-120"/>
              </a:rPr>
              <a:t>Archestra 아키텍처 · 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31A2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F08A4B"/>
                </a:solidFill>
                <a:latin typeface="JetBrains Mono" pitchFamily="49" charset="0"/>
                <a:ea typeface="JetBrains Mono" pitchFamily="49" charset="-122"/>
                <a:cs typeface="JetBrains Mono" pitchFamily="49" charset="-120"/>
              </a:rPr>
              <a:t>APPENDIX · DEEP DIVE</a:t>
            </a:r>
            <a:endParaRPr lang="en-US" sz="1400" dirty="0"/>
          </a:p>
        </p:txBody>
      </p:sp>
      <p:sp>
        <p:nvSpPr>
          <p:cNvPr id="3" name="Text 1"/>
          <p:cNvSpPr/>
          <p:nvPr>
            <p:ph type="title"/>
          </p:nvPr>
        </p:nvSpPr>
        <p:spPr>
          <a:xfrm>
            <a:off x="812800" y="2422872"/>
            <a:ext cx="10883392" cy="758825"/>
          </a:xfrm>
          <a:prstGeom prst="rect">
            <a:avLst/>
          </a:prstGeom>
          <a:noFill/>
          <a:ln/>
        </p:spPr>
        <p:txBody>
          <a:bodyPr wrap="square" lIns="0" tIns="0" rIns="0" bIns="0" rtlCol="0" anchor="t">
            <a:normAutofit/>
          </a:bodyPr>
          <a:lstStyle/>
          <a:p>
            <a:pPr algn="l" indent="0" marL="0">
              <a:lnSpc>
                <a:spcPts val="5775"/>
              </a:lnSpc>
              <a:buNone/>
            </a:pPr>
            <a:r>
              <a:rPr lang="en-US" sz="5500" b="1" i="0" dirty="0">
                <a:solidFill>
                  <a:srgbClr val="F4F3EE"/>
                </a:solidFill>
                <a:latin typeface="IBM Plex Sans KR" pitchFamily="34" charset="0"/>
                <a:ea typeface="IBM Plex Sans KR" pitchFamily="34" charset="-122"/>
                <a:cs typeface="IBM Plex Sans KR" pitchFamily="34" charset="-120"/>
              </a:rPr>
              <a:t>Use Case · Sequence · Data</a:t>
            </a:r>
            <a:endParaRPr lang="en-US" sz="5500" dirty="0"/>
          </a:p>
        </p:txBody>
      </p:sp>
      <p:sp>
        <p:nvSpPr>
          <p:cNvPr id="4" name="Text 2"/>
          <p:cNvSpPr/>
          <p:nvPr/>
        </p:nvSpPr>
        <p:spPr>
          <a:xfrm>
            <a:off x="812800" y="3334097"/>
            <a:ext cx="9156700" cy="688280"/>
          </a:xfrm>
          <a:prstGeom prst="rect">
            <a:avLst/>
          </a:prstGeom>
          <a:noFill/>
          <a:ln/>
        </p:spPr>
        <p:txBody>
          <a:bodyPr wrap="square" lIns="0" tIns="0" rIns="0" bIns="0" rtlCol="0" anchor="t">
            <a:normAutofit/>
          </a:bodyPr>
          <a:lstStyle/>
          <a:p>
            <a:pPr algn="l" indent="0" marL="0">
              <a:lnSpc>
                <a:spcPts val="2610"/>
              </a:lnSpc>
              <a:buNone/>
            </a:pPr>
            <a:r>
              <a:rPr lang="en-US" sz="1800" dirty="0">
                <a:solidFill>
                  <a:srgbClr val="C9CEDA"/>
                </a:solidFill>
                <a:latin typeface="IBM Plex Sans KR" pitchFamily="34" charset="0"/>
                <a:ea typeface="IBM Plex Sans KR" pitchFamily="34" charset="-122"/>
                <a:cs typeface="IBM Plex Sans KR" pitchFamily="34" charset="-120"/>
              </a:rPr>
              <a:t>누가 무엇을 하고, 요청이 어떤 순서로 흐르며, 그 결과가 어느 테이블에 남는지 — 소스 코드 기준으로 추적합니다.</a:t>
            </a:r>
            <a:endParaRPr lang="en-US" sz="1800" dirty="0"/>
          </a:p>
        </p:txBody>
      </p:sp>
      <p:sp>
        <p:nvSpPr>
          <p:cNvPr id="5" name="Shape 3"/>
          <p:cNvSpPr/>
          <p:nvPr/>
        </p:nvSpPr>
        <p:spPr>
          <a:xfrm>
            <a:off x="812800" y="5367685"/>
            <a:ext cx="3386634" cy="0"/>
          </a:xfrm>
          <a:prstGeom prst="line">
            <a:avLst/>
          </a:prstGeom>
          <a:noFill/>
          <a:ln w="19050">
            <a:solidFill>
              <a:srgbClr val="F08A4B"/>
            </a:solidFill>
            <a:prstDash val="solid"/>
          </a:ln>
        </p:spPr>
      </p:sp>
      <p:sp>
        <p:nvSpPr>
          <p:cNvPr id="6" name="Text 4"/>
          <p:cNvSpPr/>
          <p:nvPr/>
        </p:nvSpPr>
        <p:spPr>
          <a:xfrm>
            <a:off x="812800" y="5504210"/>
            <a:ext cx="3488233"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4F3EE"/>
                </a:solidFill>
                <a:latin typeface="IBM Plex Sans KR" pitchFamily="34" charset="0"/>
                <a:ea typeface="IBM Plex Sans KR" pitchFamily="34" charset="-122"/>
                <a:cs typeface="IBM Plex Sans KR" pitchFamily="34" charset="-120"/>
              </a:rPr>
              <a:t>Use Case</a:t>
            </a:r>
            <a:endParaRPr lang="en-US" sz="1700" dirty="0"/>
          </a:p>
        </p:txBody>
      </p:sp>
      <p:sp>
        <p:nvSpPr>
          <p:cNvPr id="7" name="Text 5"/>
          <p:cNvSpPr/>
          <p:nvPr/>
        </p:nvSpPr>
        <p:spPr>
          <a:xfrm>
            <a:off x="812800" y="5814070"/>
            <a:ext cx="3488233"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AA3B5"/>
                </a:solidFill>
                <a:latin typeface="IBM Plex Sans KR" pitchFamily="34" charset="0"/>
                <a:ea typeface="IBM Plex Sans KR" pitchFamily="34" charset="-122"/>
                <a:cs typeface="IBM Plex Sans KR" pitchFamily="34" charset="-120"/>
              </a:rPr>
              <a:t>액터 5종 · 핵심 유스케이스 8개</a:t>
            </a:r>
            <a:endParaRPr lang="en-US" sz="1300" dirty="0"/>
          </a:p>
        </p:txBody>
      </p:sp>
      <p:sp>
        <p:nvSpPr>
          <p:cNvPr id="8" name="Shape 6"/>
          <p:cNvSpPr/>
          <p:nvPr/>
        </p:nvSpPr>
        <p:spPr>
          <a:xfrm>
            <a:off x="4402634" y="5367685"/>
            <a:ext cx="3386683" cy="0"/>
          </a:xfrm>
          <a:prstGeom prst="line">
            <a:avLst/>
          </a:prstGeom>
          <a:noFill/>
          <a:ln w="19050">
            <a:solidFill>
              <a:srgbClr val="F08A4B"/>
            </a:solidFill>
            <a:prstDash val="solid"/>
          </a:ln>
        </p:spPr>
      </p:sp>
      <p:sp>
        <p:nvSpPr>
          <p:cNvPr id="9" name="Text 7"/>
          <p:cNvSpPr/>
          <p:nvPr/>
        </p:nvSpPr>
        <p:spPr>
          <a:xfrm>
            <a:off x="4402634" y="5504210"/>
            <a:ext cx="3488284"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4F3EE"/>
                </a:solidFill>
                <a:latin typeface="IBM Plex Sans KR" pitchFamily="34" charset="0"/>
                <a:ea typeface="IBM Plex Sans KR" pitchFamily="34" charset="-122"/>
                <a:cs typeface="IBM Plex Sans KR" pitchFamily="34" charset="-120"/>
              </a:rPr>
              <a:t>Sequence</a:t>
            </a:r>
            <a:endParaRPr lang="en-US" sz="1700" dirty="0"/>
          </a:p>
        </p:txBody>
      </p:sp>
      <p:sp>
        <p:nvSpPr>
          <p:cNvPr id="10" name="Text 8"/>
          <p:cNvSpPr/>
          <p:nvPr/>
        </p:nvSpPr>
        <p:spPr>
          <a:xfrm>
            <a:off x="4402634" y="5814070"/>
            <a:ext cx="3488284"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AA3B5"/>
                </a:solidFill>
                <a:latin typeface="IBM Plex Sans KR" pitchFamily="34" charset="0"/>
                <a:ea typeface="IBM Plex Sans KR" pitchFamily="34" charset="-122"/>
                <a:cs typeface="IBM Plex Sans KR" pitchFamily="34" charset="-120"/>
              </a:rPr>
              <a:t>LLM · MCP · 에이전트 · RAG · 설치</a:t>
            </a:r>
            <a:endParaRPr lang="en-US" sz="1300" dirty="0"/>
          </a:p>
        </p:txBody>
      </p:sp>
      <p:sp>
        <p:nvSpPr>
          <p:cNvPr id="11" name="Shape 9"/>
          <p:cNvSpPr/>
          <p:nvPr/>
        </p:nvSpPr>
        <p:spPr>
          <a:xfrm>
            <a:off x="7992517" y="5367685"/>
            <a:ext cx="3386634" cy="0"/>
          </a:xfrm>
          <a:prstGeom prst="line">
            <a:avLst/>
          </a:prstGeom>
          <a:noFill/>
          <a:ln w="19050">
            <a:solidFill>
              <a:srgbClr val="F08A4B"/>
            </a:solidFill>
            <a:prstDash val="solid"/>
          </a:ln>
        </p:spPr>
      </p:sp>
      <p:sp>
        <p:nvSpPr>
          <p:cNvPr id="12" name="Text 10"/>
          <p:cNvSpPr/>
          <p:nvPr/>
        </p:nvSpPr>
        <p:spPr>
          <a:xfrm>
            <a:off x="7992517" y="5504210"/>
            <a:ext cx="3488233"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4F3EE"/>
                </a:solidFill>
                <a:latin typeface="IBM Plex Sans KR" pitchFamily="34" charset="0"/>
                <a:ea typeface="IBM Plex Sans KR" pitchFamily="34" charset="-122"/>
                <a:cs typeface="IBM Plex Sans KR" pitchFamily="34" charset="-120"/>
              </a:rPr>
              <a:t>Data</a:t>
            </a:r>
            <a:endParaRPr lang="en-US" sz="1700" dirty="0"/>
          </a:p>
        </p:txBody>
      </p:sp>
      <p:sp>
        <p:nvSpPr>
          <p:cNvPr id="13" name="Text 11"/>
          <p:cNvSpPr/>
          <p:nvPr/>
        </p:nvSpPr>
        <p:spPr>
          <a:xfrm>
            <a:off x="7992517" y="5814070"/>
            <a:ext cx="3488233"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AA3B5"/>
                </a:solidFill>
                <a:latin typeface="IBM Plex Sans KR" pitchFamily="34" charset="0"/>
                <a:ea typeface="IBM Plex Sans KR" pitchFamily="34" charset="-122"/>
                <a:cs typeface="IBM Plex Sans KR" pitchFamily="34" charset="-120"/>
              </a:rPr>
              <a:t>도메인 맵 · 핵심 ERD · 설계 패턴</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3EE"/>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B8521E"/>
                </a:solidFill>
                <a:latin typeface="JetBrains Mono" pitchFamily="49" charset="0"/>
                <a:ea typeface="JetBrains Mono" pitchFamily="49" charset="-122"/>
                <a:cs typeface="JetBrains Mono" pitchFamily="49" charset="-120"/>
              </a:rPr>
              <a:t>A1 · USE CASE MAP</a:t>
            </a:r>
            <a:endParaRPr lang="en-US" sz="1200" dirty="0"/>
          </a:p>
        </p:txBody>
      </p:sp>
      <p:sp>
        <p:nvSpPr>
          <p:cNvPr id="3" name="Text 1"/>
          <p:cNvSpPr/>
          <p:nvPr>
            <p:ph type="title"/>
          </p:nvPr>
        </p:nvSpPr>
        <p:spPr>
          <a:xfrm>
            <a:off x="812800" y="10007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1A2A"/>
                </a:solidFill>
                <a:latin typeface="IBM Plex Sans KR" pitchFamily="34" charset="0"/>
                <a:ea typeface="IBM Plex Sans KR" pitchFamily="34" charset="-122"/>
                <a:cs typeface="IBM Plex Sans KR" pitchFamily="34" charset="-120"/>
              </a:rPr>
              <a:t>액터 5종과 유스케이스 지도</a:t>
            </a:r>
            <a:endParaRPr lang="en-US" sz="3000" dirty="0"/>
          </a:p>
        </p:txBody>
      </p:sp>
      <p:sp>
        <p:nvSpPr>
          <p:cNvPr id="4" name="Shape 2"/>
          <p:cNvSpPr/>
          <p:nvPr/>
        </p:nvSpPr>
        <p:spPr>
          <a:xfrm>
            <a:off x="812800" y="1642070"/>
            <a:ext cx="2413000" cy="434330"/>
          </a:xfrm>
          <a:prstGeom prst="roundRect">
            <a:avLst>
              <a:gd name="adj" fmla="val 17544"/>
            </a:avLst>
          </a:prstGeom>
          <a:solidFill>
            <a:srgbClr val="131A2A"/>
          </a:solidFill>
          <a:ln/>
        </p:spPr>
      </p:sp>
      <p:sp>
        <p:nvSpPr>
          <p:cNvPr id="5" name="Text 3"/>
          <p:cNvSpPr/>
          <p:nvPr/>
        </p:nvSpPr>
        <p:spPr>
          <a:xfrm>
            <a:off x="927100" y="1743670"/>
            <a:ext cx="14987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08A4B"/>
                </a:solidFill>
                <a:latin typeface="JetBrains Mono" pitchFamily="49" charset="0"/>
                <a:ea typeface="JetBrains Mono" pitchFamily="49" charset="-122"/>
                <a:cs typeface="JetBrains Mono" pitchFamily="49" charset="-120"/>
              </a:rPr>
              <a:t>A</a:t>
            </a:r>
            <a:endParaRPr lang="en-US" sz="1300" dirty="0"/>
          </a:p>
        </p:txBody>
      </p:sp>
      <p:sp>
        <p:nvSpPr>
          <p:cNvPr id="6" name="Text 4"/>
          <p:cNvSpPr/>
          <p:nvPr/>
        </p:nvSpPr>
        <p:spPr>
          <a:xfrm>
            <a:off x="1115070" y="1752550"/>
            <a:ext cx="8588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F3EE"/>
                </a:solidFill>
                <a:latin typeface="IBM Plex Sans KR" pitchFamily="34" charset="0"/>
                <a:ea typeface="IBM Plex Sans KR" pitchFamily="34" charset="-122"/>
                <a:cs typeface="IBM Plex Sans KR" pitchFamily="34" charset="-120"/>
              </a:rPr>
              <a:t>현업 사용자</a:t>
            </a:r>
            <a:endParaRPr lang="en-US" sz="1200" dirty="0"/>
          </a:p>
        </p:txBody>
      </p:sp>
      <p:sp>
        <p:nvSpPr>
          <p:cNvPr id="7" name="Shape 5"/>
          <p:cNvSpPr/>
          <p:nvPr/>
        </p:nvSpPr>
        <p:spPr>
          <a:xfrm>
            <a:off x="812800" y="2152600"/>
            <a:ext cx="2413000" cy="434330"/>
          </a:xfrm>
          <a:prstGeom prst="roundRect">
            <a:avLst>
              <a:gd name="adj" fmla="val 17544"/>
            </a:avLst>
          </a:prstGeom>
          <a:solidFill>
            <a:srgbClr val="131A2A"/>
          </a:solidFill>
          <a:ln/>
        </p:spPr>
      </p:sp>
      <p:sp>
        <p:nvSpPr>
          <p:cNvPr id="8" name="Text 6"/>
          <p:cNvSpPr/>
          <p:nvPr/>
        </p:nvSpPr>
        <p:spPr>
          <a:xfrm>
            <a:off x="927100" y="2254200"/>
            <a:ext cx="14987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08A4B"/>
                </a:solidFill>
                <a:latin typeface="JetBrains Mono" pitchFamily="49" charset="0"/>
                <a:ea typeface="JetBrains Mono" pitchFamily="49" charset="-122"/>
                <a:cs typeface="JetBrains Mono" pitchFamily="49" charset="-120"/>
              </a:rPr>
              <a:t>B</a:t>
            </a:r>
            <a:endParaRPr lang="en-US" sz="1300" dirty="0"/>
          </a:p>
        </p:txBody>
      </p:sp>
      <p:sp>
        <p:nvSpPr>
          <p:cNvPr id="9" name="Text 7"/>
          <p:cNvSpPr/>
          <p:nvPr/>
        </p:nvSpPr>
        <p:spPr>
          <a:xfrm>
            <a:off x="1115070" y="2263080"/>
            <a:ext cx="16572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F3EE"/>
                </a:solidFill>
                <a:latin typeface="IBM Plex Sans KR" pitchFamily="34" charset="0"/>
                <a:ea typeface="IBM Plex Sans KR" pitchFamily="34" charset="-122"/>
                <a:cs typeface="IBM Plex Sans KR" pitchFamily="34" charset="-120"/>
              </a:rPr>
              <a:t>개발자 · 코딩 에이전트</a:t>
            </a:r>
            <a:endParaRPr lang="en-US" sz="1200" dirty="0"/>
          </a:p>
        </p:txBody>
      </p:sp>
      <p:sp>
        <p:nvSpPr>
          <p:cNvPr id="10" name="Shape 8"/>
          <p:cNvSpPr/>
          <p:nvPr/>
        </p:nvSpPr>
        <p:spPr>
          <a:xfrm>
            <a:off x="812800" y="2663130"/>
            <a:ext cx="2413000" cy="434330"/>
          </a:xfrm>
          <a:prstGeom prst="roundRect">
            <a:avLst>
              <a:gd name="adj" fmla="val 17544"/>
            </a:avLst>
          </a:prstGeom>
          <a:solidFill>
            <a:srgbClr val="131A2A"/>
          </a:solidFill>
          <a:ln/>
        </p:spPr>
      </p:sp>
      <p:sp>
        <p:nvSpPr>
          <p:cNvPr id="11" name="Text 9"/>
          <p:cNvSpPr/>
          <p:nvPr/>
        </p:nvSpPr>
        <p:spPr>
          <a:xfrm>
            <a:off x="927100" y="2764730"/>
            <a:ext cx="14987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08A4B"/>
                </a:solidFill>
                <a:latin typeface="JetBrains Mono" pitchFamily="49" charset="0"/>
                <a:ea typeface="JetBrains Mono" pitchFamily="49" charset="-122"/>
                <a:cs typeface="JetBrains Mono" pitchFamily="49" charset="-120"/>
              </a:rPr>
              <a:t>C</a:t>
            </a:r>
            <a:endParaRPr lang="en-US" sz="1300" dirty="0"/>
          </a:p>
        </p:txBody>
      </p:sp>
      <p:sp>
        <p:nvSpPr>
          <p:cNvPr id="12" name="Text 10"/>
          <p:cNvSpPr/>
          <p:nvPr/>
        </p:nvSpPr>
        <p:spPr>
          <a:xfrm>
            <a:off x="1115070" y="2773611"/>
            <a:ext cx="102197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F3EE"/>
                </a:solidFill>
                <a:latin typeface="IBM Plex Sans KR" pitchFamily="34" charset="0"/>
                <a:ea typeface="IBM Plex Sans KR" pitchFamily="34" charset="-122"/>
                <a:cs typeface="IBM Plex Sans KR" pitchFamily="34" charset="-120"/>
              </a:rPr>
              <a:t>플랫폼 관리자</a:t>
            </a:r>
            <a:endParaRPr lang="en-US" sz="1200" dirty="0"/>
          </a:p>
        </p:txBody>
      </p:sp>
      <p:sp>
        <p:nvSpPr>
          <p:cNvPr id="13" name="Shape 11"/>
          <p:cNvSpPr/>
          <p:nvPr/>
        </p:nvSpPr>
        <p:spPr>
          <a:xfrm>
            <a:off x="812800" y="3173661"/>
            <a:ext cx="2413000" cy="434330"/>
          </a:xfrm>
          <a:prstGeom prst="roundRect">
            <a:avLst>
              <a:gd name="adj" fmla="val 17544"/>
            </a:avLst>
          </a:prstGeom>
          <a:solidFill>
            <a:srgbClr val="131A2A"/>
          </a:solidFill>
          <a:ln/>
        </p:spPr>
      </p:sp>
      <p:sp>
        <p:nvSpPr>
          <p:cNvPr id="14" name="Text 12"/>
          <p:cNvSpPr/>
          <p:nvPr/>
        </p:nvSpPr>
        <p:spPr>
          <a:xfrm>
            <a:off x="927100" y="3275261"/>
            <a:ext cx="14987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08A4B"/>
                </a:solidFill>
                <a:latin typeface="JetBrains Mono" pitchFamily="49" charset="0"/>
                <a:ea typeface="JetBrains Mono" pitchFamily="49" charset="-122"/>
                <a:cs typeface="JetBrains Mono" pitchFamily="49" charset="-120"/>
              </a:rPr>
              <a:t>D</a:t>
            </a:r>
            <a:endParaRPr lang="en-US" sz="1300" dirty="0"/>
          </a:p>
        </p:txBody>
      </p:sp>
      <p:sp>
        <p:nvSpPr>
          <p:cNvPr id="15" name="Text 13"/>
          <p:cNvSpPr/>
          <p:nvPr/>
        </p:nvSpPr>
        <p:spPr>
          <a:xfrm>
            <a:off x="1115070" y="3284141"/>
            <a:ext cx="116788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F3EE"/>
                </a:solidFill>
                <a:latin typeface="IBM Plex Sans KR" pitchFamily="34" charset="0"/>
                <a:ea typeface="IBM Plex Sans KR" pitchFamily="34" charset="-122"/>
                <a:cs typeface="IBM Plex Sans KR" pitchFamily="34" charset="-120"/>
              </a:rPr>
              <a:t>보안 · 감사 담당</a:t>
            </a:r>
            <a:endParaRPr lang="en-US" sz="1200" dirty="0"/>
          </a:p>
        </p:txBody>
      </p:sp>
      <p:sp>
        <p:nvSpPr>
          <p:cNvPr id="16" name="Shape 14"/>
          <p:cNvSpPr/>
          <p:nvPr/>
        </p:nvSpPr>
        <p:spPr>
          <a:xfrm>
            <a:off x="812800" y="3684191"/>
            <a:ext cx="2413000" cy="434330"/>
          </a:xfrm>
          <a:prstGeom prst="roundRect">
            <a:avLst>
              <a:gd name="adj" fmla="val 17544"/>
            </a:avLst>
          </a:prstGeom>
          <a:solidFill>
            <a:srgbClr val="131A2A"/>
          </a:solidFill>
          <a:ln/>
        </p:spPr>
      </p:sp>
      <p:sp>
        <p:nvSpPr>
          <p:cNvPr id="17" name="Text 15"/>
          <p:cNvSpPr/>
          <p:nvPr/>
        </p:nvSpPr>
        <p:spPr>
          <a:xfrm>
            <a:off x="927100" y="3785791"/>
            <a:ext cx="14987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08A4B"/>
                </a:solidFill>
                <a:latin typeface="JetBrains Mono" pitchFamily="49" charset="0"/>
                <a:ea typeface="JetBrains Mono" pitchFamily="49" charset="-122"/>
                <a:cs typeface="JetBrains Mono" pitchFamily="49" charset="-120"/>
              </a:rPr>
              <a:t>E</a:t>
            </a:r>
            <a:endParaRPr lang="en-US" sz="1300" dirty="0"/>
          </a:p>
        </p:txBody>
      </p:sp>
      <p:sp>
        <p:nvSpPr>
          <p:cNvPr id="18" name="Text 16"/>
          <p:cNvSpPr/>
          <p:nvPr/>
        </p:nvSpPr>
        <p:spPr>
          <a:xfrm>
            <a:off x="1115070" y="3794671"/>
            <a:ext cx="16572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F3EE"/>
                </a:solidFill>
                <a:latin typeface="IBM Plex Sans KR" pitchFamily="34" charset="0"/>
                <a:ea typeface="IBM Plex Sans KR" pitchFamily="34" charset="-122"/>
                <a:cs typeface="IBM Plex Sans KR" pitchFamily="34" charset="-120"/>
              </a:rPr>
              <a:t>외부 시스템 · 스케줄러</a:t>
            </a:r>
            <a:endParaRPr lang="en-US" sz="1200" dirty="0"/>
          </a:p>
        </p:txBody>
      </p:sp>
      <p:sp>
        <p:nvSpPr>
          <p:cNvPr id="19" name="Text 17"/>
          <p:cNvSpPr/>
          <p:nvPr/>
        </p:nvSpPr>
        <p:spPr>
          <a:xfrm>
            <a:off x="812800" y="4194721"/>
            <a:ext cx="248539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KR" pitchFamily="34" charset="0"/>
                <a:ea typeface="IBM Plex Sans KR" pitchFamily="34" charset="-122"/>
                <a:cs typeface="IBM Plex Sans KR" pitchFamily="34" charset="-120"/>
              </a:rPr>
              <a:t>E = Slack·Teams·이메일·웹훅·A2A 호출자, cron</a:t>
            </a:r>
            <a:endParaRPr lang="en-US" sz="1200" dirty="0"/>
          </a:p>
        </p:txBody>
      </p:sp>
      <p:sp>
        <p:nvSpPr>
          <p:cNvPr id="20" name="Shape 18"/>
          <p:cNvSpPr/>
          <p:nvPr/>
        </p:nvSpPr>
        <p:spPr>
          <a:xfrm>
            <a:off x="3435350" y="1648420"/>
            <a:ext cx="7937500" cy="3385542"/>
          </a:xfrm>
          <a:prstGeom prst="roundRect">
            <a:avLst>
              <a:gd name="adj" fmla="val 3189"/>
            </a:avLst>
          </a:prstGeom>
          <a:noFill/>
          <a:ln w="12700">
            <a:solidFill>
              <a:srgbClr val="9AA3B5"/>
            </a:solidFill>
            <a:prstDash val="dash"/>
          </a:ln>
        </p:spPr>
      </p:sp>
      <p:sp>
        <p:nvSpPr>
          <p:cNvPr id="21" name="Shape 19"/>
          <p:cNvSpPr/>
          <p:nvPr/>
        </p:nvSpPr>
        <p:spPr>
          <a:xfrm>
            <a:off x="3597275" y="1810345"/>
            <a:ext cx="2465884" cy="1476871"/>
          </a:xfrm>
          <a:prstGeom prst="roundRect">
            <a:avLst>
              <a:gd name="adj" fmla="val 4945"/>
            </a:avLst>
          </a:prstGeom>
          <a:solidFill>
            <a:srgbClr val="FBFAF7"/>
          </a:solidFill>
          <a:ln w="6350">
            <a:solidFill>
              <a:srgbClr val="DCD9CF"/>
            </a:solidFill>
            <a:prstDash val="solid"/>
          </a:ln>
        </p:spPr>
      </p:sp>
      <p:sp>
        <p:nvSpPr>
          <p:cNvPr id="22" name="Text 20"/>
          <p:cNvSpPr/>
          <p:nvPr/>
        </p:nvSpPr>
        <p:spPr>
          <a:xfrm>
            <a:off x="3727450" y="1940520"/>
            <a:ext cx="2271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5BB7"/>
                </a:solidFill>
                <a:latin typeface="JetBrains Mono" pitchFamily="49" charset="0"/>
                <a:ea typeface="JetBrains Mono" pitchFamily="49" charset="-122"/>
                <a:cs typeface="JetBrains Mono" pitchFamily="49" charset="-120"/>
              </a:rPr>
              <a:t>A · B · E</a:t>
            </a:r>
            <a:endParaRPr lang="en-US" sz="1200" dirty="0"/>
          </a:p>
        </p:txBody>
      </p:sp>
      <p:sp>
        <p:nvSpPr>
          <p:cNvPr id="23" name="Text 21"/>
          <p:cNvSpPr/>
          <p:nvPr/>
        </p:nvSpPr>
        <p:spPr>
          <a:xfrm>
            <a:off x="3727450" y="2217341"/>
            <a:ext cx="22717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1A2A"/>
                </a:solidFill>
                <a:latin typeface="IBM Plex Sans KR" pitchFamily="34" charset="0"/>
                <a:ea typeface="IBM Plex Sans KR" pitchFamily="34" charset="-122"/>
                <a:cs typeface="IBM Plex Sans KR" pitchFamily="34" charset="-120"/>
              </a:rPr>
              <a:t>대화 · 에이전트</a:t>
            </a:r>
            <a:endParaRPr lang="en-US" sz="1400" dirty="0"/>
          </a:p>
        </p:txBody>
      </p:sp>
      <p:sp>
        <p:nvSpPr>
          <p:cNvPr id="24" name="Text 22"/>
          <p:cNvSpPr/>
          <p:nvPr/>
        </p:nvSpPr>
        <p:spPr>
          <a:xfrm>
            <a:off x="3727450" y="2494161"/>
            <a:ext cx="2271700"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263"/>
                </a:solidFill>
                <a:latin typeface="IBM Plex Sans KR" pitchFamily="34" charset="0"/>
                <a:ea typeface="IBM Plex Sans KR" pitchFamily="34" charset="-122"/>
                <a:cs typeface="IBM Plex Sans KR" pitchFamily="34" charset="-120"/>
              </a:rPr>
              <a:t>UC-03 Chat 질의</a:t>
            </a:r>
            <a:endParaRPr lang="en-US" sz="1200" dirty="0"/>
          </a:p>
          <a:p>
            <a:pPr algn="l" indent="0" marL="0">
              <a:lnSpc>
                <a:spcPts val="1740"/>
              </a:lnSpc>
              <a:buNone/>
            </a:pPr>
            <a:r>
              <a:rPr lang="en-US" sz="1200" dirty="0">
                <a:solidFill>
                  <a:srgbClr val="4A5263"/>
                </a:solidFill>
                <a:latin typeface="IBM Plex Sans KR" pitchFamily="34" charset="0"/>
                <a:ea typeface="IBM Plex Sans KR" pitchFamily="34" charset="-122"/>
                <a:cs typeface="IBM Plex Sans KR" pitchFamily="34" charset="-120"/>
              </a:rPr>
              <a:t>UC-04 트리거 실행</a:t>
            </a:r>
            <a:endParaRPr lang="en-US" sz="1200" dirty="0"/>
          </a:p>
          <a:p>
            <a:pPr algn="l" indent="0" marL="0">
              <a:lnSpc>
                <a:spcPts val="1740"/>
              </a:lnSpc>
              <a:buNone/>
            </a:pPr>
            <a:r>
              <a:rPr lang="en-US" sz="1200" dirty="0">
                <a:solidFill>
                  <a:srgbClr val="4A5263"/>
                </a:solidFill>
                <a:latin typeface="IBM Plex Sans KR" pitchFamily="34" charset="0"/>
                <a:ea typeface="IBM Plex Sans KR" pitchFamily="34" charset="-122"/>
                <a:cs typeface="IBM Plex Sans KR" pitchFamily="34" charset="-120"/>
              </a:rPr>
              <a:t>에이전트·스킬 구성</a:t>
            </a:r>
            <a:endParaRPr lang="en-US" sz="1200" dirty="0"/>
          </a:p>
        </p:txBody>
      </p:sp>
      <p:sp>
        <p:nvSpPr>
          <p:cNvPr id="25" name="Shape 23"/>
          <p:cNvSpPr/>
          <p:nvPr/>
        </p:nvSpPr>
        <p:spPr>
          <a:xfrm>
            <a:off x="6171109" y="1810345"/>
            <a:ext cx="2465933" cy="1476871"/>
          </a:xfrm>
          <a:prstGeom prst="roundRect">
            <a:avLst>
              <a:gd name="adj" fmla="val 4945"/>
            </a:avLst>
          </a:prstGeom>
          <a:solidFill>
            <a:srgbClr val="FBFAF7"/>
          </a:solidFill>
          <a:ln w="6350">
            <a:solidFill>
              <a:srgbClr val="DCD9CF"/>
            </a:solidFill>
            <a:prstDash val="solid"/>
          </a:ln>
        </p:spPr>
      </p:sp>
      <p:sp>
        <p:nvSpPr>
          <p:cNvPr id="26" name="Text 24"/>
          <p:cNvSpPr/>
          <p:nvPr/>
        </p:nvSpPr>
        <p:spPr>
          <a:xfrm>
            <a:off x="6301284" y="1940520"/>
            <a:ext cx="227175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5BB7"/>
                </a:solidFill>
                <a:latin typeface="JetBrains Mono" pitchFamily="49" charset="0"/>
                <a:ea typeface="JetBrains Mono" pitchFamily="49" charset="-122"/>
                <a:cs typeface="JetBrains Mono" pitchFamily="49" charset="-120"/>
              </a:rPr>
              <a:t>B · A</a:t>
            </a:r>
            <a:endParaRPr lang="en-US" sz="1200" dirty="0"/>
          </a:p>
        </p:txBody>
      </p:sp>
      <p:sp>
        <p:nvSpPr>
          <p:cNvPr id="27" name="Text 25"/>
          <p:cNvSpPr/>
          <p:nvPr/>
        </p:nvSpPr>
        <p:spPr>
          <a:xfrm>
            <a:off x="6301284" y="2217341"/>
            <a:ext cx="227175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1A2A"/>
                </a:solidFill>
                <a:latin typeface="IBM Plex Sans KR" pitchFamily="34" charset="0"/>
                <a:ea typeface="IBM Plex Sans KR" pitchFamily="34" charset="-122"/>
                <a:cs typeface="IBM Plex Sans KR" pitchFamily="34" charset="-120"/>
              </a:rPr>
              <a:t>게이트웨이</a:t>
            </a:r>
            <a:endParaRPr lang="en-US" sz="1400" dirty="0"/>
          </a:p>
        </p:txBody>
      </p:sp>
      <p:sp>
        <p:nvSpPr>
          <p:cNvPr id="28" name="Text 26"/>
          <p:cNvSpPr/>
          <p:nvPr/>
        </p:nvSpPr>
        <p:spPr>
          <a:xfrm>
            <a:off x="6301284" y="2494161"/>
            <a:ext cx="2271751"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263"/>
                </a:solidFill>
                <a:latin typeface="IBM Plex Sans KR" pitchFamily="34" charset="0"/>
                <a:ea typeface="IBM Plex Sans KR" pitchFamily="34" charset="-122"/>
                <a:cs typeface="IBM Plex Sans KR" pitchFamily="34" charset="-120"/>
              </a:rPr>
              <a:t>UC-01 LLM 호출 통제</a:t>
            </a:r>
            <a:endParaRPr lang="en-US" sz="1200" dirty="0"/>
          </a:p>
          <a:p>
            <a:pPr algn="l" indent="0" marL="0">
              <a:lnSpc>
                <a:spcPts val="1740"/>
              </a:lnSpc>
              <a:buNone/>
            </a:pPr>
            <a:r>
              <a:rPr lang="en-US" sz="1200" dirty="0">
                <a:solidFill>
                  <a:srgbClr val="4A5263"/>
                </a:solidFill>
                <a:latin typeface="IBM Plex Sans KR" pitchFamily="34" charset="0"/>
                <a:ea typeface="IBM Plex Sans KR" pitchFamily="34" charset="-122"/>
                <a:cs typeface="IBM Plex Sans KR" pitchFamily="34" charset="-120"/>
              </a:rPr>
              <a:t>UC-02 MCP 도구 실행</a:t>
            </a:r>
            <a:endParaRPr lang="en-US" sz="1200" dirty="0"/>
          </a:p>
          <a:p>
            <a:pPr algn="l" indent="0" marL="0">
              <a:lnSpc>
                <a:spcPts val="1740"/>
              </a:lnSpc>
              <a:buNone/>
            </a:pPr>
            <a:r>
              <a:rPr lang="en-US" sz="1200" dirty="0">
                <a:solidFill>
                  <a:srgbClr val="4A5263"/>
                </a:solidFill>
                <a:latin typeface="IBM Plex Sans KR" pitchFamily="34" charset="0"/>
                <a:ea typeface="IBM Plex Sans KR" pitchFamily="34" charset="-122"/>
                <a:cs typeface="IBM Plex Sans KR" pitchFamily="34" charset="-120"/>
              </a:rPr>
              <a:t>가상 키·토큰 발급</a:t>
            </a:r>
            <a:endParaRPr lang="en-US" sz="1200" dirty="0"/>
          </a:p>
        </p:txBody>
      </p:sp>
      <p:sp>
        <p:nvSpPr>
          <p:cNvPr id="29" name="Shape 27"/>
          <p:cNvSpPr/>
          <p:nvPr/>
        </p:nvSpPr>
        <p:spPr>
          <a:xfrm>
            <a:off x="8744992" y="1810345"/>
            <a:ext cx="2465933" cy="1476871"/>
          </a:xfrm>
          <a:prstGeom prst="roundRect">
            <a:avLst>
              <a:gd name="adj" fmla="val 4945"/>
            </a:avLst>
          </a:prstGeom>
          <a:solidFill>
            <a:srgbClr val="FBFAF7"/>
          </a:solidFill>
          <a:ln w="6350">
            <a:solidFill>
              <a:srgbClr val="DCD9CF"/>
            </a:solidFill>
            <a:prstDash val="solid"/>
          </a:ln>
        </p:spPr>
      </p:sp>
      <p:sp>
        <p:nvSpPr>
          <p:cNvPr id="30" name="Text 28"/>
          <p:cNvSpPr/>
          <p:nvPr/>
        </p:nvSpPr>
        <p:spPr>
          <a:xfrm>
            <a:off x="8875167" y="1940520"/>
            <a:ext cx="227175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5BB7"/>
                </a:solidFill>
                <a:latin typeface="JetBrains Mono" pitchFamily="49" charset="0"/>
                <a:ea typeface="JetBrains Mono" pitchFamily="49" charset="-122"/>
                <a:cs typeface="JetBrains Mono" pitchFamily="49" charset="-120"/>
              </a:rPr>
              <a:t>C</a:t>
            </a:r>
            <a:endParaRPr lang="en-US" sz="1200" dirty="0"/>
          </a:p>
        </p:txBody>
      </p:sp>
      <p:sp>
        <p:nvSpPr>
          <p:cNvPr id="31" name="Text 29"/>
          <p:cNvSpPr/>
          <p:nvPr/>
        </p:nvSpPr>
        <p:spPr>
          <a:xfrm>
            <a:off x="8875167" y="2217341"/>
            <a:ext cx="227175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1A2A"/>
                </a:solidFill>
                <a:latin typeface="IBM Plex Sans KR" pitchFamily="34" charset="0"/>
                <a:ea typeface="IBM Plex Sans KR" pitchFamily="34" charset="-122"/>
                <a:cs typeface="IBM Plex Sans KR" pitchFamily="34" charset="-120"/>
              </a:rPr>
              <a:t>레지스트리 · 런타임</a:t>
            </a:r>
            <a:endParaRPr lang="en-US" sz="1400" dirty="0"/>
          </a:p>
        </p:txBody>
      </p:sp>
      <p:sp>
        <p:nvSpPr>
          <p:cNvPr id="32" name="Text 30"/>
          <p:cNvSpPr/>
          <p:nvPr/>
        </p:nvSpPr>
        <p:spPr>
          <a:xfrm>
            <a:off x="8875167" y="2494161"/>
            <a:ext cx="2271751"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263"/>
                </a:solidFill>
                <a:latin typeface="IBM Plex Sans KR" pitchFamily="34" charset="0"/>
                <a:ea typeface="IBM Plex Sans KR" pitchFamily="34" charset="-122"/>
                <a:cs typeface="IBM Plex Sans KR" pitchFamily="34" charset="-120"/>
              </a:rPr>
              <a:t>UC-05 MCP 서버 배포</a:t>
            </a:r>
            <a:endParaRPr lang="en-US" sz="1200" dirty="0"/>
          </a:p>
          <a:p>
            <a:pPr algn="l" indent="0" marL="0">
              <a:lnSpc>
                <a:spcPts val="1740"/>
              </a:lnSpc>
              <a:buNone/>
            </a:pPr>
            <a:r>
              <a:rPr lang="en-US" sz="1200" dirty="0">
                <a:solidFill>
                  <a:srgbClr val="4A5263"/>
                </a:solidFill>
                <a:latin typeface="IBM Plex Sans KR" pitchFamily="34" charset="0"/>
                <a:ea typeface="IBM Plex Sans KR" pitchFamily="34" charset="-122"/>
                <a:cs typeface="IBM Plex Sans KR" pitchFamily="34" charset="-120"/>
              </a:rPr>
              <a:t>카탈로그 승인</a:t>
            </a:r>
            <a:endParaRPr lang="en-US" sz="1200" dirty="0"/>
          </a:p>
          <a:p>
            <a:pPr algn="l" indent="0" marL="0">
              <a:lnSpc>
                <a:spcPts val="1740"/>
              </a:lnSpc>
              <a:buNone/>
            </a:pPr>
            <a:r>
              <a:rPr lang="en-US" sz="1200" dirty="0">
                <a:solidFill>
                  <a:srgbClr val="4A5263"/>
                </a:solidFill>
                <a:latin typeface="IBM Plex Sans KR" pitchFamily="34" charset="0"/>
                <a:ea typeface="IBM Plex Sans KR" pitchFamily="34" charset="-122"/>
                <a:cs typeface="IBM Plex Sans KR" pitchFamily="34" charset="-120"/>
              </a:rPr>
              <a:t>전용 런타임 이미지</a:t>
            </a:r>
            <a:endParaRPr lang="en-US" sz="1200" dirty="0"/>
          </a:p>
        </p:txBody>
      </p:sp>
      <p:sp>
        <p:nvSpPr>
          <p:cNvPr id="33" name="Shape 31"/>
          <p:cNvSpPr/>
          <p:nvPr/>
        </p:nvSpPr>
        <p:spPr>
          <a:xfrm>
            <a:off x="3597275" y="3395166"/>
            <a:ext cx="2465884" cy="1476871"/>
          </a:xfrm>
          <a:prstGeom prst="roundRect">
            <a:avLst>
              <a:gd name="adj" fmla="val 4945"/>
            </a:avLst>
          </a:prstGeom>
          <a:solidFill>
            <a:srgbClr val="FBFAF7"/>
          </a:solidFill>
          <a:ln w="6350">
            <a:solidFill>
              <a:srgbClr val="DCD9CF"/>
            </a:solidFill>
            <a:prstDash val="solid"/>
          </a:ln>
        </p:spPr>
      </p:sp>
      <p:sp>
        <p:nvSpPr>
          <p:cNvPr id="34" name="Text 32"/>
          <p:cNvSpPr/>
          <p:nvPr/>
        </p:nvSpPr>
        <p:spPr>
          <a:xfrm>
            <a:off x="3727450" y="3525341"/>
            <a:ext cx="2271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5BB7"/>
                </a:solidFill>
                <a:latin typeface="JetBrains Mono" pitchFamily="49" charset="0"/>
                <a:ea typeface="JetBrains Mono" pitchFamily="49" charset="-122"/>
                <a:cs typeface="JetBrains Mono" pitchFamily="49" charset="-120"/>
              </a:rPr>
              <a:t>C · A</a:t>
            </a:r>
            <a:endParaRPr lang="en-US" sz="1200" dirty="0"/>
          </a:p>
        </p:txBody>
      </p:sp>
      <p:sp>
        <p:nvSpPr>
          <p:cNvPr id="35" name="Text 33"/>
          <p:cNvSpPr/>
          <p:nvPr/>
        </p:nvSpPr>
        <p:spPr>
          <a:xfrm>
            <a:off x="3727450" y="3802162"/>
            <a:ext cx="22717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1A2A"/>
                </a:solidFill>
                <a:latin typeface="IBM Plex Sans KR" pitchFamily="34" charset="0"/>
                <a:ea typeface="IBM Plex Sans KR" pitchFamily="34" charset="-122"/>
                <a:cs typeface="IBM Plex Sans KR" pitchFamily="34" charset="-120"/>
              </a:rPr>
              <a:t>지식</a:t>
            </a:r>
            <a:endParaRPr lang="en-US" sz="1400" dirty="0"/>
          </a:p>
        </p:txBody>
      </p:sp>
      <p:sp>
        <p:nvSpPr>
          <p:cNvPr id="36" name="Text 34"/>
          <p:cNvSpPr/>
          <p:nvPr/>
        </p:nvSpPr>
        <p:spPr>
          <a:xfrm>
            <a:off x="3727450" y="4078982"/>
            <a:ext cx="2271700"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263"/>
                </a:solidFill>
                <a:latin typeface="IBM Plex Sans KR" pitchFamily="34" charset="0"/>
                <a:ea typeface="IBM Plex Sans KR" pitchFamily="34" charset="-122"/>
                <a:cs typeface="IBM Plex Sans KR" pitchFamily="34" charset="-120"/>
              </a:rPr>
              <a:t>UC-06 커넥터 동기화</a:t>
            </a:r>
            <a:endParaRPr lang="en-US" sz="1200" dirty="0"/>
          </a:p>
          <a:p>
            <a:pPr algn="l" indent="0" marL="0">
              <a:lnSpc>
                <a:spcPts val="1740"/>
              </a:lnSpc>
              <a:buNone/>
            </a:pPr>
            <a:r>
              <a:rPr lang="en-US" sz="1200" dirty="0">
                <a:solidFill>
                  <a:srgbClr val="4A5263"/>
                </a:solidFill>
                <a:latin typeface="IBM Plex Sans KR" pitchFamily="34" charset="0"/>
                <a:ea typeface="IBM Plex Sans KR" pitchFamily="34" charset="-122"/>
                <a:cs typeface="IBM Plex Sans KR" pitchFamily="34" charset="-120"/>
              </a:rPr>
              <a:t>권한 기반 검색</a:t>
            </a:r>
            <a:endParaRPr lang="en-US" sz="1200" dirty="0"/>
          </a:p>
          <a:p>
            <a:pPr algn="l" indent="0" marL="0">
              <a:lnSpc>
                <a:spcPts val="1740"/>
              </a:lnSpc>
              <a:buNone/>
            </a:pPr>
            <a:r>
              <a:rPr lang="en-US" sz="1200" dirty="0">
                <a:solidFill>
                  <a:srgbClr val="4A5263"/>
                </a:solidFill>
                <a:latin typeface="IBM Plex Sans KR" pitchFamily="34" charset="0"/>
                <a:ea typeface="IBM Plex Sans KR" pitchFamily="34" charset="-122"/>
                <a:cs typeface="IBM Plex Sans KR" pitchFamily="34" charset="-120"/>
              </a:rPr>
              <a:t>파일 업로드</a:t>
            </a:r>
            <a:endParaRPr lang="en-US" sz="1200" dirty="0"/>
          </a:p>
        </p:txBody>
      </p:sp>
      <p:sp>
        <p:nvSpPr>
          <p:cNvPr id="37" name="Shape 35"/>
          <p:cNvSpPr/>
          <p:nvPr/>
        </p:nvSpPr>
        <p:spPr>
          <a:xfrm>
            <a:off x="6171109" y="3395166"/>
            <a:ext cx="2465933" cy="1476871"/>
          </a:xfrm>
          <a:prstGeom prst="roundRect">
            <a:avLst>
              <a:gd name="adj" fmla="val 4945"/>
            </a:avLst>
          </a:prstGeom>
          <a:solidFill>
            <a:srgbClr val="FBFAF7"/>
          </a:solidFill>
          <a:ln w="6350">
            <a:solidFill>
              <a:srgbClr val="DCD9CF"/>
            </a:solidFill>
            <a:prstDash val="solid"/>
          </a:ln>
        </p:spPr>
      </p:sp>
      <p:sp>
        <p:nvSpPr>
          <p:cNvPr id="38" name="Text 36"/>
          <p:cNvSpPr/>
          <p:nvPr/>
        </p:nvSpPr>
        <p:spPr>
          <a:xfrm>
            <a:off x="6301284" y="3525341"/>
            <a:ext cx="227175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5BB7"/>
                </a:solidFill>
                <a:latin typeface="JetBrains Mono" pitchFamily="49" charset="0"/>
                <a:ea typeface="JetBrains Mono" pitchFamily="49" charset="-122"/>
                <a:cs typeface="JetBrains Mono" pitchFamily="49" charset="-120"/>
              </a:rPr>
              <a:t>D · C</a:t>
            </a:r>
            <a:endParaRPr lang="en-US" sz="1200" dirty="0"/>
          </a:p>
        </p:txBody>
      </p:sp>
      <p:sp>
        <p:nvSpPr>
          <p:cNvPr id="39" name="Text 37"/>
          <p:cNvSpPr/>
          <p:nvPr/>
        </p:nvSpPr>
        <p:spPr>
          <a:xfrm>
            <a:off x="6301284" y="3802162"/>
            <a:ext cx="227175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1A2A"/>
                </a:solidFill>
                <a:latin typeface="IBM Plex Sans KR" pitchFamily="34" charset="0"/>
                <a:ea typeface="IBM Plex Sans KR" pitchFamily="34" charset="-122"/>
                <a:cs typeface="IBM Plex Sans KR" pitchFamily="34" charset="-120"/>
              </a:rPr>
              <a:t>거버넌스</a:t>
            </a:r>
            <a:endParaRPr lang="en-US" sz="1400" dirty="0"/>
          </a:p>
        </p:txBody>
      </p:sp>
      <p:sp>
        <p:nvSpPr>
          <p:cNvPr id="40" name="Text 38"/>
          <p:cNvSpPr/>
          <p:nvPr/>
        </p:nvSpPr>
        <p:spPr>
          <a:xfrm>
            <a:off x="6301284" y="4078982"/>
            <a:ext cx="2271751"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263"/>
                </a:solidFill>
                <a:latin typeface="IBM Plex Sans KR" pitchFamily="34" charset="0"/>
                <a:ea typeface="IBM Plex Sans KR" pitchFamily="34" charset="-122"/>
                <a:cs typeface="IBM Plex Sans KR" pitchFamily="34" charset="-120"/>
              </a:rPr>
              <a:t>UC-07 가드레일 정책</a:t>
            </a:r>
            <a:endParaRPr lang="en-US" sz="1200" dirty="0"/>
          </a:p>
          <a:p>
            <a:pPr algn="l" indent="0" marL="0">
              <a:lnSpc>
                <a:spcPts val="1740"/>
              </a:lnSpc>
              <a:buNone/>
            </a:pPr>
            <a:r>
              <a:rPr lang="en-US" sz="1200" dirty="0">
                <a:solidFill>
                  <a:srgbClr val="4A5263"/>
                </a:solidFill>
                <a:latin typeface="IBM Plex Sans KR" pitchFamily="34" charset="0"/>
                <a:ea typeface="IBM Plex Sans KR" pitchFamily="34" charset="-122"/>
                <a:cs typeface="IBM Plex Sans KR" pitchFamily="34" charset="-120"/>
              </a:rPr>
              <a:t>UC-08 비용·접근 통제</a:t>
            </a:r>
            <a:endParaRPr lang="en-US" sz="1200" dirty="0"/>
          </a:p>
          <a:p>
            <a:pPr algn="l" indent="0" marL="0">
              <a:lnSpc>
                <a:spcPts val="1740"/>
              </a:lnSpc>
              <a:buNone/>
            </a:pPr>
            <a:r>
              <a:rPr lang="en-US" sz="1200" dirty="0">
                <a:solidFill>
                  <a:srgbClr val="4A5263"/>
                </a:solidFill>
                <a:latin typeface="IBM Plex Sans KR" pitchFamily="34" charset="0"/>
                <a:ea typeface="IBM Plex Sans KR" pitchFamily="34" charset="-122"/>
                <a:cs typeface="IBM Plex Sans KR" pitchFamily="34" charset="-120"/>
              </a:rPr>
              <a:t>로그·감사 조회</a:t>
            </a:r>
            <a:endParaRPr lang="en-US" sz="1200" dirty="0"/>
          </a:p>
        </p:txBody>
      </p:sp>
      <p:sp>
        <p:nvSpPr>
          <p:cNvPr id="41" name="Shape 39"/>
          <p:cNvSpPr/>
          <p:nvPr/>
        </p:nvSpPr>
        <p:spPr>
          <a:xfrm>
            <a:off x="8741817" y="3391991"/>
            <a:ext cx="2472283" cy="1483221"/>
          </a:xfrm>
          <a:prstGeom prst="roundRect">
            <a:avLst>
              <a:gd name="adj" fmla="val 5137"/>
            </a:avLst>
          </a:prstGeom>
          <a:solidFill>
            <a:srgbClr val="131A2A"/>
          </a:solidFill>
          <a:ln/>
        </p:spPr>
      </p:sp>
      <p:sp>
        <p:nvSpPr>
          <p:cNvPr id="42" name="Text 40"/>
          <p:cNvSpPr/>
          <p:nvPr/>
        </p:nvSpPr>
        <p:spPr>
          <a:xfrm>
            <a:off x="8868817" y="3518991"/>
            <a:ext cx="22848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08A4B"/>
                </a:solidFill>
                <a:latin typeface="JetBrains Mono" pitchFamily="49" charset="0"/>
                <a:ea typeface="JetBrains Mono" pitchFamily="49" charset="-122"/>
                <a:cs typeface="JetBrains Mono" pitchFamily="49" charset="-120"/>
              </a:rPr>
              <a:t>SYSTEM</a:t>
            </a:r>
            <a:endParaRPr lang="en-US" sz="1200" dirty="0"/>
          </a:p>
        </p:txBody>
      </p:sp>
      <p:sp>
        <p:nvSpPr>
          <p:cNvPr id="43" name="Text 41"/>
          <p:cNvSpPr/>
          <p:nvPr/>
        </p:nvSpPr>
        <p:spPr>
          <a:xfrm>
            <a:off x="8868817" y="3795812"/>
            <a:ext cx="228483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4F3EE"/>
                </a:solidFill>
                <a:latin typeface="IBM Plex Sans KR" pitchFamily="34" charset="0"/>
                <a:ea typeface="IBM Plex Sans KR" pitchFamily="34" charset="-122"/>
                <a:cs typeface="IBM Plex Sans KR" pitchFamily="34" charset="-120"/>
              </a:rPr>
              <a:t>Archestra</a:t>
            </a:r>
            <a:endParaRPr lang="en-US" sz="1400" dirty="0"/>
          </a:p>
        </p:txBody>
      </p:sp>
      <p:sp>
        <p:nvSpPr>
          <p:cNvPr id="44" name="Text 42"/>
          <p:cNvSpPr/>
          <p:nvPr/>
        </p:nvSpPr>
        <p:spPr>
          <a:xfrm>
            <a:off x="8868817" y="4072632"/>
            <a:ext cx="228483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C9CEDA"/>
                </a:solidFill>
                <a:latin typeface="IBM Plex Sans KR" pitchFamily="34" charset="0"/>
                <a:ea typeface="IBM Plex Sans KR" pitchFamily="34" charset="-122"/>
                <a:cs typeface="IBM Plex Sans KR" pitchFamily="34" charset="-120"/>
              </a:rPr>
              <a:t>점선 = 시스템 경계</a:t>
            </a:r>
            <a:endParaRPr lang="en-US" sz="1200" dirty="0"/>
          </a:p>
          <a:p>
            <a:pPr algn="l" indent="0" marL="0">
              <a:lnSpc>
                <a:spcPts val="1740"/>
              </a:lnSpc>
              <a:buNone/>
            </a:pPr>
            <a:r>
              <a:rPr lang="en-US" sz="1200" dirty="0">
                <a:solidFill>
                  <a:srgbClr val="C9CEDA"/>
                </a:solidFill>
                <a:latin typeface="IBM Plex Sans KR" pitchFamily="34" charset="0"/>
                <a:ea typeface="IBM Plex Sans KR" pitchFamily="34" charset="-122"/>
                <a:cs typeface="IBM Plex Sans KR" pitchFamily="34" charset="-120"/>
              </a:rPr>
              <a:t>상단 코드 = 관여 액터</a:t>
            </a:r>
            <a:endParaRPr lang="en-US" sz="1200" dirty="0"/>
          </a:p>
        </p:txBody>
      </p:sp>
      <p:sp>
        <p:nvSpPr>
          <p:cNvPr id="45" name="Text 4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KR" pitchFamily="34" charset="0"/>
                <a:ea typeface="IBM Plex Sans KR" pitchFamily="34" charset="-122"/>
                <a:cs typeface="IBM Plex Sans KR" pitchFamily="34" charset="-120"/>
              </a:rPr>
              <a:t>Archestra 아키텍처 · 16 · 출처: README.md, docs/pages, shared/access-control.ts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3EE"/>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B8521E"/>
                </a:solidFill>
                <a:latin typeface="JetBrains Mono" pitchFamily="49" charset="0"/>
                <a:ea typeface="JetBrains Mono" pitchFamily="49" charset="-122"/>
                <a:cs typeface="JetBrains Mono" pitchFamily="49" charset="-120"/>
              </a:rPr>
              <a:t>A2 · USE CASES 01–04</a:t>
            </a:r>
            <a:endParaRPr lang="en-US" sz="1200" dirty="0"/>
          </a:p>
        </p:txBody>
      </p:sp>
      <p:sp>
        <p:nvSpPr>
          <p:cNvPr id="3" name="Text 1"/>
          <p:cNvSpPr/>
          <p:nvPr>
            <p:ph type="title"/>
          </p:nvPr>
        </p:nvSpPr>
        <p:spPr>
          <a:xfrm>
            <a:off x="812800" y="10007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1A2A"/>
                </a:solidFill>
                <a:latin typeface="IBM Plex Sans KR" pitchFamily="34" charset="0"/>
                <a:ea typeface="IBM Plex Sans KR" pitchFamily="34" charset="-122"/>
                <a:cs typeface="IBM Plex Sans KR" pitchFamily="34" charset="-120"/>
              </a:rPr>
              <a:t>사용 흐름: 호출 통제와 에이전트 실행</a:t>
            </a:r>
            <a:endParaRPr lang="en-US" sz="3000" dirty="0"/>
          </a:p>
        </p:txBody>
      </p:sp>
      <p:sp>
        <p:nvSpPr>
          <p:cNvPr id="4" name="Shape 2"/>
          <p:cNvSpPr/>
          <p:nvPr/>
        </p:nvSpPr>
        <p:spPr>
          <a:xfrm>
            <a:off x="815975" y="1645245"/>
            <a:ext cx="5200650" cy="1542951"/>
          </a:xfrm>
          <a:prstGeom prst="roundRect">
            <a:avLst>
              <a:gd name="adj" fmla="val 5556"/>
            </a:avLst>
          </a:prstGeom>
          <a:solidFill>
            <a:srgbClr val="FBFAF7"/>
          </a:solidFill>
          <a:ln w="6350">
            <a:solidFill>
              <a:srgbClr val="DCD9CF"/>
            </a:solidFill>
            <a:prstDash val="solid"/>
          </a:ln>
        </p:spPr>
      </p:sp>
      <p:sp>
        <p:nvSpPr>
          <p:cNvPr id="5" name="Text 3"/>
          <p:cNvSpPr/>
          <p:nvPr/>
        </p:nvSpPr>
        <p:spPr>
          <a:xfrm>
            <a:off x="996950" y="1800820"/>
            <a:ext cx="49838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521E"/>
                </a:solidFill>
                <a:latin typeface="JetBrains Mono" pitchFamily="49" charset="0"/>
                <a:ea typeface="JetBrains Mono" pitchFamily="49" charset="-122"/>
                <a:cs typeface="JetBrains Mono" pitchFamily="49" charset="-120"/>
              </a:rPr>
              <a:t>UC-01 · 액터 B · 트리거: Claude Code 요청</a:t>
            </a:r>
            <a:endParaRPr lang="en-US" sz="1200" dirty="0"/>
          </a:p>
        </p:txBody>
      </p:sp>
      <p:sp>
        <p:nvSpPr>
          <p:cNvPr id="6" name="Text 4"/>
          <p:cNvSpPr/>
          <p:nvPr/>
        </p:nvSpPr>
        <p:spPr>
          <a:xfrm>
            <a:off x="996950" y="2077641"/>
            <a:ext cx="498386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1A2A"/>
                </a:solidFill>
                <a:latin typeface="IBM Plex Sans KR" pitchFamily="34" charset="0"/>
                <a:ea typeface="IBM Plex Sans KR" pitchFamily="34" charset="-122"/>
                <a:cs typeface="IBM Plex Sans KR" pitchFamily="34" charset="-120"/>
              </a:rPr>
              <a:t>코딩 에이전트의 LLM 호출 통제</a:t>
            </a:r>
            <a:endParaRPr lang="en-US" sz="1500" dirty="0"/>
          </a:p>
        </p:txBody>
      </p:sp>
      <p:sp>
        <p:nvSpPr>
          <p:cNvPr id="7" name="Text 5"/>
          <p:cNvSpPr/>
          <p:nvPr/>
        </p:nvSpPr>
        <p:spPr>
          <a:xfrm>
            <a:off x="1082030" y="2369741"/>
            <a:ext cx="4891161" cy="688280"/>
          </a:xfrm>
          <a:prstGeom prst="rect">
            <a:avLst/>
          </a:prstGeom>
          <a:noFill/>
          <a:ln/>
        </p:spPr>
        <p:txBody>
          <a:bodyPr wrap="square" lIns="0" tIns="0" rIns="0" bIns="0" rtlCol="0" anchor="t">
            <a:normAutofit/>
          </a:bodyPr>
          <a:lstStyle/>
          <a:p>
            <a:pPr algn="l" marL="168920" indent="-168920">
              <a:lnSpc>
                <a:spcPts val="1740"/>
              </a:lnSpc>
              <a:buSzPct val="100000"/>
              <a:buFontTx/>
              <a:buAutoNum type="arabicPeriod" startAt="1"/>
            </a:pPr>
            <a:r>
              <a:rPr lang="en-US" sz="1200" dirty="0">
                <a:solidFill>
                  <a:srgbClr val="4A5263"/>
                </a:solidFill>
                <a:latin typeface="IBM Plex Sans KR" pitchFamily="34" charset="0"/>
                <a:ea typeface="IBM Plex Sans KR" pitchFamily="34" charset="-122"/>
                <a:cs typeface="IBM Plex Sans KR" pitchFamily="34" charset="-120"/>
              </a:rPr>
              <a:t>Connect 화면이 base URL·가상 키를 설정</a:t>
            </a:r>
            <a:endParaRPr lang="en-US" sz="1200" dirty="0"/>
          </a:p>
          <a:p>
            <a:pPr algn="l" marL="168920" indent="-168920">
              <a:lnSpc>
                <a:spcPts val="1740"/>
              </a:lnSpc>
              <a:buSzPct val="100000"/>
              <a:buFontTx/>
              <a:buAutoNum type="arabicPeriod" startAt="1"/>
            </a:pPr>
            <a:r>
              <a:rPr lang="en-US" sz="1200" dirty="0">
                <a:solidFill>
                  <a:srgbClr val="4A5263"/>
                </a:solidFill>
                <a:latin typeface="IBM Plex Sans KR" pitchFamily="34" charset="0"/>
                <a:ea typeface="IBM Plex Sans KR" pitchFamily="34" charset="-122"/>
                <a:cs typeface="IBM Plex Sans KR" pitchFamily="34" charset="-120"/>
              </a:rPr>
              <a:t>프록시가 인증·한도·가드레일 후 업스트림 호출</a:t>
            </a:r>
            <a:endParaRPr lang="en-US" sz="1200" dirty="0"/>
          </a:p>
          <a:p>
            <a:pPr algn="l" marL="168920" indent="-168920">
              <a:lnSpc>
                <a:spcPts val="1740"/>
              </a:lnSpc>
              <a:buSzPct val="100000"/>
              <a:buFontTx/>
              <a:buAutoNum type="arabicPeriod" startAt="1"/>
            </a:pPr>
            <a:r>
              <a:rPr lang="en-US" sz="1200" dirty="0">
                <a:solidFill>
                  <a:srgbClr val="4A5263"/>
                </a:solidFill>
                <a:latin typeface="IBM Plex Sans KR" pitchFamily="34" charset="0"/>
                <a:ea typeface="IBM Plex Sans KR" pitchFamily="34" charset="-122"/>
                <a:cs typeface="IBM Plex Sans KR" pitchFamily="34" charset="-120"/>
              </a:rPr>
              <a:t>사람·팀·앱별 interactions 로그·비용 적재</a:t>
            </a:r>
            <a:endParaRPr lang="en-US" sz="1200" dirty="0"/>
          </a:p>
        </p:txBody>
      </p:sp>
      <p:sp>
        <p:nvSpPr>
          <p:cNvPr id="8" name="Shape 6"/>
          <p:cNvSpPr/>
          <p:nvPr/>
        </p:nvSpPr>
        <p:spPr>
          <a:xfrm>
            <a:off x="6175375" y="1645245"/>
            <a:ext cx="5200650" cy="1542951"/>
          </a:xfrm>
          <a:prstGeom prst="roundRect">
            <a:avLst>
              <a:gd name="adj" fmla="val 5556"/>
            </a:avLst>
          </a:prstGeom>
          <a:solidFill>
            <a:srgbClr val="FBFAF7"/>
          </a:solidFill>
          <a:ln w="6350">
            <a:solidFill>
              <a:srgbClr val="DCD9CF"/>
            </a:solidFill>
            <a:prstDash val="solid"/>
          </a:ln>
        </p:spPr>
      </p:sp>
      <p:sp>
        <p:nvSpPr>
          <p:cNvPr id="9" name="Text 7"/>
          <p:cNvSpPr/>
          <p:nvPr/>
        </p:nvSpPr>
        <p:spPr>
          <a:xfrm>
            <a:off x="6356350" y="1800820"/>
            <a:ext cx="49838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521E"/>
                </a:solidFill>
                <a:latin typeface="JetBrains Mono" pitchFamily="49" charset="0"/>
                <a:ea typeface="JetBrains Mono" pitchFamily="49" charset="-122"/>
                <a:cs typeface="JetBrains Mono" pitchFamily="49" charset="-120"/>
              </a:rPr>
              <a:t>UC-02 · 액터 B·A · 트리거: tools/call</a:t>
            </a:r>
            <a:endParaRPr lang="en-US" sz="1200" dirty="0"/>
          </a:p>
        </p:txBody>
      </p:sp>
      <p:sp>
        <p:nvSpPr>
          <p:cNvPr id="10" name="Text 8"/>
          <p:cNvSpPr/>
          <p:nvPr/>
        </p:nvSpPr>
        <p:spPr>
          <a:xfrm>
            <a:off x="6356350" y="2077641"/>
            <a:ext cx="498386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1A2A"/>
                </a:solidFill>
                <a:latin typeface="IBM Plex Sans KR" pitchFamily="34" charset="0"/>
                <a:ea typeface="IBM Plex Sans KR" pitchFamily="34" charset="-122"/>
                <a:cs typeface="IBM Plex Sans KR" pitchFamily="34" charset="-120"/>
              </a:rPr>
              <a:t>사용자 권한으로 MCP 도구 실행</a:t>
            </a:r>
            <a:endParaRPr lang="en-US" sz="1500" dirty="0"/>
          </a:p>
        </p:txBody>
      </p:sp>
      <p:sp>
        <p:nvSpPr>
          <p:cNvPr id="11" name="Text 9"/>
          <p:cNvSpPr/>
          <p:nvPr/>
        </p:nvSpPr>
        <p:spPr>
          <a:xfrm>
            <a:off x="6441430" y="2369741"/>
            <a:ext cx="4891161" cy="688280"/>
          </a:xfrm>
          <a:prstGeom prst="rect">
            <a:avLst/>
          </a:prstGeom>
          <a:noFill/>
          <a:ln/>
        </p:spPr>
        <p:txBody>
          <a:bodyPr wrap="square" lIns="0" tIns="0" rIns="0" bIns="0" rtlCol="0" anchor="t">
            <a:normAutofit/>
          </a:bodyPr>
          <a:lstStyle/>
          <a:p>
            <a:pPr algn="l" marL="168920" indent="-168920">
              <a:lnSpc>
                <a:spcPts val="1740"/>
              </a:lnSpc>
              <a:buSzPct val="100000"/>
              <a:buFontTx/>
              <a:buAutoNum type="arabicPeriod" startAt="1"/>
            </a:pPr>
            <a:r>
              <a:rPr lang="en-US" sz="1200" dirty="0">
                <a:solidFill>
                  <a:srgbClr val="4A5263"/>
                </a:solidFill>
                <a:latin typeface="IBM Plex Sans KR" pitchFamily="34" charset="0"/>
                <a:ea typeface="IBM Plex Sans KR" pitchFamily="34" charset="-122"/>
                <a:cs typeface="IBM Plex Sans KR" pitchFamily="34" charset="-120"/>
              </a:rPr>
              <a:t>게이트웨이 토큰으로 사용자·도구 범위 결정</a:t>
            </a:r>
            <a:endParaRPr lang="en-US" sz="1200" dirty="0"/>
          </a:p>
          <a:p>
            <a:pPr algn="l" marL="168920" indent="-168920">
              <a:lnSpc>
                <a:spcPts val="1740"/>
              </a:lnSpc>
              <a:buSzPct val="100000"/>
              <a:buFontTx/>
              <a:buAutoNum type="arabicPeriod" startAt="1"/>
            </a:pPr>
            <a:r>
              <a:rPr lang="en-US" sz="1200" dirty="0">
                <a:solidFill>
                  <a:srgbClr val="4A5263"/>
                </a:solidFill>
                <a:latin typeface="IBM Plex Sans KR" pitchFamily="34" charset="0"/>
                <a:ea typeface="IBM Plex Sans KR" pitchFamily="34" charset="-122"/>
                <a:cs typeface="IBM Plex Sans KR" pitchFamily="34" charset="-120"/>
              </a:rPr>
              <a:t>static · dynamic · enterprise_managed 자격증명</a:t>
            </a:r>
            <a:endParaRPr lang="en-US" sz="1200" dirty="0"/>
          </a:p>
          <a:p>
            <a:pPr algn="l" marL="168920" indent="-168920">
              <a:lnSpc>
                <a:spcPts val="1740"/>
              </a:lnSpc>
              <a:buSzPct val="100000"/>
              <a:buFontTx/>
              <a:buAutoNum type="arabicPeriod" startAt="1"/>
            </a:pPr>
            <a:r>
              <a:rPr lang="en-US" sz="1200" dirty="0">
                <a:solidFill>
                  <a:srgbClr val="4A5263"/>
                </a:solidFill>
                <a:latin typeface="IBM Plex Sans KR" pitchFamily="34" charset="0"/>
                <a:ea typeface="IBM Plex Sans KR" pitchFamily="34" charset="-122"/>
                <a:cs typeface="IBM Plex Sans KR" pitchFamily="34" charset="-120"/>
              </a:rPr>
              <a:t>원격 또는 K8s 파드 실행 → mcp_tool_calls</a:t>
            </a:r>
            <a:endParaRPr lang="en-US" sz="1200" dirty="0"/>
          </a:p>
        </p:txBody>
      </p:sp>
      <p:sp>
        <p:nvSpPr>
          <p:cNvPr id="12" name="Shape 10"/>
          <p:cNvSpPr/>
          <p:nvPr/>
        </p:nvSpPr>
        <p:spPr>
          <a:xfrm>
            <a:off x="815975" y="3346946"/>
            <a:ext cx="5200650" cy="1542951"/>
          </a:xfrm>
          <a:prstGeom prst="roundRect">
            <a:avLst>
              <a:gd name="adj" fmla="val 5556"/>
            </a:avLst>
          </a:prstGeom>
          <a:solidFill>
            <a:srgbClr val="FBFAF7"/>
          </a:solidFill>
          <a:ln w="6350">
            <a:solidFill>
              <a:srgbClr val="DCD9CF"/>
            </a:solidFill>
            <a:prstDash val="solid"/>
          </a:ln>
        </p:spPr>
      </p:sp>
      <p:sp>
        <p:nvSpPr>
          <p:cNvPr id="13" name="Text 11"/>
          <p:cNvSpPr/>
          <p:nvPr/>
        </p:nvSpPr>
        <p:spPr>
          <a:xfrm>
            <a:off x="996950" y="3502521"/>
            <a:ext cx="49838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521E"/>
                </a:solidFill>
                <a:latin typeface="JetBrains Mono" pitchFamily="49" charset="0"/>
                <a:ea typeface="JetBrains Mono" pitchFamily="49" charset="-122"/>
                <a:cs typeface="JetBrains Mono" pitchFamily="49" charset="-120"/>
              </a:rPr>
              <a:t>UC-03 · 액터 A · 트리거: 채팅·Slack 멘션</a:t>
            </a:r>
            <a:endParaRPr lang="en-US" sz="1200" dirty="0"/>
          </a:p>
        </p:txBody>
      </p:sp>
      <p:sp>
        <p:nvSpPr>
          <p:cNvPr id="14" name="Text 12"/>
          <p:cNvSpPr/>
          <p:nvPr/>
        </p:nvSpPr>
        <p:spPr>
          <a:xfrm>
            <a:off x="996950" y="3779341"/>
            <a:ext cx="498386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1A2A"/>
                </a:solidFill>
                <a:latin typeface="IBM Plex Sans KR" pitchFamily="34" charset="0"/>
                <a:ea typeface="IBM Plex Sans KR" pitchFamily="34" charset="-122"/>
                <a:cs typeface="IBM Plex Sans KR" pitchFamily="34" charset="-120"/>
              </a:rPr>
              <a:t>Chat으로 업무 에이전트 사용</a:t>
            </a:r>
            <a:endParaRPr lang="en-US" sz="1500" dirty="0"/>
          </a:p>
        </p:txBody>
      </p:sp>
      <p:sp>
        <p:nvSpPr>
          <p:cNvPr id="15" name="Text 13"/>
          <p:cNvSpPr/>
          <p:nvPr/>
        </p:nvSpPr>
        <p:spPr>
          <a:xfrm>
            <a:off x="1082030" y="4071441"/>
            <a:ext cx="4891161" cy="688280"/>
          </a:xfrm>
          <a:prstGeom prst="rect">
            <a:avLst/>
          </a:prstGeom>
          <a:noFill/>
          <a:ln/>
        </p:spPr>
        <p:txBody>
          <a:bodyPr wrap="square" lIns="0" tIns="0" rIns="0" bIns="0" rtlCol="0" anchor="t">
            <a:normAutofit/>
          </a:bodyPr>
          <a:lstStyle/>
          <a:p>
            <a:pPr algn="l" marL="168920" indent="-168920">
              <a:lnSpc>
                <a:spcPts val="1740"/>
              </a:lnSpc>
              <a:buSzPct val="100000"/>
              <a:buFontTx/>
              <a:buAutoNum type="arabicPeriod" startAt="1"/>
            </a:pPr>
            <a:r>
              <a:rPr lang="en-US" sz="1200" dirty="0">
                <a:solidFill>
                  <a:srgbClr val="4A5263"/>
                </a:solidFill>
                <a:latin typeface="IBM Plex Sans KR" pitchFamily="34" charset="0"/>
                <a:ea typeface="IBM Plex Sans KR" pitchFamily="34" charset="-122"/>
                <a:cs typeface="IBM Plex Sans KR" pitchFamily="34" charset="-120"/>
              </a:rPr>
              <a:t>기본 또는 선택 에이전트로 대화 생성</a:t>
            </a:r>
            <a:endParaRPr lang="en-US" sz="1200" dirty="0"/>
          </a:p>
          <a:p>
            <a:pPr algn="l" marL="168920" indent="-168920">
              <a:lnSpc>
                <a:spcPts val="1740"/>
              </a:lnSpc>
              <a:buSzPct val="100000"/>
              <a:buFontTx/>
              <a:buAutoNum type="arabicPeriod" startAt="1"/>
            </a:pPr>
            <a:r>
              <a:rPr lang="en-US" sz="1200" dirty="0">
                <a:solidFill>
                  <a:srgbClr val="4A5263"/>
                </a:solidFill>
                <a:latin typeface="IBM Plex Sans KR" pitchFamily="34" charset="0"/>
                <a:ea typeface="IBM Plex Sans KR" pitchFamily="34" charset="-122"/>
                <a:cs typeface="IBM Plex Sans KR" pitchFamily="34" charset="-120"/>
              </a:rPr>
              <a:t>지식 검색·도구 호출은 loopback 게이트웨이 경유</a:t>
            </a:r>
            <a:endParaRPr lang="en-US" sz="1200" dirty="0"/>
          </a:p>
          <a:p>
            <a:pPr algn="l" marL="168920" indent="-168920">
              <a:lnSpc>
                <a:spcPts val="1740"/>
              </a:lnSpc>
              <a:buSzPct val="100000"/>
              <a:buFontTx/>
              <a:buAutoNum type="arabicPeriod" startAt="1"/>
            </a:pPr>
            <a:r>
              <a:rPr lang="en-US" sz="1200" dirty="0">
                <a:solidFill>
                  <a:srgbClr val="4A5263"/>
                </a:solidFill>
                <a:latin typeface="IBM Plex Sans KR" pitchFamily="34" charset="0"/>
                <a:ea typeface="IBM Plex Sans KR" pitchFamily="34" charset="-122"/>
                <a:cs typeface="IBM Plex Sans KR" pitchFamily="34" charset="-120"/>
              </a:rPr>
              <a:t>MCP 앱 UI·프로젝트·공유로 결과 활용</a:t>
            </a:r>
            <a:endParaRPr lang="en-US" sz="1200" dirty="0"/>
          </a:p>
        </p:txBody>
      </p:sp>
      <p:sp>
        <p:nvSpPr>
          <p:cNvPr id="16" name="Shape 14"/>
          <p:cNvSpPr/>
          <p:nvPr/>
        </p:nvSpPr>
        <p:spPr>
          <a:xfrm>
            <a:off x="6175375" y="3346946"/>
            <a:ext cx="5200650" cy="1542951"/>
          </a:xfrm>
          <a:prstGeom prst="roundRect">
            <a:avLst>
              <a:gd name="adj" fmla="val 5556"/>
            </a:avLst>
          </a:prstGeom>
          <a:solidFill>
            <a:srgbClr val="FBFAF7"/>
          </a:solidFill>
          <a:ln w="6350">
            <a:solidFill>
              <a:srgbClr val="DCD9CF"/>
            </a:solidFill>
            <a:prstDash val="solid"/>
          </a:ln>
        </p:spPr>
      </p:sp>
      <p:sp>
        <p:nvSpPr>
          <p:cNvPr id="17" name="Text 15"/>
          <p:cNvSpPr/>
          <p:nvPr/>
        </p:nvSpPr>
        <p:spPr>
          <a:xfrm>
            <a:off x="6356350" y="3502521"/>
            <a:ext cx="49838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521E"/>
                </a:solidFill>
                <a:latin typeface="JetBrains Mono" pitchFamily="49" charset="0"/>
                <a:ea typeface="JetBrains Mono" pitchFamily="49" charset="-122"/>
                <a:cs typeface="JetBrains Mono" pitchFamily="49" charset="-120"/>
              </a:rPr>
              <a:t>UC-04 · 액터 E · 트리거: cron·이메일·웹훅·A2A</a:t>
            </a:r>
            <a:endParaRPr lang="en-US" sz="1200" dirty="0"/>
          </a:p>
        </p:txBody>
      </p:sp>
      <p:sp>
        <p:nvSpPr>
          <p:cNvPr id="18" name="Text 16"/>
          <p:cNvSpPr/>
          <p:nvPr/>
        </p:nvSpPr>
        <p:spPr>
          <a:xfrm>
            <a:off x="6356350" y="3779341"/>
            <a:ext cx="498386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1A2A"/>
                </a:solidFill>
                <a:latin typeface="IBM Plex Sans KR" pitchFamily="34" charset="0"/>
                <a:ea typeface="IBM Plex Sans KR" pitchFamily="34" charset="-122"/>
                <a:cs typeface="IBM Plex Sans KR" pitchFamily="34" charset="-120"/>
              </a:rPr>
              <a:t>스케줄·이벤트 기반 에이전트</a:t>
            </a:r>
            <a:endParaRPr lang="en-US" sz="1500" dirty="0"/>
          </a:p>
        </p:txBody>
      </p:sp>
      <p:sp>
        <p:nvSpPr>
          <p:cNvPr id="19" name="Text 17"/>
          <p:cNvSpPr/>
          <p:nvPr/>
        </p:nvSpPr>
        <p:spPr>
          <a:xfrm>
            <a:off x="6441430" y="4071441"/>
            <a:ext cx="4891161" cy="688280"/>
          </a:xfrm>
          <a:prstGeom prst="rect">
            <a:avLst/>
          </a:prstGeom>
          <a:noFill/>
          <a:ln/>
        </p:spPr>
        <p:txBody>
          <a:bodyPr wrap="square" lIns="0" tIns="0" rIns="0" bIns="0" rtlCol="0" anchor="t">
            <a:normAutofit/>
          </a:bodyPr>
          <a:lstStyle/>
          <a:p>
            <a:pPr algn="l" marL="168920" indent="-168920">
              <a:lnSpc>
                <a:spcPts val="1740"/>
              </a:lnSpc>
              <a:buSzPct val="100000"/>
              <a:buFontTx/>
              <a:buAutoNum type="arabicPeriod" startAt="1"/>
            </a:pPr>
            <a:r>
              <a:rPr lang="en-US" sz="1200" dirty="0">
                <a:solidFill>
                  <a:srgbClr val="4A5263"/>
                </a:solidFill>
                <a:latin typeface="IBM Plex Sans KR" pitchFamily="34" charset="0"/>
                <a:ea typeface="IBM Plex Sans KR" pitchFamily="34" charset="-122"/>
                <a:cs typeface="IBM Plex Sans KR" pitchFamily="34" charset="-120"/>
              </a:rPr>
              <a:t>Worker가 만료 트리거를 run으로 전환</a:t>
            </a:r>
            <a:endParaRPr lang="en-US" sz="1200" dirty="0"/>
          </a:p>
          <a:p>
            <a:pPr algn="l" marL="168920" indent="-168920">
              <a:lnSpc>
                <a:spcPts val="1740"/>
              </a:lnSpc>
              <a:buSzPct val="100000"/>
              <a:buFontTx/>
              <a:buAutoNum type="arabicPeriod" startAt="1"/>
            </a:pPr>
            <a:r>
              <a:rPr lang="en-US" sz="1200" dirty="0">
                <a:solidFill>
                  <a:srgbClr val="4A5263"/>
                </a:solidFill>
                <a:latin typeface="IBM Plex Sans KR" pitchFamily="34" charset="0"/>
                <a:ea typeface="IBM Plex Sans KR" pitchFamily="34" charset="-122"/>
                <a:cs typeface="IBM Plex Sans KR" pitchFamily="34" charset="-120"/>
              </a:rPr>
              <a:t>실행자(actor user) 권한으로 에이전트 실행</a:t>
            </a:r>
            <a:endParaRPr lang="en-US" sz="1200" dirty="0"/>
          </a:p>
          <a:p>
            <a:pPr algn="l" marL="168920" indent="-168920">
              <a:lnSpc>
                <a:spcPts val="1740"/>
              </a:lnSpc>
              <a:buSzPct val="100000"/>
              <a:buFontTx/>
              <a:buAutoNum type="arabicPeriod" startAt="1"/>
            </a:pPr>
            <a:r>
              <a:rPr lang="en-US" sz="1200" dirty="0">
                <a:solidFill>
                  <a:srgbClr val="4A5263"/>
                </a:solidFill>
                <a:latin typeface="IBM Plex Sans KR" pitchFamily="34" charset="0"/>
                <a:ea typeface="IBM Plex Sans KR" pitchFamily="34" charset="-122"/>
                <a:cs typeface="IBM Plex Sans KR" pitchFamily="34" charset="-120"/>
              </a:rPr>
              <a:t>대화·채널로 통지, a2a_task로 상태 추적</a:t>
            </a:r>
            <a:endParaRPr lang="en-US" sz="1200" dirty="0"/>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KR" pitchFamily="34" charset="0"/>
                <a:ea typeface="IBM Plex Sans KR" pitchFamily="34" charset="-122"/>
                <a:cs typeface="IBM Plex Sans KR" pitchFamily="34" charset="-120"/>
              </a:rPr>
              <a:t>Archestra 아키텍처 · 17 · 상세 흐름은 시퀀스 S1–S3 참조</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3EE"/>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B8521E"/>
                </a:solidFill>
                <a:latin typeface="JetBrains Mono" pitchFamily="49" charset="0"/>
                <a:ea typeface="JetBrains Mono" pitchFamily="49" charset="-122"/>
                <a:cs typeface="JetBrains Mono" pitchFamily="49" charset="-120"/>
              </a:rPr>
              <a:t>A3 · USE CASES 05–08</a:t>
            </a:r>
            <a:endParaRPr lang="en-US" sz="1200" dirty="0"/>
          </a:p>
        </p:txBody>
      </p:sp>
      <p:sp>
        <p:nvSpPr>
          <p:cNvPr id="3" name="Text 1"/>
          <p:cNvSpPr/>
          <p:nvPr>
            <p:ph type="title"/>
          </p:nvPr>
        </p:nvSpPr>
        <p:spPr>
          <a:xfrm>
            <a:off x="812800" y="10007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1A2A"/>
                </a:solidFill>
                <a:latin typeface="IBM Plex Sans KR" pitchFamily="34" charset="0"/>
                <a:ea typeface="IBM Plex Sans KR" pitchFamily="34" charset="-122"/>
                <a:cs typeface="IBM Plex Sans KR" pitchFamily="34" charset="-120"/>
              </a:rPr>
              <a:t>운영 흐름: 배포 · 지식 · 정책 · 비용</a:t>
            </a:r>
            <a:endParaRPr lang="en-US" sz="3000" dirty="0"/>
          </a:p>
        </p:txBody>
      </p:sp>
      <p:sp>
        <p:nvSpPr>
          <p:cNvPr id="4" name="Shape 2"/>
          <p:cNvSpPr/>
          <p:nvPr/>
        </p:nvSpPr>
        <p:spPr>
          <a:xfrm>
            <a:off x="815975" y="1645245"/>
            <a:ext cx="5200650" cy="1542951"/>
          </a:xfrm>
          <a:prstGeom prst="roundRect">
            <a:avLst>
              <a:gd name="adj" fmla="val 5556"/>
            </a:avLst>
          </a:prstGeom>
          <a:solidFill>
            <a:srgbClr val="FBFAF7"/>
          </a:solidFill>
          <a:ln w="6350">
            <a:solidFill>
              <a:srgbClr val="DCD9CF"/>
            </a:solidFill>
            <a:prstDash val="solid"/>
          </a:ln>
        </p:spPr>
      </p:sp>
      <p:sp>
        <p:nvSpPr>
          <p:cNvPr id="5" name="Text 3"/>
          <p:cNvSpPr/>
          <p:nvPr/>
        </p:nvSpPr>
        <p:spPr>
          <a:xfrm>
            <a:off x="996950" y="1800820"/>
            <a:ext cx="49838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521E"/>
                </a:solidFill>
                <a:latin typeface="JetBrains Mono" pitchFamily="49" charset="0"/>
                <a:ea typeface="JetBrains Mono" pitchFamily="49" charset="-122"/>
                <a:cs typeface="JetBrains Mono" pitchFamily="49" charset="-120"/>
              </a:rPr>
              <a:t>UC-05 · 액터 C · 트리거: 설치 요청</a:t>
            </a:r>
            <a:endParaRPr lang="en-US" sz="1200" dirty="0"/>
          </a:p>
        </p:txBody>
      </p:sp>
      <p:sp>
        <p:nvSpPr>
          <p:cNvPr id="6" name="Text 4"/>
          <p:cNvSpPr/>
          <p:nvPr/>
        </p:nvSpPr>
        <p:spPr>
          <a:xfrm>
            <a:off x="996950" y="2077641"/>
            <a:ext cx="498386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1A2A"/>
                </a:solidFill>
                <a:latin typeface="IBM Plex Sans KR" pitchFamily="34" charset="0"/>
                <a:ea typeface="IBM Plex Sans KR" pitchFamily="34" charset="-122"/>
                <a:cs typeface="IBM Plex Sans KR" pitchFamily="34" charset="-120"/>
              </a:rPr>
              <a:t>MCP 서버 등록 · 배포</a:t>
            </a:r>
            <a:endParaRPr lang="en-US" sz="1500" dirty="0"/>
          </a:p>
        </p:txBody>
      </p:sp>
      <p:sp>
        <p:nvSpPr>
          <p:cNvPr id="7" name="Text 5"/>
          <p:cNvSpPr/>
          <p:nvPr/>
        </p:nvSpPr>
        <p:spPr>
          <a:xfrm>
            <a:off x="1082030" y="2369741"/>
            <a:ext cx="4891161" cy="688280"/>
          </a:xfrm>
          <a:prstGeom prst="rect">
            <a:avLst/>
          </a:prstGeom>
          <a:noFill/>
          <a:ln/>
        </p:spPr>
        <p:txBody>
          <a:bodyPr wrap="square" lIns="0" tIns="0" rIns="0" bIns="0" rtlCol="0" anchor="t">
            <a:normAutofit/>
          </a:bodyPr>
          <a:lstStyle/>
          <a:p>
            <a:pPr algn="l" marL="168920" indent="-168920">
              <a:lnSpc>
                <a:spcPts val="1740"/>
              </a:lnSpc>
              <a:buSzPct val="100000"/>
              <a:buFontTx/>
              <a:buAutoNum type="arabicPeriod" startAt="1"/>
            </a:pPr>
            <a:r>
              <a:rPr lang="en-US" sz="1200" dirty="0">
                <a:solidFill>
                  <a:srgbClr val="4A5263"/>
                </a:solidFill>
                <a:latin typeface="IBM Plex Sans KR" pitchFamily="34" charset="0"/>
                <a:ea typeface="IBM Plex Sans KR" pitchFamily="34" charset="-122"/>
                <a:cs typeface="IBM Plex Sans KR" pitchFamily="34" charset="-120"/>
              </a:rPr>
              <a:t>프라이빗 레지스트리에 등록, 필요 시 승인</a:t>
            </a:r>
            <a:endParaRPr lang="en-US" sz="1200" dirty="0"/>
          </a:p>
          <a:p>
            <a:pPr algn="l" marL="168920" indent="-168920">
              <a:lnSpc>
                <a:spcPts val="1740"/>
              </a:lnSpc>
              <a:buSzPct val="100000"/>
              <a:buFontTx/>
              <a:buAutoNum type="arabicPeriod" startAt="1"/>
            </a:pPr>
            <a:r>
              <a:rPr lang="en-US" sz="1200" dirty="0">
                <a:solidFill>
                  <a:srgbClr val="4A5263"/>
                </a:solidFill>
                <a:latin typeface="IBM Plex Sans KR" pitchFamily="34" charset="0"/>
                <a:ea typeface="IBM Plex Sans KR" pitchFamily="34" charset="-122"/>
                <a:cs typeface="IBM Plex Sans KR" pitchFamily="34" charset="-120"/>
              </a:rPr>
              <a:t>Secret · Deployment · NetworkPolicy 생성</a:t>
            </a:r>
            <a:endParaRPr lang="en-US" sz="1200" dirty="0"/>
          </a:p>
          <a:p>
            <a:pPr algn="l" marL="168920" indent="-168920">
              <a:lnSpc>
                <a:spcPts val="1740"/>
              </a:lnSpc>
              <a:buSzPct val="100000"/>
              <a:buFontTx/>
              <a:buAutoNum type="arabicPeriod" startAt="1"/>
            </a:pPr>
            <a:r>
              <a:rPr lang="en-US" sz="1200" dirty="0">
                <a:solidFill>
                  <a:srgbClr val="4A5263"/>
                </a:solidFill>
                <a:latin typeface="IBM Plex Sans KR" pitchFamily="34" charset="0"/>
                <a:ea typeface="IBM Plex Sans KR" pitchFamily="34" charset="-122"/>
                <a:cs typeface="IBM Plex Sans KR" pitchFamily="34" charset="-120"/>
              </a:rPr>
              <a:t>tools/list로 도구 발견 → 게이트웨이에 할당</a:t>
            </a:r>
            <a:endParaRPr lang="en-US" sz="1200" dirty="0"/>
          </a:p>
        </p:txBody>
      </p:sp>
      <p:sp>
        <p:nvSpPr>
          <p:cNvPr id="8" name="Shape 6"/>
          <p:cNvSpPr/>
          <p:nvPr/>
        </p:nvSpPr>
        <p:spPr>
          <a:xfrm>
            <a:off x="6175375" y="1645245"/>
            <a:ext cx="5200650" cy="1542951"/>
          </a:xfrm>
          <a:prstGeom prst="roundRect">
            <a:avLst>
              <a:gd name="adj" fmla="val 5556"/>
            </a:avLst>
          </a:prstGeom>
          <a:solidFill>
            <a:srgbClr val="FBFAF7"/>
          </a:solidFill>
          <a:ln w="6350">
            <a:solidFill>
              <a:srgbClr val="DCD9CF"/>
            </a:solidFill>
            <a:prstDash val="solid"/>
          </a:ln>
        </p:spPr>
      </p:sp>
      <p:sp>
        <p:nvSpPr>
          <p:cNvPr id="9" name="Text 7"/>
          <p:cNvSpPr/>
          <p:nvPr/>
        </p:nvSpPr>
        <p:spPr>
          <a:xfrm>
            <a:off x="6356350" y="1800820"/>
            <a:ext cx="49838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521E"/>
                </a:solidFill>
                <a:latin typeface="JetBrains Mono" pitchFamily="49" charset="0"/>
                <a:ea typeface="JetBrains Mono" pitchFamily="49" charset="-122"/>
                <a:cs typeface="JetBrains Mono" pitchFamily="49" charset="-120"/>
              </a:rPr>
              <a:t>UC-06 · 액터 C·A · 트리거: 커넥터 스케줄</a:t>
            </a:r>
            <a:endParaRPr lang="en-US" sz="1200" dirty="0"/>
          </a:p>
        </p:txBody>
      </p:sp>
      <p:sp>
        <p:nvSpPr>
          <p:cNvPr id="10" name="Text 8"/>
          <p:cNvSpPr/>
          <p:nvPr/>
        </p:nvSpPr>
        <p:spPr>
          <a:xfrm>
            <a:off x="6356350" y="2077641"/>
            <a:ext cx="498386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1A2A"/>
                </a:solidFill>
                <a:latin typeface="IBM Plex Sans KR" pitchFamily="34" charset="0"/>
                <a:ea typeface="IBM Plex Sans KR" pitchFamily="34" charset="-122"/>
                <a:cs typeface="IBM Plex Sans KR" pitchFamily="34" charset="-120"/>
              </a:rPr>
              <a:t>지식 소스 연결 · 권한 검색</a:t>
            </a:r>
            <a:endParaRPr lang="en-US" sz="1500" dirty="0"/>
          </a:p>
        </p:txBody>
      </p:sp>
      <p:sp>
        <p:nvSpPr>
          <p:cNvPr id="11" name="Text 9"/>
          <p:cNvSpPr/>
          <p:nvPr/>
        </p:nvSpPr>
        <p:spPr>
          <a:xfrm>
            <a:off x="6441430" y="2369741"/>
            <a:ext cx="4891161" cy="688280"/>
          </a:xfrm>
          <a:prstGeom prst="rect">
            <a:avLst/>
          </a:prstGeom>
          <a:noFill/>
          <a:ln/>
        </p:spPr>
        <p:txBody>
          <a:bodyPr wrap="square" lIns="0" tIns="0" rIns="0" bIns="0" rtlCol="0" anchor="t">
            <a:normAutofit/>
          </a:bodyPr>
          <a:lstStyle/>
          <a:p>
            <a:pPr algn="l" marL="168920" indent="-168920">
              <a:lnSpc>
                <a:spcPts val="1740"/>
              </a:lnSpc>
              <a:buSzPct val="100000"/>
              <a:buFontTx/>
              <a:buAutoNum type="arabicPeriod" startAt="1"/>
            </a:pPr>
            <a:r>
              <a:rPr lang="en-US" sz="1200" dirty="0">
                <a:solidFill>
                  <a:srgbClr val="4A5263"/>
                </a:solidFill>
                <a:latin typeface="IBM Plex Sans KR" pitchFamily="34" charset="0"/>
                <a:ea typeface="IBM Plex Sans KR" pitchFamily="34" charset="-122"/>
                <a:cs typeface="IBM Plex Sans KR" pitchFamily="34" charset="-120"/>
              </a:rPr>
              <a:t>커넥터 생성 (기본 동기화 주기 6시간)</a:t>
            </a:r>
            <a:endParaRPr lang="en-US" sz="1200" dirty="0"/>
          </a:p>
          <a:p>
            <a:pPr algn="l" marL="168920" indent="-168920">
              <a:lnSpc>
                <a:spcPts val="1740"/>
              </a:lnSpc>
              <a:buSzPct val="100000"/>
              <a:buFontTx/>
              <a:buAutoNum type="arabicPeriod" startAt="1"/>
            </a:pPr>
            <a:r>
              <a:rPr lang="en-US" sz="1200" dirty="0">
                <a:solidFill>
                  <a:srgbClr val="4A5263"/>
                </a:solidFill>
                <a:latin typeface="IBM Plex Sans KR" pitchFamily="34" charset="0"/>
                <a:ea typeface="IBM Plex Sans KR" pitchFamily="34" charset="-122"/>
                <a:cs typeface="IBM Plex Sans KR" pitchFamily="34" charset="-120"/>
              </a:rPr>
              <a:t>Worker가 증분 동기화 · 임베딩 · 권한 동기화</a:t>
            </a:r>
            <a:endParaRPr lang="en-US" sz="1200" dirty="0"/>
          </a:p>
          <a:p>
            <a:pPr algn="l" marL="168920" indent="-168920">
              <a:lnSpc>
                <a:spcPts val="1740"/>
              </a:lnSpc>
              <a:buSzPct val="100000"/>
              <a:buFontTx/>
              <a:buAutoNum type="arabicPeriod" startAt="1"/>
            </a:pPr>
            <a:r>
              <a:rPr lang="en-US" sz="1200" dirty="0">
                <a:solidFill>
                  <a:srgbClr val="4A5263"/>
                </a:solidFill>
                <a:latin typeface="IBM Plex Sans KR" pitchFamily="34" charset="0"/>
                <a:ea typeface="IBM Plex Sans KR" pitchFamily="34" charset="-122"/>
                <a:cs typeface="IBM Plex Sans KR" pitchFamily="34" charset="-120"/>
              </a:rPr>
              <a:t>원본에서 볼 수 있는 청크만 검색 결과로</a:t>
            </a:r>
            <a:endParaRPr lang="en-US" sz="1200" dirty="0"/>
          </a:p>
        </p:txBody>
      </p:sp>
      <p:sp>
        <p:nvSpPr>
          <p:cNvPr id="12" name="Shape 10"/>
          <p:cNvSpPr/>
          <p:nvPr/>
        </p:nvSpPr>
        <p:spPr>
          <a:xfrm>
            <a:off x="815975" y="3346946"/>
            <a:ext cx="5200650" cy="1542951"/>
          </a:xfrm>
          <a:prstGeom prst="roundRect">
            <a:avLst>
              <a:gd name="adj" fmla="val 5556"/>
            </a:avLst>
          </a:prstGeom>
          <a:solidFill>
            <a:srgbClr val="FBFAF7"/>
          </a:solidFill>
          <a:ln w="6350">
            <a:solidFill>
              <a:srgbClr val="DCD9CF"/>
            </a:solidFill>
            <a:prstDash val="solid"/>
          </a:ln>
        </p:spPr>
      </p:sp>
      <p:sp>
        <p:nvSpPr>
          <p:cNvPr id="13" name="Text 11"/>
          <p:cNvSpPr/>
          <p:nvPr/>
        </p:nvSpPr>
        <p:spPr>
          <a:xfrm>
            <a:off x="996950" y="3502521"/>
            <a:ext cx="49838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521E"/>
                </a:solidFill>
                <a:latin typeface="JetBrains Mono" pitchFamily="49" charset="0"/>
                <a:ea typeface="JetBrains Mono" pitchFamily="49" charset="-122"/>
                <a:cs typeface="JetBrains Mono" pitchFamily="49" charset="-120"/>
              </a:rPr>
              <a:t>UC-07 · 액터 D · 트리거: 정책 위반 호출</a:t>
            </a:r>
            <a:endParaRPr lang="en-US" sz="1200" dirty="0"/>
          </a:p>
        </p:txBody>
      </p:sp>
      <p:sp>
        <p:nvSpPr>
          <p:cNvPr id="14" name="Text 12"/>
          <p:cNvSpPr/>
          <p:nvPr/>
        </p:nvSpPr>
        <p:spPr>
          <a:xfrm>
            <a:off x="996950" y="3779341"/>
            <a:ext cx="498386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1A2A"/>
                </a:solidFill>
                <a:latin typeface="IBM Plex Sans KR" pitchFamily="34" charset="0"/>
                <a:ea typeface="IBM Plex Sans KR" pitchFamily="34" charset="-122"/>
                <a:cs typeface="IBM Plex Sans KR" pitchFamily="34" charset="-120"/>
              </a:rPr>
              <a:t>가드레일 정책 · 차단 해제</a:t>
            </a:r>
            <a:endParaRPr lang="en-US" sz="1500" dirty="0"/>
          </a:p>
        </p:txBody>
      </p:sp>
      <p:sp>
        <p:nvSpPr>
          <p:cNvPr id="15" name="Text 13"/>
          <p:cNvSpPr/>
          <p:nvPr/>
        </p:nvSpPr>
        <p:spPr>
          <a:xfrm>
            <a:off x="1082030" y="4071441"/>
            <a:ext cx="4891161" cy="688280"/>
          </a:xfrm>
          <a:prstGeom prst="rect">
            <a:avLst/>
          </a:prstGeom>
          <a:noFill/>
          <a:ln/>
        </p:spPr>
        <p:txBody>
          <a:bodyPr wrap="square" lIns="0" tIns="0" rIns="0" bIns="0" rtlCol="0" anchor="t">
            <a:normAutofit/>
          </a:bodyPr>
          <a:lstStyle/>
          <a:p>
            <a:pPr algn="l" marL="168920" indent="-168920">
              <a:lnSpc>
                <a:spcPts val="1740"/>
              </a:lnSpc>
              <a:buSzPct val="100000"/>
              <a:buFontTx/>
              <a:buAutoNum type="arabicPeriod" startAt="1"/>
            </a:pPr>
            <a:r>
              <a:rPr lang="en-US" sz="1200" dirty="0">
                <a:solidFill>
                  <a:srgbClr val="4A5263"/>
                </a:solidFill>
                <a:latin typeface="IBM Plex Sans KR" pitchFamily="34" charset="0"/>
                <a:ea typeface="IBM Plex Sans KR" pitchFamily="34" charset="-122"/>
                <a:cs typeface="IBM Plex Sans KR" pitchFamily="34" charset="-120"/>
              </a:rPr>
              <a:t>APPA Keeper가 초안 작성, 리비전·GitHub 동기화</a:t>
            </a:r>
            <a:endParaRPr lang="en-US" sz="1200" dirty="0"/>
          </a:p>
          <a:p>
            <a:pPr algn="l" marL="168920" indent="-168920">
              <a:lnSpc>
                <a:spcPts val="1740"/>
              </a:lnSpc>
              <a:buSzPct val="100000"/>
              <a:buFontTx/>
              <a:buAutoNum type="arabicPeriod" startAt="1"/>
            </a:pPr>
            <a:r>
              <a:rPr lang="en-US" sz="1200" dirty="0">
                <a:solidFill>
                  <a:srgbClr val="4A5263"/>
                </a:solidFill>
                <a:latin typeface="IBM Plex Sans KR" pitchFamily="34" charset="0"/>
                <a:ea typeface="IBM Plex Sans KR" pitchFamily="34" charset="-122"/>
                <a:cs typeface="IBM Plex Sans KR" pitchFamily="34" charset="-120"/>
              </a:rPr>
              <a:t>위반 호출은 실행 전 차단 + remedy 제시</a:t>
            </a:r>
            <a:endParaRPr lang="en-US" sz="1200" dirty="0"/>
          </a:p>
          <a:p>
            <a:pPr algn="l" marL="168920" indent="-168920">
              <a:lnSpc>
                <a:spcPts val="1740"/>
              </a:lnSpc>
              <a:buSzPct val="100000"/>
              <a:buFontTx/>
              <a:buAutoNum type="arabicPeriod" startAt="1"/>
            </a:pPr>
            <a:r>
              <a:rPr lang="en-US" sz="1200" dirty="0">
                <a:solidFill>
                  <a:srgbClr val="4A5263"/>
                </a:solidFill>
                <a:latin typeface="IBM Plex Sans KR" pitchFamily="34" charset="0"/>
                <a:ea typeface="IBM Plex Sans KR" pitchFamily="34" charset="-122"/>
                <a:cs typeface="IBM Plex Sans KR" pitchFamily="34" charset="-120"/>
              </a:rPr>
              <a:t>사람 승인·sanitizer로 해제, yell로 보고</a:t>
            </a:r>
            <a:endParaRPr lang="en-US" sz="1200" dirty="0"/>
          </a:p>
        </p:txBody>
      </p:sp>
      <p:sp>
        <p:nvSpPr>
          <p:cNvPr id="16" name="Shape 14"/>
          <p:cNvSpPr/>
          <p:nvPr/>
        </p:nvSpPr>
        <p:spPr>
          <a:xfrm>
            <a:off x="6175375" y="3346946"/>
            <a:ext cx="5200650" cy="1542951"/>
          </a:xfrm>
          <a:prstGeom prst="roundRect">
            <a:avLst>
              <a:gd name="adj" fmla="val 5556"/>
            </a:avLst>
          </a:prstGeom>
          <a:solidFill>
            <a:srgbClr val="FBFAF7"/>
          </a:solidFill>
          <a:ln w="6350">
            <a:solidFill>
              <a:srgbClr val="DCD9CF"/>
            </a:solidFill>
            <a:prstDash val="solid"/>
          </a:ln>
        </p:spPr>
      </p:sp>
      <p:sp>
        <p:nvSpPr>
          <p:cNvPr id="17" name="Text 15"/>
          <p:cNvSpPr/>
          <p:nvPr/>
        </p:nvSpPr>
        <p:spPr>
          <a:xfrm>
            <a:off x="6356350" y="3502521"/>
            <a:ext cx="49838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521E"/>
                </a:solidFill>
                <a:latin typeface="JetBrains Mono" pitchFamily="49" charset="0"/>
                <a:ea typeface="JetBrains Mono" pitchFamily="49" charset="-122"/>
                <a:cs typeface="JetBrains Mono" pitchFamily="49" charset="-120"/>
              </a:rPr>
              <a:t>UC-08 · 액터 C·D · 트리거: 관리 콘솔</a:t>
            </a:r>
            <a:endParaRPr lang="en-US" sz="1200" dirty="0"/>
          </a:p>
        </p:txBody>
      </p:sp>
      <p:sp>
        <p:nvSpPr>
          <p:cNvPr id="18" name="Text 16"/>
          <p:cNvSpPr/>
          <p:nvPr/>
        </p:nvSpPr>
        <p:spPr>
          <a:xfrm>
            <a:off x="6356350" y="3779341"/>
            <a:ext cx="498386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1A2A"/>
                </a:solidFill>
                <a:latin typeface="IBM Plex Sans KR" pitchFamily="34" charset="0"/>
                <a:ea typeface="IBM Plex Sans KR" pitchFamily="34" charset="-122"/>
                <a:cs typeface="IBM Plex Sans KR" pitchFamily="34" charset="-120"/>
              </a:rPr>
              <a:t>비용 · 접근 거버넌스</a:t>
            </a:r>
            <a:endParaRPr lang="en-US" sz="1500" dirty="0"/>
          </a:p>
        </p:txBody>
      </p:sp>
      <p:sp>
        <p:nvSpPr>
          <p:cNvPr id="19" name="Text 17"/>
          <p:cNvSpPr/>
          <p:nvPr/>
        </p:nvSpPr>
        <p:spPr>
          <a:xfrm>
            <a:off x="6441430" y="4071441"/>
            <a:ext cx="4891161" cy="688280"/>
          </a:xfrm>
          <a:prstGeom prst="rect">
            <a:avLst/>
          </a:prstGeom>
          <a:noFill/>
          <a:ln/>
        </p:spPr>
        <p:txBody>
          <a:bodyPr wrap="square" lIns="0" tIns="0" rIns="0" bIns="0" rtlCol="0" anchor="t">
            <a:normAutofit/>
          </a:bodyPr>
          <a:lstStyle/>
          <a:p>
            <a:pPr algn="l" marL="168920" indent="-168920">
              <a:lnSpc>
                <a:spcPts val="1740"/>
              </a:lnSpc>
              <a:buSzPct val="100000"/>
              <a:buFontTx/>
              <a:buAutoNum type="arabicPeriod" startAt="1"/>
            </a:pPr>
            <a:r>
              <a:rPr lang="en-US" sz="1200" dirty="0">
                <a:solidFill>
                  <a:srgbClr val="4A5263"/>
                </a:solidFill>
                <a:latin typeface="IBM Plex Sans KR" pitchFamily="34" charset="0"/>
                <a:ea typeface="IBM Plex Sans KR" pitchFamily="34" charset="-122"/>
                <a:cs typeface="IBM Plex Sans KR" pitchFamily="34" charset="-120"/>
              </a:rPr>
              <a:t>팀·사용자·가상 키·모델별 한도 설정</a:t>
            </a:r>
            <a:endParaRPr lang="en-US" sz="1200" dirty="0"/>
          </a:p>
          <a:p>
            <a:pPr algn="l" marL="168920" indent="-168920">
              <a:lnSpc>
                <a:spcPts val="1740"/>
              </a:lnSpc>
              <a:buSzPct val="100000"/>
              <a:buFontTx/>
              <a:buAutoNum type="arabicPeriod" startAt="1"/>
            </a:pPr>
            <a:r>
              <a:rPr lang="en-US" sz="1200" dirty="0">
                <a:solidFill>
                  <a:srgbClr val="4A5263"/>
                </a:solidFill>
                <a:latin typeface="IBM Plex Sans KR" pitchFamily="34" charset="0"/>
                <a:ea typeface="IBM Plex Sans KR" pitchFamily="34" charset="-122"/>
                <a:cs typeface="IBM Plex Sans KR" pitchFamily="34" charset="-120"/>
              </a:rPr>
              <a:t>RBAC + 리소스 단위 권한, SSO 팀 동기화</a:t>
            </a:r>
            <a:endParaRPr lang="en-US" sz="1200" dirty="0"/>
          </a:p>
          <a:p>
            <a:pPr algn="l" marL="168920" indent="-168920">
              <a:lnSpc>
                <a:spcPts val="1740"/>
              </a:lnSpc>
              <a:buSzPct val="100000"/>
              <a:buFontTx/>
              <a:buAutoNum type="arabicPeriod" startAt="1"/>
            </a:pPr>
            <a:r>
              <a:rPr lang="en-US" sz="1200" dirty="0">
                <a:solidFill>
                  <a:srgbClr val="4A5263"/>
                </a:solidFill>
                <a:latin typeface="IBM Plex Sans KR" pitchFamily="34" charset="0"/>
                <a:ea typeface="IBM Plex Sans KR" pitchFamily="34" charset="-122"/>
                <a:cs typeface="IBM Plex Sans KR" pitchFamily="34" charset="-120"/>
              </a:rPr>
              <a:t>로그 보존 · 감사 로그 · OTel로 사후 추적</a:t>
            </a:r>
            <a:endParaRPr lang="en-US" sz="1200" dirty="0"/>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KR" pitchFamily="34" charset="0"/>
                <a:ea typeface="IBM Plex Sans KR" pitchFamily="34" charset="-122"/>
                <a:cs typeface="IBM Plex Sans KR" pitchFamily="34" charset="-120"/>
              </a:rPr>
              <a:t>Archestra 아키텍처 · 18 · 상세 흐름은 시퀀스 S4–S5 참조</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3EE"/>
        </a:solidFill>
      </p:bgPr>
    </p:bg>
    <p:spTree>
      <p:nvGrpSpPr>
        <p:cNvPr id="1" name=""/>
        <p:cNvGrpSpPr/>
        <p:nvPr/>
      </p:nvGrpSpPr>
      <p:grpSpPr>
        <a:xfrm>
          <a:off x="0" y="0"/>
          <a:ext cx="0" cy="0"/>
          <a:chOff x="0" y="0"/>
          <a:chExt cx="0" cy="0"/>
        </a:xfrm>
      </p:grpSpPr>
      <p:sp>
        <p:nvSpPr>
          <p:cNvPr id="2" name="Shape 0"/>
          <p:cNvSpPr/>
          <p:nvPr/>
        </p:nvSpPr>
        <p:spPr>
          <a:xfrm>
            <a:off x="1689100" y="1841500"/>
            <a:ext cx="12700" cy="3746500"/>
          </a:xfrm>
          <a:prstGeom prst="rect">
            <a:avLst/>
          </a:prstGeom>
          <a:solidFill>
            <a:srgbClr val="C9C5BA"/>
          </a:solidFill>
          <a:ln/>
        </p:spPr>
      </p:sp>
      <p:sp>
        <p:nvSpPr>
          <p:cNvPr id="3" name="Shape 1"/>
          <p:cNvSpPr/>
          <p:nvPr/>
        </p:nvSpPr>
        <p:spPr>
          <a:xfrm>
            <a:off x="3448050" y="1841500"/>
            <a:ext cx="12700" cy="3746500"/>
          </a:xfrm>
          <a:prstGeom prst="rect">
            <a:avLst/>
          </a:prstGeom>
          <a:solidFill>
            <a:srgbClr val="C9C5BA"/>
          </a:solidFill>
          <a:ln/>
        </p:spPr>
      </p:sp>
      <p:sp>
        <p:nvSpPr>
          <p:cNvPr id="4" name="Shape 2"/>
          <p:cNvSpPr/>
          <p:nvPr/>
        </p:nvSpPr>
        <p:spPr>
          <a:xfrm>
            <a:off x="5207000" y="1841500"/>
            <a:ext cx="12700" cy="3746500"/>
          </a:xfrm>
          <a:prstGeom prst="rect">
            <a:avLst/>
          </a:prstGeom>
          <a:solidFill>
            <a:srgbClr val="C9C5BA"/>
          </a:solidFill>
          <a:ln/>
        </p:spPr>
      </p:sp>
      <p:sp>
        <p:nvSpPr>
          <p:cNvPr id="5" name="Shape 3"/>
          <p:cNvSpPr/>
          <p:nvPr/>
        </p:nvSpPr>
        <p:spPr>
          <a:xfrm>
            <a:off x="6972300" y="1841500"/>
            <a:ext cx="12700" cy="3746500"/>
          </a:xfrm>
          <a:prstGeom prst="rect">
            <a:avLst/>
          </a:prstGeom>
          <a:solidFill>
            <a:srgbClr val="C9C5BA"/>
          </a:solidFill>
          <a:ln/>
        </p:spPr>
      </p:sp>
      <p:sp>
        <p:nvSpPr>
          <p:cNvPr id="6" name="Shape 4"/>
          <p:cNvSpPr/>
          <p:nvPr/>
        </p:nvSpPr>
        <p:spPr>
          <a:xfrm>
            <a:off x="8731250" y="1841500"/>
            <a:ext cx="12700" cy="3746500"/>
          </a:xfrm>
          <a:prstGeom prst="rect">
            <a:avLst/>
          </a:prstGeom>
          <a:solidFill>
            <a:srgbClr val="C9C5BA"/>
          </a:solidFill>
          <a:ln/>
        </p:spPr>
      </p:sp>
      <p:sp>
        <p:nvSpPr>
          <p:cNvPr id="7" name="Shape 5"/>
          <p:cNvSpPr/>
          <p:nvPr/>
        </p:nvSpPr>
        <p:spPr>
          <a:xfrm>
            <a:off x="10490200" y="1841500"/>
            <a:ext cx="12700" cy="3746500"/>
          </a:xfrm>
          <a:prstGeom prst="rect">
            <a:avLst/>
          </a:prstGeom>
          <a:solidFill>
            <a:srgbClr val="C9C5BA"/>
          </a:solidFill>
          <a:ln/>
        </p:spPr>
      </p:sp>
      <p:sp>
        <p:nvSpPr>
          <p:cNvPr id="8" name="Text 6"/>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B8521E"/>
                </a:solidFill>
                <a:latin typeface="JetBrains Mono" pitchFamily="49" charset="0"/>
                <a:ea typeface="JetBrains Mono" pitchFamily="49" charset="-122"/>
                <a:cs typeface="JetBrains Mono" pitchFamily="49" charset="-120"/>
              </a:rPr>
              <a:t>S1 · SEQUENCE · LLM PROXY</a:t>
            </a:r>
            <a:endParaRPr lang="en-US" sz="1200" dirty="0"/>
          </a:p>
        </p:txBody>
      </p:sp>
      <p:sp>
        <p:nvSpPr>
          <p:cNvPr id="9" name="Text 7"/>
          <p:cNvSpPr/>
          <p:nvPr>
            <p:ph type="title"/>
          </p:nvPr>
        </p:nvSpPr>
        <p:spPr>
          <a:xfrm>
            <a:off x="812800" y="10007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1A2A"/>
                </a:solidFill>
                <a:latin typeface="IBM Plex Sans KR" pitchFamily="34" charset="0"/>
                <a:ea typeface="IBM Plex Sans KR" pitchFamily="34" charset="-122"/>
                <a:cs typeface="IBM Plex Sans KR" pitchFamily="34" charset="-120"/>
              </a:rPr>
              <a:t>LLM 호출 한 번이 거치는 11단계</a:t>
            </a:r>
            <a:endParaRPr lang="en-US" sz="3000" dirty="0"/>
          </a:p>
        </p:txBody>
      </p:sp>
      <p:sp>
        <p:nvSpPr>
          <p:cNvPr id="10" name="Text 8"/>
          <p:cNvSpPr/>
          <p:nvPr/>
        </p:nvSpPr>
        <p:spPr>
          <a:xfrm>
            <a:off x="876300" y="1591270"/>
            <a:ext cx="1634034" cy="325090"/>
          </a:xfrm>
          <a:custGeom>
            <a:avLst/>
            <a:gdLst/>
            <a:ahLst/>
            <a:cxnLst/>
            <a:rect l="l" t="t" r="r" b="b"/>
            <a:pathLst>
              <a:path w="1634034" h="325090">
                <a:moveTo>
                  <a:pt x="50800" y="0"/>
                </a:moveTo>
                <a:lnTo>
                  <a:pt x="1583234" y="0"/>
                </a:lnTo>
                <a:arcTo hR="50800" wR="50800" stAng="16200000" swAng="5400000"/>
                <a:lnTo>
                  <a:pt x="1634034" y="274290"/>
                </a:lnTo>
                <a:arcTo hR="50800" wR="50800" stAng="0" swAng="5400000"/>
                <a:lnTo>
                  <a:pt x="50800" y="325090"/>
                </a:lnTo>
                <a:arcTo hR="50800" wR="50800" stAng="5400000" swAng="5400000"/>
                <a:lnTo>
                  <a:pt x="0" y="50800"/>
                </a:lnTo>
                <a:arcTo hR="50800" wR="50800" stAng="10800000" swAng="5400000"/>
                <a:close/>
              </a:path>
            </a:pathLst>
          </a:custGeom>
          <a:solidFill>
            <a:srgbClr val="131A2A"/>
          </a:solidFill>
          <a:ln/>
        </p:spPr>
        <p:txBody>
          <a:bodyPr wrap="square" lIns="25400" tIns="63500" rIns="25400" bIns="38100" rtlCol="0" anchor="t">
            <a:normAutofit/>
          </a:bodyPr>
          <a:lstStyle/>
          <a:p>
            <a:pPr algn="ctr" indent="0" marL="0">
              <a:lnSpc>
                <a:spcPts val="1560"/>
              </a:lnSpc>
              <a:buNone/>
            </a:pPr>
            <a:r>
              <a:rPr lang="en-US" sz="1200" dirty="0">
                <a:solidFill>
                  <a:srgbClr val="F4F3EE"/>
                </a:solidFill>
                <a:latin typeface="IBM Plex Sans KR" pitchFamily="34" charset="0"/>
                <a:ea typeface="IBM Plex Sans KR" pitchFamily="34" charset="-122"/>
                <a:cs typeface="IBM Plex Sans KR" pitchFamily="34" charset="-120"/>
              </a:rPr>
              <a:t>클라이언트</a:t>
            </a:r>
            <a:endParaRPr lang="en-US" sz="1200" dirty="0"/>
          </a:p>
        </p:txBody>
      </p:sp>
      <p:sp>
        <p:nvSpPr>
          <p:cNvPr id="11" name="Text 9"/>
          <p:cNvSpPr/>
          <p:nvPr/>
        </p:nvSpPr>
        <p:spPr>
          <a:xfrm>
            <a:off x="2637334" y="1591270"/>
            <a:ext cx="1634083" cy="325090"/>
          </a:xfrm>
          <a:custGeom>
            <a:avLst/>
            <a:gdLst/>
            <a:ahLst/>
            <a:cxnLst/>
            <a:rect l="l" t="t" r="r" b="b"/>
            <a:pathLst>
              <a:path w="1634083" h="325090">
                <a:moveTo>
                  <a:pt x="50800" y="0"/>
                </a:moveTo>
                <a:lnTo>
                  <a:pt x="1583283" y="0"/>
                </a:lnTo>
                <a:arcTo hR="50800" wR="50800" stAng="16200000" swAng="5400000"/>
                <a:lnTo>
                  <a:pt x="1634083" y="274290"/>
                </a:lnTo>
                <a:arcTo hR="50800" wR="50800" stAng="0" swAng="5400000"/>
                <a:lnTo>
                  <a:pt x="50800" y="325090"/>
                </a:lnTo>
                <a:arcTo hR="50800" wR="50800" stAng="5400000" swAng="5400000"/>
                <a:lnTo>
                  <a:pt x="0" y="50800"/>
                </a:lnTo>
                <a:arcTo hR="50800" wR="50800" stAng="10800000" swAng="5400000"/>
                <a:close/>
              </a:path>
            </a:pathLst>
          </a:custGeom>
          <a:solidFill>
            <a:srgbClr val="D9652B"/>
          </a:solidFill>
          <a:ln/>
        </p:spPr>
        <p:txBody>
          <a:bodyPr wrap="square" lIns="25400" tIns="63500" rIns="25400" bIns="38100" rtlCol="0" anchor="t">
            <a:normAutofit/>
          </a:bodyPr>
          <a:lstStyle/>
          <a:p>
            <a:pPr algn="ctr" indent="0" marL="0">
              <a:lnSpc>
                <a:spcPts val="1560"/>
              </a:lnSpc>
              <a:buNone/>
            </a:pPr>
            <a:r>
              <a:rPr lang="en-US" sz="1200" dirty="0">
                <a:solidFill>
                  <a:srgbClr val="131A2A"/>
                </a:solidFill>
                <a:latin typeface="IBM Plex Sans KR" pitchFamily="34" charset="0"/>
                <a:ea typeface="IBM Plex Sans KR" pitchFamily="34" charset="-122"/>
                <a:cs typeface="IBM Plex Sans KR" pitchFamily="34" charset="-120"/>
              </a:rPr>
              <a:t>LLM Proxy</a:t>
            </a:r>
            <a:endParaRPr lang="en-US" sz="1200" dirty="0"/>
          </a:p>
        </p:txBody>
      </p:sp>
      <p:sp>
        <p:nvSpPr>
          <p:cNvPr id="12" name="Text 10"/>
          <p:cNvSpPr/>
          <p:nvPr/>
        </p:nvSpPr>
        <p:spPr>
          <a:xfrm>
            <a:off x="4398417" y="1591270"/>
            <a:ext cx="1634083" cy="325090"/>
          </a:xfrm>
          <a:custGeom>
            <a:avLst/>
            <a:gdLst/>
            <a:ahLst/>
            <a:cxnLst/>
            <a:rect l="l" t="t" r="r" b="b"/>
            <a:pathLst>
              <a:path w="1634083" h="325090">
                <a:moveTo>
                  <a:pt x="50800" y="0"/>
                </a:moveTo>
                <a:lnTo>
                  <a:pt x="1583283" y="0"/>
                </a:lnTo>
                <a:arcTo hR="50800" wR="50800" stAng="16200000" swAng="5400000"/>
                <a:lnTo>
                  <a:pt x="1634083" y="274290"/>
                </a:lnTo>
                <a:arcTo hR="50800" wR="50800" stAng="0" swAng="5400000"/>
                <a:lnTo>
                  <a:pt x="50800" y="325090"/>
                </a:lnTo>
                <a:arcTo hR="50800" wR="50800" stAng="5400000" swAng="5400000"/>
                <a:lnTo>
                  <a:pt x="0" y="50800"/>
                </a:lnTo>
                <a:arcTo hR="50800" wR="50800" stAng="10800000" swAng="5400000"/>
                <a:close/>
              </a:path>
            </a:pathLst>
          </a:custGeom>
          <a:solidFill>
            <a:srgbClr val="131A2A"/>
          </a:solidFill>
          <a:ln/>
        </p:spPr>
        <p:txBody>
          <a:bodyPr wrap="square" lIns="25400" tIns="63500" rIns="25400" bIns="38100" rtlCol="0" anchor="t">
            <a:normAutofit/>
          </a:bodyPr>
          <a:lstStyle/>
          <a:p>
            <a:pPr algn="ctr" indent="0" marL="0">
              <a:lnSpc>
                <a:spcPts val="1560"/>
              </a:lnSpc>
              <a:buNone/>
            </a:pPr>
            <a:r>
              <a:rPr lang="en-US" sz="1200" dirty="0">
                <a:solidFill>
                  <a:srgbClr val="F4F3EE"/>
                </a:solidFill>
                <a:latin typeface="IBM Plex Sans KR" pitchFamily="34" charset="0"/>
                <a:ea typeface="IBM Plex Sans KR" pitchFamily="34" charset="-122"/>
                <a:cs typeface="IBM Plex Sans KR" pitchFamily="34" charset="-120"/>
              </a:rPr>
              <a:t>인증·키 리졸버</a:t>
            </a:r>
            <a:endParaRPr lang="en-US" sz="1200" dirty="0"/>
          </a:p>
        </p:txBody>
      </p:sp>
      <p:sp>
        <p:nvSpPr>
          <p:cNvPr id="13" name="Text 11"/>
          <p:cNvSpPr/>
          <p:nvPr/>
        </p:nvSpPr>
        <p:spPr>
          <a:xfrm>
            <a:off x="6159500" y="1591270"/>
            <a:ext cx="1634034" cy="325090"/>
          </a:xfrm>
          <a:custGeom>
            <a:avLst/>
            <a:gdLst/>
            <a:ahLst/>
            <a:cxnLst/>
            <a:rect l="l" t="t" r="r" b="b"/>
            <a:pathLst>
              <a:path w="1634034" h="325090">
                <a:moveTo>
                  <a:pt x="50800" y="0"/>
                </a:moveTo>
                <a:lnTo>
                  <a:pt x="1583234" y="0"/>
                </a:lnTo>
                <a:arcTo hR="50800" wR="50800" stAng="16200000" swAng="5400000"/>
                <a:lnTo>
                  <a:pt x="1634034" y="274290"/>
                </a:lnTo>
                <a:arcTo hR="50800" wR="50800" stAng="0" swAng="5400000"/>
                <a:lnTo>
                  <a:pt x="50800" y="325090"/>
                </a:lnTo>
                <a:arcTo hR="50800" wR="50800" stAng="5400000" swAng="5400000"/>
                <a:lnTo>
                  <a:pt x="0" y="50800"/>
                </a:lnTo>
                <a:arcTo hR="50800" wR="50800" stAng="10800000" swAng="5400000"/>
                <a:close/>
              </a:path>
            </a:pathLst>
          </a:custGeom>
          <a:solidFill>
            <a:srgbClr val="131A2A"/>
          </a:solidFill>
          <a:ln/>
        </p:spPr>
        <p:txBody>
          <a:bodyPr wrap="square" lIns="25400" tIns="63500" rIns="25400" bIns="38100" rtlCol="0" anchor="t">
            <a:normAutofit/>
          </a:bodyPr>
          <a:lstStyle/>
          <a:p>
            <a:pPr algn="ctr" indent="0" marL="0">
              <a:lnSpc>
                <a:spcPts val="1560"/>
              </a:lnSpc>
              <a:buNone/>
            </a:pPr>
            <a:r>
              <a:rPr lang="en-US" sz="1200" dirty="0">
                <a:solidFill>
                  <a:srgbClr val="F4F3EE"/>
                </a:solidFill>
                <a:latin typeface="IBM Plex Sans KR" pitchFamily="34" charset="0"/>
                <a:ea typeface="IBM Plex Sans KR" pitchFamily="34" charset="-122"/>
                <a:cs typeface="IBM Plex Sans KR" pitchFamily="34" charset="-120"/>
              </a:rPr>
              <a:t>OpenAPPA</a:t>
            </a:r>
            <a:endParaRPr lang="en-US" sz="1200" dirty="0"/>
          </a:p>
        </p:txBody>
      </p:sp>
      <p:sp>
        <p:nvSpPr>
          <p:cNvPr id="14" name="Text 12"/>
          <p:cNvSpPr/>
          <p:nvPr/>
        </p:nvSpPr>
        <p:spPr>
          <a:xfrm>
            <a:off x="7920534" y="1591270"/>
            <a:ext cx="1634083" cy="325090"/>
          </a:xfrm>
          <a:custGeom>
            <a:avLst/>
            <a:gdLst/>
            <a:ahLst/>
            <a:cxnLst/>
            <a:rect l="l" t="t" r="r" b="b"/>
            <a:pathLst>
              <a:path w="1634083" h="325090">
                <a:moveTo>
                  <a:pt x="50800" y="0"/>
                </a:moveTo>
                <a:lnTo>
                  <a:pt x="1583283" y="0"/>
                </a:lnTo>
                <a:arcTo hR="50800" wR="50800" stAng="16200000" swAng="5400000"/>
                <a:lnTo>
                  <a:pt x="1634083" y="274290"/>
                </a:lnTo>
                <a:arcTo hR="50800" wR="50800" stAng="0" swAng="5400000"/>
                <a:lnTo>
                  <a:pt x="50800" y="325090"/>
                </a:lnTo>
                <a:arcTo hR="50800" wR="50800" stAng="5400000" swAng="5400000"/>
                <a:lnTo>
                  <a:pt x="0" y="50800"/>
                </a:lnTo>
                <a:arcTo hR="50800" wR="50800" stAng="10800000" swAng="5400000"/>
                <a:close/>
              </a:path>
            </a:pathLst>
          </a:custGeom>
          <a:solidFill>
            <a:srgbClr val="131A2A"/>
          </a:solidFill>
          <a:ln/>
        </p:spPr>
        <p:txBody>
          <a:bodyPr wrap="square" lIns="25400" tIns="63500" rIns="25400" bIns="38100" rtlCol="0" anchor="t">
            <a:normAutofit/>
          </a:bodyPr>
          <a:lstStyle/>
          <a:p>
            <a:pPr algn="ctr" indent="0" marL="0">
              <a:lnSpc>
                <a:spcPts val="1560"/>
              </a:lnSpc>
              <a:buNone/>
            </a:pPr>
            <a:r>
              <a:rPr lang="en-US" sz="1200" dirty="0">
                <a:solidFill>
                  <a:srgbClr val="F4F3EE"/>
                </a:solidFill>
                <a:latin typeface="IBM Plex Sans KR" pitchFamily="34" charset="0"/>
                <a:ea typeface="IBM Plex Sans KR" pitchFamily="34" charset="-122"/>
                <a:cs typeface="IBM Plex Sans KR" pitchFamily="34" charset="-120"/>
              </a:rPr>
              <a:t>LLM 프로바이더</a:t>
            </a:r>
            <a:endParaRPr lang="en-US" sz="1200" dirty="0"/>
          </a:p>
        </p:txBody>
      </p:sp>
      <p:sp>
        <p:nvSpPr>
          <p:cNvPr id="15" name="Text 13"/>
          <p:cNvSpPr/>
          <p:nvPr/>
        </p:nvSpPr>
        <p:spPr>
          <a:xfrm>
            <a:off x="9681617" y="1591270"/>
            <a:ext cx="1634083" cy="325090"/>
          </a:xfrm>
          <a:custGeom>
            <a:avLst/>
            <a:gdLst/>
            <a:ahLst/>
            <a:cxnLst/>
            <a:rect l="l" t="t" r="r" b="b"/>
            <a:pathLst>
              <a:path w="1634083" h="325090">
                <a:moveTo>
                  <a:pt x="50800" y="0"/>
                </a:moveTo>
                <a:lnTo>
                  <a:pt x="1583283" y="0"/>
                </a:lnTo>
                <a:arcTo hR="50800" wR="50800" stAng="16200000" swAng="5400000"/>
                <a:lnTo>
                  <a:pt x="1634083" y="274290"/>
                </a:lnTo>
                <a:arcTo hR="50800" wR="50800" stAng="0" swAng="5400000"/>
                <a:lnTo>
                  <a:pt x="50800" y="325090"/>
                </a:lnTo>
                <a:arcTo hR="50800" wR="50800" stAng="5400000" swAng="5400000"/>
                <a:lnTo>
                  <a:pt x="0" y="50800"/>
                </a:lnTo>
                <a:arcTo hR="50800" wR="50800" stAng="10800000" swAng="5400000"/>
                <a:close/>
              </a:path>
            </a:pathLst>
          </a:custGeom>
          <a:solidFill>
            <a:srgbClr val="2F5BB7"/>
          </a:solidFill>
          <a:ln/>
        </p:spPr>
        <p:txBody>
          <a:bodyPr wrap="square" lIns="25400" tIns="63500" rIns="25400" bIns="38100" rtlCol="0" anchor="t">
            <a:normAutofit/>
          </a:bodyPr>
          <a:lstStyle/>
          <a:p>
            <a:pPr algn="ctr" indent="0" marL="0">
              <a:lnSpc>
                <a:spcPts val="1560"/>
              </a:lnSpc>
              <a:buNone/>
            </a:pPr>
            <a:r>
              <a:rPr lang="en-US" sz="1200" dirty="0">
                <a:solidFill>
                  <a:srgbClr val="F4F3EE"/>
                </a:solidFill>
                <a:latin typeface="IBM Plex Sans KR" pitchFamily="34" charset="0"/>
                <a:ea typeface="IBM Plex Sans KR" pitchFamily="34" charset="-122"/>
                <a:cs typeface="IBM Plex Sans KR" pitchFamily="34" charset="-120"/>
              </a:rPr>
              <a:t>PostgreSQL</a:t>
            </a:r>
            <a:endParaRPr lang="en-US" sz="1200" dirty="0"/>
          </a:p>
        </p:txBody>
      </p:sp>
      <p:sp>
        <p:nvSpPr>
          <p:cNvPr id="16" name="Text 14"/>
          <p:cNvSpPr/>
          <p:nvPr/>
        </p:nvSpPr>
        <p:spPr>
          <a:xfrm>
            <a:off x="2019796" y="1941761"/>
            <a:ext cx="1108125"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B8521E"/>
                </a:solidFill>
                <a:latin typeface="IBM Plex Sans KR" pitchFamily="34" charset="0"/>
                <a:ea typeface="IBM Plex Sans KR" pitchFamily="34" charset="-122"/>
                <a:cs typeface="IBM Plex Sans KR" pitchFamily="34" charset="-120"/>
              </a:rPr>
              <a:t>1</a:t>
            </a:r>
            <a:r>
              <a:rPr lang="en-US" sz="1200" dirty="0">
                <a:solidFill>
                  <a:srgbClr val="131A2A"/>
                </a:solidFill>
                <a:latin typeface="IBM Plex Sans KR" pitchFamily="34" charset="0"/>
                <a:ea typeface="IBM Plex Sans KR" pitchFamily="34" charset="-122"/>
                <a:cs typeface="IBM Plex Sans KR" pitchFamily="34" charset="-120"/>
              </a:rPr>
              <a:t> 요청 + 가상 키</a:t>
            </a:r>
            <a:endParaRPr lang="en-US" sz="1200" dirty="0"/>
          </a:p>
        </p:txBody>
      </p:sp>
      <p:sp>
        <p:nvSpPr>
          <p:cNvPr id="17" name="Shape 15"/>
          <p:cNvSpPr/>
          <p:nvPr/>
        </p:nvSpPr>
        <p:spPr>
          <a:xfrm>
            <a:off x="1693317" y="2195761"/>
            <a:ext cx="1634083" cy="0"/>
          </a:xfrm>
          <a:prstGeom prst="line">
            <a:avLst/>
          </a:prstGeom>
          <a:noFill/>
          <a:ln w="19050">
            <a:solidFill>
              <a:srgbClr val="131A2A"/>
            </a:solidFill>
            <a:prstDash val="solid"/>
          </a:ln>
        </p:spPr>
      </p:sp>
      <p:pic>
        <p:nvPicPr>
          <p:cNvPr id="18" name="Image 0" descr="arrow-right">    </p:cNvPr>
          <p:cNvPicPr>
            <a:picLocks noChangeAspect="1"/>
          </p:cNvPicPr>
          <p:nvPr/>
        </p:nvPicPr>
        <p:blipFill>
          <a:blip r:embed="rId1"/>
          <a:srcRect l="0" r="0" t="0" b="0"/>
          <a:stretch/>
        </p:blipFill>
        <p:spPr>
          <a:xfrm>
            <a:off x="3327400" y="2144961"/>
            <a:ext cx="127000" cy="101600"/>
          </a:xfrm>
          <a:prstGeom prst="rect">
            <a:avLst/>
          </a:prstGeom>
        </p:spPr>
      </p:pic>
      <p:sp>
        <p:nvSpPr>
          <p:cNvPr id="19" name="Text 16"/>
          <p:cNvSpPr/>
          <p:nvPr/>
        </p:nvSpPr>
        <p:spPr>
          <a:xfrm>
            <a:off x="3794571" y="2271961"/>
            <a:ext cx="1080691"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B8521E"/>
                </a:solidFill>
                <a:latin typeface="IBM Plex Sans KR" pitchFamily="34" charset="0"/>
                <a:ea typeface="IBM Plex Sans KR" pitchFamily="34" charset="-122"/>
                <a:cs typeface="IBM Plex Sans KR" pitchFamily="34" charset="-120"/>
              </a:rPr>
              <a:t>2</a:t>
            </a:r>
            <a:r>
              <a:rPr lang="en-US" sz="1200" dirty="0">
                <a:solidFill>
                  <a:srgbClr val="131A2A"/>
                </a:solidFill>
                <a:latin typeface="IBM Plex Sans KR" pitchFamily="34" charset="0"/>
                <a:ea typeface="IBM Plex Sans KR" pitchFamily="34" charset="-122"/>
                <a:cs typeface="IBM Plex Sans KR" pitchFamily="34" charset="-120"/>
              </a:rPr>
              <a:t> 자격증명 검증</a:t>
            </a:r>
            <a:endParaRPr lang="en-US" sz="1200" dirty="0"/>
          </a:p>
        </p:txBody>
      </p:sp>
      <p:sp>
        <p:nvSpPr>
          <p:cNvPr id="20" name="Shape 17"/>
          <p:cNvSpPr/>
          <p:nvPr/>
        </p:nvSpPr>
        <p:spPr>
          <a:xfrm>
            <a:off x="3454400" y="2525961"/>
            <a:ext cx="1634034" cy="0"/>
          </a:xfrm>
          <a:prstGeom prst="line">
            <a:avLst/>
          </a:prstGeom>
          <a:noFill/>
          <a:ln w="19050">
            <a:solidFill>
              <a:srgbClr val="131A2A"/>
            </a:solidFill>
            <a:prstDash val="solid"/>
          </a:ln>
        </p:spPr>
      </p:sp>
      <p:pic>
        <p:nvPicPr>
          <p:cNvPr id="21" name="Image 1" descr="arrow-right">    </p:cNvPr>
          <p:cNvPicPr>
            <a:picLocks noChangeAspect="1"/>
          </p:cNvPicPr>
          <p:nvPr/>
        </p:nvPicPr>
        <p:blipFill>
          <a:blip r:embed="rId2"/>
          <a:srcRect l="0" r="0" t="0" b="0"/>
          <a:stretch/>
        </p:blipFill>
        <p:spPr>
          <a:xfrm>
            <a:off x="5088434" y="2475161"/>
            <a:ext cx="127000" cy="101600"/>
          </a:xfrm>
          <a:prstGeom prst="rect">
            <a:avLst/>
          </a:prstGeom>
        </p:spPr>
      </p:pic>
      <p:sp>
        <p:nvSpPr>
          <p:cNvPr id="22" name="Text 18"/>
          <p:cNvSpPr/>
          <p:nvPr/>
        </p:nvSpPr>
        <p:spPr>
          <a:xfrm>
            <a:off x="3712865" y="2602161"/>
            <a:ext cx="1244054"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B8521E"/>
                </a:solidFill>
                <a:latin typeface="IBM Plex Sans KR" pitchFamily="34" charset="0"/>
                <a:ea typeface="IBM Plex Sans KR" pitchFamily="34" charset="-122"/>
                <a:cs typeface="IBM Plex Sans KR" pitchFamily="34" charset="-120"/>
              </a:rPr>
              <a:t>3</a:t>
            </a:r>
            <a:r>
              <a:rPr lang="en-US" sz="1200" dirty="0">
                <a:solidFill>
                  <a:srgbClr val="4A5263"/>
                </a:solidFill>
                <a:latin typeface="IBM Plex Sans KR" pitchFamily="34" charset="0"/>
                <a:ea typeface="IBM Plex Sans KR" pitchFamily="34" charset="-122"/>
                <a:cs typeface="IBM Plex Sans KR" pitchFamily="34" charset="-120"/>
              </a:rPr>
              <a:t> 사용자 + 실제 키</a:t>
            </a:r>
            <a:endParaRPr lang="en-US" sz="1200" dirty="0"/>
          </a:p>
        </p:txBody>
      </p:sp>
      <p:pic>
        <p:nvPicPr>
          <p:cNvPr id="23" name="Image 2" descr="arrow-left">    </p:cNvPr>
          <p:cNvPicPr>
            <a:picLocks noChangeAspect="1"/>
          </p:cNvPicPr>
          <p:nvPr/>
        </p:nvPicPr>
        <p:blipFill>
          <a:blip r:embed="rId3"/>
          <a:srcRect l="0" r="0" t="0" b="0"/>
          <a:stretch/>
        </p:blipFill>
        <p:spPr>
          <a:xfrm>
            <a:off x="3454400" y="2805361"/>
            <a:ext cx="127000" cy="101600"/>
          </a:xfrm>
          <a:prstGeom prst="rect">
            <a:avLst/>
          </a:prstGeom>
        </p:spPr>
      </p:pic>
      <p:sp>
        <p:nvSpPr>
          <p:cNvPr id="24" name="Shape 19"/>
          <p:cNvSpPr/>
          <p:nvPr/>
        </p:nvSpPr>
        <p:spPr>
          <a:xfrm>
            <a:off x="3581400" y="2856161"/>
            <a:ext cx="1634034" cy="0"/>
          </a:xfrm>
          <a:prstGeom prst="line">
            <a:avLst/>
          </a:prstGeom>
          <a:noFill/>
          <a:ln w="19050">
            <a:solidFill>
              <a:srgbClr val="6B7385"/>
            </a:solidFill>
            <a:prstDash val="dash"/>
          </a:ln>
        </p:spPr>
      </p:sp>
      <p:sp>
        <p:nvSpPr>
          <p:cNvPr id="25" name="Text 20"/>
          <p:cNvSpPr/>
          <p:nvPr/>
        </p:nvSpPr>
        <p:spPr>
          <a:xfrm>
            <a:off x="1696492" y="2935536"/>
            <a:ext cx="3515767" cy="273050"/>
          </a:xfrm>
          <a:prstGeom prst="roundRect">
            <a:avLst>
              <a:gd name="adj" fmla="val 17442"/>
            </a:avLst>
          </a:prstGeom>
          <a:solidFill>
            <a:srgbClr val="FBE3D3"/>
          </a:solidFill>
          <a:ln w="6350">
            <a:solidFill>
              <a:srgbClr val="D9652B"/>
            </a:solidFill>
            <a:prstDash val="solid"/>
          </a:ln>
        </p:spPr>
        <p:txBody>
          <a:bodyPr wrap="square" lIns="1990" tIns="27326" rIns="1990" bIns="1926" rtlCol="0" anchor="t">
            <a:normAutofit/>
          </a:bodyPr>
          <a:lstStyle/>
          <a:p>
            <a:pPr algn="ctr" indent="0" marL="0">
              <a:lnSpc>
                <a:spcPts val="1500"/>
              </a:lnSpc>
              <a:buNone/>
            </a:pPr>
            <a:r>
              <a:rPr lang="en-US" sz="1200" dirty="0">
                <a:solidFill>
                  <a:srgbClr val="B8521E"/>
                </a:solidFill>
                <a:latin typeface="IBM Plex Sans KR" pitchFamily="34" charset="0"/>
                <a:ea typeface="IBM Plex Sans KR" pitchFamily="34" charset="-122"/>
                <a:cs typeface="IBM Plex Sans KR" pitchFamily="34" charset="-120"/>
              </a:rPr>
              <a:t>4</a:t>
            </a:r>
            <a:r>
              <a:rPr lang="en-US" sz="1200" dirty="0">
                <a:solidFill>
                  <a:srgbClr val="131A2A"/>
                </a:solidFill>
                <a:latin typeface="IBM Plex Sans KR" pitchFamily="34" charset="0"/>
                <a:ea typeface="IBM Plex Sans KR" pitchFamily="34" charset="-122"/>
                <a:cs typeface="IBM Plex Sans KR" pitchFamily="34" charset="-120"/>
              </a:rPr>
              <a:t> 비용 한도 · 모델 팀 권한 확인</a:t>
            </a:r>
            <a:endParaRPr lang="en-US" sz="1200" dirty="0"/>
          </a:p>
        </p:txBody>
      </p:sp>
      <p:sp>
        <p:nvSpPr>
          <p:cNvPr id="26" name="Text 21"/>
          <p:cNvSpPr/>
          <p:nvPr/>
        </p:nvSpPr>
        <p:spPr>
          <a:xfrm>
            <a:off x="4033738" y="3237161"/>
            <a:ext cx="2363440"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B8521E"/>
                </a:solidFill>
                <a:latin typeface="IBM Plex Sans KR" pitchFamily="34" charset="0"/>
                <a:ea typeface="IBM Plex Sans KR" pitchFamily="34" charset="-122"/>
                <a:cs typeface="IBM Plex Sans KR" pitchFamily="34" charset="-120"/>
              </a:rPr>
              <a:t>5</a:t>
            </a:r>
            <a:r>
              <a:rPr lang="en-US" sz="1200" dirty="0">
                <a:solidFill>
                  <a:srgbClr val="131A2A"/>
                </a:solidFill>
                <a:latin typeface="IBM Plex Sans KR" pitchFamily="34" charset="0"/>
                <a:ea typeface="IBM Plex Sans KR" pitchFamily="34" charset="-122"/>
                <a:cs typeface="IBM Plex Sans KR" pitchFamily="34" charset="-120"/>
              </a:rPr>
              <a:t> 세션 admit · 직전 tool result 평가</a:t>
            </a:r>
            <a:endParaRPr lang="en-US" sz="1200" dirty="0"/>
          </a:p>
        </p:txBody>
      </p:sp>
      <p:sp>
        <p:nvSpPr>
          <p:cNvPr id="27" name="Shape 22"/>
          <p:cNvSpPr/>
          <p:nvPr/>
        </p:nvSpPr>
        <p:spPr>
          <a:xfrm>
            <a:off x="3454400" y="3491161"/>
            <a:ext cx="3395117" cy="0"/>
          </a:xfrm>
          <a:prstGeom prst="line">
            <a:avLst/>
          </a:prstGeom>
          <a:noFill/>
          <a:ln w="19050">
            <a:solidFill>
              <a:srgbClr val="131A2A"/>
            </a:solidFill>
            <a:prstDash val="solid"/>
          </a:ln>
        </p:spPr>
      </p:sp>
      <p:pic>
        <p:nvPicPr>
          <p:cNvPr id="28" name="Image 3" descr="arrow-right">    </p:cNvPr>
          <p:cNvPicPr>
            <a:picLocks noChangeAspect="1"/>
          </p:cNvPicPr>
          <p:nvPr/>
        </p:nvPicPr>
        <p:blipFill>
          <a:blip r:embed="rId4"/>
          <a:srcRect l="0" r="0" t="0" b="0"/>
          <a:stretch/>
        </p:blipFill>
        <p:spPr>
          <a:xfrm>
            <a:off x="6849517" y="3440361"/>
            <a:ext cx="127000" cy="101600"/>
          </a:xfrm>
          <a:prstGeom prst="rect">
            <a:avLst/>
          </a:prstGeom>
        </p:spPr>
      </p:pic>
      <p:sp>
        <p:nvSpPr>
          <p:cNvPr id="29" name="Text 23"/>
          <p:cNvSpPr/>
          <p:nvPr/>
        </p:nvSpPr>
        <p:spPr>
          <a:xfrm>
            <a:off x="4950023" y="3567361"/>
            <a:ext cx="2291953"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B8521E"/>
                </a:solidFill>
                <a:latin typeface="IBM Plex Sans KR" pitchFamily="34" charset="0"/>
                <a:ea typeface="IBM Plex Sans KR" pitchFamily="34" charset="-122"/>
                <a:cs typeface="IBM Plex Sans KR" pitchFamily="34" charset="-120"/>
              </a:rPr>
              <a:t>6</a:t>
            </a:r>
            <a:r>
              <a:rPr lang="en-US" sz="1200" dirty="0">
                <a:solidFill>
                  <a:srgbClr val="131A2A"/>
                </a:solidFill>
                <a:latin typeface="IBM Plex Sans KR" pitchFamily="34" charset="0"/>
                <a:ea typeface="IBM Plex Sans KR" pitchFamily="34" charset="-122"/>
                <a:cs typeface="IBM Plex Sans KR" pitchFamily="34" charset="-120"/>
              </a:rPr>
              <a:t> 업스트림 호출 (스트리밍 · 재시도)</a:t>
            </a:r>
            <a:endParaRPr lang="en-US" sz="1200" dirty="0"/>
          </a:p>
        </p:txBody>
      </p:sp>
      <p:sp>
        <p:nvSpPr>
          <p:cNvPr id="30" name="Shape 24"/>
          <p:cNvSpPr/>
          <p:nvPr/>
        </p:nvSpPr>
        <p:spPr>
          <a:xfrm>
            <a:off x="3454400" y="3821361"/>
            <a:ext cx="5156200" cy="0"/>
          </a:xfrm>
          <a:prstGeom prst="line">
            <a:avLst/>
          </a:prstGeom>
          <a:noFill/>
          <a:ln w="19050">
            <a:solidFill>
              <a:srgbClr val="131A2A"/>
            </a:solidFill>
            <a:prstDash val="solid"/>
          </a:ln>
        </p:spPr>
      </p:sp>
      <p:pic>
        <p:nvPicPr>
          <p:cNvPr id="31" name="Image 4" descr="arrow-right">    </p:cNvPr>
          <p:cNvPicPr>
            <a:picLocks noChangeAspect="1"/>
          </p:cNvPicPr>
          <p:nvPr/>
        </p:nvPicPr>
        <p:blipFill>
          <a:blip r:embed="rId5"/>
          <a:srcRect l="0" r="0" t="0" b="0"/>
          <a:stretch/>
        </p:blipFill>
        <p:spPr>
          <a:xfrm>
            <a:off x="8610600" y="3770561"/>
            <a:ext cx="127000" cy="101600"/>
          </a:xfrm>
          <a:prstGeom prst="rect">
            <a:avLst/>
          </a:prstGeom>
        </p:spPr>
      </p:pic>
      <p:sp>
        <p:nvSpPr>
          <p:cNvPr id="32" name="Text 25"/>
          <p:cNvSpPr/>
          <p:nvPr/>
        </p:nvSpPr>
        <p:spPr>
          <a:xfrm>
            <a:off x="5313660" y="3897561"/>
            <a:ext cx="1564680"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B8521E"/>
                </a:solidFill>
                <a:latin typeface="IBM Plex Sans KR" pitchFamily="34" charset="0"/>
                <a:ea typeface="IBM Plex Sans KR" pitchFamily="34" charset="-122"/>
                <a:cs typeface="IBM Plex Sans KR" pitchFamily="34" charset="-120"/>
              </a:rPr>
              <a:t>7</a:t>
            </a:r>
            <a:r>
              <a:rPr lang="en-US" sz="1200" dirty="0">
                <a:solidFill>
                  <a:srgbClr val="4A5263"/>
                </a:solidFill>
                <a:latin typeface="IBM Plex Sans KR" pitchFamily="34" charset="0"/>
                <a:ea typeface="IBM Plex Sans KR" pitchFamily="34" charset="-122"/>
                <a:cs typeface="IBM Plex Sans KR" pitchFamily="34" charset="-120"/>
              </a:rPr>
              <a:t> 응답 + tool_use 블록</a:t>
            </a:r>
            <a:endParaRPr lang="en-US" sz="1200" dirty="0"/>
          </a:p>
        </p:txBody>
      </p:sp>
      <p:pic>
        <p:nvPicPr>
          <p:cNvPr id="33" name="Image 5" descr="arrow-left">    </p:cNvPr>
          <p:cNvPicPr>
            <a:picLocks noChangeAspect="1"/>
          </p:cNvPicPr>
          <p:nvPr/>
        </p:nvPicPr>
        <p:blipFill>
          <a:blip r:embed="rId6"/>
          <a:srcRect l="0" r="0" t="0" b="0"/>
          <a:stretch/>
        </p:blipFill>
        <p:spPr>
          <a:xfrm>
            <a:off x="3454400" y="4100761"/>
            <a:ext cx="127000" cy="101600"/>
          </a:xfrm>
          <a:prstGeom prst="rect">
            <a:avLst/>
          </a:prstGeom>
        </p:spPr>
      </p:pic>
      <p:sp>
        <p:nvSpPr>
          <p:cNvPr id="34" name="Shape 26"/>
          <p:cNvSpPr/>
          <p:nvPr/>
        </p:nvSpPr>
        <p:spPr>
          <a:xfrm>
            <a:off x="3581400" y="4151561"/>
            <a:ext cx="5156200" cy="0"/>
          </a:xfrm>
          <a:prstGeom prst="line">
            <a:avLst/>
          </a:prstGeom>
          <a:noFill/>
          <a:ln w="19050">
            <a:solidFill>
              <a:srgbClr val="6B7385"/>
            </a:solidFill>
            <a:prstDash val="dash"/>
          </a:ln>
        </p:spPr>
      </p:sp>
      <p:sp>
        <p:nvSpPr>
          <p:cNvPr id="35" name="Text 27"/>
          <p:cNvSpPr/>
          <p:nvPr/>
        </p:nvSpPr>
        <p:spPr>
          <a:xfrm>
            <a:off x="4046141" y="4227761"/>
            <a:ext cx="2338586"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B8521E"/>
                </a:solidFill>
                <a:latin typeface="IBM Plex Sans KR" pitchFamily="34" charset="0"/>
                <a:ea typeface="IBM Plex Sans KR" pitchFamily="34" charset="-122"/>
                <a:cs typeface="IBM Plex Sans KR" pitchFamily="34" charset="-120"/>
              </a:rPr>
              <a:t>8</a:t>
            </a:r>
            <a:r>
              <a:rPr lang="en-US" sz="1200" dirty="0">
                <a:solidFill>
                  <a:srgbClr val="131A2A"/>
                </a:solidFill>
                <a:latin typeface="IBM Plex Sans KR" pitchFamily="34" charset="0"/>
                <a:ea typeface="IBM Plex Sans KR" pitchFamily="34" charset="-122"/>
                <a:cs typeface="IBM Plex Sans KR" pitchFamily="34" charset="-120"/>
              </a:rPr>
              <a:t> tool call 판정 (label vs requires)</a:t>
            </a:r>
            <a:endParaRPr lang="en-US" sz="1200" dirty="0"/>
          </a:p>
        </p:txBody>
      </p:sp>
      <p:sp>
        <p:nvSpPr>
          <p:cNvPr id="36" name="Shape 28"/>
          <p:cNvSpPr/>
          <p:nvPr/>
        </p:nvSpPr>
        <p:spPr>
          <a:xfrm>
            <a:off x="3454400" y="4481761"/>
            <a:ext cx="3395117" cy="0"/>
          </a:xfrm>
          <a:prstGeom prst="line">
            <a:avLst/>
          </a:prstGeom>
          <a:noFill/>
          <a:ln w="19050">
            <a:solidFill>
              <a:srgbClr val="131A2A"/>
            </a:solidFill>
            <a:prstDash val="solid"/>
          </a:ln>
        </p:spPr>
      </p:sp>
      <p:pic>
        <p:nvPicPr>
          <p:cNvPr id="37" name="Image 6" descr="arrow-right">    </p:cNvPr>
          <p:cNvPicPr>
            <a:picLocks noChangeAspect="1"/>
          </p:cNvPicPr>
          <p:nvPr/>
        </p:nvPicPr>
        <p:blipFill>
          <a:blip r:embed="rId7"/>
          <a:srcRect l="0" r="0" t="0" b="0"/>
          <a:stretch/>
        </p:blipFill>
        <p:spPr>
          <a:xfrm>
            <a:off x="6849517" y="4430961"/>
            <a:ext cx="127000" cy="101600"/>
          </a:xfrm>
          <a:prstGeom prst="rect">
            <a:avLst/>
          </a:prstGeom>
        </p:spPr>
      </p:pic>
      <p:sp>
        <p:nvSpPr>
          <p:cNvPr id="38" name="Text 29"/>
          <p:cNvSpPr/>
          <p:nvPr/>
        </p:nvSpPr>
        <p:spPr>
          <a:xfrm>
            <a:off x="4238030" y="4557961"/>
            <a:ext cx="1954857"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B8521E"/>
                </a:solidFill>
                <a:latin typeface="IBM Plex Sans KR" pitchFamily="34" charset="0"/>
                <a:ea typeface="IBM Plex Sans KR" pitchFamily="34" charset="-122"/>
                <a:cs typeface="IBM Plex Sans KR" pitchFamily="34" charset="-120"/>
              </a:rPr>
              <a:t>9</a:t>
            </a:r>
            <a:r>
              <a:rPr lang="en-US" sz="1200" dirty="0">
                <a:solidFill>
                  <a:srgbClr val="4A5263"/>
                </a:solidFill>
                <a:latin typeface="IBM Plex Sans KR" pitchFamily="34" charset="0"/>
                <a:ea typeface="IBM Plex Sans KR" pitchFamily="34" charset="-122"/>
                <a:cs typeface="IBM Plex Sans KR" pitchFamily="34" charset="-120"/>
              </a:rPr>
              <a:t> allow 또는 deny + remedy</a:t>
            </a:r>
            <a:endParaRPr lang="en-US" sz="1200" dirty="0"/>
          </a:p>
        </p:txBody>
      </p:sp>
      <p:pic>
        <p:nvPicPr>
          <p:cNvPr id="39" name="Image 7" descr="arrow-left">    </p:cNvPr>
          <p:cNvPicPr>
            <a:picLocks noChangeAspect="1"/>
          </p:cNvPicPr>
          <p:nvPr/>
        </p:nvPicPr>
        <p:blipFill>
          <a:blip r:embed="rId8"/>
          <a:srcRect l="0" r="0" t="0" b="0"/>
          <a:stretch/>
        </p:blipFill>
        <p:spPr>
          <a:xfrm>
            <a:off x="3454400" y="4761161"/>
            <a:ext cx="127000" cy="101600"/>
          </a:xfrm>
          <a:prstGeom prst="rect">
            <a:avLst/>
          </a:prstGeom>
        </p:spPr>
      </p:pic>
      <p:sp>
        <p:nvSpPr>
          <p:cNvPr id="40" name="Shape 30"/>
          <p:cNvSpPr/>
          <p:nvPr/>
        </p:nvSpPr>
        <p:spPr>
          <a:xfrm>
            <a:off x="3581400" y="4811961"/>
            <a:ext cx="3395117" cy="0"/>
          </a:xfrm>
          <a:prstGeom prst="line">
            <a:avLst/>
          </a:prstGeom>
          <a:noFill/>
          <a:ln w="19050">
            <a:solidFill>
              <a:srgbClr val="6B7385"/>
            </a:solidFill>
            <a:prstDash val="dash"/>
          </a:ln>
        </p:spPr>
      </p:sp>
      <p:sp>
        <p:nvSpPr>
          <p:cNvPr id="41" name="Shape 31"/>
          <p:cNvSpPr/>
          <p:nvPr/>
        </p:nvSpPr>
        <p:spPr>
          <a:xfrm>
            <a:off x="5220990" y="4888161"/>
            <a:ext cx="3511004" cy="190500"/>
          </a:xfrm>
          <a:prstGeom prst="rect">
            <a:avLst/>
          </a:prstGeom>
          <a:solidFill>
            <a:srgbClr val="F4F3EE"/>
          </a:solidFill>
          <a:ln/>
        </p:spPr>
      </p:sp>
      <p:sp>
        <p:nvSpPr>
          <p:cNvPr id="42" name="Text 32"/>
          <p:cNvSpPr/>
          <p:nvPr/>
        </p:nvSpPr>
        <p:spPr>
          <a:xfrm>
            <a:off x="5271790" y="4888161"/>
            <a:ext cx="3511686"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B8521E"/>
                </a:solidFill>
                <a:latin typeface="IBM Plex Sans KR" pitchFamily="34" charset="0"/>
                <a:ea typeface="IBM Plex Sans KR" pitchFamily="34" charset="-122"/>
                <a:cs typeface="IBM Plex Sans KR" pitchFamily="34" charset="-120"/>
              </a:rPr>
              <a:t>10</a:t>
            </a:r>
            <a:r>
              <a:rPr lang="en-US" sz="1200" dirty="0">
                <a:solidFill>
                  <a:srgbClr val="131A2A"/>
                </a:solidFill>
                <a:latin typeface="IBM Plex Sans KR" pitchFamily="34" charset="0"/>
                <a:ea typeface="IBM Plex Sans KR" pitchFamily="34" charset="-122"/>
                <a:cs typeface="IBM Plex Sans KR" pitchFamily="34" charset="-120"/>
              </a:rPr>
              <a:t> interactions INSERT · 토큰 · 비용 · toolCallBlock</a:t>
            </a:r>
            <a:endParaRPr lang="en-US" sz="1200" dirty="0"/>
          </a:p>
        </p:txBody>
      </p:sp>
      <p:sp>
        <p:nvSpPr>
          <p:cNvPr id="43" name="Shape 33"/>
          <p:cNvSpPr/>
          <p:nvPr/>
        </p:nvSpPr>
        <p:spPr>
          <a:xfrm>
            <a:off x="3454400" y="5142161"/>
            <a:ext cx="6917234" cy="0"/>
          </a:xfrm>
          <a:prstGeom prst="line">
            <a:avLst/>
          </a:prstGeom>
          <a:noFill/>
          <a:ln w="19050">
            <a:solidFill>
              <a:srgbClr val="131A2A"/>
            </a:solidFill>
            <a:prstDash val="solid"/>
          </a:ln>
        </p:spPr>
      </p:sp>
      <p:pic>
        <p:nvPicPr>
          <p:cNvPr id="44" name="Image 8" descr="arrow-right">    </p:cNvPr>
          <p:cNvPicPr>
            <a:picLocks noChangeAspect="1"/>
          </p:cNvPicPr>
          <p:nvPr/>
        </p:nvPicPr>
        <p:blipFill>
          <a:blip r:embed="rId9"/>
          <a:srcRect l="0" r="0" t="0" b="0"/>
          <a:stretch/>
        </p:blipFill>
        <p:spPr>
          <a:xfrm>
            <a:off x="10371634" y="5091361"/>
            <a:ext cx="127000" cy="101600"/>
          </a:xfrm>
          <a:prstGeom prst="rect">
            <a:avLst/>
          </a:prstGeom>
        </p:spPr>
      </p:pic>
      <p:sp>
        <p:nvSpPr>
          <p:cNvPr id="45" name="Text 34"/>
          <p:cNvSpPr/>
          <p:nvPr/>
        </p:nvSpPr>
        <p:spPr>
          <a:xfrm>
            <a:off x="2123728" y="5218361"/>
            <a:ext cx="900212"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B8521E"/>
                </a:solidFill>
                <a:latin typeface="IBM Plex Sans KR" pitchFamily="34" charset="0"/>
                <a:ea typeface="IBM Plex Sans KR" pitchFamily="34" charset="-122"/>
                <a:cs typeface="IBM Plex Sans KR" pitchFamily="34" charset="-120"/>
              </a:rPr>
              <a:t>11</a:t>
            </a:r>
            <a:r>
              <a:rPr lang="en-US" sz="1200" dirty="0">
                <a:solidFill>
                  <a:srgbClr val="4A5263"/>
                </a:solidFill>
                <a:latin typeface="IBM Plex Sans KR" pitchFamily="34" charset="0"/>
                <a:ea typeface="IBM Plex Sans KR" pitchFamily="34" charset="-122"/>
                <a:cs typeface="IBM Plex Sans KR" pitchFamily="34" charset="-120"/>
              </a:rPr>
              <a:t> 응답 반환</a:t>
            </a:r>
            <a:endParaRPr lang="en-US" sz="1200" dirty="0"/>
          </a:p>
        </p:txBody>
      </p:sp>
      <p:pic>
        <p:nvPicPr>
          <p:cNvPr id="46" name="Image 9" descr="arrow-left">    </p:cNvPr>
          <p:cNvPicPr>
            <a:picLocks noChangeAspect="1"/>
          </p:cNvPicPr>
          <p:nvPr/>
        </p:nvPicPr>
        <p:blipFill>
          <a:blip r:embed="rId10"/>
          <a:srcRect l="0" r="0" t="0" b="0"/>
          <a:stretch/>
        </p:blipFill>
        <p:spPr>
          <a:xfrm>
            <a:off x="1693317" y="5421561"/>
            <a:ext cx="127000" cy="101600"/>
          </a:xfrm>
          <a:prstGeom prst="rect">
            <a:avLst/>
          </a:prstGeom>
        </p:spPr>
      </p:pic>
      <p:sp>
        <p:nvSpPr>
          <p:cNvPr id="47" name="Shape 35"/>
          <p:cNvSpPr/>
          <p:nvPr/>
        </p:nvSpPr>
        <p:spPr>
          <a:xfrm>
            <a:off x="1820317" y="5472361"/>
            <a:ext cx="1634083" cy="0"/>
          </a:xfrm>
          <a:prstGeom prst="line">
            <a:avLst/>
          </a:prstGeom>
          <a:noFill/>
          <a:ln w="19050">
            <a:solidFill>
              <a:srgbClr val="6B7385"/>
            </a:solidFill>
            <a:prstDash val="dash"/>
          </a:ln>
        </p:spPr>
      </p:sp>
      <p:sp>
        <p:nvSpPr>
          <p:cNvPr id="48" name="Text 3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KR" pitchFamily="34" charset="0"/>
                <a:ea typeface="IBM Plex Sans KR" pitchFamily="34" charset="-122"/>
                <a:cs typeface="IBM Plex Sans KR" pitchFamily="34" charset="-120"/>
              </a:rPr>
              <a:t>Archestra 아키텍처 · 19 · 출처: backend/src/routes/proxy/llm-proxy-handler.ts (handleLLMProxy)</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3EE"/>
        </a:solidFill>
      </p:bgPr>
    </p:bg>
    <p:spTree>
      <p:nvGrpSpPr>
        <p:cNvPr id="1" name=""/>
        <p:cNvGrpSpPr/>
        <p:nvPr/>
      </p:nvGrpSpPr>
      <p:grpSpPr>
        <a:xfrm>
          <a:off x="0" y="0"/>
          <a:ext cx="0" cy="0"/>
          <a:chOff x="0" y="0"/>
          <a:chExt cx="0" cy="0"/>
        </a:xfrm>
      </p:grpSpPr>
      <p:sp>
        <p:nvSpPr>
          <p:cNvPr id="2" name="Shape 0"/>
          <p:cNvSpPr/>
          <p:nvPr/>
        </p:nvSpPr>
        <p:spPr>
          <a:xfrm>
            <a:off x="1689100" y="1841500"/>
            <a:ext cx="12700" cy="3746500"/>
          </a:xfrm>
          <a:prstGeom prst="rect">
            <a:avLst/>
          </a:prstGeom>
          <a:solidFill>
            <a:srgbClr val="C9C5BA"/>
          </a:solidFill>
          <a:ln/>
        </p:spPr>
      </p:sp>
      <p:sp>
        <p:nvSpPr>
          <p:cNvPr id="3" name="Shape 1"/>
          <p:cNvSpPr/>
          <p:nvPr/>
        </p:nvSpPr>
        <p:spPr>
          <a:xfrm>
            <a:off x="3448050" y="1841500"/>
            <a:ext cx="12700" cy="3746500"/>
          </a:xfrm>
          <a:prstGeom prst="rect">
            <a:avLst/>
          </a:prstGeom>
          <a:solidFill>
            <a:srgbClr val="C9C5BA"/>
          </a:solidFill>
          <a:ln/>
        </p:spPr>
      </p:sp>
      <p:sp>
        <p:nvSpPr>
          <p:cNvPr id="4" name="Shape 2"/>
          <p:cNvSpPr/>
          <p:nvPr/>
        </p:nvSpPr>
        <p:spPr>
          <a:xfrm>
            <a:off x="5207000" y="1841500"/>
            <a:ext cx="12700" cy="3746500"/>
          </a:xfrm>
          <a:prstGeom prst="rect">
            <a:avLst/>
          </a:prstGeom>
          <a:solidFill>
            <a:srgbClr val="C9C5BA"/>
          </a:solidFill>
          <a:ln/>
        </p:spPr>
      </p:sp>
      <p:sp>
        <p:nvSpPr>
          <p:cNvPr id="5" name="Shape 3"/>
          <p:cNvSpPr/>
          <p:nvPr/>
        </p:nvSpPr>
        <p:spPr>
          <a:xfrm>
            <a:off x="6972300" y="1841500"/>
            <a:ext cx="12700" cy="3746500"/>
          </a:xfrm>
          <a:prstGeom prst="rect">
            <a:avLst/>
          </a:prstGeom>
          <a:solidFill>
            <a:srgbClr val="C9C5BA"/>
          </a:solidFill>
          <a:ln/>
        </p:spPr>
      </p:sp>
      <p:sp>
        <p:nvSpPr>
          <p:cNvPr id="6" name="Shape 4"/>
          <p:cNvSpPr/>
          <p:nvPr/>
        </p:nvSpPr>
        <p:spPr>
          <a:xfrm>
            <a:off x="8731250" y="1841500"/>
            <a:ext cx="12700" cy="3746500"/>
          </a:xfrm>
          <a:prstGeom prst="rect">
            <a:avLst/>
          </a:prstGeom>
          <a:solidFill>
            <a:srgbClr val="C9C5BA"/>
          </a:solidFill>
          <a:ln/>
        </p:spPr>
      </p:sp>
      <p:sp>
        <p:nvSpPr>
          <p:cNvPr id="7" name="Shape 5"/>
          <p:cNvSpPr/>
          <p:nvPr/>
        </p:nvSpPr>
        <p:spPr>
          <a:xfrm>
            <a:off x="10490200" y="1841500"/>
            <a:ext cx="12700" cy="3746500"/>
          </a:xfrm>
          <a:prstGeom prst="rect">
            <a:avLst/>
          </a:prstGeom>
          <a:solidFill>
            <a:srgbClr val="C9C5BA"/>
          </a:solidFill>
          <a:ln/>
        </p:spPr>
      </p:sp>
      <p:sp>
        <p:nvSpPr>
          <p:cNvPr id="8" name="Text 6"/>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B8521E"/>
                </a:solidFill>
                <a:latin typeface="JetBrains Mono" pitchFamily="49" charset="0"/>
                <a:ea typeface="JetBrains Mono" pitchFamily="49" charset="-122"/>
                <a:cs typeface="JetBrains Mono" pitchFamily="49" charset="-120"/>
              </a:rPr>
              <a:t>S2 · SEQUENCE · MCP GATEWAY</a:t>
            </a:r>
            <a:endParaRPr lang="en-US" sz="1200" dirty="0"/>
          </a:p>
        </p:txBody>
      </p:sp>
      <p:sp>
        <p:nvSpPr>
          <p:cNvPr id="9" name="Text 7"/>
          <p:cNvSpPr/>
          <p:nvPr>
            <p:ph type="title"/>
          </p:nvPr>
        </p:nvSpPr>
        <p:spPr>
          <a:xfrm>
            <a:off x="812800" y="10007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1A2A"/>
                </a:solidFill>
                <a:latin typeface="IBM Plex Sans KR" pitchFamily="34" charset="0"/>
                <a:ea typeface="IBM Plex Sans KR" pitchFamily="34" charset="-122"/>
                <a:cs typeface="IBM Plex Sans KR" pitchFamily="34" charset="-120"/>
              </a:rPr>
              <a:t>도구 호출: 누구의 자격증명으로 실행되는가</a:t>
            </a:r>
            <a:endParaRPr lang="en-US" sz="3000" dirty="0"/>
          </a:p>
        </p:txBody>
      </p:sp>
      <p:sp>
        <p:nvSpPr>
          <p:cNvPr id="10" name="Text 8"/>
          <p:cNvSpPr/>
          <p:nvPr/>
        </p:nvSpPr>
        <p:spPr>
          <a:xfrm>
            <a:off x="876300" y="1591270"/>
            <a:ext cx="1634034" cy="325090"/>
          </a:xfrm>
          <a:custGeom>
            <a:avLst/>
            <a:gdLst/>
            <a:ahLst/>
            <a:cxnLst/>
            <a:rect l="l" t="t" r="r" b="b"/>
            <a:pathLst>
              <a:path w="1634034" h="325090">
                <a:moveTo>
                  <a:pt x="50800" y="0"/>
                </a:moveTo>
                <a:lnTo>
                  <a:pt x="1583234" y="0"/>
                </a:lnTo>
                <a:arcTo hR="50800" wR="50800" stAng="16200000" swAng="5400000"/>
                <a:lnTo>
                  <a:pt x="1634034" y="274290"/>
                </a:lnTo>
                <a:arcTo hR="50800" wR="50800" stAng="0" swAng="5400000"/>
                <a:lnTo>
                  <a:pt x="50800" y="325090"/>
                </a:lnTo>
                <a:arcTo hR="50800" wR="50800" stAng="5400000" swAng="5400000"/>
                <a:lnTo>
                  <a:pt x="0" y="50800"/>
                </a:lnTo>
                <a:arcTo hR="50800" wR="50800" stAng="10800000" swAng="5400000"/>
                <a:close/>
              </a:path>
            </a:pathLst>
          </a:custGeom>
          <a:solidFill>
            <a:srgbClr val="131A2A"/>
          </a:solidFill>
          <a:ln/>
        </p:spPr>
        <p:txBody>
          <a:bodyPr wrap="square" lIns="25400" tIns="63500" rIns="25400" bIns="38100" rtlCol="0" anchor="t">
            <a:normAutofit/>
          </a:bodyPr>
          <a:lstStyle/>
          <a:p>
            <a:pPr algn="ctr" indent="0" marL="0">
              <a:lnSpc>
                <a:spcPts val="1560"/>
              </a:lnSpc>
              <a:buNone/>
            </a:pPr>
            <a:r>
              <a:rPr lang="en-US" sz="1200" dirty="0">
                <a:solidFill>
                  <a:srgbClr val="F4F3EE"/>
                </a:solidFill>
                <a:latin typeface="IBM Plex Sans KR" pitchFamily="34" charset="0"/>
                <a:ea typeface="IBM Plex Sans KR" pitchFamily="34" charset="-122"/>
                <a:cs typeface="IBM Plex Sans KR" pitchFamily="34" charset="-120"/>
              </a:rPr>
              <a:t>에이전트·클라이언트</a:t>
            </a:r>
            <a:endParaRPr lang="en-US" sz="1200" dirty="0"/>
          </a:p>
        </p:txBody>
      </p:sp>
      <p:sp>
        <p:nvSpPr>
          <p:cNvPr id="11" name="Text 9"/>
          <p:cNvSpPr/>
          <p:nvPr/>
        </p:nvSpPr>
        <p:spPr>
          <a:xfrm>
            <a:off x="2637334" y="1591270"/>
            <a:ext cx="1634083" cy="325090"/>
          </a:xfrm>
          <a:custGeom>
            <a:avLst/>
            <a:gdLst/>
            <a:ahLst/>
            <a:cxnLst/>
            <a:rect l="l" t="t" r="r" b="b"/>
            <a:pathLst>
              <a:path w="1634083" h="325090">
                <a:moveTo>
                  <a:pt x="50800" y="0"/>
                </a:moveTo>
                <a:lnTo>
                  <a:pt x="1583283" y="0"/>
                </a:lnTo>
                <a:arcTo hR="50800" wR="50800" stAng="16200000" swAng="5400000"/>
                <a:lnTo>
                  <a:pt x="1634083" y="274290"/>
                </a:lnTo>
                <a:arcTo hR="50800" wR="50800" stAng="0" swAng="5400000"/>
                <a:lnTo>
                  <a:pt x="50800" y="325090"/>
                </a:lnTo>
                <a:arcTo hR="50800" wR="50800" stAng="5400000" swAng="5400000"/>
                <a:lnTo>
                  <a:pt x="0" y="50800"/>
                </a:lnTo>
                <a:arcTo hR="50800" wR="50800" stAng="10800000" swAng="5400000"/>
                <a:close/>
              </a:path>
            </a:pathLst>
          </a:custGeom>
          <a:solidFill>
            <a:srgbClr val="D9652B"/>
          </a:solidFill>
          <a:ln/>
        </p:spPr>
        <p:txBody>
          <a:bodyPr wrap="square" lIns="25400" tIns="63500" rIns="25400" bIns="38100" rtlCol="0" anchor="t">
            <a:normAutofit/>
          </a:bodyPr>
          <a:lstStyle/>
          <a:p>
            <a:pPr algn="ctr" indent="0" marL="0">
              <a:lnSpc>
                <a:spcPts val="1560"/>
              </a:lnSpc>
              <a:buNone/>
            </a:pPr>
            <a:r>
              <a:rPr lang="en-US" sz="1200" dirty="0">
                <a:solidFill>
                  <a:srgbClr val="131A2A"/>
                </a:solidFill>
                <a:latin typeface="IBM Plex Sans KR" pitchFamily="34" charset="0"/>
                <a:ea typeface="IBM Plex Sans KR" pitchFamily="34" charset="-122"/>
                <a:cs typeface="IBM Plex Sans KR" pitchFamily="34" charset="-120"/>
              </a:rPr>
              <a:t>MCP Gateway</a:t>
            </a:r>
            <a:endParaRPr lang="en-US" sz="1200" dirty="0"/>
          </a:p>
        </p:txBody>
      </p:sp>
      <p:sp>
        <p:nvSpPr>
          <p:cNvPr id="12" name="Text 10"/>
          <p:cNvSpPr/>
          <p:nvPr/>
        </p:nvSpPr>
        <p:spPr>
          <a:xfrm>
            <a:off x="4398417" y="1591270"/>
            <a:ext cx="1634083" cy="325090"/>
          </a:xfrm>
          <a:custGeom>
            <a:avLst/>
            <a:gdLst/>
            <a:ahLst/>
            <a:cxnLst/>
            <a:rect l="l" t="t" r="r" b="b"/>
            <a:pathLst>
              <a:path w="1634083" h="325090">
                <a:moveTo>
                  <a:pt x="50800" y="0"/>
                </a:moveTo>
                <a:lnTo>
                  <a:pt x="1583283" y="0"/>
                </a:lnTo>
                <a:arcTo hR="50800" wR="50800" stAng="16200000" swAng="5400000"/>
                <a:lnTo>
                  <a:pt x="1634083" y="274290"/>
                </a:lnTo>
                <a:arcTo hR="50800" wR="50800" stAng="0" swAng="5400000"/>
                <a:lnTo>
                  <a:pt x="50800" y="325090"/>
                </a:lnTo>
                <a:arcTo hR="50800" wR="50800" stAng="5400000" swAng="5400000"/>
                <a:lnTo>
                  <a:pt x="0" y="50800"/>
                </a:lnTo>
                <a:arcTo hR="50800" wR="50800" stAng="10800000" swAng="5400000"/>
                <a:close/>
              </a:path>
            </a:pathLst>
          </a:custGeom>
          <a:solidFill>
            <a:srgbClr val="131A2A"/>
          </a:solidFill>
          <a:ln/>
        </p:spPr>
        <p:txBody>
          <a:bodyPr wrap="square" lIns="25400" tIns="63500" rIns="25400" bIns="38100" rtlCol="0" anchor="t">
            <a:normAutofit/>
          </a:bodyPr>
          <a:lstStyle/>
          <a:p>
            <a:pPr algn="ctr" indent="0" marL="0">
              <a:lnSpc>
                <a:spcPts val="1560"/>
              </a:lnSpc>
              <a:buNone/>
            </a:pPr>
            <a:r>
              <a:rPr lang="en-US" sz="1200" dirty="0">
                <a:solidFill>
                  <a:srgbClr val="F4F3EE"/>
                </a:solidFill>
                <a:latin typeface="IBM Plex Sans KR" pitchFamily="34" charset="0"/>
                <a:ea typeface="IBM Plex Sans KR" pitchFamily="34" charset="-122"/>
                <a:cs typeface="IBM Plex Sans KR" pitchFamily="34" charset="-120"/>
              </a:rPr>
              <a:t>McpClient</a:t>
            </a:r>
            <a:endParaRPr lang="en-US" sz="1200" dirty="0"/>
          </a:p>
        </p:txBody>
      </p:sp>
      <p:sp>
        <p:nvSpPr>
          <p:cNvPr id="13" name="Text 11"/>
          <p:cNvSpPr/>
          <p:nvPr/>
        </p:nvSpPr>
        <p:spPr>
          <a:xfrm>
            <a:off x="6159500" y="1591270"/>
            <a:ext cx="1634034" cy="325090"/>
          </a:xfrm>
          <a:custGeom>
            <a:avLst/>
            <a:gdLst/>
            <a:ahLst/>
            <a:cxnLst/>
            <a:rect l="l" t="t" r="r" b="b"/>
            <a:pathLst>
              <a:path w="1634034" h="325090">
                <a:moveTo>
                  <a:pt x="50800" y="0"/>
                </a:moveTo>
                <a:lnTo>
                  <a:pt x="1583234" y="0"/>
                </a:lnTo>
                <a:arcTo hR="50800" wR="50800" stAng="16200000" swAng="5400000"/>
                <a:lnTo>
                  <a:pt x="1634034" y="274290"/>
                </a:lnTo>
                <a:arcTo hR="50800" wR="50800" stAng="0" swAng="5400000"/>
                <a:lnTo>
                  <a:pt x="50800" y="325090"/>
                </a:lnTo>
                <a:arcTo hR="50800" wR="50800" stAng="5400000" swAng="5400000"/>
                <a:lnTo>
                  <a:pt x="0" y="50800"/>
                </a:lnTo>
                <a:arcTo hR="50800" wR="50800" stAng="10800000" swAng="5400000"/>
                <a:close/>
              </a:path>
            </a:pathLst>
          </a:custGeom>
          <a:solidFill>
            <a:srgbClr val="131A2A"/>
          </a:solidFill>
          <a:ln/>
        </p:spPr>
        <p:txBody>
          <a:bodyPr wrap="square" lIns="25400" tIns="63500" rIns="25400" bIns="38100" rtlCol="0" anchor="t">
            <a:normAutofit/>
          </a:bodyPr>
          <a:lstStyle/>
          <a:p>
            <a:pPr algn="ctr" indent="0" marL="0">
              <a:lnSpc>
                <a:spcPts val="1560"/>
              </a:lnSpc>
              <a:buNone/>
            </a:pPr>
            <a:r>
              <a:rPr lang="en-US" sz="1200" dirty="0">
                <a:solidFill>
                  <a:srgbClr val="F4F3EE"/>
                </a:solidFill>
                <a:latin typeface="IBM Plex Sans KR" pitchFamily="34" charset="0"/>
                <a:ea typeface="IBM Plex Sans KR" pitchFamily="34" charset="-122"/>
                <a:cs typeface="IBM Plex Sans KR" pitchFamily="34" charset="-120"/>
              </a:rPr>
              <a:t>자격증명·시크릿</a:t>
            </a:r>
            <a:endParaRPr lang="en-US" sz="1200" dirty="0"/>
          </a:p>
        </p:txBody>
      </p:sp>
      <p:sp>
        <p:nvSpPr>
          <p:cNvPr id="14" name="Text 12"/>
          <p:cNvSpPr/>
          <p:nvPr/>
        </p:nvSpPr>
        <p:spPr>
          <a:xfrm>
            <a:off x="7920534" y="1591270"/>
            <a:ext cx="1634083" cy="325090"/>
          </a:xfrm>
          <a:custGeom>
            <a:avLst/>
            <a:gdLst/>
            <a:ahLst/>
            <a:cxnLst/>
            <a:rect l="l" t="t" r="r" b="b"/>
            <a:pathLst>
              <a:path w="1634083" h="325090">
                <a:moveTo>
                  <a:pt x="50800" y="0"/>
                </a:moveTo>
                <a:lnTo>
                  <a:pt x="1583283" y="0"/>
                </a:lnTo>
                <a:arcTo hR="50800" wR="50800" stAng="16200000" swAng="5400000"/>
                <a:lnTo>
                  <a:pt x="1634083" y="274290"/>
                </a:lnTo>
                <a:arcTo hR="50800" wR="50800" stAng="0" swAng="5400000"/>
                <a:lnTo>
                  <a:pt x="50800" y="325090"/>
                </a:lnTo>
                <a:arcTo hR="50800" wR="50800" stAng="5400000" swAng="5400000"/>
                <a:lnTo>
                  <a:pt x="0" y="50800"/>
                </a:lnTo>
                <a:arcTo hR="50800" wR="50800" stAng="10800000" swAng="5400000"/>
                <a:close/>
              </a:path>
            </a:pathLst>
          </a:custGeom>
          <a:solidFill>
            <a:srgbClr val="131A2A"/>
          </a:solidFill>
          <a:ln/>
        </p:spPr>
        <p:txBody>
          <a:bodyPr wrap="square" lIns="25400" tIns="63500" rIns="25400" bIns="38100" rtlCol="0" anchor="t">
            <a:normAutofit/>
          </a:bodyPr>
          <a:lstStyle/>
          <a:p>
            <a:pPr algn="ctr" indent="0" marL="0">
              <a:lnSpc>
                <a:spcPts val="1560"/>
              </a:lnSpc>
              <a:buNone/>
            </a:pPr>
            <a:r>
              <a:rPr lang="en-US" sz="1200" dirty="0">
                <a:solidFill>
                  <a:srgbClr val="F4F3EE"/>
                </a:solidFill>
                <a:latin typeface="IBM Plex Sans KR" pitchFamily="34" charset="0"/>
                <a:ea typeface="IBM Plex Sans KR" pitchFamily="34" charset="-122"/>
                <a:cs typeface="IBM Plex Sans KR" pitchFamily="34" charset="-120"/>
              </a:rPr>
              <a:t>MCP 서버</a:t>
            </a:r>
            <a:endParaRPr lang="en-US" sz="1200" dirty="0"/>
          </a:p>
        </p:txBody>
      </p:sp>
      <p:sp>
        <p:nvSpPr>
          <p:cNvPr id="15" name="Text 13"/>
          <p:cNvSpPr/>
          <p:nvPr/>
        </p:nvSpPr>
        <p:spPr>
          <a:xfrm>
            <a:off x="9681617" y="1591270"/>
            <a:ext cx="1634083" cy="325090"/>
          </a:xfrm>
          <a:custGeom>
            <a:avLst/>
            <a:gdLst/>
            <a:ahLst/>
            <a:cxnLst/>
            <a:rect l="l" t="t" r="r" b="b"/>
            <a:pathLst>
              <a:path w="1634083" h="325090">
                <a:moveTo>
                  <a:pt x="50800" y="0"/>
                </a:moveTo>
                <a:lnTo>
                  <a:pt x="1583283" y="0"/>
                </a:lnTo>
                <a:arcTo hR="50800" wR="50800" stAng="16200000" swAng="5400000"/>
                <a:lnTo>
                  <a:pt x="1634083" y="274290"/>
                </a:lnTo>
                <a:arcTo hR="50800" wR="50800" stAng="0" swAng="5400000"/>
                <a:lnTo>
                  <a:pt x="50800" y="325090"/>
                </a:lnTo>
                <a:arcTo hR="50800" wR="50800" stAng="5400000" swAng="5400000"/>
                <a:lnTo>
                  <a:pt x="0" y="50800"/>
                </a:lnTo>
                <a:arcTo hR="50800" wR="50800" stAng="10800000" swAng="5400000"/>
                <a:close/>
              </a:path>
            </a:pathLst>
          </a:custGeom>
          <a:solidFill>
            <a:srgbClr val="2F5BB7"/>
          </a:solidFill>
          <a:ln/>
        </p:spPr>
        <p:txBody>
          <a:bodyPr wrap="square" lIns="25400" tIns="63500" rIns="25400" bIns="38100" rtlCol="0" anchor="t">
            <a:normAutofit/>
          </a:bodyPr>
          <a:lstStyle/>
          <a:p>
            <a:pPr algn="ctr" indent="0" marL="0">
              <a:lnSpc>
                <a:spcPts val="1560"/>
              </a:lnSpc>
              <a:buNone/>
            </a:pPr>
            <a:r>
              <a:rPr lang="en-US" sz="1200" dirty="0">
                <a:solidFill>
                  <a:srgbClr val="F4F3EE"/>
                </a:solidFill>
                <a:latin typeface="IBM Plex Sans KR" pitchFamily="34" charset="0"/>
                <a:ea typeface="IBM Plex Sans KR" pitchFamily="34" charset="-122"/>
                <a:cs typeface="IBM Plex Sans KR" pitchFamily="34" charset="-120"/>
              </a:rPr>
              <a:t>PostgreSQL</a:t>
            </a:r>
            <a:endParaRPr lang="en-US" sz="1200" dirty="0"/>
          </a:p>
        </p:txBody>
      </p:sp>
      <p:sp>
        <p:nvSpPr>
          <p:cNvPr id="16" name="Text 14"/>
          <p:cNvSpPr/>
          <p:nvPr/>
        </p:nvSpPr>
        <p:spPr>
          <a:xfrm>
            <a:off x="2141538" y="1941761"/>
            <a:ext cx="864592"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B8521E"/>
                </a:solidFill>
                <a:latin typeface="IBM Plex Sans KR" pitchFamily="34" charset="0"/>
                <a:ea typeface="IBM Plex Sans KR" pitchFamily="34" charset="-122"/>
                <a:cs typeface="IBM Plex Sans KR" pitchFamily="34" charset="-120"/>
              </a:rPr>
              <a:t>1</a:t>
            </a:r>
            <a:r>
              <a:rPr lang="en-US" sz="1200" dirty="0">
                <a:solidFill>
                  <a:srgbClr val="131A2A"/>
                </a:solidFill>
                <a:latin typeface="IBM Plex Sans KR" pitchFamily="34" charset="0"/>
                <a:ea typeface="IBM Plex Sans KR" pitchFamily="34" charset="-122"/>
                <a:cs typeface="IBM Plex Sans KR" pitchFamily="34" charset="-120"/>
              </a:rPr>
              <a:t> tools/call</a:t>
            </a:r>
            <a:endParaRPr lang="en-US" sz="1200" dirty="0"/>
          </a:p>
        </p:txBody>
      </p:sp>
      <p:sp>
        <p:nvSpPr>
          <p:cNvPr id="17" name="Shape 15"/>
          <p:cNvSpPr/>
          <p:nvPr/>
        </p:nvSpPr>
        <p:spPr>
          <a:xfrm>
            <a:off x="1693317" y="2195761"/>
            <a:ext cx="1634083" cy="0"/>
          </a:xfrm>
          <a:prstGeom prst="line">
            <a:avLst/>
          </a:prstGeom>
          <a:noFill/>
          <a:ln w="19050">
            <a:solidFill>
              <a:srgbClr val="131A2A"/>
            </a:solidFill>
            <a:prstDash val="solid"/>
          </a:ln>
        </p:spPr>
      </p:sp>
      <p:pic>
        <p:nvPicPr>
          <p:cNvPr id="18" name="Image 0" descr="arrow-right">    </p:cNvPr>
          <p:cNvPicPr>
            <a:picLocks noChangeAspect="1"/>
          </p:cNvPicPr>
          <p:nvPr/>
        </p:nvPicPr>
        <p:blipFill>
          <a:blip r:embed="rId1"/>
          <a:srcRect l="0" r="0" t="0" b="0"/>
          <a:stretch/>
        </p:blipFill>
        <p:spPr>
          <a:xfrm>
            <a:off x="3327400" y="2144961"/>
            <a:ext cx="127000" cy="101600"/>
          </a:xfrm>
          <a:prstGeom prst="rect">
            <a:avLst/>
          </a:prstGeom>
        </p:spPr>
      </p:pic>
      <p:sp>
        <p:nvSpPr>
          <p:cNvPr id="19" name="Text 16"/>
          <p:cNvSpPr/>
          <p:nvPr/>
        </p:nvSpPr>
        <p:spPr>
          <a:xfrm>
            <a:off x="1696492" y="2275136"/>
            <a:ext cx="3515767" cy="273050"/>
          </a:xfrm>
          <a:prstGeom prst="roundRect">
            <a:avLst>
              <a:gd name="adj" fmla="val 17442"/>
            </a:avLst>
          </a:prstGeom>
          <a:solidFill>
            <a:srgbClr val="FBE3D3"/>
          </a:solidFill>
          <a:ln w="6350">
            <a:solidFill>
              <a:srgbClr val="D9652B"/>
            </a:solidFill>
            <a:prstDash val="solid"/>
          </a:ln>
        </p:spPr>
        <p:txBody>
          <a:bodyPr wrap="square" lIns="1990" tIns="27326" rIns="1990" bIns="1926" rtlCol="0" anchor="t">
            <a:normAutofit/>
          </a:bodyPr>
          <a:lstStyle/>
          <a:p>
            <a:pPr algn="ctr" indent="0" marL="0">
              <a:lnSpc>
                <a:spcPts val="1500"/>
              </a:lnSpc>
              <a:buNone/>
            </a:pPr>
            <a:r>
              <a:rPr lang="en-US" sz="1200" dirty="0">
                <a:solidFill>
                  <a:srgbClr val="B8521E"/>
                </a:solidFill>
                <a:latin typeface="IBM Plex Sans KR" pitchFamily="34" charset="0"/>
                <a:ea typeface="IBM Plex Sans KR" pitchFamily="34" charset="-122"/>
                <a:cs typeface="IBM Plex Sans KR" pitchFamily="34" charset="-120"/>
              </a:rPr>
              <a:t>2</a:t>
            </a:r>
            <a:r>
              <a:rPr lang="en-US" sz="1200" dirty="0">
                <a:solidFill>
                  <a:srgbClr val="131A2A"/>
                </a:solidFill>
                <a:latin typeface="IBM Plex Sans KR" pitchFamily="34" charset="0"/>
                <a:ea typeface="IBM Plex Sans KR" pitchFamily="34" charset="-122"/>
                <a:cs typeface="IBM Plex Sans KR" pitchFamily="34" charset="-120"/>
              </a:rPr>
              <a:t> 토큰 → 게이트웨이 · 선언 도구 확인</a:t>
            </a:r>
            <a:endParaRPr lang="en-US" sz="1200" dirty="0"/>
          </a:p>
        </p:txBody>
      </p:sp>
      <p:sp>
        <p:nvSpPr>
          <p:cNvPr id="20" name="Text 17"/>
          <p:cNvSpPr/>
          <p:nvPr/>
        </p:nvSpPr>
        <p:spPr>
          <a:xfrm>
            <a:off x="1696492" y="2579936"/>
            <a:ext cx="3515767" cy="273050"/>
          </a:xfrm>
          <a:prstGeom prst="roundRect">
            <a:avLst>
              <a:gd name="adj" fmla="val 17442"/>
            </a:avLst>
          </a:prstGeom>
          <a:solidFill>
            <a:srgbClr val="FBE3D3"/>
          </a:solidFill>
          <a:ln w="6350">
            <a:solidFill>
              <a:srgbClr val="D9652B"/>
            </a:solidFill>
            <a:prstDash val="solid"/>
          </a:ln>
        </p:spPr>
        <p:txBody>
          <a:bodyPr wrap="square" lIns="1990" tIns="27326" rIns="1990" bIns="1926" rtlCol="0" anchor="t">
            <a:normAutofit/>
          </a:bodyPr>
          <a:lstStyle/>
          <a:p>
            <a:pPr algn="ctr" indent="0" marL="0">
              <a:lnSpc>
                <a:spcPts val="1500"/>
              </a:lnSpc>
              <a:buNone/>
            </a:pPr>
            <a:r>
              <a:rPr lang="en-US" sz="1200" dirty="0">
                <a:solidFill>
                  <a:srgbClr val="B8521E"/>
                </a:solidFill>
                <a:latin typeface="IBM Plex Sans KR" pitchFamily="34" charset="0"/>
                <a:ea typeface="IBM Plex Sans KR" pitchFamily="34" charset="-122"/>
                <a:cs typeface="IBM Plex Sans KR" pitchFamily="34" charset="-120"/>
              </a:rPr>
              <a:t>3</a:t>
            </a:r>
            <a:r>
              <a:rPr lang="en-US" sz="1200" dirty="0">
                <a:solidFill>
                  <a:srgbClr val="131A2A"/>
                </a:solidFill>
                <a:latin typeface="IBM Plex Sans KR" pitchFamily="34" charset="0"/>
                <a:ea typeface="IBM Plex Sans KR" pitchFamily="34" charset="-122"/>
                <a:cs typeface="IBM Plex Sans KR" pitchFamily="34" charset="-120"/>
              </a:rPr>
              <a:t> OpenAPPA 판정 (enforce 시)</a:t>
            </a:r>
            <a:endParaRPr lang="en-US" sz="1200" dirty="0"/>
          </a:p>
        </p:txBody>
      </p:sp>
      <p:sp>
        <p:nvSpPr>
          <p:cNvPr id="21" name="Text 18"/>
          <p:cNvSpPr/>
          <p:nvPr/>
        </p:nvSpPr>
        <p:spPr>
          <a:xfrm>
            <a:off x="3930501" y="2881561"/>
            <a:ext cx="808782"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B8521E"/>
                </a:solidFill>
                <a:latin typeface="IBM Plex Sans KR" pitchFamily="34" charset="0"/>
                <a:ea typeface="IBM Plex Sans KR" pitchFamily="34" charset="-122"/>
                <a:cs typeface="IBM Plex Sans KR" pitchFamily="34" charset="-120"/>
              </a:rPr>
              <a:t>4</a:t>
            </a:r>
            <a:r>
              <a:rPr lang="en-US" sz="1200" dirty="0">
                <a:solidFill>
                  <a:srgbClr val="131A2A"/>
                </a:solidFill>
                <a:latin typeface="IBM Plex Sans KR" pitchFamily="34" charset="0"/>
                <a:ea typeface="IBM Plex Sans KR" pitchFamily="34" charset="-122"/>
                <a:cs typeface="IBM Plex Sans KR" pitchFamily="34" charset="-120"/>
              </a:rPr>
              <a:t> 실행 위임</a:t>
            </a:r>
            <a:endParaRPr lang="en-US" sz="1200" dirty="0"/>
          </a:p>
        </p:txBody>
      </p:sp>
      <p:sp>
        <p:nvSpPr>
          <p:cNvPr id="22" name="Shape 19"/>
          <p:cNvSpPr/>
          <p:nvPr/>
        </p:nvSpPr>
        <p:spPr>
          <a:xfrm>
            <a:off x="3454400" y="3135561"/>
            <a:ext cx="1634034" cy="0"/>
          </a:xfrm>
          <a:prstGeom prst="line">
            <a:avLst/>
          </a:prstGeom>
          <a:noFill/>
          <a:ln w="19050">
            <a:solidFill>
              <a:srgbClr val="131A2A"/>
            </a:solidFill>
            <a:prstDash val="solid"/>
          </a:ln>
        </p:spPr>
      </p:sp>
      <p:pic>
        <p:nvPicPr>
          <p:cNvPr id="23" name="Image 1" descr="arrow-right">    </p:cNvPr>
          <p:cNvPicPr>
            <a:picLocks noChangeAspect="1"/>
          </p:cNvPicPr>
          <p:nvPr/>
        </p:nvPicPr>
        <p:blipFill>
          <a:blip r:embed="rId2"/>
          <a:srcRect l="0" r="0" t="0" b="0"/>
          <a:stretch/>
        </p:blipFill>
        <p:spPr>
          <a:xfrm>
            <a:off x="5088434" y="3084761"/>
            <a:ext cx="127000" cy="101600"/>
          </a:xfrm>
          <a:prstGeom prst="rect">
            <a:avLst/>
          </a:prstGeom>
        </p:spPr>
      </p:pic>
      <p:sp>
        <p:nvSpPr>
          <p:cNvPr id="24" name="Text 20"/>
          <p:cNvSpPr/>
          <p:nvPr/>
        </p:nvSpPr>
        <p:spPr>
          <a:xfrm>
            <a:off x="3457575" y="3214936"/>
            <a:ext cx="3515767" cy="273050"/>
          </a:xfrm>
          <a:prstGeom prst="roundRect">
            <a:avLst>
              <a:gd name="adj" fmla="val 17442"/>
            </a:avLst>
          </a:prstGeom>
          <a:solidFill>
            <a:srgbClr val="FBE3D3"/>
          </a:solidFill>
          <a:ln w="6350">
            <a:solidFill>
              <a:srgbClr val="D9652B"/>
            </a:solidFill>
            <a:prstDash val="solid"/>
          </a:ln>
        </p:spPr>
        <p:txBody>
          <a:bodyPr wrap="square" lIns="1990" tIns="27326" rIns="1990" bIns="1926" rtlCol="0" anchor="t">
            <a:normAutofit/>
          </a:bodyPr>
          <a:lstStyle/>
          <a:p>
            <a:pPr algn="ctr" indent="0" marL="0">
              <a:lnSpc>
                <a:spcPts val="1500"/>
              </a:lnSpc>
              <a:buNone/>
            </a:pPr>
            <a:r>
              <a:rPr lang="en-US" sz="1200" dirty="0">
                <a:solidFill>
                  <a:srgbClr val="B8521E"/>
                </a:solidFill>
                <a:latin typeface="IBM Plex Sans KR" pitchFamily="34" charset="0"/>
                <a:ea typeface="IBM Plex Sans KR" pitchFamily="34" charset="-122"/>
                <a:cs typeface="IBM Plex Sans KR" pitchFamily="34" charset="-120"/>
              </a:rPr>
              <a:t>5</a:t>
            </a:r>
            <a:r>
              <a:rPr lang="en-US" sz="1200" dirty="0">
                <a:solidFill>
                  <a:srgbClr val="131A2A"/>
                </a:solidFill>
                <a:latin typeface="IBM Plex Sans KR" pitchFamily="34" charset="0"/>
                <a:ea typeface="IBM Plex Sans KR" pitchFamily="34" charset="-122"/>
                <a:cs typeface="IBM Plex Sans KR" pitchFamily="34" charset="-120"/>
              </a:rPr>
              <a:t> 카탈로그 가시성 · 도구 권한</a:t>
            </a:r>
            <a:endParaRPr lang="en-US" sz="1200" dirty="0"/>
          </a:p>
        </p:txBody>
      </p:sp>
      <p:sp>
        <p:nvSpPr>
          <p:cNvPr id="25" name="Text 21"/>
          <p:cNvSpPr/>
          <p:nvPr/>
        </p:nvSpPr>
        <p:spPr>
          <a:xfrm>
            <a:off x="5555605" y="3516561"/>
            <a:ext cx="1080691"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B8521E"/>
                </a:solidFill>
                <a:latin typeface="IBM Plex Sans KR" pitchFamily="34" charset="0"/>
                <a:ea typeface="IBM Plex Sans KR" pitchFamily="34" charset="-122"/>
                <a:cs typeface="IBM Plex Sans KR" pitchFamily="34" charset="-120"/>
              </a:rPr>
              <a:t>6</a:t>
            </a:r>
            <a:r>
              <a:rPr lang="en-US" sz="1200" dirty="0">
                <a:solidFill>
                  <a:srgbClr val="131A2A"/>
                </a:solidFill>
                <a:latin typeface="IBM Plex Sans KR" pitchFamily="34" charset="0"/>
                <a:ea typeface="IBM Plex Sans KR" pitchFamily="34" charset="-122"/>
                <a:cs typeface="IBM Plex Sans KR" pitchFamily="34" charset="-120"/>
              </a:rPr>
              <a:t> 자격증명 해석</a:t>
            </a:r>
            <a:endParaRPr lang="en-US" sz="1200" dirty="0"/>
          </a:p>
        </p:txBody>
      </p:sp>
      <p:sp>
        <p:nvSpPr>
          <p:cNvPr id="26" name="Shape 22"/>
          <p:cNvSpPr/>
          <p:nvPr/>
        </p:nvSpPr>
        <p:spPr>
          <a:xfrm>
            <a:off x="5215434" y="3770561"/>
            <a:ext cx="1634083" cy="0"/>
          </a:xfrm>
          <a:prstGeom prst="line">
            <a:avLst/>
          </a:prstGeom>
          <a:noFill/>
          <a:ln w="19050">
            <a:solidFill>
              <a:srgbClr val="131A2A"/>
            </a:solidFill>
            <a:prstDash val="solid"/>
          </a:ln>
        </p:spPr>
      </p:sp>
      <p:pic>
        <p:nvPicPr>
          <p:cNvPr id="27" name="Image 2" descr="arrow-right">    </p:cNvPr>
          <p:cNvPicPr>
            <a:picLocks noChangeAspect="1"/>
          </p:cNvPicPr>
          <p:nvPr/>
        </p:nvPicPr>
        <p:blipFill>
          <a:blip r:embed="rId3"/>
          <a:srcRect l="0" r="0" t="0" b="0"/>
          <a:stretch/>
        </p:blipFill>
        <p:spPr>
          <a:xfrm>
            <a:off x="6849517" y="3719761"/>
            <a:ext cx="127000" cy="101600"/>
          </a:xfrm>
          <a:prstGeom prst="rect">
            <a:avLst/>
          </a:prstGeom>
        </p:spPr>
      </p:pic>
      <p:sp>
        <p:nvSpPr>
          <p:cNvPr id="28" name="Text 23"/>
          <p:cNvSpPr/>
          <p:nvPr/>
        </p:nvSpPr>
        <p:spPr>
          <a:xfrm>
            <a:off x="5580757" y="3846761"/>
            <a:ext cx="1030387"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B8521E"/>
                </a:solidFill>
                <a:latin typeface="IBM Plex Sans KR" pitchFamily="34" charset="0"/>
                <a:ea typeface="IBM Plex Sans KR" pitchFamily="34" charset="-122"/>
                <a:cs typeface="IBM Plex Sans KR" pitchFamily="34" charset="-120"/>
              </a:rPr>
              <a:t>7</a:t>
            </a:r>
            <a:r>
              <a:rPr lang="en-US" sz="1200" dirty="0">
                <a:solidFill>
                  <a:srgbClr val="4A5263"/>
                </a:solidFill>
                <a:latin typeface="IBM Plex Sans KR" pitchFamily="34" charset="0"/>
                <a:ea typeface="IBM Plex Sans KR" pitchFamily="34" charset="-122"/>
                <a:cs typeface="IBM Plex Sans KR" pitchFamily="34" charset="-120"/>
              </a:rPr>
              <a:t> 시크릿 · 토큰</a:t>
            </a:r>
            <a:endParaRPr lang="en-US" sz="1200" dirty="0"/>
          </a:p>
        </p:txBody>
      </p:sp>
      <p:pic>
        <p:nvPicPr>
          <p:cNvPr id="29" name="Image 3" descr="arrow-left">    </p:cNvPr>
          <p:cNvPicPr>
            <a:picLocks noChangeAspect="1"/>
          </p:cNvPicPr>
          <p:nvPr/>
        </p:nvPicPr>
        <p:blipFill>
          <a:blip r:embed="rId4"/>
          <a:srcRect l="0" r="0" t="0" b="0"/>
          <a:stretch/>
        </p:blipFill>
        <p:spPr>
          <a:xfrm>
            <a:off x="5215434" y="4049961"/>
            <a:ext cx="127000" cy="101600"/>
          </a:xfrm>
          <a:prstGeom prst="rect">
            <a:avLst/>
          </a:prstGeom>
        </p:spPr>
      </p:pic>
      <p:sp>
        <p:nvSpPr>
          <p:cNvPr id="30" name="Shape 24"/>
          <p:cNvSpPr/>
          <p:nvPr/>
        </p:nvSpPr>
        <p:spPr>
          <a:xfrm>
            <a:off x="5342434" y="4100761"/>
            <a:ext cx="1634083" cy="0"/>
          </a:xfrm>
          <a:prstGeom prst="line">
            <a:avLst/>
          </a:prstGeom>
          <a:noFill/>
          <a:ln w="19050">
            <a:solidFill>
              <a:srgbClr val="6B7385"/>
            </a:solidFill>
            <a:prstDash val="dash"/>
          </a:ln>
        </p:spPr>
      </p:sp>
      <p:sp>
        <p:nvSpPr>
          <p:cNvPr id="31" name="Text 25"/>
          <p:cNvSpPr/>
          <p:nvPr/>
        </p:nvSpPr>
        <p:spPr>
          <a:xfrm>
            <a:off x="5850086" y="4176961"/>
            <a:ext cx="2252811"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B8521E"/>
                </a:solidFill>
                <a:latin typeface="IBM Plex Sans KR" pitchFamily="34" charset="0"/>
                <a:ea typeface="IBM Plex Sans KR" pitchFamily="34" charset="-122"/>
                <a:cs typeface="IBM Plex Sans KR" pitchFamily="34" charset="-120"/>
              </a:rPr>
              <a:t>8</a:t>
            </a:r>
            <a:r>
              <a:rPr lang="en-US" sz="1200" dirty="0">
                <a:solidFill>
                  <a:srgbClr val="131A2A"/>
                </a:solidFill>
                <a:latin typeface="IBM Plex Sans KR" pitchFamily="34" charset="0"/>
                <a:ea typeface="IBM Plex Sans KR" pitchFamily="34" charset="-122"/>
                <a:cs typeface="IBM Plex Sans KR" pitchFamily="34" charset="-120"/>
              </a:rPr>
              <a:t> (wake) HTTP 또는 stdio attach</a:t>
            </a:r>
            <a:endParaRPr lang="en-US" sz="1200" dirty="0"/>
          </a:p>
        </p:txBody>
      </p:sp>
      <p:sp>
        <p:nvSpPr>
          <p:cNvPr id="32" name="Shape 26"/>
          <p:cNvSpPr/>
          <p:nvPr/>
        </p:nvSpPr>
        <p:spPr>
          <a:xfrm>
            <a:off x="5215434" y="4430961"/>
            <a:ext cx="3395166" cy="0"/>
          </a:xfrm>
          <a:prstGeom prst="line">
            <a:avLst/>
          </a:prstGeom>
          <a:noFill/>
          <a:ln w="19050">
            <a:solidFill>
              <a:srgbClr val="131A2A"/>
            </a:solidFill>
            <a:prstDash val="solid"/>
          </a:ln>
        </p:spPr>
      </p:sp>
      <p:pic>
        <p:nvPicPr>
          <p:cNvPr id="33" name="Image 4" descr="arrow-right">    </p:cNvPr>
          <p:cNvPicPr>
            <a:picLocks noChangeAspect="1"/>
          </p:cNvPicPr>
          <p:nvPr/>
        </p:nvPicPr>
        <p:blipFill>
          <a:blip r:embed="rId5"/>
          <a:srcRect l="0" r="0" t="0" b="0"/>
          <a:stretch/>
        </p:blipFill>
        <p:spPr>
          <a:xfrm>
            <a:off x="8610600" y="4380161"/>
            <a:ext cx="127000" cy="101600"/>
          </a:xfrm>
          <a:prstGeom prst="rect">
            <a:avLst/>
          </a:prstGeom>
        </p:spPr>
      </p:pic>
      <p:sp>
        <p:nvSpPr>
          <p:cNvPr id="34" name="Text 27"/>
          <p:cNvSpPr/>
          <p:nvPr/>
        </p:nvSpPr>
        <p:spPr>
          <a:xfrm>
            <a:off x="6514554" y="4507161"/>
            <a:ext cx="923875"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B8521E"/>
                </a:solidFill>
                <a:latin typeface="IBM Plex Sans KR" pitchFamily="34" charset="0"/>
                <a:ea typeface="IBM Plex Sans KR" pitchFamily="34" charset="-122"/>
                <a:cs typeface="IBM Plex Sans KR" pitchFamily="34" charset="-120"/>
              </a:rPr>
              <a:t>9</a:t>
            </a:r>
            <a:r>
              <a:rPr lang="en-US" sz="1200" dirty="0">
                <a:solidFill>
                  <a:srgbClr val="4A5263"/>
                </a:solidFill>
                <a:latin typeface="IBM Plex Sans KR" pitchFamily="34" charset="0"/>
                <a:ea typeface="IBM Plex Sans KR" pitchFamily="34" charset="-122"/>
                <a:cs typeface="IBM Plex Sans KR" pitchFamily="34" charset="-120"/>
              </a:rPr>
              <a:t> tool result</a:t>
            </a:r>
            <a:endParaRPr lang="en-US" sz="1200" dirty="0"/>
          </a:p>
        </p:txBody>
      </p:sp>
      <p:pic>
        <p:nvPicPr>
          <p:cNvPr id="35" name="Image 5" descr="arrow-left">    </p:cNvPr>
          <p:cNvPicPr>
            <a:picLocks noChangeAspect="1"/>
          </p:cNvPicPr>
          <p:nvPr/>
        </p:nvPicPr>
        <p:blipFill>
          <a:blip r:embed="rId6"/>
          <a:srcRect l="0" r="0" t="0" b="0"/>
          <a:stretch/>
        </p:blipFill>
        <p:spPr>
          <a:xfrm>
            <a:off x="5215434" y="4710361"/>
            <a:ext cx="127000" cy="101600"/>
          </a:xfrm>
          <a:prstGeom prst="rect">
            <a:avLst/>
          </a:prstGeom>
        </p:spPr>
      </p:pic>
      <p:sp>
        <p:nvSpPr>
          <p:cNvPr id="36" name="Shape 28"/>
          <p:cNvSpPr/>
          <p:nvPr/>
        </p:nvSpPr>
        <p:spPr>
          <a:xfrm>
            <a:off x="5342434" y="4761161"/>
            <a:ext cx="3395166" cy="0"/>
          </a:xfrm>
          <a:prstGeom prst="line">
            <a:avLst/>
          </a:prstGeom>
          <a:noFill/>
          <a:ln w="19050">
            <a:solidFill>
              <a:srgbClr val="6B7385"/>
            </a:solidFill>
            <a:prstDash val="dash"/>
          </a:ln>
        </p:spPr>
      </p:sp>
      <p:sp>
        <p:nvSpPr>
          <p:cNvPr id="37" name="Text 29"/>
          <p:cNvSpPr/>
          <p:nvPr/>
        </p:nvSpPr>
        <p:spPr>
          <a:xfrm>
            <a:off x="6430714" y="4837361"/>
            <a:ext cx="2852638"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B8521E"/>
                </a:solidFill>
                <a:latin typeface="IBM Plex Sans KR" pitchFamily="34" charset="0"/>
                <a:ea typeface="IBM Plex Sans KR" pitchFamily="34" charset="-122"/>
                <a:cs typeface="IBM Plex Sans KR" pitchFamily="34" charset="-120"/>
              </a:rPr>
              <a:t>10</a:t>
            </a:r>
            <a:r>
              <a:rPr lang="en-US" sz="1200" dirty="0">
                <a:solidFill>
                  <a:srgbClr val="131A2A"/>
                </a:solidFill>
                <a:latin typeface="IBM Plex Sans KR" pitchFamily="34" charset="0"/>
                <a:ea typeface="IBM Plex Sans KR" pitchFamily="34" charset="-122"/>
                <a:cs typeface="IBM Plex Sans KR" pitchFamily="34" charset="-120"/>
              </a:rPr>
              <a:t> mcp_tool_calls INSERT (executedAs)</a:t>
            </a:r>
            <a:endParaRPr lang="en-US" sz="1200" dirty="0"/>
          </a:p>
        </p:txBody>
      </p:sp>
      <p:sp>
        <p:nvSpPr>
          <p:cNvPr id="38" name="Shape 30"/>
          <p:cNvSpPr/>
          <p:nvPr/>
        </p:nvSpPr>
        <p:spPr>
          <a:xfrm>
            <a:off x="5215434" y="5091361"/>
            <a:ext cx="5156200" cy="0"/>
          </a:xfrm>
          <a:prstGeom prst="line">
            <a:avLst/>
          </a:prstGeom>
          <a:noFill/>
          <a:ln w="19050">
            <a:solidFill>
              <a:srgbClr val="131A2A"/>
            </a:solidFill>
            <a:prstDash val="solid"/>
          </a:ln>
        </p:spPr>
      </p:sp>
      <p:pic>
        <p:nvPicPr>
          <p:cNvPr id="39" name="Image 6" descr="arrow-right">    </p:cNvPr>
          <p:cNvPicPr>
            <a:picLocks noChangeAspect="1"/>
          </p:cNvPicPr>
          <p:nvPr/>
        </p:nvPicPr>
        <p:blipFill>
          <a:blip r:embed="rId7"/>
          <a:srcRect l="0" r="0" t="0" b="0"/>
          <a:stretch/>
        </p:blipFill>
        <p:spPr>
          <a:xfrm>
            <a:off x="10371634" y="5040561"/>
            <a:ext cx="127000" cy="101600"/>
          </a:xfrm>
          <a:prstGeom prst="rect">
            <a:avLst/>
          </a:prstGeom>
        </p:spPr>
      </p:pic>
      <p:sp>
        <p:nvSpPr>
          <p:cNvPr id="40" name="Text 31"/>
          <p:cNvSpPr/>
          <p:nvPr/>
        </p:nvSpPr>
        <p:spPr>
          <a:xfrm>
            <a:off x="2776538" y="5167561"/>
            <a:ext cx="1355626"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B8521E"/>
                </a:solidFill>
                <a:latin typeface="IBM Plex Sans KR" pitchFamily="34" charset="0"/>
                <a:ea typeface="IBM Plex Sans KR" pitchFamily="34" charset="-122"/>
                <a:cs typeface="IBM Plex Sans KR" pitchFamily="34" charset="-120"/>
              </a:rPr>
              <a:t>11</a:t>
            </a:r>
            <a:r>
              <a:rPr lang="en-US" sz="1200" dirty="0">
                <a:solidFill>
                  <a:srgbClr val="4A5263"/>
                </a:solidFill>
                <a:latin typeface="IBM Plex Sans KR" pitchFamily="34" charset="0"/>
                <a:ea typeface="IBM Plex Sans KR" pitchFamily="34" charset="-122"/>
                <a:cs typeface="IBM Plex Sans KR" pitchFamily="34" charset="-120"/>
              </a:rPr>
              <a:t> JSON-RPC 결과</a:t>
            </a:r>
            <a:endParaRPr lang="en-US" sz="1200" dirty="0"/>
          </a:p>
        </p:txBody>
      </p:sp>
      <p:pic>
        <p:nvPicPr>
          <p:cNvPr id="41" name="Image 7" descr="arrow-left">    </p:cNvPr>
          <p:cNvPicPr>
            <a:picLocks noChangeAspect="1"/>
          </p:cNvPicPr>
          <p:nvPr/>
        </p:nvPicPr>
        <p:blipFill>
          <a:blip r:embed="rId8"/>
          <a:srcRect l="0" r="0" t="0" b="0"/>
          <a:stretch/>
        </p:blipFill>
        <p:spPr>
          <a:xfrm>
            <a:off x="1693317" y="5370761"/>
            <a:ext cx="127000" cy="101600"/>
          </a:xfrm>
          <a:prstGeom prst="rect">
            <a:avLst/>
          </a:prstGeom>
        </p:spPr>
      </p:pic>
      <p:sp>
        <p:nvSpPr>
          <p:cNvPr id="42" name="Shape 32"/>
          <p:cNvSpPr/>
          <p:nvPr/>
        </p:nvSpPr>
        <p:spPr>
          <a:xfrm>
            <a:off x="1820317" y="5421561"/>
            <a:ext cx="3395117" cy="0"/>
          </a:xfrm>
          <a:prstGeom prst="line">
            <a:avLst/>
          </a:prstGeom>
          <a:noFill/>
          <a:ln w="19050">
            <a:solidFill>
              <a:srgbClr val="6B7385"/>
            </a:solidFill>
            <a:prstDash val="dash"/>
          </a:ln>
        </p:spPr>
      </p:sp>
      <p:sp>
        <p:nvSpPr>
          <p:cNvPr id="43" name="Text 3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KR" pitchFamily="34" charset="0"/>
                <a:ea typeface="IBM Plex Sans KR" pitchFamily="34" charset="-122"/>
                <a:cs typeface="IBM Plex Sans KR" pitchFamily="34" charset="-120"/>
              </a:rPr>
              <a:t>Archestra 아키텍처 · 20 · 출처: routes/mcp-gateway/index.ts, clients/mcp-client.ts (executeToolCallForOwner)</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3EE"/>
        </a:solidFill>
      </p:bgPr>
    </p:bg>
    <p:spTree>
      <p:nvGrpSpPr>
        <p:cNvPr id="1" name=""/>
        <p:cNvGrpSpPr/>
        <p:nvPr/>
      </p:nvGrpSpPr>
      <p:grpSpPr>
        <a:xfrm>
          <a:off x="0" y="0"/>
          <a:ext cx="0" cy="0"/>
          <a:chOff x="0" y="0"/>
          <a:chExt cx="0" cy="0"/>
        </a:xfrm>
      </p:grpSpPr>
      <p:sp>
        <p:nvSpPr>
          <p:cNvPr id="2" name="Shape 0"/>
          <p:cNvSpPr/>
          <p:nvPr/>
        </p:nvSpPr>
        <p:spPr>
          <a:xfrm>
            <a:off x="1689100" y="1841500"/>
            <a:ext cx="12700" cy="3937000"/>
          </a:xfrm>
          <a:prstGeom prst="rect">
            <a:avLst/>
          </a:prstGeom>
          <a:solidFill>
            <a:srgbClr val="C9C5BA"/>
          </a:solidFill>
          <a:ln/>
        </p:spPr>
      </p:sp>
      <p:sp>
        <p:nvSpPr>
          <p:cNvPr id="3" name="Shape 1"/>
          <p:cNvSpPr/>
          <p:nvPr/>
        </p:nvSpPr>
        <p:spPr>
          <a:xfrm>
            <a:off x="3448050" y="1841500"/>
            <a:ext cx="12700" cy="3937000"/>
          </a:xfrm>
          <a:prstGeom prst="rect">
            <a:avLst/>
          </a:prstGeom>
          <a:solidFill>
            <a:srgbClr val="C9C5BA"/>
          </a:solidFill>
          <a:ln/>
        </p:spPr>
      </p:sp>
      <p:sp>
        <p:nvSpPr>
          <p:cNvPr id="4" name="Shape 2"/>
          <p:cNvSpPr/>
          <p:nvPr/>
        </p:nvSpPr>
        <p:spPr>
          <a:xfrm>
            <a:off x="5207000" y="1841500"/>
            <a:ext cx="12700" cy="3937000"/>
          </a:xfrm>
          <a:prstGeom prst="rect">
            <a:avLst/>
          </a:prstGeom>
          <a:solidFill>
            <a:srgbClr val="C9C5BA"/>
          </a:solidFill>
          <a:ln/>
        </p:spPr>
      </p:sp>
      <p:sp>
        <p:nvSpPr>
          <p:cNvPr id="5" name="Shape 3"/>
          <p:cNvSpPr/>
          <p:nvPr/>
        </p:nvSpPr>
        <p:spPr>
          <a:xfrm>
            <a:off x="6972300" y="1841500"/>
            <a:ext cx="12700" cy="3937000"/>
          </a:xfrm>
          <a:prstGeom prst="rect">
            <a:avLst/>
          </a:prstGeom>
          <a:solidFill>
            <a:srgbClr val="C9C5BA"/>
          </a:solidFill>
          <a:ln/>
        </p:spPr>
      </p:sp>
      <p:sp>
        <p:nvSpPr>
          <p:cNvPr id="6" name="Shape 4"/>
          <p:cNvSpPr/>
          <p:nvPr/>
        </p:nvSpPr>
        <p:spPr>
          <a:xfrm>
            <a:off x="8731250" y="1841500"/>
            <a:ext cx="12700" cy="3937000"/>
          </a:xfrm>
          <a:prstGeom prst="rect">
            <a:avLst/>
          </a:prstGeom>
          <a:solidFill>
            <a:srgbClr val="C9C5BA"/>
          </a:solidFill>
          <a:ln/>
        </p:spPr>
      </p:sp>
      <p:sp>
        <p:nvSpPr>
          <p:cNvPr id="7" name="Shape 5"/>
          <p:cNvSpPr/>
          <p:nvPr/>
        </p:nvSpPr>
        <p:spPr>
          <a:xfrm>
            <a:off x="10490200" y="1841500"/>
            <a:ext cx="12700" cy="3937000"/>
          </a:xfrm>
          <a:prstGeom prst="rect">
            <a:avLst/>
          </a:prstGeom>
          <a:solidFill>
            <a:srgbClr val="C9C5BA"/>
          </a:solidFill>
          <a:ln/>
        </p:spPr>
      </p:sp>
      <p:sp>
        <p:nvSpPr>
          <p:cNvPr id="8" name="Text 6"/>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B8521E"/>
                </a:solidFill>
                <a:latin typeface="JetBrains Mono" pitchFamily="49" charset="0"/>
                <a:ea typeface="JetBrains Mono" pitchFamily="49" charset="-122"/>
                <a:cs typeface="JetBrains Mono" pitchFamily="49" charset="-120"/>
              </a:rPr>
              <a:t>S3 · SEQUENCE · SCHEDULED AGENT</a:t>
            </a:r>
            <a:endParaRPr lang="en-US" sz="1200" dirty="0"/>
          </a:p>
        </p:txBody>
      </p:sp>
      <p:sp>
        <p:nvSpPr>
          <p:cNvPr id="9" name="Text 7"/>
          <p:cNvSpPr/>
          <p:nvPr>
            <p:ph type="title"/>
          </p:nvPr>
        </p:nvSpPr>
        <p:spPr>
          <a:xfrm>
            <a:off x="812800" y="10007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1A2A"/>
                </a:solidFill>
                <a:latin typeface="IBM Plex Sans KR" pitchFamily="34" charset="0"/>
                <a:ea typeface="IBM Plex Sans KR" pitchFamily="34" charset="-122"/>
                <a:cs typeface="IBM Plex Sans KR" pitchFamily="34" charset="-120"/>
              </a:rPr>
              <a:t>내부 에이전트도 게이트웨이를 loopback으로 호출</a:t>
            </a:r>
            <a:endParaRPr lang="en-US" sz="3000" dirty="0"/>
          </a:p>
        </p:txBody>
      </p:sp>
      <p:sp>
        <p:nvSpPr>
          <p:cNvPr id="10" name="Text 8"/>
          <p:cNvSpPr/>
          <p:nvPr/>
        </p:nvSpPr>
        <p:spPr>
          <a:xfrm>
            <a:off x="876300" y="1591270"/>
            <a:ext cx="1634034" cy="325090"/>
          </a:xfrm>
          <a:custGeom>
            <a:avLst/>
            <a:gdLst/>
            <a:ahLst/>
            <a:cxnLst/>
            <a:rect l="l" t="t" r="r" b="b"/>
            <a:pathLst>
              <a:path w="1634034" h="325090">
                <a:moveTo>
                  <a:pt x="50800" y="0"/>
                </a:moveTo>
                <a:lnTo>
                  <a:pt x="1583234" y="0"/>
                </a:lnTo>
                <a:arcTo hR="50800" wR="50800" stAng="16200000" swAng="5400000"/>
                <a:lnTo>
                  <a:pt x="1634034" y="274290"/>
                </a:lnTo>
                <a:arcTo hR="50800" wR="50800" stAng="0" swAng="5400000"/>
                <a:lnTo>
                  <a:pt x="50800" y="325090"/>
                </a:lnTo>
                <a:arcTo hR="50800" wR="50800" stAng="5400000" swAng="5400000"/>
                <a:lnTo>
                  <a:pt x="0" y="50800"/>
                </a:lnTo>
                <a:arcTo hR="50800" wR="50800" stAng="10800000" swAng="5400000"/>
                <a:close/>
              </a:path>
            </a:pathLst>
          </a:custGeom>
          <a:solidFill>
            <a:srgbClr val="131A2A"/>
          </a:solidFill>
          <a:ln/>
        </p:spPr>
        <p:txBody>
          <a:bodyPr wrap="square" lIns="25400" tIns="63500" rIns="25400" bIns="38100" rtlCol="0" anchor="t">
            <a:normAutofit/>
          </a:bodyPr>
          <a:lstStyle/>
          <a:p>
            <a:pPr algn="ctr" indent="0" marL="0">
              <a:lnSpc>
                <a:spcPts val="1560"/>
              </a:lnSpc>
              <a:buNone/>
            </a:pPr>
            <a:r>
              <a:rPr lang="en-US" sz="1200" dirty="0">
                <a:solidFill>
                  <a:srgbClr val="F4F3EE"/>
                </a:solidFill>
                <a:latin typeface="IBM Plex Sans KR" pitchFamily="34" charset="0"/>
                <a:ea typeface="IBM Plex Sans KR" pitchFamily="34" charset="-122"/>
                <a:cs typeface="IBM Plex Sans KR" pitchFamily="34" charset="-120"/>
              </a:rPr>
              <a:t>Worker</a:t>
            </a:r>
            <a:endParaRPr lang="en-US" sz="1200" dirty="0"/>
          </a:p>
        </p:txBody>
      </p:sp>
      <p:sp>
        <p:nvSpPr>
          <p:cNvPr id="11" name="Text 9"/>
          <p:cNvSpPr/>
          <p:nvPr/>
        </p:nvSpPr>
        <p:spPr>
          <a:xfrm>
            <a:off x="2637334" y="1591270"/>
            <a:ext cx="1634083" cy="325090"/>
          </a:xfrm>
          <a:custGeom>
            <a:avLst/>
            <a:gdLst/>
            <a:ahLst/>
            <a:cxnLst/>
            <a:rect l="l" t="t" r="r" b="b"/>
            <a:pathLst>
              <a:path w="1634083" h="325090">
                <a:moveTo>
                  <a:pt x="50800" y="0"/>
                </a:moveTo>
                <a:lnTo>
                  <a:pt x="1583283" y="0"/>
                </a:lnTo>
                <a:arcTo hR="50800" wR="50800" stAng="16200000" swAng="5400000"/>
                <a:lnTo>
                  <a:pt x="1634083" y="274290"/>
                </a:lnTo>
                <a:arcTo hR="50800" wR="50800" stAng="0" swAng="5400000"/>
                <a:lnTo>
                  <a:pt x="50800" y="325090"/>
                </a:lnTo>
                <a:arcTo hR="50800" wR="50800" stAng="5400000" swAng="5400000"/>
                <a:lnTo>
                  <a:pt x="0" y="50800"/>
                </a:lnTo>
                <a:arcTo hR="50800" wR="50800" stAng="10800000" swAng="5400000"/>
                <a:close/>
              </a:path>
            </a:pathLst>
          </a:custGeom>
          <a:solidFill>
            <a:srgbClr val="2F5BB7"/>
          </a:solidFill>
          <a:ln/>
        </p:spPr>
        <p:txBody>
          <a:bodyPr wrap="square" lIns="25400" tIns="63500" rIns="25400" bIns="38100" rtlCol="0" anchor="t">
            <a:normAutofit/>
          </a:bodyPr>
          <a:lstStyle/>
          <a:p>
            <a:pPr algn="ctr" indent="0" marL="0">
              <a:lnSpc>
                <a:spcPts val="1560"/>
              </a:lnSpc>
              <a:buNone/>
            </a:pPr>
            <a:r>
              <a:rPr lang="en-US" sz="1200" dirty="0">
                <a:solidFill>
                  <a:srgbClr val="F4F3EE"/>
                </a:solidFill>
                <a:latin typeface="IBM Plex Sans KR" pitchFamily="34" charset="0"/>
                <a:ea typeface="IBM Plex Sans KR" pitchFamily="34" charset="-122"/>
                <a:cs typeface="IBM Plex Sans KR" pitchFamily="34" charset="-120"/>
              </a:rPr>
              <a:t>PostgreSQL</a:t>
            </a:r>
            <a:endParaRPr lang="en-US" sz="1200" dirty="0"/>
          </a:p>
        </p:txBody>
      </p:sp>
      <p:sp>
        <p:nvSpPr>
          <p:cNvPr id="12" name="Text 10"/>
          <p:cNvSpPr/>
          <p:nvPr/>
        </p:nvSpPr>
        <p:spPr>
          <a:xfrm>
            <a:off x="4398417" y="1591270"/>
            <a:ext cx="1634083" cy="325090"/>
          </a:xfrm>
          <a:custGeom>
            <a:avLst/>
            <a:gdLst/>
            <a:ahLst/>
            <a:cxnLst/>
            <a:rect l="l" t="t" r="r" b="b"/>
            <a:pathLst>
              <a:path w="1634083" h="325090">
                <a:moveTo>
                  <a:pt x="50800" y="0"/>
                </a:moveTo>
                <a:lnTo>
                  <a:pt x="1583283" y="0"/>
                </a:lnTo>
                <a:arcTo hR="50800" wR="50800" stAng="16200000" swAng="5400000"/>
                <a:lnTo>
                  <a:pt x="1634083" y="274290"/>
                </a:lnTo>
                <a:arcTo hR="50800" wR="50800" stAng="0" swAng="5400000"/>
                <a:lnTo>
                  <a:pt x="50800" y="325090"/>
                </a:lnTo>
                <a:arcTo hR="50800" wR="50800" stAng="5400000" swAng="5400000"/>
                <a:lnTo>
                  <a:pt x="0" y="50800"/>
                </a:lnTo>
                <a:arcTo hR="50800" wR="50800" stAng="10800000" swAng="5400000"/>
                <a:close/>
              </a:path>
            </a:pathLst>
          </a:custGeom>
          <a:solidFill>
            <a:srgbClr val="D9652B"/>
          </a:solidFill>
          <a:ln/>
        </p:spPr>
        <p:txBody>
          <a:bodyPr wrap="square" lIns="25400" tIns="63500" rIns="25400" bIns="38100" rtlCol="0" anchor="t">
            <a:normAutofit/>
          </a:bodyPr>
          <a:lstStyle/>
          <a:p>
            <a:pPr algn="ctr" indent="0" marL="0">
              <a:lnSpc>
                <a:spcPts val="1560"/>
              </a:lnSpc>
              <a:buNone/>
            </a:pPr>
            <a:r>
              <a:rPr lang="en-US" sz="1200" dirty="0">
                <a:solidFill>
                  <a:srgbClr val="131A2A"/>
                </a:solidFill>
                <a:latin typeface="IBM Plex Sans KR" pitchFamily="34" charset="0"/>
                <a:ea typeface="IBM Plex Sans KR" pitchFamily="34" charset="-122"/>
                <a:cs typeface="IBM Plex Sans KR" pitchFamily="34" charset="-120"/>
              </a:rPr>
              <a:t>에이전트 실행기</a:t>
            </a:r>
            <a:endParaRPr lang="en-US" sz="1200" dirty="0"/>
          </a:p>
        </p:txBody>
      </p:sp>
      <p:sp>
        <p:nvSpPr>
          <p:cNvPr id="13" name="Text 11"/>
          <p:cNvSpPr/>
          <p:nvPr/>
        </p:nvSpPr>
        <p:spPr>
          <a:xfrm>
            <a:off x="6159500" y="1591270"/>
            <a:ext cx="1634034" cy="325090"/>
          </a:xfrm>
          <a:custGeom>
            <a:avLst/>
            <a:gdLst/>
            <a:ahLst/>
            <a:cxnLst/>
            <a:rect l="l" t="t" r="r" b="b"/>
            <a:pathLst>
              <a:path w="1634034" h="325090">
                <a:moveTo>
                  <a:pt x="50800" y="0"/>
                </a:moveTo>
                <a:lnTo>
                  <a:pt x="1583234" y="0"/>
                </a:lnTo>
                <a:arcTo hR="50800" wR="50800" stAng="16200000" swAng="5400000"/>
                <a:lnTo>
                  <a:pt x="1634034" y="274290"/>
                </a:lnTo>
                <a:arcTo hR="50800" wR="50800" stAng="0" swAng="5400000"/>
                <a:lnTo>
                  <a:pt x="50800" y="325090"/>
                </a:lnTo>
                <a:arcTo hR="50800" wR="50800" stAng="5400000" swAng="5400000"/>
                <a:lnTo>
                  <a:pt x="0" y="50800"/>
                </a:lnTo>
                <a:arcTo hR="50800" wR="50800" stAng="10800000" swAng="5400000"/>
                <a:close/>
              </a:path>
            </a:pathLst>
          </a:custGeom>
          <a:solidFill>
            <a:srgbClr val="131A2A"/>
          </a:solidFill>
          <a:ln/>
        </p:spPr>
        <p:txBody>
          <a:bodyPr wrap="square" lIns="25400" tIns="63500" rIns="25400" bIns="38100" rtlCol="0" anchor="t">
            <a:normAutofit/>
          </a:bodyPr>
          <a:lstStyle/>
          <a:p>
            <a:pPr algn="ctr" indent="0" marL="0">
              <a:lnSpc>
                <a:spcPts val="1560"/>
              </a:lnSpc>
              <a:buNone/>
            </a:pPr>
            <a:r>
              <a:rPr lang="en-US" sz="1200" dirty="0">
                <a:solidFill>
                  <a:srgbClr val="F4F3EE"/>
                </a:solidFill>
                <a:latin typeface="IBM Plex Sans KR" pitchFamily="34" charset="0"/>
                <a:ea typeface="IBM Plex Sans KR" pitchFamily="34" charset="-122"/>
                <a:cs typeface="IBM Plex Sans KR" pitchFamily="34" charset="-120"/>
              </a:rPr>
              <a:t>MCP Gateway</a:t>
            </a:r>
            <a:endParaRPr lang="en-US" sz="1200" dirty="0"/>
          </a:p>
        </p:txBody>
      </p:sp>
      <p:sp>
        <p:nvSpPr>
          <p:cNvPr id="14" name="Text 12"/>
          <p:cNvSpPr/>
          <p:nvPr/>
        </p:nvSpPr>
        <p:spPr>
          <a:xfrm>
            <a:off x="7920534" y="1591270"/>
            <a:ext cx="1634083" cy="325090"/>
          </a:xfrm>
          <a:custGeom>
            <a:avLst/>
            <a:gdLst/>
            <a:ahLst/>
            <a:cxnLst/>
            <a:rect l="l" t="t" r="r" b="b"/>
            <a:pathLst>
              <a:path w="1634083" h="325090">
                <a:moveTo>
                  <a:pt x="50800" y="0"/>
                </a:moveTo>
                <a:lnTo>
                  <a:pt x="1583283" y="0"/>
                </a:lnTo>
                <a:arcTo hR="50800" wR="50800" stAng="16200000" swAng="5400000"/>
                <a:lnTo>
                  <a:pt x="1634083" y="274290"/>
                </a:lnTo>
                <a:arcTo hR="50800" wR="50800" stAng="0" swAng="5400000"/>
                <a:lnTo>
                  <a:pt x="50800" y="325090"/>
                </a:lnTo>
                <a:arcTo hR="50800" wR="50800" stAng="5400000" swAng="5400000"/>
                <a:lnTo>
                  <a:pt x="0" y="50800"/>
                </a:lnTo>
                <a:arcTo hR="50800" wR="50800" stAng="10800000" swAng="5400000"/>
                <a:close/>
              </a:path>
            </a:pathLst>
          </a:custGeom>
          <a:solidFill>
            <a:srgbClr val="131A2A"/>
          </a:solidFill>
          <a:ln/>
        </p:spPr>
        <p:txBody>
          <a:bodyPr wrap="square" lIns="25400" tIns="63500" rIns="25400" bIns="38100" rtlCol="0" anchor="t">
            <a:normAutofit/>
          </a:bodyPr>
          <a:lstStyle/>
          <a:p>
            <a:pPr algn="ctr" indent="0" marL="0">
              <a:lnSpc>
                <a:spcPts val="1560"/>
              </a:lnSpc>
              <a:buNone/>
            </a:pPr>
            <a:r>
              <a:rPr lang="en-US" sz="1200" dirty="0">
                <a:solidFill>
                  <a:srgbClr val="F4F3EE"/>
                </a:solidFill>
                <a:latin typeface="IBM Plex Sans KR" pitchFamily="34" charset="0"/>
                <a:ea typeface="IBM Plex Sans KR" pitchFamily="34" charset="-122"/>
                <a:cs typeface="IBM Plex Sans KR" pitchFamily="34" charset="-120"/>
              </a:rPr>
              <a:t>LLM Proxy</a:t>
            </a:r>
            <a:endParaRPr lang="en-US" sz="1200" dirty="0"/>
          </a:p>
        </p:txBody>
      </p:sp>
      <p:sp>
        <p:nvSpPr>
          <p:cNvPr id="15" name="Text 13"/>
          <p:cNvSpPr/>
          <p:nvPr/>
        </p:nvSpPr>
        <p:spPr>
          <a:xfrm>
            <a:off x="9681617" y="1591270"/>
            <a:ext cx="1634083" cy="325090"/>
          </a:xfrm>
          <a:custGeom>
            <a:avLst/>
            <a:gdLst/>
            <a:ahLst/>
            <a:cxnLst/>
            <a:rect l="l" t="t" r="r" b="b"/>
            <a:pathLst>
              <a:path w="1634083" h="325090">
                <a:moveTo>
                  <a:pt x="50800" y="0"/>
                </a:moveTo>
                <a:lnTo>
                  <a:pt x="1583283" y="0"/>
                </a:lnTo>
                <a:arcTo hR="50800" wR="50800" stAng="16200000" swAng="5400000"/>
                <a:lnTo>
                  <a:pt x="1634083" y="274290"/>
                </a:lnTo>
                <a:arcTo hR="50800" wR="50800" stAng="0" swAng="5400000"/>
                <a:lnTo>
                  <a:pt x="50800" y="325090"/>
                </a:lnTo>
                <a:arcTo hR="50800" wR="50800" stAng="5400000" swAng="5400000"/>
                <a:lnTo>
                  <a:pt x="0" y="50800"/>
                </a:lnTo>
                <a:arcTo hR="50800" wR="50800" stAng="10800000" swAng="5400000"/>
                <a:close/>
              </a:path>
            </a:pathLst>
          </a:custGeom>
          <a:solidFill>
            <a:srgbClr val="131A2A"/>
          </a:solidFill>
          <a:ln/>
        </p:spPr>
        <p:txBody>
          <a:bodyPr wrap="square" lIns="25400" tIns="63500" rIns="25400" bIns="38100" rtlCol="0" anchor="t">
            <a:normAutofit/>
          </a:bodyPr>
          <a:lstStyle/>
          <a:p>
            <a:pPr algn="ctr" indent="0" marL="0">
              <a:lnSpc>
                <a:spcPts val="1560"/>
              </a:lnSpc>
              <a:buNone/>
            </a:pPr>
            <a:r>
              <a:rPr lang="en-US" sz="1200" dirty="0">
                <a:solidFill>
                  <a:srgbClr val="F4F3EE"/>
                </a:solidFill>
                <a:latin typeface="IBM Plex Sans KR" pitchFamily="34" charset="0"/>
                <a:ea typeface="IBM Plex Sans KR" pitchFamily="34" charset="-122"/>
                <a:cs typeface="IBM Plex Sans KR" pitchFamily="34" charset="-120"/>
              </a:rPr>
              <a:t>Chat·채널</a:t>
            </a:r>
            <a:endParaRPr lang="en-US" sz="1200" dirty="0"/>
          </a:p>
        </p:txBody>
      </p:sp>
      <p:sp>
        <p:nvSpPr>
          <p:cNvPr id="16" name="Text 14"/>
          <p:cNvSpPr/>
          <p:nvPr/>
        </p:nvSpPr>
        <p:spPr>
          <a:xfrm>
            <a:off x="1936948" y="1941761"/>
            <a:ext cx="1273770"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B8521E"/>
                </a:solidFill>
                <a:latin typeface="IBM Plex Sans KR" pitchFamily="34" charset="0"/>
                <a:ea typeface="IBM Plex Sans KR" pitchFamily="34" charset="-122"/>
                <a:cs typeface="IBM Plex Sans KR" pitchFamily="34" charset="-120"/>
              </a:rPr>
              <a:t>1</a:t>
            </a:r>
            <a:r>
              <a:rPr lang="en-US" sz="1200" dirty="0">
                <a:solidFill>
                  <a:srgbClr val="131A2A"/>
                </a:solidFill>
                <a:latin typeface="IBM Plex Sans KR" pitchFamily="34" charset="0"/>
                <a:ea typeface="IBM Plex Sans KR" pitchFamily="34" charset="-122"/>
                <a:cs typeface="IBM Plex Sans KR" pitchFamily="34" charset="-120"/>
              </a:rPr>
              <a:t> 태스크 dequeue</a:t>
            </a:r>
            <a:endParaRPr lang="en-US" sz="1200" dirty="0"/>
          </a:p>
        </p:txBody>
      </p:sp>
      <p:sp>
        <p:nvSpPr>
          <p:cNvPr id="17" name="Shape 15"/>
          <p:cNvSpPr/>
          <p:nvPr/>
        </p:nvSpPr>
        <p:spPr>
          <a:xfrm>
            <a:off x="1693317" y="2195761"/>
            <a:ext cx="1634083" cy="0"/>
          </a:xfrm>
          <a:prstGeom prst="line">
            <a:avLst/>
          </a:prstGeom>
          <a:noFill/>
          <a:ln w="19050">
            <a:solidFill>
              <a:srgbClr val="131A2A"/>
            </a:solidFill>
            <a:prstDash val="solid"/>
          </a:ln>
        </p:spPr>
      </p:sp>
      <p:pic>
        <p:nvPicPr>
          <p:cNvPr id="18" name="Image 0" descr="arrow-right">    </p:cNvPr>
          <p:cNvPicPr>
            <a:picLocks noChangeAspect="1"/>
          </p:cNvPicPr>
          <p:nvPr/>
        </p:nvPicPr>
        <p:blipFill>
          <a:blip r:embed="rId1"/>
          <a:srcRect l="0" r="0" t="0" b="0"/>
          <a:stretch/>
        </p:blipFill>
        <p:spPr>
          <a:xfrm>
            <a:off x="3327400" y="2144961"/>
            <a:ext cx="127000" cy="101600"/>
          </a:xfrm>
          <a:prstGeom prst="rect">
            <a:avLst/>
          </a:prstGeom>
        </p:spPr>
      </p:pic>
      <p:sp>
        <p:nvSpPr>
          <p:cNvPr id="19" name="Text 16"/>
          <p:cNvSpPr/>
          <p:nvPr/>
        </p:nvSpPr>
        <p:spPr>
          <a:xfrm>
            <a:off x="1866454" y="2271961"/>
            <a:ext cx="1414760"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B8521E"/>
                </a:solidFill>
                <a:latin typeface="IBM Plex Sans KR" pitchFamily="34" charset="0"/>
                <a:ea typeface="IBM Plex Sans KR" pitchFamily="34" charset="-122"/>
                <a:cs typeface="IBM Plex Sans KR" pitchFamily="34" charset="-120"/>
              </a:rPr>
              <a:t>2</a:t>
            </a:r>
            <a:r>
              <a:rPr lang="en-US" sz="1200" dirty="0">
                <a:solidFill>
                  <a:srgbClr val="131A2A"/>
                </a:solidFill>
                <a:latin typeface="IBM Plex Sans KR" pitchFamily="34" charset="0"/>
                <a:ea typeface="IBM Plex Sans KR" pitchFamily="34" charset="-122"/>
                <a:cs typeface="IBM Plex Sans KR" pitchFamily="34" charset="-120"/>
              </a:rPr>
              <a:t> run 생성·enqueue</a:t>
            </a:r>
            <a:endParaRPr lang="en-US" sz="1200" dirty="0"/>
          </a:p>
        </p:txBody>
      </p:sp>
      <p:sp>
        <p:nvSpPr>
          <p:cNvPr id="20" name="Shape 17"/>
          <p:cNvSpPr/>
          <p:nvPr/>
        </p:nvSpPr>
        <p:spPr>
          <a:xfrm>
            <a:off x="1693317" y="2525961"/>
            <a:ext cx="1634083" cy="0"/>
          </a:xfrm>
          <a:prstGeom prst="line">
            <a:avLst/>
          </a:prstGeom>
          <a:noFill/>
          <a:ln w="19050">
            <a:solidFill>
              <a:srgbClr val="131A2A"/>
            </a:solidFill>
            <a:prstDash val="solid"/>
          </a:ln>
        </p:spPr>
      </p:sp>
      <p:pic>
        <p:nvPicPr>
          <p:cNvPr id="21" name="Image 1" descr="arrow-right">    </p:cNvPr>
          <p:cNvPicPr>
            <a:picLocks noChangeAspect="1"/>
          </p:cNvPicPr>
          <p:nvPr/>
        </p:nvPicPr>
        <p:blipFill>
          <a:blip r:embed="rId2"/>
          <a:srcRect l="0" r="0" t="0" b="0"/>
          <a:stretch/>
        </p:blipFill>
        <p:spPr>
          <a:xfrm>
            <a:off x="3327400" y="2475161"/>
            <a:ext cx="127000" cy="101600"/>
          </a:xfrm>
          <a:prstGeom prst="rect">
            <a:avLst/>
          </a:prstGeom>
        </p:spPr>
      </p:pic>
      <p:sp>
        <p:nvSpPr>
          <p:cNvPr id="22" name="Text 18"/>
          <p:cNvSpPr/>
          <p:nvPr/>
        </p:nvSpPr>
        <p:spPr>
          <a:xfrm>
            <a:off x="2409428" y="2602161"/>
            <a:ext cx="2089894"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B8521E"/>
                </a:solidFill>
                <a:latin typeface="IBM Plex Sans KR" pitchFamily="34" charset="0"/>
                <a:ea typeface="IBM Plex Sans KR" pitchFamily="34" charset="-122"/>
                <a:cs typeface="IBM Plex Sans KR" pitchFamily="34" charset="-120"/>
              </a:rPr>
              <a:t>3</a:t>
            </a:r>
            <a:r>
              <a:rPr lang="en-US" sz="1200" dirty="0">
                <a:solidFill>
                  <a:srgbClr val="131A2A"/>
                </a:solidFill>
                <a:latin typeface="IBM Plex Sans KR" pitchFamily="34" charset="0"/>
                <a:ea typeface="IBM Plex Sans KR" pitchFamily="34" charset="-122"/>
                <a:cs typeface="IBM Plex Sans KR" pitchFamily="34" charset="-120"/>
              </a:rPr>
              <a:t> 실행 핸들러 · 실행자 권한 확인</a:t>
            </a:r>
            <a:endParaRPr lang="en-US" sz="1200" dirty="0"/>
          </a:p>
        </p:txBody>
      </p:sp>
      <p:sp>
        <p:nvSpPr>
          <p:cNvPr id="23" name="Shape 19"/>
          <p:cNvSpPr/>
          <p:nvPr/>
        </p:nvSpPr>
        <p:spPr>
          <a:xfrm>
            <a:off x="1693317" y="2856161"/>
            <a:ext cx="3395117" cy="0"/>
          </a:xfrm>
          <a:prstGeom prst="line">
            <a:avLst/>
          </a:prstGeom>
          <a:noFill/>
          <a:ln w="19050">
            <a:solidFill>
              <a:srgbClr val="131A2A"/>
            </a:solidFill>
            <a:prstDash val="solid"/>
          </a:ln>
        </p:spPr>
      </p:sp>
      <p:pic>
        <p:nvPicPr>
          <p:cNvPr id="24" name="Image 2" descr="arrow-right">    </p:cNvPr>
          <p:cNvPicPr>
            <a:picLocks noChangeAspect="1"/>
          </p:cNvPicPr>
          <p:nvPr/>
        </p:nvPicPr>
        <p:blipFill>
          <a:blip r:embed="rId3"/>
          <a:srcRect l="0" r="0" t="0" b="0"/>
          <a:stretch/>
        </p:blipFill>
        <p:spPr>
          <a:xfrm>
            <a:off x="5088434" y="2805361"/>
            <a:ext cx="127000" cy="101600"/>
          </a:xfrm>
          <a:prstGeom prst="rect">
            <a:avLst/>
          </a:prstGeom>
        </p:spPr>
      </p:pic>
      <p:sp>
        <p:nvSpPr>
          <p:cNvPr id="25" name="Text 20"/>
          <p:cNvSpPr/>
          <p:nvPr/>
        </p:nvSpPr>
        <p:spPr>
          <a:xfrm>
            <a:off x="3457575" y="2935536"/>
            <a:ext cx="3515767" cy="273050"/>
          </a:xfrm>
          <a:prstGeom prst="roundRect">
            <a:avLst>
              <a:gd name="adj" fmla="val 17442"/>
            </a:avLst>
          </a:prstGeom>
          <a:solidFill>
            <a:srgbClr val="FBE3D3"/>
          </a:solidFill>
          <a:ln w="6350">
            <a:solidFill>
              <a:srgbClr val="D9652B"/>
            </a:solidFill>
            <a:prstDash val="solid"/>
          </a:ln>
        </p:spPr>
        <p:txBody>
          <a:bodyPr wrap="square" lIns="1990" tIns="27326" rIns="1990" bIns="1926" rtlCol="0" anchor="t">
            <a:normAutofit/>
          </a:bodyPr>
          <a:lstStyle/>
          <a:p>
            <a:pPr algn="ctr" indent="0" marL="0">
              <a:lnSpc>
                <a:spcPts val="1500"/>
              </a:lnSpc>
              <a:buNone/>
            </a:pPr>
            <a:r>
              <a:rPr lang="en-US" sz="1200" dirty="0">
                <a:solidFill>
                  <a:srgbClr val="B8521E"/>
                </a:solidFill>
                <a:latin typeface="IBM Plex Sans KR" pitchFamily="34" charset="0"/>
                <a:ea typeface="IBM Plex Sans KR" pitchFamily="34" charset="-122"/>
                <a:cs typeface="IBM Plex Sans KR" pitchFamily="34" charset="-120"/>
              </a:rPr>
              <a:t>4</a:t>
            </a:r>
            <a:r>
              <a:rPr lang="en-US" sz="1200" dirty="0">
                <a:solidFill>
                  <a:srgbClr val="131A2A"/>
                </a:solidFill>
                <a:latin typeface="IBM Plex Sans KR" pitchFamily="34" charset="0"/>
                <a:ea typeface="IBM Plex Sans KR" pitchFamily="34" charset="-122"/>
                <a:cs typeface="IBM Plex Sans KR" pitchFamily="34" charset="-120"/>
              </a:rPr>
              <a:t> 대화 생성 · 프롬프트·스킬 구성</a:t>
            </a:r>
            <a:endParaRPr lang="en-US" sz="1200" dirty="0"/>
          </a:p>
        </p:txBody>
      </p:sp>
      <p:sp>
        <p:nvSpPr>
          <p:cNvPr id="26" name="Text 21"/>
          <p:cNvSpPr/>
          <p:nvPr/>
        </p:nvSpPr>
        <p:spPr>
          <a:xfrm>
            <a:off x="5679529" y="3237161"/>
            <a:ext cx="832892"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B8521E"/>
                </a:solidFill>
                <a:latin typeface="IBM Plex Sans KR" pitchFamily="34" charset="0"/>
                <a:ea typeface="IBM Plex Sans KR" pitchFamily="34" charset="-122"/>
                <a:cs typeface="IBM Plex Sans KR" pitchFamily="34" charset="-120"/>
              </a:rPr>
              <a:t>5</a:t>
            </a:r>
            <a:r>
              <a:rPr lang="en-US" sz="1200" dirty="0">
                <a:solidFill>
                  <a:srgbClr val="131A2A"/>
                </a:solidFill>
                <a:latin typeface="IBM Plex Sans KR" pitchFamily="34" charset="0"/>
                <a:ea typeface="IBM Plex Sans KR" pitchFamily="34" charset="-122"/>
                <a:cs typeface="IBM Plex Sans KR" pitchFamily="34" charset="-120"/>
              </a:rPr>
              <a:t> tools/list</a:t>
            </a:r>
            <a:endParaRPr lang="en-US" sz="1200" dirty="0"/>
          </a:p>
        </p:txBody>
      </p:sp>
      <p:sp>
        <p:nvSpPr>
          <p:cNvPr id="27" name="Shape 22"/>
          <p:cNvSpPr/>
          <p:nvPr/>
        </p:nvSpPr>
        <p:spPr>
          <a:xfrm>
            <a:off x="5215434" y="3491161"/>
            <a:ext cx="1634083" cy="0"/>
          </a:xfrm>
          <a:prstGeom prst="line">
            <a:avLst/>
          </a:prstGeom>
          <a:noFill/>
          <a:ln w="19050">
            <a:solidFill>
              <a:srgbClr val="131A2A"/>
            </a:solidFill>
            <a:prstDash val="solid"/>
          </a:ln>
        </p:spPr>
      </p:sp>
      <p:pic>
        <p:nvPicPr>
          <p:cNvPr id="28" name="Image 3" descr="arrow-right">    </p:cNvPr>
          <p:cNvPicPr>
            <a:picLocks noChangeAspect="1"/>
          </p:cNvPicPr>
          <p:nvPr/>
        </p:nvPicPr>
        <p:blipFill>
          <a:blip r:embed="rId4"/>
          <a:srcRect l="0" r="0" t="0" b="0"/>
          <a:stretch/>
        </p:blipFill>
        <p:spPr>
          <a:xfrm>
            <a:off x="6849517" y="3440361"/>
            <a:ext cx="127000" cy="101600"/>
          </a:xfrm>
          <a:prstGeom prst="rect">
            <a:avLst/>
          </a:prstGeom>
        </p:spPr>
      </p:pic>
      <p:sp>
        <p:nvSpPr>
          <p:cNvPr id="29" name="Text 23"/>
          <p:cNvSpPr/>
          <p:nvPr/>
        </p:nvSpPr>
        <p:spPr>
          <a:xfrm>
            <a:off x="6054378" y="3567361"/>
            <a:ext cx="1844229"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B8521E"/>
                </a:solidFill>
                <a:latin typeface="IBM Plex Sans KR" pitchFamily="34" charset="0"/>
                <a:ea typeface="IBM Plex Sans KR" pitchFamily="34" charset="-122"/>
                <a:cs typeface="IBM Plex Sans KR" pitchFamily="34" charset="-120"/>
              </a:rPr>
              <a:t>6</a:t>
            </a:r>
            <a:r>
              <a:rPr lang="en-US" sz="1200" dirty="0">
                <a:solidFill>
                  <a:srgbClr val="131A2A"/>
                </a:solidFill>
                <a:latin typeface="IBM Plex Sans KR" pitchFamily="34" charset="0"/>
                <a:ea typeface="IBM Plex Sans KR" pitchFamily="34" charset="-122"/>
                <a:cs typeface="IBM Plex Sans KR" pitchFamily="34" charset="-120"/>
              </a:rPr>
              <a:t> streamText (사용자 신원)</a:t>
            </a:r>
            <a:endParaRPr lang="en-US" sz="1200" dirty="0"/>
          </a:p>
        </p:txBody>
      </p:sp>
      <p:sp>
        <p:nvSpPr>
          <p:cNvPr id="30" name="Shape 24"/>
          <p:cNvSpPr/>
          <p:nvPr/>
        </p:nvSpPr>
        <p:spPr>
          <a:xfrm>
            <a:off x="5215434" y="3821361"/>
            <a:ext cx="3395166" cy="0"/>
          </a:xfrm>
          <a:prstGeom prst="line">
            <a:avLst/>
          </a:prstGeom>
          <a:noFill/>
          <a:ln w="19050">
            <a:solidFill>
              <a:srgbClr val="131A2A"/>
            </a:solidFill>
            <a:prstDash val="solid"/>
          </a:ln>
        </p:spPr>
      </p:sp>
      <p:pic>
        <p:nvPicPr>
          <p:cNvPr id="31" name="Image 4" descr="arrow-right">    </p:cNvPr>
          <p:cNvPicPr>
            <a:picLocks noChangeAspect="1"/>
          </p:cNvPicPr>
          <p:nvPr/>
        </p:nvPicPr>
        <p:blipFill>
          <a:blip r:embed="rId5"/>
          <a:srcRect l="0" r="0" t="0" b="0"/>
          <a:stretch/>
        </p:blipFill>
        <p:spPr>
          <a:xfrm>
            <a:off x="8610600" y="3770561"/>
            <a:ext cx="127000" cy="101600"/>
          </a:xfrm>
          <a:prstGeom prst="rect">
            <a:avLst/>
          </a:prstGeom>
        </p:spPr>
      </p:pic>
      <p:sp>
        <p:nvSpPr>
          <p:cNvPr id="32" name="Text 25"/>
          <p:cNvSpPr/>
          <p:nvPr/>
        </p:nvSpPr>
        <p:spPr>
          <a:xfrm>
            <a:off x="6565702" y="3897561"/>
            <a:ext cx="821581"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B8521E"/>
                </a:solidFill>
                <a:latin typeface="IBM Plex Sans KR" pitchFamily="34" charset="0"/>
                <a:ea typeface="IBM Plex Sans KR" pitchFamily="34" charset="-122"/>
                <a:cs typeface="IBM Plex Sans KR" pitchFamily="34" charset="-120"/>
              </a:rPr>
              <a:t>7</a:t>
            </a:r>
            <a:r>
              <a:rPr lang="en-US" sz="1200" dirty="0">
                <a:solidFill>
                  <a:srgbClr val="4A5263"/>
                </a:solidFill>
                <a:latin typeface="IBM Plex Sans KR" pitchFamily="34" charset="0"/>
                <a:ea typeface="IBM Plex Sans KR" pitchFamily="34" charset="-122"/>
                <a:cs typeface="IBM Plex Sans KR" pitchFamily="34" charset="-120"/>
              </a:rPr>
              <a:t> tool_use</a:t>
            </a:r>
            <a:endParaRPr lang="en-US" sz="1200" dirty="0"/>
          </a:p>
        </p:txBody>
      </p:sp>
      <p:pic>
        <p:nvPicPr>
          <p:cNvPr id="33" name="Image 5" descr="arrow-left">    </p:cNvPr>
          <p:cNvPicPr>
            <a:picLocks noChangeAspect="1"/>
          </p:cNvPicPr>
          <p:nvPr/>
        </p:nvPicPr>
        <p:blipFill>
          <a:blip r:embed="rId6"/>
          <a:srcRect l="0" r="0" t="0" b="0"/>
          <a:stretch/>
        </p:blipFill>
        <p:spPr>
          <a:xfrm>
            <a:off x="5215434" y="4100761"/>
            <a:ext cx="127000" cy="101600"/>
          </a:xfrm>
          <a:prstGeom prst="rect">
            <a:avLst/>
          </a:prstGeom>
        </p:spPr>
      </p:pic>
      <p:sp>
        <p:nvSpPr>
          <p:cNvPr id="34" name="Shape 26"/>
          <p:cNvSpPr/>
          <p:nvPr/>
        </p:nvSpPr>
        <p:spPr>
          <a:xfrm>
            <a:off x="5342434" y="4151561"/>
            <a:ext cx="3395166" cy="0"/>
          </a:xfrm>
          <a:prstGeom prst="line">
            <a:avLst/>
          </a:prstGeom>
          <a:noFill/>
          <a:ln w="19050">
            <a:solidFill>
              <a:srgbClr val="6B7385"/>
            </a:solidFill>
            <a:prstDash val="dash"/>
          </a:ln>
        </p:spPr>
      </p:sp>
      <p:sp>
        <p:nvSpPr>
          <p:cNvPr id="35" name="Text 27"/>
          <p:cNvSpPr/>
          <p:nvPr/>
        </p:nvSpPr>
        <p:spPr>
          <a:xfrm>
            <a:off x="5475238" y="4227761"/>
            <a:ext cx="1241475"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B8521E"/>
                </a:solidFill>
                <a:latin typeface="IBM Plex Sans KR" pitchFamily="34" charset="0"/>
                <a:ea typeface="IBM Plex Sans KR" pitchFamily="34" charset="-122"/>
                <a:cs typeface="IBM Plex Sans KR" pitchFamily="34" charset="-120"/>
              </a:rPr>
              <a:t>8</a:t>
            </a:r>
            <a:r>
              <a:rPr lang="en-US" sz="1200" dirty="0">
                <a:solidFill>
                  <a:srgbClr val="131A2A"/>
                </a:solidFill>
                <a:latin typeface="IBM Plex Sans KR" pitchFamily="34" charset="0"/>
                <a:ea typeface="IBM Plex Sans KR" pitchFamily="34" charset="-122"/>
                <a:cs typeface="IBM Plex Sans KR" pitchFamily="34" charset="-120"/>
              </a:rPr>
              <a:t> tools/call → S2</a:t>
            </a:r>
            <a:endParaRPr lang="en-US" sz="1200" dirty="0"/>
          </a:p>
        </p:txBody>
      </p:sp>
      <p:sp>
        <p:nvSpPr>
          <p:cNvPr id="36" name="Shape 28"/>
          <p:cNvSpPr/>
          <p:nvPr/>
        </p:nvSpPr>
        <p:spPr>
          <a:xfrm>
            <a:off x="5215434" y="4481761"/>
            <a:ext cx="1634083" cy="0"/>
          </a:xfrm>
          <a:prstGeom prst="line">
            <a:avLst/>
          </a:prstGeom>
          <a:noFill/>
          <a:ln w="19050">
            <a:solidFill>
              <a:srgbClr val="131A2A"/>
            </a:solidFill>
            <a:prstDash val="solid"/>
          </a:ln>
        </p:spPr>
      </p:sp>
      <p:pic>
        <p:nvPicPr>
          <p:cNvPr id="37" name="Image 6" descr="arrow-right">    </p:cNvPr>
          <p:cNvPicPr>
            <a:picLocks noChangeAspect="1"/>
          </p:cNvPicPr>
          <p:nvPr/>
        </p:nvPicPr>
        <p:blipFill>
          <a:blip r:embed="rId7"/>
          <a:srcRect l="0" r="0" t="0" b="0"/>
          <a:stretch/>
        </p:blipFill>
        <p:spPr>
          <a:xfrm>
            <a:off x="6849517" y="4430961"/>
            <a:ext cx="127000" cy="101600"/>
          </a:xfrm>
          <a:prstGeom prst="rect">
            <a:avLst/>
          </a:prstGeom>
        </p:spPr>
      </p:pic>
      <p:sp>
        <p:nvSpPr>
          <p:cNvPr id="38" name="Text 29"/>
          <p:cNvSpPr/>
          <p:nvPr/>
        </p:nvSpPr>
        <p:spPr>
          <a:xfrm>
            <a:off x="5691584" y="4557961"/>
            <a:ext cx="808782"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B8521E"/>
                </a:solidFill>
                <a:latin typeface="IBM Plex Sans KR" pitchFamily="34" charset="0"/>
                <a:ea typeface="IBM Plex Sans KR" pitchFamily="34" charset="-122"/>
                <a:cs typeface="IBM Plex Sans KR" pitchFamily="34" charset="-120"/>
              </a:rPr>
              <a:t>9</a:t>
            </a:r>
            <a:r>
              <a:rPr lang="en-US" sz="1200" dirty="0">
                <a:solidFill>
                  <a:srgbClr val="4A5263"/>
                </a:solidFill>
                <a:latin typeface="IBM Plex Sans KR" pitchFamily="34" charset="0"/>
                <a:ea typeface="IBM Plex Sans KR" pitchFamily="34" charset="-122"/>
                <a:cs typeface="IBM Plex Sans KR" pitchFamily="34" charset="-120"/>
              </a:rPr>
              <a:t> 도구 결과</a:t>
            </a:r>
            <a:endParaRPr lang="en-US" sz="1200" dirty="0"/>
          </a:p>
        </p:txBody>
      </p:sp>
      <p:pic>
        <p:nvPicPr>
          <p:cNvPr id="39" name="Image 7" descr="arrow-left">    </p:cNvPr>
          <p:cNvPicPr>
            <a:picLocks noChangeAspect="1"/>
          </p:cNvPicPr>
          <p:nvPr/>
        </p:nvPicPr>
        <p:blipFill>
          <a:blip r:embed="rId8"/>
          <a:srcRect l="0" r="0" t="0" b="0"/>
          <a:stretch/>
        </p:blipFill>
        <p:spPr>
          <a:xfrm>
            <a:off x="5215434" y="4761161"/>
            <a:ext cx="127000" cy="101600"/>
          </a:xfrm>
          <a:prstGeom prst="rect">
            <a:avLst/>
          </a:prstGeom>
        </p:spPr>
      </p:pic>
      <p:sp>
        <p:nvSpPr>
          <p:cNvPr id="40" name="Shape 30"/>
          <p:cNvSpPr/>
          <p:nvPr/>
        </p:nvSpPr>
        <p:spPr>
          <a:xfrm>
            <a:off x="5342434" y="4811961"/>
            <a:ext cx="1634083" cy="0"/>
          </a:xfrm>
          <a:prstGeom prst="line">
            <a:avLst/>
          </a:prstGeom>
          <a:noFill/>
          <a:ln w="19050">
            <a:solidFill>
              <a:srgbClr val="6B7385"/>
            </a:solidFill>
            <a:prstDash val="dash"/>
          </a:ln>
        </p:spPr>
      </p:sp>
      <p:sp>
        <p:nvSpPr>
          <p:cNvPr id="41" name="Text 31"/>
          <p:cNvSpPr/>
          <p:nvPr/>
        </p:nvSpPr>
        <p:spPr>
          <a:xfrm>
            <a:off x="3457575" y="4891336"/>
            <a:ext cx="3515767" cy="273050"/>
          </a:xfrm>
          <a:prstGeom prst="roundRect">
            <a:avLst>
              <a:gd name="adj" fmla="val 17442"/>
            </a:avLst>
          </a:prstGeom>
          <a:solidFill>
            <a:srgbClr val="FBE3D3"/>
          </a:solidFill>
          <a:ln w="6350">
            <a:solidFill>
              <a:srgbClr val="D9652B"/>
            </a:solidFill>
            <a:prstDash val="solid"/>
          </a:ln>
        </p:spPr>
        <p:txBody>
          <a:bodyPr wrap="square" lIns="1990" tIns="27326" rIns="1990" bIns="1926" rtlCol="0" anchor="t">
            <a:normAutofit/>
          </a:bodyPr>
          <a:lstStyle/>
          <a:p>
            <a:pPr algn="ctr" indent="0" marL="0">
              <a:lnSpc>
                <a:spcPts val="1500"/>
              </a:lnSpc>
              <a:buNone/>
            </a:pPr>
            <a:r>
              <a:rPr lang="en-US" sz="1200" dirty="0">
                <a:solidFill>
                  <a:srgbClr val="B8521E"/>
                </a:solidFill>
                <a:latin typeface="IBM Plex Sans KR" pitchFamily="34" charset="0"/>
                <a:ea typeface="IBM Plex Sans KR" pitchFamily="34" charset="-122"/>
                <a:cs typeface="IBM Plex Sans KR" pitchFamily="34" charset="-120"/>
              </a:rPr>
              <a:t>10</a:t>
            </a:r>
            <a:r>
              <a:rPr lang="en-US" sz="1200" dirty="0">
                <a:solidFill>
                  <a:srgbClr val="131A2A"/>
                </a:solidFill>
                <a:latin typeface="IBM Plex Sans KR" pitchFamily="34" charset="0"/>
                <a:ea typeface="IBM Plex Sans KR" pitchFamily="34" charset="-122"/>
                <a:cs typeface="IBM Plex Sans KR" pitchFamily="34" charset="-120"/>
              </a:rPr>
              <a:t> 6–9 반복 (최종 답변까지)</a:t>
            </a:r>
            <a:endParaRPr lang="en-US" sz="1200" dirty="0"/>
          </a:p>
        </p:txBody>
      </p:sp>
      <p:sp>
        <p:nvSpPr>
          <p:cNvPr id="42" name="Text 32"/>
          <p:cNvSpPr/>
          <p:nvPr/>
        </p:nvSpPr>
        <p:spPr>
          <a:xfrm>
            <a:off x="3884811" y="5192961"/>
            <a:ext cx="900212"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B8521E"/>
                </a:solidFill>
                <a:latin typeface="IBM Plex Sans KR" pitchFamily="34" charset="0"/>
                <a:ea typeface="IBM Plex Sans KR" pitchFamily="34" charset="-122"/>
                <a:cs typeface="IBM Plex Sans KR" pitchFamily="34" charset="-120"/>
              </a:rPr>
              <a:t>11</a:t>
            </a:r>
            <a:r>
              <a:rPr lang="en-US" sz="1200" dirty="0">
                <a:solidFill>
                  <a:srgbClr val="131A2A"/>
                </a:solidFill>
                <a:latin typeface="IBM Plex Sans KR" pitchFamily="34" charset="0"/>
                <a:ea typeface="IBM Plex Sans KR" pitchFamily="34" charset="-122"/>
                <a:cs typeface="IBM Plex Sans KR" pitchFamily="34" charset="-120"/>
              </a:rPr>
              <a:t> 결과 저장</a:t>
            </a:r>
            <a:endParaRPr lang="en-US" sz="1200" dirty="0"/>
          </a:p>
        </p:txBody>
      </p:sp>
      <p:pic>
        <p:nvPicPr>
          <p:cNvPr id="43" name="Image 8" descr="arrow-left">    </p:cNvPr>
          <p:cNvPicPr>
            <a:picLocks noChangeAspect="1"/>
          </p:cNvPicPr>
          <p:nvPr/>
        </p:nvPicPr>
        <p:blipFill>
          <a:blip r:embed="rId9"/>
          <a:srcRect l="0" r="0" t="0" b="0"/>
          <a:stretch/>
        </p:blipFill>
        <p:spPr>
          <a:xfrm>
            <a:off x="3454400" y="5396161"/>
            <a:ext cx="127000" cy="101600"/>
          </a:xfrm>
          <a:prstGeom prst="rect">
            <a:avLst/>
          </a:prstGeom>
        </p:spPr>
      </p:pic>
      <p:sp>
        <p:nvSpPr>
          <p:cNvPr id="44" name="Shape 33"/>
          <p:cNvSpPr/>
          <p:nvPr/>
        </p:nvSpPr>
        <p:spPr>
          <a:xfrm>
            <a:off x="3581400" y="5446961"/>
            <a:ext cx="1634034" cy="0"/>
          </a:xfrm>
          <a:prstGeom prst="line">
            <a:avLst/>
          </a:prstGeom>
          <a:noFill/>
          <a:ln w="19050">
            <a:solidFill>
              <a:srgbClr val="131A2A"/>
            </a:solidFill>
            <a:prstDash val="solid"/>
          </a:ln>
        </p:spPr>
      </p:sp>
      <p:sp>
        <p:nvSpPr>
          <p:cNvPr id="45" name="Text 34"/>
          <p:cNvSpPr/>
          <p:nvPr/>
        </p:nvSpPr>
        <p:spPr>
          <a:xfrm>
            <a:off x="6670129" y="5523161"/>
            <a:ext cx="2373809"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B8521E"/>
                </a:solidFill>
                <a:latin typeface="IBM Plex Sans KR" pitchFamily="34" charset="0"/>
                <a:ea typeface="IBM Plex Sans KR" pitchFamily="34" charset="-122"/>
                <a:cs typeface="IBM Plex Sans KR" pitchFamily="34" charset="-120"/>
              </a:rPr>
              <a:t>12</a:t>
            </a:r>
            <a:r>
              <a:rPr lang="en-US" sz="1200" dirty="0">
                <a:solidFill>
                  <a:srgbClr val="131A2A"/>
                </a:solidFill>
                <a:latin typeface="IBM Plex Sans KR" pitchFamily="34" charset="0"/>
                <a:ea typeface="IBM Plex Sans KR" pitchFamily="34" charset="-122"/>
                <a:cs typeface="IBM Plex Sans KR" pitchFamily="34" charset="-120"/>
              </a:rPr>
              <a:t> 완료 알림 (Chat · Slack · 이메일)</a:t>
            </a:r>
            <a:endParaRPr lang="en-US" sz="1200" dirty="0"/>
          </a:p>
        </p:txBody>
      </p:sp>
      <p:sp>
        <p:nvSpPr>
          <p:cNvPr id="46" name="Shape 35"/>
          <p:cNvSpPr/>
          <p:nvPr/>
        </p:nvSpPr>
        <p:spPr>
          <a:xfrm>
            <a:off x="5215434" y="5777161"/>
            <a:ext cx="5156200" cy="0"/>
          </a:xfrm>
          <a:prstGeom prst="line">
            <a:avLst/>
          </a:prstGeom>
          <a:noFill/>
          <a:ln w="19050">
            <a:solidFill>
              <a:srgbClr val="131A2A"/>
            </a:solidFill>
            <a:prstDash val="solid"/>
          </a:ln>
        </p:spPr>
      </p:sp>
      <p:pic>
        <p:nvPicPr>
          <p:cNvPr id="47" name="Image 9" descr="arrow-right">    </p:cNvPr>
          <p:cNvPicPr>
            <a:picLocks noChangeAspect="1"/>
          </p:cNvPicPr>
          <p:nvPr/>
        </p:nvPicPr>
        <p:blipFill>
          <a:blip r:embed="rId10"/>
          <a:srcRect l="0" r="0" t="0" b="0"/>
          <a:stretch/>
        </p:blipFill>
        <p:spPr>
          <a:xfrm>
            <a:off x="10371634" y="5726361"/>
            <a:ext cx="127000" cy="101600"/>
          </a:xfrm>
          <a:prstGeom prst="rect">
            <a:avLst/>
          </a:prstGeom>
        </p:spPr>
      </p:pic>
      <p:sp>
        <p:nvSpPr>
          <p:cNvPr id="48" name="Text 3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KR" pitchFamily="34" charset="0"/>
                <a:ea typeface="IBM Plex Sans KR" pitchFamily="34" charset="-122"/>
                <a:cs typeface="IBM Plex Sans KR" pitchFamily="34" charset="-120"/>
              </a:rPr>
              <a:t>Archestra 아키텍처 · 21 · 출처: task-queue/handlers/schedule-trigger-run-handler.ts, agents/a2a-executor.ts</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3EE"/>
        </a:solidFill>
      </p:bgPr>
    </p:bg>
    <p:spTree>
      <p:nvGrpSpPr>
        <p:cNvPr id="1" name=""/>
        <p:cNvGrpSpPr/>
        <p:nvPr/>
      </p:nvGrpSpPr>
      <p:grpSpPr>
        <a:xfrm>
          <a:off x="0" y="0"/>
          <a:ext cx="0" cy="0"/>
          <a:chOff x="0" y="0"/>
          <a:chExt cx="0" cy="0"/>
        </a:xfrm>
      </p:grpSpPr>
      <p:sp>
        <p:nvSpPr>
          <p:cNvPr id="2" name="Shape 0"/>
          <p:cNvSpPr/>
          <p:nvPr/>
        </p:nvSpPr>
        <p:spPr>
          <a:xfrm>
            <a:off x="1689100" y="1841500"/>
            <a:ext cx="12700" cy="3873500"/>
          </a:xfrm>
          <a:prstGeom prst="rect">
            <a:avLst/>
          </a:prstGeom>
          <a:solidFill>
            <a:srgbClr val="C9C5BA"/>
          </a:solidFill>
          <a:ln/>
        </p:spPr>
      </p:sp>
      <p:sp>
        <p:nvSpPr>
          <p:cNvPr id="3" name="Shape 1"/>
          <p:cNvSpPr/>
          <p:nvPr/>
        </p:nvSpPr>
        <p:spPr>
          <a:xfrm>
            <a:off x="3448050" y="1841500"/>
            <a:ext cx="12700" cy="3873500"/>
          </a:xfrm>
          <a:prstGeom prst="rect">
            <a:avLst/>
          </a:prstGeom>
          <a:solidFill>
            <a:srgbClr val="C9C5BA"/>
          </a:solidFill>
          <a:ln/>
        </p:spPr>
      </p:sp>
      <p:sp>
        <p:nvSpPr>
          <p:cNvPr id="4" name="Shape 2"/>
          <p:cNvSpPr/>
          <p:nvPr/>
        </p:nvSpPr>
        <p:spPr>
          <a:xfrm>
            <a:off x="5207000" y="1841500"/>
            <a:ext cx="12700" cy="3873500"/>
          </a:xfrm>
          <a:prstGeom prst="rect">
            <a:avLst/>
          </a:prstGeom>
          <a:solidFill>
            <a:srgbClr val="C9C5BA"/>
          </a:solidFill>
          <a:ln/>
        </p:spPr>
      </p:sp>
      <p:sp>
        <p:nvSpPr>
          <p:cNvPr id="5" name="Shape 3"/>
          <p:cNvSpPr/>
          <p:nvPr/>
        </p:nvSpPr>
        <p:spPr>
          <a:xfrm>
            <a:off x="6972300" y="1841500"/>
            <a:ext cx="12700" cy="3873500"/>
          </a:xfrm>
          <a:prstGeom prst="rect">
            <a:avLst/>
          </a:prstGeom>
          <a:solidFill>
            <a:srgbClr val="C9C5BA"/>
          </a:solidFill>
          <a:ln/>
        </p:spPr>
      </p:sp>
      <p:sp>
        <p:nvSpPr>
          <p:cNvPr id="6" name="Shape 4"/>
          <p:cNvSpPr/>
          <p:nvPr/>
        </p:nvSpPr>
        <p:spPr>
          <a:xfrm>
            <a:off x="8731250" y="1841500"/>
            <a:ext cx="12700" cy="3873500"/>
          </a:xfrm>
          <a:prstGeom prst="rect">
            <a:avLst/>
          </a:prstGeom>
          <a:solidFill>
            <a:srgbClr val="C9C5BA"/>
          </a:solidFill>
          <a:ln/>
        </p:spPr>
      </p:sp>
      <p:sp>
        <p:nvSpPr>
          <p:cNvPr id="7" name="Shape 5"/>
          <p:cNvSpPr/>
          <p:nvPr/>
        </p:nvSpPr>
        <p:spPr>
          <a:xfrm>
            <a:off x="10490200" y="1841500"/>
            <a:ext cx="12700" cy="3873500"/>
          </a:xfrm>
          <a:prstGeom prst="rect">
            <a:avLst/>
          </a:prstGeom>
          <a:solidFill>
            <a:srgbClr val="C9C5BA"/>
          </a:solidFill>
          <a:ln/>
        </p:spPr>
      </p:sp>
      <p:sp>
        <p:nvSpPr>
          <p:cNvPr id="8" name="Text 6"/>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B8521E"/>
                </a:solidFill>
                <a:latin typeface="JetBrains Mono" pitchFamily="49" charset="0"/>
                <a:ea typeface="JetBrains Mono" pitchFamily="49" charset="-122"/>
                <a:cs typeface="JetBrains Mono" pitchFamily="49" charset="-120"/>
              </a:rPr>
              <a:t>S4 · SEQUENCE · KNOWLEDGE</a:t>
            </a:r>
            <a:endParaRPr lang="en-US" sz="1200" dirty="0"/>
          </a:p>
        </p:txBody>
      </p:sp>
      <p:sp>
        <p:nvSpPr>
          <p:cNvPr id="9" name="Text 7"/>
          <p:cNvSpPr/>
          <p:nvPr>
            <p:ph type="title"/>
          </p:nvPr>
        </p:nvSpPr>
        <p:spPr>
          <a:xfrm>
            <a:off x="812800" y="10007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1A2A"/>
                </a:solidFill>
                <a:latin typeface="IBM Plex Sans KR" pitchFamily="34" charset="0"/>
                <a:ea typeface="IBM Plex Sans KR" pitchFamily="34" charset="-122"/>
                <a:cs typeface="IBM Plex Sans KR" pitchFamily="34" charset="-120"/>
              </a:rPr>
              <a:t>지식: 백그라운드 적재와 권한 필터 검색</a:t>
            </a:r>
            <a:endParaRPr lang="en-US" sz="3000" dirty="0"/>
          </a:p>
        </p:txBody>
      </p:sp>
      <p:sp>
        <p:nvSpPr>
          <p:cNvPr id="10" name="Text 8"/>
          <p:cNvSpPr/>
          <p:nvPr/>
        </p:nvSpPr>
        <p:spPr>
          <a:xfrm>
            <a:off x="876300" y="1591270"/>
            <a:ext cx="1634034" cy="325090"/>
          </a:xfrm>
          <a:custGeom>
            <a:avLst/>
            <a:gdLst/>
            <a:ahLst/>
            <a:cxnLst/>
            <a:rect l="l" t="t" r="r" b="b"/>
            <a:pathLst>
              <a:path w="1634034" h="325090">
                <a:moveTo>
                  <a:pt x="50800" y="0"/>
                </a:moveTo>
                <a:lnTo>
                  <a:pt x="1583234" y="0"/>
                </a:lnTo>
                <a:arcTo hR="50800" wR="50800" stAng="16200000" swAng="5400000"/>
                <a:lnTo>
                  <a:pt x="1634034" y="274290"/>
                </a:lnTo>
                <a:arcTo hR="50800" wR="50800" stAng="0" swAng="5400000"/>
                <a:lnTo>
                  <a:pt x="50800" y="325090"/>
                </a:lnTo>
                <a:arcTo hR="50800" wR="50800" stAng="5400000" swAng="5400000"/>
                <a:lnTo>
                  <a:pt x="0" y="50800"/>
                </a:lnTo>
                <a:arcTo hR="50800" wR="50800" stAng="10800000" swAng="5400000"/>
                <a:close/>
              </a:path>
            </a:pathLst>
          </a:custGeom>
          <a:solidFill>
            <a:srgbClr val="131A2A"/>
          </a:solidFill>
          <a:ln/>
        </p:spPr>
        <p:txBody>
          <a:bodyPr wrap="square" lIns="25400" tIns="63500" rIns="25400" bIns="38100" rtlCol="0" anchor="t">
            <a:normAutofit/>
          </a:bodyPr>
          <a:lstStyle/>
          <a:p>
            <a:pPr algn="ctr" indent="0" marL="0">
              <a:lnSpc>
                <a:spcPts val="1560"/>
              </a:lnSpc>
              <a:buNone/>
            </a:pPr>
            <a:r>
              <a:rPr lang="en-US" sz="1200" dirty="0">
                <a:solidFill>
                  <a:srgbClr val="F4F3EE"/>
                </a:solidFill>
                <a:latin typeface="IBM Plex Sans KR" pitchFamily="34" charset="0"/>
                <a:ea typeface="IBM Plex Sans KR" pitchFamily="34" charset="-122"/>
                <a:cs typeface="IBM Plex Sans KR" pitchFamily="34" charset="-120"/>
              </a:rPr>
              <a:t>Worker</a:t>
            </a:r>
            <a:endParaRPr lang="en-US" sz="1200" dirty="0"/>
          </a:p>
        </p:txBody>
      </p:sp>
      <p:sp>
        <p:nvSpPr>
          <p:cNvPr id="11" name="Text 9"/>
          <p:cNvSpPr/>
          <p:nvPr/>
        </p:nvSpPr>
        <p:spPr>
          <a:xfrm>
            <a:off x="2637334" y="1591270"/>
            <a:ext cx="1634083" cy="325090"/>
          </a:xfrm>
          <a:custGeom>
            <a:avLst/>
            <a:gdLst/>
            <a:ahLst/>
            <a:cxnLst/>
            <a:rect l="l" t="t" r="r" b="b"/>
            <a:pathLst>
              <a:path w="1634083" h="325090">
                <a:moveTo>
                  <a:pt x="50800" y="0"/>
                </a:moveTo>
                <a:lnTo>
                  <a:pt x="1583283" y="0"/>
                </a:lnTo>
                <a:arcTo hR="50800" wR="50800" stAng="16200000" swAng="5400000"/>
                <a:lnTo>
                  <a:pt x="1634083" y="274290"/>
                </a:lnTo>
                <a:arcTo hR="50800" wR="50800" stAng="0" swAng="5400000"/>
                <a:lnTo>
                  <a:pt x="50800" y="325090"/>
                </a:lnTo>
                <a:arcTo hR="50800" wR="50800" stAng="5400000" swAng="5400000"/>
                <a:lnTo>
                  <a:pt x="0" y="50800"/>
                </a:lnTo>
                <a:arcTo hR="50800" wR="50800" stAng="10800000" swAng="5400000"/>
                <a:close/>
              </a:path>
            </a:pathLst>
          </a:custGeom>
          <a:solidFill>
            <a:srgbClr val="131A2A"/>
          </a:solidFill>
          <a:ln/>
        </p:spPr>
        <p:txBody>
          <a:bodyPr wrap="square" lIns="25400" tIns="63500" rIns="25400" bIns="38100" rtlCol="0" anchor="t">
            <a:normAutofit/>
          </a:bodyPr>
          <a:lstStyle/>
          <a:p>
            <a:pPr algn="ctr" indent="0" marL="0">
              <a:lnSpc>
                <a:spcPts val="1560"/>
              </a:lnSpc>
              <a:buNone/>
            </a:pPr>
            <a:r>
              <a:rPr lang="en-US" sz="1200" dirty="0">
                <a:solidFill>
                  <a:srgbClr val="F4F3EE"/>
                </a:solidFill>
                <a:latin typeface="IBM Plex Sans KR" pitchFamily="34" charset="0"/>
                <a:ea typeface="IBM Plex Sans KR" pitchFamily="34" charset="-122"/>
                <a:cs typeface="IBM Plex Sans KR" pitchFamily="34" charset="-120"/>
              </a:rPr>
              <a:t>소스 시스템</a:t>
            </a:r>
            <a:endParaRPr lang="en-US" sz="1200" dirty="0"/>
          </a:p>
        </p:txBody>
      </p:sp>
      <p:sp>
        <p:nvSpPr>
          <p:cNvPr id="12" name="Text 10"/>
          <p:cNvSpPr/>
          <p:nvPr/>
        </p:nvSpPr>
        <p:spPr>
          <a:xfrm>
            <a:off x="4398417" y="1591270"/>
            <a:ext cx="1634083" cy="325090"/>
          </a:xfrm>
          <a:custGeom>
            <a:avLst/>
            <a:gdLst/>
            <a:ahLst/>
            <a:cxnLst/>
            <a:rect l="l" t="t" r="r" b="b"/>
            <a:pathLst>
              <a:path w="1634083" h="325090">
                <a:moveTo>
                  <a:pt x="50800" y="0"/>
                </a:moveTo>
                <a:lnTo>
                  <a:pt x="1583283" y="0"/>
                </a:lnTo>
                <a:arcTo hR="50800" wR="50800" stAng="16200000" swAng="5400000"/>
                <a:lnTo>
                  <a:pt x="1634083" y="274290"/>
                </a:lnTo>
                <a:arcTo hR="50800" wR="50800" stAng="0" swAng="5400000"/>
                <a:lnTo>
                  <a:pt x="50800" y="325090"/>
                </a:lnTo>
                <a:arcTo hR="50800" wR="50800" stAng="5400000" swAng="5400000"/>
                <a:lnTo>
                  <a:pt x="0" y="50800"/>
                </a:lnTo>
                <a:arcTo hR="50800" wR="50800" stAng="10800000" swAng="5400000"/>
                <a:close/>
              </a:path>
            </a:pathLst>
          </a:custGeom>
          <a:solidFill>
            <a:srgbClr val="2F5BB7"/>
          </a:solidFill>
          <a:ln/>
        </p:spPr>
        <p:txBody>
          <a:bodyPr wrap="square" lIns="25400" tIns="63500" rIns="25400" bIns="38100" rtlCol="0" anchor="t">
            <a:normAutofit/>
          </a:bodyPr>
          <a:lstStyle/>
          <a:p>
            <a:pPr algn="ctr" indent="0" marL="0">
              <a:lnSpc>
                <a:spcPts val="1560"/>
              </a:lnSpc>
              <a:buNone/>
            </a:pPr>
            <a:r>
              <a:rPr lang="en-US" sz="1200" dirty="0">
                <a:solidFill>
                  <a:srgbClr val="F4F3EE"/>
                </a:solidFill>
                <a:latin typeface="IBM Plex Sans KR" pitchFamily="34" charset="0"/>
                <a:ea typeface="IBM Plex Sans KR" pitchFamily="34" charset="-122"/>
                <a:cs typeface="IBM Plex Sans KR" pitchFamily="34" charset="-120"/>
              </a:rPr>
              <a:t>PostgreSQL</a:t>
            </a:r>
            <a:endParaRPr lang="en-US" sz="1200" dirty="0"/>
          </a:p>
        </p:txBody>
      </p:sp>
      <p:sp>
        <p:nvSpPr>
          <p:cNvPr id="13" name="Text 11"/>
          <p:cNvSpPr/>
          <p:nvPr/>
        </p:nvSpPr>
        <p:spPr>
          <a:xfrm>
            <a:off x="6159500" y="1591270"/>
            <a:ext cx="1634034" cy="325090"/>
          </a:xfrm>
          <a:custGeom>
            <a:avLst/>
            <a:gdLst/>
            <a:ahLst/>
            <a:cxnLst/>
            <a:rect l="l" t="t" r="r" b="b"/>
            <a:pathLst>
              <a:path w="1634034" h="325090">
                <a:moveTo>
                  <a:pt x="50800" y="0"/>
                </a:moveTo>
                <a:lnTo>
                  <a:pt x="1583234" y="0"/>
                </a:lnTo>
                <a:arcTo hR="50800" wR="50800" stAng="16200000" swAng="5400000"/>
                <a:lnTo>
                  <a:pt x="1634034" y="274290"/>
                </a:lnTo>
                <a:arcTo hR="50800" wR="50800" stAng="0" swAng="5400000"/>
                <a:lnTo>
                  <a:pt x="50800" y="325090"/>
                </a:lnTo>
                <a:arcTo hR="50800" wR="50800" stAng="5400000" swAng="5400000"/>
                <a:lnTo>
                  <a:pt x="0" y="50800"/>
                </a:lnTo>
                <a:arcTo hR="50800" wR="50800" stAng="10800000" swAng="5400000"/>
                <a:close/>
              </a:path>
            </a:pathLst>
          </a:custGeom>
          <a:solidFill>
            <a:srgbClr val="131A2A"/>
          </a:solidFill>
          <a:ln/>
        </p:spPr>
        <p:txBody>
          <a:bodyPr wrap="square" lIns="25400" tIns="63500" rIns="25400" bIns="38100" rtlCol="0" anchor="t">
            <a:normAutofit/>
          </a:bodyPr>
          <a:lstStyle/>
          <a:p>
            <a:pPr algn="ctr" indent="0" marL="0">
              <a:lnSpc>
                <a:spcPts val="1560"/>
              </a:lnSpc>
              <a:buNone/>
            </a:pPr>
            <a:r>
              <a:rPr lang="en-US" sz="1200" dirty="0">
                <a:solidFill>
                  <a:srgbClr val="F4F3EE"/>
                </a:solidFill>
                <a:latin typeface="IBM Plex Sans KR" pitchFamily="34" charset="0"/>
                <a:ea typeface="IBM Plex Sans KR" pitchFamily="34" charset="-122"/>
                <a:cs typeface="IBM Plex Sans KR" pitchFamily="34" charset="-120"/>
              </a:rPr>
              <a:t>임베딩 모델</a:t>
            </a:r>
            <a:endParaRPr lang="en-US" sz="1200" dirty="0"/>
          </a:p>
        </p:txBody>
      </p:sp>
      <p:sp>
        <p:nvSpPr>
          <p:cNvPr id="14" name="Text 12"/>
          <p:cNvSpPr/>
          <p:nvPr/>
        </p:nvSpPr>
        <p:spPr>
          <a:xfrm>
            <a:off x="7920534" y="1591270"/>
            <a:ext cx="1634083" cy="325090"/>
          </a:xfrm>
          <a:custGeom>
            <a:avLst/>
            <a:gdLst/>
            <a:ahLst/>
            <a:cxnLst/>
            <a:rect l="l" t="t" r="r" b="b"/>
            <a:pathLst>
              <a:path w="1634083" h="325090">
                <a:moveTo>
                  <a:pt x="50800" y="0"/>
                </a:moveTo>
                <a:lnTo>
                  <a:pt x="1583283" y="0"/>
                </a:lnTo>
                <a:arcTo hR="50800" wR="50800" stAng="16200000" swAng="5400000"/>
                <a:lnTo>
                  <a:pt x="1634083" y="274290"/>
                </a:lnTo>
                <a:arcTo hR="50800" wR="50800" stAng="0" swAng="5400000"/>
                <a:lnTo>
                  <a:pt x="50800" y="325090"/>
                </a:lnTo>
                <a:arcTo hR="50800" wR="50800" stAng="5400000" swAng="5400000"/>
                <a:lnTo>
                  <a:pt x="0" y="50800"/>
                </a:lnTo>
                <a:arcTo hR="50800" wR="50800" stAng="10800000" swAng="5400000"/>
                <a:close/>
              </a:path>
            </a:pathLst>
          </a:custGeom>
          <a:solidFill>
            <a:srgbClr val="D9652B"/>
          </a:solidFill>
          <a:ln/>
        </p:spPr>
        <p:txBody>
          <a:bodyPr wrap="square" lIns="25400" tIns="63500" rIns="25400" bIns="38100" rtlCol="0" anchor="t">
            <a:normAutofit/>
          </a:bodyPr>
          <a:lstStyle/>
          <a:p>
            <a:pPr algn="ctr" indent="0" marL="0">
              <a:lnSpc>
                <a:spcPts val="1560"/>
              </a:lnSpc>
              <a:buNone/>
            </a:pPr>
            <a:r>
              <a:rPr lang="en-US" sz="1200" dirty="0">
                <a:solidFill>
                  <a:srgbClr val="131A2A"/>
                </a:solidFill>
                <a:latin typeface="IBM Plex Sans KR" pitchFamily="34" charset="0"/>
                <a:ea typeface="IBM Plex Sans KR" pitchFamily="34" charset="-122"/>
                <a:cs typeface="IBM Plex Sans KR" pitchFamily="34" charset="-120"/>
              </a:rPr>
              <a:t>Query 서비스</a:t>
            </a:r>
            <a:endParaRPr lang="en-US" sz="1200" dirty="0"/>
          </a:p>
        </p:txBody>
      </p:sp>
      <p:sp>
        <p:nvSpPr>
          <p:cNvPr id="15" name="Text 13"/>
          <p:cNvSpPr/>
          <p:nvPr/>
        </p:nvSpPr>
        <p:spPr>
          <a:xfrm>
            <a:off x="9681617" y="1591270"/>
            <a:ext cx="1634083" cy="325090"/>
          </a:xfrm>
          <a:custGeom>
            <a:avLst/>
            <a:gdLst/>
            <a:ahLst/>
            <a:cxnLst/>
            <a:rect l="l" t="t" r="r" b="b"/>
            <a:pathLst>
              <a:path w="1634083" h="325090">
                <a:moveTo>
                  <a:pt x="50800" y="0"/>
                </a:moveTo>
                <a:lnTo>
                  <a:pt x="1583283" y="0"/>
                </a:lnTo>
                <a:arcTo hR="50800" wR="50800" stAng="16200000" swAng="5400000"/>
                <a:lnTo>
                  <a:pt x="1634083" y="274290"/>
                </a:lnTo>
                <a:arcTo hR="50800" wR="50800" stAng="0" swAng="5400000"/>
                <a:lnTo>
                  <a:pt x="50800" y="325090"/>
                </a:lnTo>
                <a:arcTo hR="50800" wR="50800" stAng="5400000" swAng="5400000"/>
                <a:lnTo>
                  <a:pt x="0" y="50800"/>
                </a:lnTo>
                <a:arcTo hR="50800" wR="50800" stAng="10800000" swAng="5400000"/>
                <a:close/>
              </a:path>
            </a:pathLst>
          </a:custGeom>
          <a:solidFill>
            <a:srgbClr val="131A2A"/>
          </a:solidFill>
          <a:ln/>
        </p:spPr>
        <p:txBody>
          <a:bodyPr wrap="square" lIns="25400" tIns="63500" rIns="25400" bIns="38100" rtlCol="0" anchor="t">
            <a:normAutofit/>
          </a:bodyPr>
          <a:lstStyle/>
          <a:p>
            <a:pPr algn="ctr" indent="0" marL="0">
              <a:lnSpc>
                <a:spcPts val="1560"/>
              </a:lnSpc>
              <a:buNone/>
            </a:pPr>
            <a:r>
              <a:rPr lang="en-US" sz="1200" dirty="0">
                <a:solidFill>
                  <a:srgbClr val="F4F3EE"/>
                </a:solidFill>
                <a:latin typeface="IBM Plex Sans KR" pitchFamily="34" charset="0"/>
                <a:ea typeface="IBM Plex Sans KR" pitchFamily="34" charset="-122"/>
                <a:cs typeface="IBM Plex Sans KR" pitchFamily="34" charset="-120"/>
              </a:rPr>
              <a:t>에이전트</a:t>
            </a:r>
            <a:endParaRPr lang="en-US" sz="1200" dirty="0"/>
          </a:p>
        </p:txBody>
      </p:sp>
      <p:sp>
        <p:nvSpPr>
          <p:cNvPr id="16" name="Text 14"/>
          <p:cNvSpPr/>
          <p:nvPr/>
        </p:nvSpPr>
        <p:spPr>
          <a:xfrm>
            <a:off x="2351286" y="1941761"/>
            <a:ext cx="2206179"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B8521E"/>
                </a:solidFill>
                <a:latin typeface="IBM Plex Sans KR" pitchFamily="34" charset="0"/>
                <a:ea typeface="IBM Plex Sans KR" pitchFamily="34" charset="-122"/>
                <a:cs typeface="IBM Plex Sans KR" pitchFamily="34" charset="-120"/>
              </a:rPr>
              <a:t>1</a:t>
            </a:r>
            <a:r>
              <a:rPr lang="en-US" sz="1200" dirty="0">
                <a:solidFill>
                  <a:srgbClr val="131A2A"/>
                </a:solidFill>
                <a:latin typeface="IBM Plex Sans KR" pitchFamily="34" charset="0"/>
                <a:ea typeface="IBM Plex Sans KR" pitchFamily="34" charset="-122"/>
                <a:cs typeface="IBM Plex Sans KR" pitchFamily="34" charset="-120"/>
              </a:rPr>
              <a:t> connector_sync claim (lease)</a:t>
            </a:r>
            <a:endParaRPr lang="en-US" sz="1200" dirty="0"/>
          </a:p>
        </p:txBody>
      </p:sp>
      <p:sp>
        <p:nvSpPr>
          <p:cNvPr id="17" name="Shape 15"/>
          <p:cNvSpPr/>
          <p:nvPr/>
        </p:nvSpPr>
        <p:spPr>
          <a:xfrm>
            <a:off x="1693317" y="2195761"/>
            <a:ext cx="3395117" cy="0"/>
          </a:xfrm>
          <a:prstGeom prst="line">
            <a:avLst/>
          </a:prstGeom>
          <a:noFill/>
          <a:ln w="19050">
            <a:solidFill>
              <a:srgbClr val="131A2A"/>
            </a:solidFill>
            <a:prstDash val="solid"/>
          </a:ln>
        </p:spPr>
      </p:sp>
      <p:pic>
        <p:nvPicPr>
          <p:cNvPr id="18" name="Image 0" descr="arrow-right">    </p:cNvPr>
          <p:cNvPicPr>
            <a:picLocks noChangeAspect="1"/>
          </p:cNvPicPr>
          <p:nvPr/>
        </p:nvPicPr>
        <p:blipFill>
          <a:blip r:embed="rId1"/>
          <a:srcRect l="0" r="0" t="0" b="0"/>
          <a:stretch/>
        </p:blipFill>
        <p:spPr>
          <a:xfrm>
            <a:off x="5088434" y="2144961"/>
            <a:ext cx="127000" cy="101600"/>
          </a:xfrm>
          <a:prstGeom prst="rect">
            <a:avLst/>
          </a:prstGeom>
        </p:spPr>
      </p:pic>
      <p:sp>
        <p:nvSpPr>
          <p:cNvPr id="19" name="Text 16"/>
          <p:cNvSpPr/>
          <p:nvPr/>
        </p:nvSpPr>
        <p:spPr>
          <a:xfrm>
            <a:off x="2131120" y="2271961"/>
            <a:ext cx="885478"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B8521E"/>
                </a:solidFill>
                <a:latin typeface="IBM Plex Sans KR" pitchFamily="34" charset="0"/>
                <a:ea typeface="IBM Plex Sans KR" pitchFamily="34" charset="-122"/>
                <a:cs typeface="IBM Plex Sans KR" pitchFamily="34" charset="-120"/>
              </a:rPr>
              <a:t>2</a:t>
            </a:r>
            <a:r>
              <a:rPr lang="en-US" sz="1200" dirty="0">
                <a:solidFill>
                  <a:srgbClr val="131A2A"/>
                </a:solidFill>
                <a:latin typeface="IBM Plex Sans KR" pitchFamily="34" charset="0"/>
                <a:ea typeface="IBM Plex Sans KR" pitchFamily="34" charset="-122"/>
                <a:cs typeface="IBM Plex Sans KR" pitchFamily="34" charset="-120"/>
              </a:rPr>
              <a:t> 증분 fetch</a:t>
            </a:r>
            <a:endParaRPr lang="en-US" sz="1200" dirty="0"/>
          </a:p>
        </p:txBody>
      </p:sp>
      <p:sp>
        <p:nvSpPr>
          <p:cNvPr id="20" name="Shape 17"/>
          <p:cNvSpPr/>
          <p:nvPr/>
        </p:nvSpPr>
        <p:spPr>
          <a:xfrm>
            <a:off x="1693317" y="2525961"/>
            <a:ext cx="1634083" cy="0"/>
          </a:xfrm>
          <a:prstGeom prst="line">
            <a:avLst/>
          </a:prstGeom>
          <a:noFill/>
          <a:ln w="19050">
            <a:solidFill>
              <a:srgbClr val="131A2A"/>
            </a:solidFill>
            <a:prstDash val="solid"/>
          </a:ln>
        </p:spPr>
      </p:sp>
      <p:pic>
        <p:nvPicPr>
          <p:cNvPr id="21" name="Image 1" descr="arrow-right">    </p:cNvPr>
          <p:cNvPicPr>
            <a:picLocks noChangeAspect="1"/>
          </p:cNvPicPr>
          <p:nvPr/>
        </p:nvPicPr>
        <p:blipFill>
          <a:blip r:embed="rId2"/>
          <a:srcRect l="0" r="0" t="0" b="0"/>
          <a:stretch/>
        </p:blipFill>
        <p:spPr>
          <a:xfrm>
            <a:off x="3327400" y="2475161"/>
            <a:ext cx="127000" cy="101600"/>
          </a:xfrm>
          <a:prstGeom prst="rect">
            <a:avLst/>
          </a:prstGeom>
        </p:spPr>
      </p:pic>
      <p:sp>
        <p:nvSpPr>
          <p:cNvPr id="22" name="Text 18"/>
          <p:cNvSpPr/>
          <p:nvPr/>
        </p:nvSpPr>
        <p:spPr>
          <a:xfrm>
            <a:off x="2410966" y="2602161"/>
            <a:ext cx="2086818"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B8521E"/>
                </a:solidFill>
                <a:latin typeface="IBM Plex Sans KR" pitchFamily="34" charset="0"/>
                <a:ea typeface="IBM Plex Sans KR" pitchFamily="34" charset="-122"/>
                <a:cs typeface="IBM Plex Sans KR" pitchFamily="34" charset="-120"/>
              </a:rPr>
              <a:t>3</a:t>
            </a:r>
            <a:r>
              <a:rPr lang="en-US" sz="1200" dirty="0">
                <a:solidFill>
                  <a:srgbClr val="131A2A"/>
                </a:solidFill>
                <a:latin typeface="IBM Plex Sans KR" pitchFamily="34" charset="0"/>
                <a:ea typeface="IBM Plex Sans KR" pitchFamily="34" charset="-122"/>
                <a:cs typeface="IBM Plex Sans KR" pitchFamily="34" charset="-120"/>
              </a:rPr>
              <a:t> documents · chunks upsert</a:t>
            </a:r>
            <a:endParaRPr lang="en-US" sz="1200" dirty="0"/>
          </a:p>
        </p:txBody>
      </p:sp>
      <p:sp>
        <p:nvSpPr>
          <p:cNvPr id="23" name="Shape 19"/>
          <p:cNvSpPr/>
          <p:nvPr/>
        </p:nvSpPr>
        <p:spPr>
          <a:xfrm>
            <a:off x="1693317" y="2856161"/>
            <a:ext cx="3395117" cy="0"/>
          </a:xfrm>
          <a:prstGeom prst="line">
            <a:avLst/>
          </a:prstGeom>
          <a:noFill/>
          <a:ln w="19050">
            <a:solidFill>
              <a:srgbClr val="131A2A"/>
            </a:solidFill>
            <a:prstDash val="solid"/>
          </a:ln>
        </p:spPr>
      </p:sp>
      <p:pic>
        <p:nvPicPr>
          <p:cNvPr id="24" name="Image 2" descr="arrow-right">    </p:cNvPr>
          <p:cNvPicPr>
            <a:picLocks noChangeAspect="1"/>
          </p:cNvPicPr>
          <p:nvPr/>
        </p:nvPicPr>
        <p:blipFill>
          <a:blip r:embed="rId3"/>
          <a:srcRect l="0" r="0" t="0" b="0"/>
          <a:stretch/>
        </p:blipFill>
        <p:spPr>
          <a:xfrm>
            <a:off x="5088434" y="2805361"/>
            <a:ext cx="127000" cy="101600"/>
          </a:xfrm>
          <a:prstGeom prst="rect">
            <a:avLst/>
          </a:prstGeom>
        </p:spPr>
      </p:pic>
      <p:sp>
        <p:nvSpPr>
          <p:cNvPr id="25" name="Text 20"/>
          <p:cNvSpPr/>
          <p:nvPr/>
        </p:nvSpPr>
        <p:spPr>
          <a:xfrm>
            <a:off x="3147318" y="2932361"/>
            <a:ext cx="2375148"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B8521E"/>
                </a:solidFill>
                <a:latin typeface="IBM Plex Sans KR" pitchFamily="34" charset="0"/>
                <a:ea typeface="IBM Plex Sans KR" pitchFamily="34" charset="-122"/>
                <a:cs typeface="IBM Plex Sans KR" pitchFamily="34" charset="-120"/>
              </a:rPr>
              <a:t>4</a:t>
            </a:r>
            <a:r>
              <a:rPr lang="en-US" sz="1200" dirty="0">
                <a:solidFill>
                  <a:srgbClr val="131A2A"/>
                </a:solidFill>
                <a:latin typeface="IBM Plex Sans KR" pitchFamily="34" charset="0"/>
                <a:ea typeface="IBM Plex Sans KR" pitchFamily="34" charset="-122"/>
                <a:cs typeface="IBM Plex Sans KR" pitchFamily="34" charset="-120"/>
              </a:rPr>
              <a:t> batch_embedding → 임베딩 생성</a:t>
            </a:r>
            <a:endParaRPr lang="en-US" sz="1200" dirty="0"/>
          </a:p>
        </p:txBody>
      </p:sp>
      <p:sp>
        <p:nvSpPr>
          <p:cNvPr id="26" name="Shape 21"/>
          <p:cNvSpPr/>
          <p:nvPr/>
        </p:nvSpPr>
        <p:spPr>
          <a:xfrm>
            <a:off x="1693317" y="3186361"/>
            <a:ext cx="5156200" cy="0"/>
          </a:xfrm>
          <a:prstGeom prst="line">
            <a:avLst/>
          </a:prstGeom>
          <a:noFill/>
          <a:ln w="19050">
            <a:solidFill>
              <a:srgbClr val="131A2A"/>
            </a:solidFill>
            <a:prstDash val="solid"/>
          </a:ln>
        </p:spPr>
      </p:sp>
      <p:pic>
        <p:nvPicPr>
          <p:cNvPr id="27" name="Image 3" descr="arrow-right">    </p:cNvPr>
          <p:cNvPicPr>
            <a:picLocks noChangeAspect="1"/>
          </p:cNvPicPr>
          <p:nvPr/>
        </p:nvPicPr>
        <p:blipFill>
          <a:blip r:embed="rId4"/>
          <a:srcRect l="0" r="0" t="0" b="0"/>
          <a:stretch/>
        </p:blipFill>
        <p:spPr>
          <a:xfrm>
            <a:off x="6849517" y="3135561"/>
            <a:ext cx="127000" cy="101600"/>
          </a:xfrm>
          <a:prstGeom prst="rect">
            <a:avLst/>
          </a:prstGeom>
        </p:spPr>
      </p:pic>
      <p:sp>
        <p:nvSpPr>
          <p:cNvPr id="28" name="Text 22"/>
          <p:cNvSpPr/>
          <p:nvPr/>
        </p:nvSpPr>
        <p:spPr>
          <a:xfrm>
            <a:off x="2399209" y="3262561"/>
            <a:ext cx="2110284"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B8521E"/>
                </a:solidFill>
                <a:latin typeface="IBM Plex Sans KR" pitchFamily="34" charset="0"/>
                <a:ea typeface="IBM Plex Sans KR" pitchFamily="34" charset="-122"/>
                <a:cs typeface="IBM Plex Sans KR" pitchFamily="34" charset="-120"/>
              </a:rPr>
              <a:t>5</a:t>
            </a:r>
            <a:r>
              <a:rPr lang="en-US" sz="1200" dirty="0">
                <a:solidFill>
                  <a:srgbClr val="131A2A"/>
                </a:solidFill>
                <a:latin typeface="IBM Plex Sans KR" pitchFamily="34" charset="0"/>
                <a:ea typeface="IBM Plex Sans KR" pitchFamily="34" charset="-122"/>
                <a:cs typeface="IBM Plex Sans KR" pitchFamily="34" charset="-120"/>
              </a:rPr>
              <a:t> vector 저장 · 권한 동기화 예약</a:t>
            </a:r>
            <a:endParaRPr lang="en-US" sz="1200" dirty="0"/>
          </a:p>
        </p:txBody>
      </p:sp>
      <p:sp>
        <p:nvSpPr>
          <p:cNvPr id="29" name="Shape 23"/>
          <p:cNvSpPr/>
          <p:nvPr/>
        </p:nvSpPr>
        <p:spPr>
          <a:xfrm>
            <a:off x="1693317" y="3516561"/>
            <a:ext cx="3395117" cy="0"/>
          </a:xfrm>
          <a:prstGeom prst="line">
            <a:avLst/>
          </a:prstGeom>
          <a:noFill/>
          <a:ln w="19050">
            <a:solidFill>
              <a:srgbClr val="131A2A"/>
            </a:solidFill>
            <a:prstDash val="solid"/>
          </a:ln>
        </p:spPr>
      </p:sp>
      <p:pic>
        <p:nvPicPr>
          <p:cNvPr id="30" name="Image 4" descr="arrow-right">    </p:cNvPr>
          <p:cNvPicPr>
            <a:picLocks noChangeAspect="1"/>
          </p:cNvPicPr>
          <p:nvPr/>
        </p:nvPicPr>
        <p:blipFill>
          <a:blip r:embed="rId5"/>
          <a:srcRect l="0" r="0" t="0" b="0"/>
          <a:stretch/>
        </p:blipFill>
        <p:spPr>
          <a:xfrm>
            <a:off x="5088434" y="3465761"/>
            <a:ext cx="127000" cy="101600"/>
          </a:xfrm>
          <a:prstGeom prst="rect">
            <a:avLst/>
          </a:prstGeom>
        </p:spPr>
      </p:pic>
      <p:sp>
        <p:nvSpPr>
          <p:cNvPr id="31" name="Shape 24"/>
          <p:cNvSpPr/>
          <p:nvPr/>
        </p:nvSpPr>
        <p:spPr>
          <a:xfrm>
            <a:off x="812800" y="3599111"/>
            <a:ext cx="10566400" cy="0"/>
          </a:xfrm>
          <a:prstGeom prst="line">
            <a:avLst/>
          </a:prstGeom>
          <a:noFill/>
          <a:ln w="12700">
            <a:solidFill>
              <a:srgbClr val="9AA3B5"/>
            </a:solidFill>
            <a:prstDash val="dash"/>
          </a:ln>
        </p:spPr>
      </p:sp>
      <p:sp>
        <p:nvSpPr>
          <p:cNvPr id="32" name="Text 25"/>
          <p:cNvSpPr/>
          <p:nvPr/>
        </p:nvSpPr>
        <p:spPr>
          <a:xfrm>
            <a:off x="654304" y="3630861"/>
            <a:ext cx="10883392" cy="22349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6B7385"/>
                </a:solidFill>
                <a:latin typeface="JetBrains Mono" pitchFamily="49" charset="0"/>
                <a:ea typeface="JetBrains Mono" pitchFamily="49" charset="-122"/>
                <a:cs typeface="JetBrains Mono" pitchFamily="49" charset="-120"/>
              </a:rPr>
              <a:t>질의 시점</a:t>
            </a:r>
            <a:endParaRPr lang="en-US" sz="1200" dirty="0"/>
          </a:p>
        </p:txBody>
      </p:sp>
      <p:sp>
        <p:nvSpPr>
          <p:cNvPr id="33" name="Text 26"/>
          <p:cNvSpPr/>
          <p:nvPr/>
        </p:nvSpPr>
        <p:spPr>
          <a:xfrm>
            <a:off x="9059763" y="3854351"/>
            <a:ext cx="1116657"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B8521E"/>
                </a:solidFill>
                <a:latin typeface="IBM Plex Sans KR" pitchFamily="34" charset="0"/>
                <a:ea typeface="IBM Plex Sans KR" pitchFamily="34" charset="-122"/>
                <a:cs typeface="IBM Plex Sans KR" pitchFamily="34" charset="-120"/>
              </a:rPr>
              <a:t>6</a:t>
            </a:r>
            <a:r>
              <a:rPr lang="en-US" sz="1200" dirty="0">
                <a:solidFill>
                  <a:srgbClr val="131A2A"/>
                </a:solidFill>
                <a:latin typeface="IBM Plex Sans KR" pitchFamily="34" charset="0"/>
                <a:ea typeface="IBM Plex Sans KR" pitchFamily="34" charset="-122"/>
                <a:cs typeface="IBM Plex Sans KR" pitchFamily="34" charset="-120"/>
              </a:rPr>
              <a:t> 검색 도구 호출</a:t>
            </a:r>
            <a:endParaRPr lang="en-US" sz="1200" dirty="0"/>
          </a:p>
        </p:txBody>
      </p:sp>
      <p:pic>
        <p:nvPicPr>
          <p:cNvPr id="34" name="Image 5" descr="arrow-left">    </p:cNvPr>
          <p:cNvPicPr>
            <a:picLocks noChangeAspect="1"/>
          </p:cNvPicPr>
          <p:nvPr/>
        </p:nvPicPr>
        <p:blipFill>
          <a:blip r:embed="rId6"/>
          <a:srcRect l="0" r="0" t="0" b="0"/>
          <a:stretch/>
        </p:blipFill>
        <p:spPr>
          <a:xfrm>
            <a:off x="8737600" y="4057551"/>
            <a:ext cx="127000" cy="101600"/>
          </a:xfrm>
          <a:prstGeom prst="rect">
            <a:avLst/>
          </a:prstGeom>
        </p:spPr>
      </p:pic>
      <p:sp>
        <p:nvSpPr>
          <p:cNvPr id="35" name="Shape 27"/>
          <p:cNvSpPr/>
          <p:nvPr/>
        </p:nvSpPr>
        <p:spPr>
          <a:xfrm>
            <a:off x="8864600" y="4108351"/>
            <a:ext cx="1634034" cy="0"/>
          </a:xfrm>
          <a:prstGeom prst="line">
            <a:avLst/>
          </a:prstGeom>
          <a:noFill/>
          <a:ln w="19050">
            <a:solidFill>
              <a:srgbClr val="131A2A"/>
            </a:solidFill>
            <a:prstDash val="solid"/>
          </a:ln>
        </p:spPr>
      </p:sp>
      <p:sp>
        <p:nvSpPr>
          <p:cNvPr id="36" name="Text 28"/>
          <p:cNvSpPr/>
          <p:nvPr/>
        </p:nvSpPr>
        <p:spPr>
          <a:xfrm>
            <a:off x="6151563" y="4184551"/>
            <a:ext cx="1649909"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B8521E"/>
                </a:solidFill>
                <a:latin typeface="IBM Plex Sans KR" pitchFamily="34" charset="0"/>
                <a:ea typeface="IBM Plex Sans KR" pitchFamily="34" charset="-122"/>
                <a:cs typeface="IBM Plex Sans KR" pitchFamily="34" charset="-120"/>
              </a:rPr>
              <a:t>7</a:t>
            </a:r>
            <a:r>
              <a:rPr lang="en-US" sz="1200" dirty="0">
                <a:solidFill>
                  <a:srgbClr val="131A2A"/>
                </a:solidFill>
                <a:latin typeface="IBM Plex Sans KR" pitchFamily="34" charset="0"/>
                <a:ea typeface="IBM Plex Sans KR" pitchFamily="34" charset="-122"/>
                <a:cs typeface="IBM Plex Sans KR" pitchFamily="34" charset="-120"/>
              </a:rPr>
              <a:t> 사용자 principals 해석</a:t>
            </a:r>
            <a:endParaRPr lang="en-US" sz="1200" dirty="0"/>
          </a:p>
        </p:txBody>
      </p:sp>
      <p:pic>
        <p:nvPicPr>
          <p:cNvPr id="37" name="Image 6" descr="arrow-left">    </p:cNvPr>
          <p:cNvPicPr>
            <a:picLocks noChangeAspect="1"/>
          </p:cNvPicPr>
          <p:nvPr/>
        </p:nvPicPr>
        <p:blipFill>
          <a:blip r:embed="rId7"/>
          <a:srcRect l="0" r="0" t="0" b="0"/>
          <a:stretch/>
        </p:blipFill>
        <p:spPr>
          <a:xfrm>
            <a:off x="5215434" y="4387751"/>
            <a:ext cx="127000" cy="101600"/>
          </a:xfrm>
          <a:prstGeom prst="rect">
            <a:avLst/>
          </a:prstGeom>
        </p:spPr>
      </p:pic>
      <p:sp>
        <p:nvSpPr>
          <p:cNvPr id="38" name="Shape 29"/>
          <p:cNvSpPr/>
          <p:nvPr/>
        </p:nvSpPr>
        <p:spPr>
          <a:xfrm>
            <a:off x="5342434" y="4438551"/>
            <a:ext cx="3395166" cy="0"/>
          </a:xfrm>
          <a:prstGeom prst="line">
            <a:avLst/>
          </a:prstGeom>
          <a:noFill/>
          <a:ln w="19050">
            <a:solidFill>
              <a:srgbClr val="131A2A"/>
            </a:solidFill>
            <a:prstDash val="solid"/>
          </a:ln>
        </p:spPr>
      </p:sp>
      <p:sp>
        <p:nvSpPr>
          <p:cNvPr id="39" name="Text 30"/>
          <p:cNvSpPr/>
          <p:nvPr/>
        </p:nvSpPr>
        <p:spPr>
          <a:xfrm>
            <a:off x="7384653" y="4514751"/>
            <a:ext cx="944761"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B8521E"/>
                </a:solidFill>
                <a:latin typeface="IBM Plex Sans KR" pitchFamily="34" charset="0"/>
                <a:ea typeface="IBM Plex Sans KR" pitchFamily="34" charset="-122"/>
                <a:cs typeface="IBM Plex Sans KR" pitchFamily="34" charset="-120"/>
              </a:rPr>
              <a:t>8</a:t>
            </a:r>
            <a:r>
              <a:rPr lang="en-US" sz="1200" dirty="0">
                <a:solidFill>
                  <a:srgbClr val="131A2A"/>
                </a:solidFill>
                <a:latin typeface="IBM Plex Sans KR" pitchFamily="34" charset="0"/>
                <a:ea typeface="IBM Plex Sans KR" pitchFamily="34" charset="-122"/>
                <a:cs typeface="IBM Plex Sans KR" pitchFamily="34" charset="-120"/>
              </a:rPr>
              <a:t> 질의 임베딩</a:t>
            </a:r>
            <a:endParaRPr lang="en-US" sz="1200" dirty="0"/>
          </a:p>
        </p:txBody>
      </p:sp>
      <p:pic>
        <p:nvPicPr>
          <p:cNvPr id="40" name="Image 7" descr="arrow-left">    </p:cNvPr>
          <p:cNvPicPr>
            <a:picLocks noChangeAspect="1"/>
          </p:cNvPicPr>
          <p:nvPr/>
        </p:nvPicPr>
        <p:blipFill>
          <a:blip r:embed="rId8"/>
          <a:srcRect l="0" r="0" t="0" b="0"/>
          <a:stretch/>
        </p:blipFill>
        <p:spPr>
          <a:xfrm>
            <a:off x="6976517" y="4717951"/>
            <a:ext cx="127000" cy="101600"/>
          </a:xfrm>
          <a:prstGeom prst="rect">
            <a:avLst/>
          </a:prstGeom>
        </p:spPr>
      </p:pic>
      <p:sp>
        <p:nvSpPr>
          <p:cNvPr id="41" name="Shape 31"/>
          <p:cNvSpPr/>
          <p:nvPr/>
        </p:nvSpPr>
        <p:spPr>
          <a:xfrm>
            <a:off x="7103517" y="4768751"/>
            <a:ext cx="1634083" cy="0"/>
          </a:xfrm>
          <a:prstGeom prst="line">
            <a:avLst/>
          </a:prstGeom>
          <a:noFill/>
          <a:ln w="19050">
            <a:solidFill>
              <a:srgbClr val="131A2A"/>
            </a:solidFill>
            <a:prstDash val="solid"/>
          </a:ln>
        </p:spPr>
      </p:sp>
      <p:sp>
        <p:nvSpPr>
          <p:cNvPr id="42" name="Text 32"/>
          <p:cNvSpPr/>
          <p:nvPr/>
        </p:nvSpPr>
        <p:spPr>
          <a:xfrm>
            <a:off x="6006951" y="4844951"/>
            <a:ext cx="1939131"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B8521E"/>
                </a:solidFill>
                <a:latin typeface="IBM Plex Sans KR" pitchFamily="34" charset="0"/>
                <a:ea typeface="IBM Plex Sans KR" pitchFamily="34" charset="-122"/>
                <a:cs typeface="IBM Plex Sans KR" pitchFamily="34" charset="-120"/>
              </a:rPr>
              <a:t>9</a:t>
            </a:r>
            <a:r>
              <a:rPr lang="en-US" sz="1200" dirty="0">
                <a:solidFill>
                  <a:srgbClr val="131A2A"/>
                </a:solidFill>
                <a:latin typeface="IBM Plex Sans KR" pitchFamily="34" charset="0"/>
                <a:ea typeface="IBM Plex Sans KR" pitchFamily="34" charset="-122"/>
                <a:cs typeface="IBM Plex Sans KR" pitchFamily="34" charset="-120"/>
              </a:rPr>
              <a:t> vector + BM25 (ACL 필터)</a:t>
            </a:r>
            <a:endParaRPr lang="en-US" sz="1200" dirty="0"/>
          </a:p>
        </p:txBody>
      </p:sp>
      <p:pic>
        <p:nvPicPr>
          <p:cNvPr id="43" name="Image 8" descr="arrow-left">    </p:cNvPr>
          <p:cNvPicPr>
            <a:picLocks noChangeAspect="1"/>
          </p:cNvPicPr>
          <p:nvPr/>
        </p:nvPicPr>
        <p:blipFill>
          <a:blip r:embed="rId9"/>
          <a:srcRect l="0" r="0" t="0" b="0"/>
          <a:stretch/>
        </p:blipFill>
        <p:spPr>
          <a:xfrm>
            <a:off x="5215434" y="5048151"/>
            <a:ext cx="127000" cy="101600"/>
          </a:xfrm>
          <a:prstGeom prst="rect">
            <a:avLst/>
          </a:prstGeom>
        </p:spPr>
      </p:pic>
      <p:sp>
        <p:nvSpPr>
          <p:cNvPr id="44" name="Shape 33"/>
          <p:cNvSpPr/>
          <p:nvPr/>
        </p:nvSpPr>
        <p:spPr>
          <a:xfrm>
            <a:off x="5342434" y="5098951"/>
            <a:ext cx="3395166" cy="0"/>
          </a:xfrm>
          <a:prstGeom prst="line">
            <a:avLst/>
          </a:prstGeom>
          <a:noFill/>
          <a:ln w="19050">
            <a:solidFill>
              <a:srgbClr val="131A2A"/>
            </a:solidFill>
            <a:prstDash val="solid"/>
          </a:ln>
        </p:spPr>
      </p:sp>
      <p:sp>
        <p:nvSpPr>
          <p:cNvPr id="45" name="Text 34"/>
          <p:cNvSpPr/>
          <p:nvPr/>
        </p:nvSpPr>
        <p:spPr>
          <a:xfrm>
            <a:off x="6979692" y="5178326"/>
            <a:ext cx="3515767" cy="273050"/>
          </a:xfrm>
          <a:prstGeom prst="roundRect">
            <a:avLst>
              <a:gd name="adj" fmla="val 17442"/>
            </a:avLst>
          </a:prstGeom>
          <a:solidFill>
            <a:srgbClr val="FBE3D3"/>
          </a:solidFill>
          <a:ln w="6350">
            <a:solidFill>
              <a:srgbClr val="D9652B"/>
            </a:solidFill>
            <a:prstDash val="solid"/>
          </a:ln>
        </p:spPr>
        <p:txBody>
          <a:bodyPr wrap="square" lIns="1990" tIns="27326" rIns="1990" bIns="1926" rtlCol="0" anchor="t">
            <a:normAutofit/>
          </a:bodyPr>
          <a:lstStyle/>
          <a:p>
            <a:pPr algn="ctr" indent="0" marL="0">
              <a:lnSpc>
                <a:spcPts val="1500"/>
              </a:lnSpc>
              <a:buNone/>
            </a:pPr>
            <a:r>
              <a:rPr lang="en-US" sz="1200" dirty="0">
                <a:solidFill>
                  <a:srgbClr val="B8521E"/>
                </a:solidFill>
                <a:latin typeface="IBM Plex Sans KR" pitchFamily="34" charset="0"/>
                <a:ea typeface="IBM Plex Sans KR" pitchFamily="34" charset="-122"/>
                <a:cs typeface="IBM Plex Sans KR" pitchFamily="34" charset="-120"/>
              </a:rPr>
              <a:t>10</a:t>
            </a:r>
            <a:r>
              <a:rPr lang="en-US" sz="1200" dirty="0">
                <a:solidFill>
                  <a:srgbClr val="131A2A"/>
                </a:solidFill>
                <a:latin typeface="IBM Plex Sans KR" pitchFamily="34" charset="0"/>
                <a:ea typeface="IBM Plex Sans KR" pitchFamily="34" charset="-122"/>
                <a:cs typeface="IBM Plex Sans KR" pitchFamily="34" charset="-120"/>
              </a:rPr>
              <a:t> RRF → 리랭크 → 문맥 확장</a:t>
            </a:r>
            <a:endParaRPr lang="en-US" sz="1200" dirty="0"/>
          </a:p>
        </p:txBody>
      </p:sp>
      <p:sp>
        <p:nvSpPr>
          <p:cNvPr id="46" name="Text 35"/>
          <p:cNvSpPr/>
          <p:nvPr/>
        </p:nvSpPr>
        <p:spPr>
          <a:xfrm>
            <a:off x="9104263" y="5479951"/>
            <a:ext cx="1027658"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B8521E"/>
                </a:solidFill>
                <a:latin typeface="IBM Plex Sans KR" pitchFamily="34" charset="0"/>
                <a:ea typeface="IBM Plex Sans KR" pitchFamily="34" charset="-122"/>
                <a:cs typeface="IBM Plex Sans KR" pitchFamily="34" charset="-120"/>
              </a:rPr>
              <a:t>11</a:t>
            </a:r>
            <a:r>
              <a:rPr lang="en-US" sz="1200" dirty="0">
                <a:solidFill>
                  <a:srgbClr val="4A5263"/>
                </a:solidFill>
                <a:latin typeface="IBM Plex Sans KR" pitchFamily="34" charset="0"/>
                <a:ea typeface="IBM Plex Sans KR" pitchFamily="34" charset="-122"/>
                <a:cs typeface="IBM Plex Sans KR" pitchFamily="34" charset="-120"/>
              </a:rPr>
              <a:t> 청크 + 출처</a:t>
            </a:r>
            <a:endParaRPr lang="en-US" sz="1200" dirty="0"/>
          </a:p>
        </p:txBody>
      </p:sp>
      <p:sp>
        <p:nvSpPr>
          <p:cNvPr id="47" name="Shape 36"/>
          <p:cNvSpPr/>
          <p:nvPr/>
        </p:nvSpPr>
        <p:spPr>
          <a:xfrm>
            <a:off x="8737600" y="5733951"/>
            <a:ext cx="1634034" cy="0"/>
          </a:xfrm>
          <a:prstGeom prst="line">
            <a:avLst/>
          </a:prstGeom>
          <a:noFill/>
          <a:ln w="19050">
            <a:solidFill>
              <a:srgbClr val="6B7385"/>
            </a:solidFill>
            <a:prstDash val="dash"/>
          </a:ln>
        </p:spPr>
      </p:sp>
      <p:pic>
        <p:nvPicPr>
          <p:cNvPr id="48" name="Image 9" descr="arrow-right">    </p:cNvPr>
          <p:cNvPicPr>
            <a:picLocks noChangeAspect="1"/>
          </p:cNvPicPr>
          <p:nvPr/>
        </p:nvPicPr>
        <p:blipFill>
          <a:blip r:embed="rId10"/>
          <a:srcRect l="0" r="0" t="0" b="0"/>
          <a:stretch/>
        </p:blipFill>
        <p:spPr>
          <a:xfrm>
            <a:off x="10371634" y="5683151"/>
            <a:ext cx="127000" cy="101600"/>
          </a:xfrm>
          <a:prstGeom prst="rect">
            <a:avLst/>
          </a:prstGeom>
        </p:spPr>
      </p:pic>
      <p:sp>
        <p:nvSpPr>
          <p:cNvPr id="49" name="Text 3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KR" pitchFamily="34" charset="0"/>
                <a:ea typeface="IBM Plex Sans KR" pitchFamily="34" charset="-122"/>
                <a:cs typeface="IBM Plex Sans KR" pitchFamily="34" charset="-120"/>
              </a:rPr>
              <a:t>Archestra 아키텍처 · 22 · 출처: knowledge-base/connector-sync.ts, query.ts, task-queue/handlers</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3EE"/>
        </a:solidFill>
      </p:bgPr>
    </p:bg>
    <p:spTree>
      <p:nvGrpSpPr>
        <p:cNvPr id="1" name=""/>
        <p:cNvGrpSpPr/>
        <p:nvPr/>
      </p:nvGrpSpPr>
      <p:grpSpPr>
        <a:xfrm>
          <a:off x="0" y="0"/>
          <a:ext cx="0" cy="0"/>
          <a:chOff x="0" y="0"/>
          <a:chExt cx="0" cy="0"/>
        </a:xfrm>
      </p:grpSpPr>
      <p:sp>
        <p:nvSpPr>
          <p:cNvPr id="2" name="Shape 0"/>
          <p:cNvSpPr/>
          <p:nvPr/>
        </p:nvSpPr>
        <p:spPr>
          <a:xfrm>
            <a:off x="1689100" y="1841500"/>
            <a:ext cx="12700" cy="3746500"/>
          </a:xfrm>
          <a:prstGeom prst="rect">
            <a:avLst/>
          </a:prstGeom>
          <a:solidFill>
            <a:srgbClr val="C9C5BA"/>
          </a:solidFill>
          <a:ln/>
        </p:spPr>
      </p:sp>
      <p:sp>
        <p:nvSpPr>
          <p:cNvPr id="3" name="Shape 1"/>
          <p:cNvSpPr/>
          <p:nvPr/>
        </p:nvSpPr>
        <p:spPr>
          <a:xfrm>
            <a:off x="3448050" y="1841500"/>
            <a:ext cx="12700" cy="3746500"/>
          </a:xfrm>
          <a:prstGeom prst="rect">
            <a:avLst/>
          </a:prstGeom>
          <a:solidFill>
            <a:srgbClr val="C9C5BA"/>
          </a:solidFill>
          <a:ln/>
        </p:spPr>
      </p:sp>
      <p:sp>
        <p:nvSpPr>
          <p:cNvPr id="4" name="Shape 2"/>
          <p:cNvSpPr/>
          <p:nvPr/>
        </p:nvSpPr>
        <p:spPr>
          <a:xfrm>
            <a:off x="5207000" y="1841500"/>
            <a:ext cx="12700" cy="3746500"/>
          </a:xfrm>
          <a:prstGeom prst="rect">
            <a:avLst/>
          </a:prstGeom>
          <a:solidFill>
            <a:srgbClr val="C9C5BA"/>
          </a:solidFill>
          <a:ln/>
        </p:spPr>
      </p:sp>
      <p:sp>
        <p:nvSpPr>
          <p:cNvPr id="5" name="Shape 3"/>
          <p:cNvSpPr/>
          <p:nvPr/>
        </p:nvSpPr>
        <p:spPr>
          <a:xfrm>
            <a:off x="6972300" y="1841500"/>
            <a:ext cx="12700" cy="3746500"/>
          </a:xfrm>
          <a:prstGeom prst="rect">
            <a:avLst/>
          </a:prstGeom>
          <a:solidFill>
            <a:srgbClr val="C9C5BA"/>
          </a:solidFill>
          <a:ln/>
        </p:spPr>
      </p:sp>
      <p:sp>
        <p:nvSpPr>
          <p:cNvPr id="6" name="Shape 4"/>
          <p:cNvSpPr/>
          <p:nvPr/>
        </p:nvSpPr>
        <p:spPr>
          <a:xfrm>
            <a:off x="8731250" y="1841500"/>
            <a:ext cx="12700" cy="3746500"/>
          </a:xfrm>
          <a:prstGeom prst="rect">
            <a:avLst/>
          </a:prstGeom>
          <a:solidFill>
            <a:srgbClr val="C9C5BA"/>
          </a:solidFill>
          <a:ln/>
        </p:spPr>
      </p:sp>
      <p:sp>
        <p:nvSpPr>
          <p:cNvPr id="7" name="Shape 5"/>
          <p:cNvSpPr/>
          <p:nvPr/>
        </p:nvSpPr>
        <p:spPr>
          <a:xfrm>
            <a:off x="10490200" y="1841500"/>
            <a:ext cx="12700" cy="3746500"/>
          </a:xfrm>
          <a:prstGeom prst="rect">
            <a:avLst/>
          </a:prstGeom>
          <a:solidFill>
            <a:srgbClr val="C9C5BA"/>
          </a:solidFill>
          <a:ln/>
        </p:spPr>
      </p:sp>
      <p:sp>
        <p:nvSpPr>
          <p:cNvPr id="8" name="Text 6"/>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B8521E"/>
                </a:solidFill>
                <a:latin typeface="JetBrains Mono" pitchFamily="49" charset="0"/>
                <a:ea typeface="JetBrains Mono" pitchFamily="49" charset="-122"/>
                <a:cs typeface="JetBrains Mono" pitchFamily="49" charset="-120"/>
              </a:rPr>
              <a:t>S5 · SEQUENCE · MCP SERVER INSTALL</a:t>
            </a:r>
            <a:endParaRPr lang="en-US" sz="1200" dirty="0"/>
          </a:p>
        </p:txBody>
      </p:sp>
      <p:sp>
        <p:nvSpPr>
          <p:cNvPr id="9" name="Text 7"/>
          <p:cNvSpPr/>
          <p:nvPr>
            <p:ph type="title"/>
          </p:nvPr>
        </p:nvSpPr>
        <p:spPr>
          <a:xfrm>
            <a:off x="812800" y="10007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1A2A"/>
                </a:solidFill>
                <a:latin typeface="IBM Plex Sans KR" pitchFamily="34" charset="0"/>
                <a:ea typeface="IBM Plex Sans KR" pitchFamily="34" charset="-122"/>
                <a:cs typeface="IBM Plex Sans KR" pitchFamily="34" charset="-120"/>
              </a:rPr>
              <a:t>MCP 서버 설치: 카탈로그에서 파드까지</a:t>
            </a:r>
            <a:endParaRPr lang="en-US" sz="3000" dirty="0"/>
          </a:p>
        </p:txBody>
      </p:sp>
      <p:sp>
        <p:nvSpPr>
          <p:cNvPr id="10" name="Text 8"/>
          <p:cNvSpPr/>
          <p:nvPr/>
        </p:nvSpPr>
        <p:spPr>
          <a:xfrm>
            <a:off x="876300" y="1591270"/>
            <a:ext cx="1634034" cy="325090"/>
          </a:xfrm>
          <a:custGeom>
            <a:avLst/>
            <a:gdLst/>
            <a:ahLst/>
            <a:cxnLst/>
            <a:rect l="l" t="t" r="r" b="b"/>
            <a:pathLst>
              <a:path w="1634034" h="325090">
                <a:moveTo>
                  <a:pt x="50800" y="0"/>
                </a:moveTo>
                <a:lnTo>
                  <a:pt x="1583234" y="0"/>
                </a:lnTo>
                <a:arcTo hR="50800" wR="50800" stAng="16200000" swAng="5400000"/>
                <a:lnTo>
                  <a:pt x="1634034" y="274290"/>
                </a:lnTo>
                <a:arcTo hR="50800" wR="50800" stAng="0" swAng="5400000"/>
                <a:lnTo>
                  <a:pt x="50800" y="325090"/>
                </a:lnTo>
                <a:arcTo hR="50800" wR="50800" stAng="5400000" swAng="5400000"/>
                <a:lnTo>
                  <a:pt x="0" y="50800"/>
                </a:lnTo>
                <a:arcTo hR="50800" wR="50800" stAng="10800000" swAng="5400000"/>
                <a:close/>
              </a:path>
            </a:pathLst>
          </a:custGeom>
          <a:solidFill>
            <a:srgbClr val="131A2A"/>
          </a:solidFill>
          <a:ln/>
        </p:spPr>
        <p:txBody>
          <a:bodyPr wrap="square" lIns="25400" tIns="63500" rIns="25400" bIns="38100" rtlCol="0" anchor="t">
            <a:normAutofit/>
          </a:bodyPr>
          <a:lstStyle/>
          <a:p>
            <a:pPr algn="ctr" indent="0" marL="0">
              <a:lnSpc>
                <a:spcPts val="1560"/>
              </a:lnSpc>
              <a:buNone/>
            </a:pPr>
            <a:r>
              <a:rPr lang="en-US" sz="1200" dirty="0">
                <a:solidFill>
                  <a:srgbClr val="F4F3EE"/>
                </a:solidFill>
                <a:latin typeface="IBM Plex Sans KR" pitchFamily="34" charset="0"/>
                <a:ea typeface="IBM Plex Sans KR" pitchFamily="34" charset="-122"/>
                <a:cs typeface="IBM Plex Sans KR" pitchFamily="34" charset="-120"/>
              </a:rPr>
              <a:t>관리자 UI</a:t>
            </a:r>
            <a:endParaRPr lang="en-US" sz="1200" dirty="0"/>
          </a:p>
        </p:txBody>
      </p:sp>
      <p:sp>
        <p:nvSpPr>
          <p:cNvPr id="11" name="Text 9"/>
          <p:cNvSpPr/>
          <p:nvPr/>
        </p:nvSpPr>
        <p:spPr>
          <a:xfrm>
            <a:off x="2637334" y="1591270"/>
            <a:ext cx="1634083" cy="325090"/>
          </a:xfrm>
          <a:custGeom>
            <a:avLst/>
            <a:gdLst/>
            <a:ahLst/>
            <a:cxnLst/>
            <a:rect l="l" t="t" r="r" b="b"/>
            <a:pathLst>
              <a:path w="1634083" h="325090">
                <a:moveTo>
                  <a:pt x="50800" y="0"/>
                </a:moveTo>
                <a:lnTo>
                  <a:pt x="1583283" y="0"/>
                </a:lnTo>
                <a:arcTo hR="50800" wR="50800" stAng="16200000" swAng="5400000"/>
                <a:lnTo>
                  <a:pt x="1634083" y="274290"/>
                </a:lnTo>
                <a:arcTo hR="50800" wR="50800" stAng="0" swAng="5400000"/>
                <a:lnTo>
                  <a:pt x="50800" y="325090"/>
                </a:lnTo>
                <a:arcTo hR="50800" wR="50800" stAng="5400000" swAng="5400000"/>
                <a:lnTo>
                  <a:pt x="0" y="50800"/>
                </a:lnTo>
                <a:arcTo hR="50800" wR="50800" stAng="10800000" swAng="5400000"/>
                <a:close/>
              </a:path>
            </a:pathLst>
          </a:custGeom>
          <a:solidFill>
            <a:srgbClr val="131A2A"/>
          </a:solidFill>
          <a:ln/>
        </p:spPr>
        <p:txBody>
          <a:bodyPr wrap="square" lIns="25400" tIns="63500" rIns="25400" bIns="38100" rtlCol="0" anchor="t">
            <a:normAutofit/>
          </a:bodyPr>
          <a:lstStyle/>
          <a:p>
            <a:pPr algn="ctr" indent="0" marL="0">
              <a:lnSpc>
                <a:spcPts val="1560"/>
              </a:lnSpc>
              <a:buNone/>
            </a:pPr>
            <a:r>
              <a:rPr lang="en-US" sz="1200" dirty="0">
                <a:solidFill>
                  <a:srgbClr val="F4F3EE"/>
                </a:solidFill>
                <a:latin typeface="IBM Plex Sans KR" pitchFamily="34" charset="0"/>
                <a:ea typeface="IBM Plex Sans KR" pitchFamily="34" charset="-122"/>
                <a:cs typeface="IBM Plex Sans KR" pitchFamily="34" charset="-120"/>
              </a:rPr>
              <a:t>Backend API</a:t>
            </a:r>
            <a:endParaRPr lang="en-US" sz="1200" dirty="0"/>
          </a:p>
        </p:txBody>
      </p:sp>
      <p:sp>
        <p:nvSpPr>
          <p:cNvPr id="12" name="Text 10"/>
          <p:cNvSpPr/>
          <p:nvPr/>
        </p:nvSpPr>
        <p:spPr>
          <a:xfrm>
            <a:off x="4398417" y="1591270"/>
            <a:ext cx="1634083" cy="325090"/>
          </a:xfrm>
          <a:custGeom>
            <a:avLst/>
            <a:gdLst/>
            <a:ahLst/>
            <a:cxnLst/>
            <a:rect l="l" t="t" r="r" b="b"/>
            <a:pathLst>
              <a:path w="1634083" h="325090">
                <a:moveTo>
                  <a:pt x="50800" y="0"/>
                </a:moveTo>
                <a:lnTo>
                  <a:pt x="1583283" y="0"/>
                </a:lnTo>
                <a:arcTo hR="50800" wR="50800" stAng="16200000" swAng="5400000"/>
                <a:lnTo>
                  <a:pt x="1634083" y="274290"/>
                </a:lnTo>
                <a:arcTo hR="50800" wR="50800" stAng="0" swAng="5400000"/>
                <a:lnTo>
                  <a:pt x="50800" y="325090"/>
                </a:lnTo>
                <a:arcTo hR="50800" wR="50800" stAng="5400000" swAng="5400000"/>
                <a:lnTo>
                  <a:pt x="0" y="50800"/>
                </a:lnTo>
                <a:arcTo hR="50800" wR="50800" stAng="10800000" swAng="5400000"/>
                <a:close/>
              </a:path>
            </a:pathLst>
          </a:custGeom>
          <a:solidFill>
            <a:srgbClr val="2F5BB7"/>
          </a:solidFill>
          <a:ln/>
        </p:spPr>
        <p:txBody>
          <a:bodyPr wrap="square" lIns="25400" tIns="63500" rIns="25400" bIns="38100" rtlCol="0" anchor="t">
            <a:normAutofit/>
          </a:bodyPr>
          <a:lstStyle/>
          <a:p>
            <a:pPr algn="ctr" indent="0" marL="0">
              <a:lnSpc>
                <a:spcPts val="1560"/>
              </a:lnSpc>
              <a:buNone/>
            </a:pPr>
            <a:r>
              <a:rPr lang="en-US" sz="1200" dirty="0">
                <a:solidFill>
                  <a:srgbClr val="F4F3EE"/>
                </a:solidFill>
                <a:latin typeface="IBM Plex Sans KR" pitchFamily="34" charset="0"/>
                <a:ea typeface="IBM Plex Sans KR" pitchFamily="34" charset="-122"/>
                <a:cs typeface="IBM Plex Sans KR" pitchFamily="34" charset="-120"/>
              </a:rPr>
              <a:t>PostgreSQL</a:t>
            </a:r>
            <a:endParaRPr lang="en-US" sz="1200" dirty="0"/>
          </a:p>
        </p:txBody>
      </p:sp>
      <p:sp>
        <p:nvSpPr>
          <p:cNvPr id="13" name="Text 11"/>
          <p:cNvSpPr/>
          <p:nvPr/>
        </p:nvSpPr>
        <p:spPr>
          <a:xfrm>
            <a:off x="6159500" y="1591270"/>
            <a:ext cx="1634034" cy="325090"/>
          </a:xfrm>
          <a:custGeom>
            <a:avLst/>
            <a:gdLst/>
            <a:ahLst/>
            <a:cxnLst/>
            <a:rect l="l" t="t" r="r" b="b"/>
            <a:pathLst>
              <a:path w="1634034" h="325090">
                <a:moveTo>
                  <a:pt x="50800" y="0"/>
                </a:moveTo>
                <a:lnTo>
                  <a:pt x="1583234" y="0"/>
                </a:lnTo>
                <a:arcTo hR="50800" wR="50800" stAng="16200000" swAng="5400000"/>
                <a:lnTo>
                  <a:pt x="1634034" y="274290"/>
                </a:lnTo>
                <a:arcTo hR="50800" wR="50800" stAng="0" swAng="5400000"/>
                <a:lnTo>
                  <a:pt x="50800" y="325090"/>
                </a:lnTo>
                <a:arcTo hR="50800" wR="50800" stAng="5400000" swAng="5400000"/>
                <a:lnTo>
                  <a:pt x="0" y="50800"/>
                </a:lnTo>
                <a:arcTo hR="50800" wR="50800" stAng="10800000" swAng="5400000"/>
                <a:close/>
              </a:path>
            </a:pathLst>
          </a:custGeom>
          <a:solidFill>
            <a:srgbClr val="D9652B"/>
          </a:solidFill>
          <a:ln/>
        </p:spPr>
        <p:txBody>
          <a:bodyPr wrap="square" lIns="25400" tIns="63500" rIns="25400" bIns="38100" rtlCol="0" anchor="t">
            <a:normAutofit/>
          </a:bodyPr>
          <a:lstStyle/>
          <a:p>
            <a:pPr algn="ctr" indent="0" marL="0">
              <a:lnSpc>
                <a:spcPts val="1560"/>
              </a:lnSpc>
              <a:buNone/>
            </a:pPr>
            <a:r>
              <a:rPr lang="en-US" sz="1200" dirty="0">
                <a:solidFill>
                  <a:srgbClr val="131A2A"/>
                </a:solidFill>
                <a:latin typeface="IBM Plex Sans KR" pitchFamily="34" charset="0"/>
                <a:ea typeface="IBM Plex Sans KR" pitchFamily="34" charset="-122"/>
                <a:cs typeface="IBM Plex Sans KR" pitchFamily="34" charset="-120"/>
              </a:rPr>
              <a:t>Runtime Manager</a:t>
            </a:r>
            <a:endParaRPr lang="en-US" sz="1200" dirty="0"/>
          </a:p>
        </p:txBody>
      </p:sp>
      <p:sp>
        <p:nvSpPr>
          <p:cNvPr id="14" name="Text 12"/>
          <p:cNvSpPr/>
          <p:nvPr/>
        </p:nvSpPr>
        <p:spPr>
          <a:xfrm>
            <a:off x="7920534" y="1591270"/>
            <a:ext cx="1634083" cy="325090"/>
          </a:xfrm>
          <a:custGeom>
            <a:avLst/>
            <a:gdLst/>
            <a:ahLst/>
            <a:cxnLst/>
            <a:rect l="l" t="t" r="r" b="b"/>
            <a:pathLst>
              <a:path w="1634083" h="325090">
                <a:moveTo>
                  <a:pt x="50800" y="0"/>
                </a:moveTo>
                <a:lnTo>
                  <a:pt x="1583283" y="0"/>
                </a:lnTo>
                <a:arcTo hR="50800" wR="50800" stAng="16200000" swAng="5400000"/>
                <a:lnTo>
                  <a:pt x="1634083" y="274290"/>
                </a:lnTo>
                <a:arcTo hR="50800" wR="50800" stAng="0" swAng="5400000"/>
                <a:lnTo>
                  <a:pt x="50800" y="325090"/>
                </a:lnTo>
                <a:arcTo hR="50800" wR="50800" stAng="5400000" swAng="5400000"/>
                <a:lnTo>
                  <a:pt x="0" y="50800"/>
                </a:lnTo>
                <a:arcTo hR="50800" wR="50800" stAng="10800000" swAng="5400000"/>
                <a:close/>
              </a:path>
            </a:pathLst>
          </a:custGeom>
          <a:solidFill>
            <a:srgbClr val="131A2A"/>
          </a:solidFill>
          <a:ln/>
        </p:spPr>
        <p:txBody>
          <a:bodyPr wrap="square" lIns="25400" tIns="63500" rIns="25400" bIns="38100" rtlCol="0" anchor="t">
            <a:normAutofit/>
          </a:bodyPr>
          <a:lstStyle/>
          <a:p>
            <a:pPr algn="ctr" indent="0" marL="0">
              <a:lnSpc>
                <a:spcPts val="1560"/>
              </a:lnSpc>
              <a:buNone/>
            </a:pPr>
            <a:r>
              <a:rPr lang="en-US" sz="1200" dirty="0">
                <a:solidFill>
                  <a:srgbClr val="F4F3EE"/>
                </a:solidFill>
                <a:latin typeface="IBM Plex Sans KR" pitchFamily="34" charset="0"/>
                <a:ea typeface="IBM Plex Sans KR" pitchFamily="34" charset="-122"/>
                <a:cs typeface="IBM Plex Sans KR" pitchFamily="34" charset="-120"/>
              </a:rPr>
              <a:t>Kubernetes API</a:t>
            </a:r>
            <a:endParaRPr lang="en-US" sz="1200" dirty="0"/>
          </a:p>
        </p:txBody>
      </p:sp>
      <p:sp>
        <p:nvSpPr>
          <p:cNvPr id="15" name="Text 13"/>
          <p:cNvSpPr/>
          <p:nvPr/>
        </p:nvSpPr>
        <p:spPr>
          <a:xfrm>
            <a:off x="9681617" y="1591270"/>
            <a:ext cx="1634083" cy="325090"/>
          </a:xfrm>
          <a:custGeom>
            <a:avLst/>
            <a:gdLst/>
            <a:ahLst/>
            <a:cxnLst/>
            <a:rect l="l" t="t" r="r" b="b"/>
            <a:pathLst>
              <a:path w="1634083" h="325090">
                <a:moveTo>
                  <a:pt x="50800" y="0"/>
                </a:moveTo>
                <a:lnTo>
                  <a:pt x="1583283" y="0"/>
                </a:lnTo>
                <a:arcTo hR="50800" wR="50800" stAng="16200000" swAng="5400000"/>
                <a:lnTo>
                  <a:pt x="1634083" y="274290"/>
                </a:lnTo>
                <a:arcTo hR="50800" wR="50800" stAng="0" swAng="5400000"/>
                <a:lnTo>
                  <a:pt x="50800" y="325090"/>
                </a:lnTo>
                <a:arcTo hR="50800" wR="50800" stAng="5400000" swAng="5400000"/>
                <a:lnTo>
                  <a:pt x="0" y="50800"/>
                </a:lnTo>
                <a:arcTo hR="50800" wR="50800" stAng="10800000" swAng="5400000"/>
                <a:close/>
              </a:path>
            </a:pathLst>
          </a:custGeom>
          <a:solidFill>
            <a:srgbClr val="131A2A"/>
          </a:solidFill>
          <a:ln/>
        </p:spPr>
        <p:txBody>
          <a:bodyPr wrap="square" lIns="25400" tIns="63500" rIns="25400" bIns="38100" rtlCol="0" anchor="t">
            <a:normAutofit/>
          </a:bodyPr>
          <a:lstStyle/>
          <a:p>
            <a:pPr algn="ctr" indent="0" marL="0">
              <a:lnSpc>
                <a:spcPts val="1560"/>
              </a:lnSpc>
              <a:buNone/>
            </a:pPr>
            <a:r>
              <a:rPr lang="en-US" sz="1200" dirty="0">
                <a:solidFill>
                  <a:srgbClr val="F4F3EE"/>
                </a:solidFill>
                <a:latin typeface="IBM Plex Sans KR" pitchFamily="34" charset="0"/>
                <a:ea typeface="IBM Plex Sans KR" pitchFamily="34" charset="-122"/>
                <a:cs typeface="IBM Plex Sans KR" pitchFamily="34" charset="-120"/>
              </a:rPr>
              <a:t>MCP 서버 파드</a:t>
            </a:r>
            <a:endParaRPr lang="en-US" sz="1200" dirty="0"/>
          </a:p>
        </p:txBody>
      </p:sp>
      <p:sp>
        <p:nvSpPr>
          <p:cNvPr id="16" name="Text 14"/>
          <p:cNvSpPr/>
          <p:nvPr/>
        </p:nvSpPr>
        <p:spPr>
          <a:xfrm>
            <a:off x="2033488" y="1941761"/>
            <a:ext cx="1080691"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B8521E"/>
                </a:solidFill>
                <a:latin typeface="IBM Plex Sans KR" pitchFamily="34" charset="0"/>
                <a:ea typeface="IBM Plex Sans KR" pitchFamily="34" charset="-122"/>
                <a:cs typeface="IBM Plex Sans KR" pitchFamily="34" charset="-120"/>
              </a:rPr>
              <a:t>1</a:t>
            </a:r>
            <a:r>
              <a:rPr lang="en-US" sz="1200" dirty="0">
                <a:solidFill>
                  <a:srgbClr val="131A2A"/>
                </a:solidFill>
                <a:latin typeface="IBM Plex Sans KR" pitchFamily="34" charset="0"/>
                <a:ea typeface="IBM Plex Sans KR" pitchFamily="34" charset="-122"/>
                <a:cs typeface="IBM Plex Sans KR" pitchFamily="34" charset="-120"/>
              </a:rPr>
              <a:t> 카탈로그 설치</a:t>
            </a:r>
            <a:endParaRPr lang="en-US" sz="1200" dirty="0"/>
          </a:p>
        </p:txBody>
      </p:sp>
      <p:sp>
        <p:nvSpPr>
          <p:cNvPr id="17" name="Shape 15"/>
          <p:cNvSpPr/>
          <p:nvPr/>
        </p:nvSpPr>
        <p:spPr>
          <a:xfrm>
            <a:off x="1693317" y="2195761"/>
            <a:ext cx="1634083" cy="0"/>
          </a:xfrm>
          <a:prstGeom prst="line">
            <a:avLst/>
          </a:prstGeom>
          <a:noFill/>
          <a:ln w="19050">
            <a:solidFill>
              <a:srgbClr val="131A2A"/>
            </a:solidFill>
            <a:prstDash val="solid"/>
          </a:ln>
        </p:spPr>
      </p:sp>
      <p:pic>
        <p:nvPicPr>
          <p:cNvPr id="18" name="Image 0" descr="arrow-right">    </p:cNvPr>
          <p:cNvPicPr>
            <a:picLocks noChangeAspect="1"/>
          </p:cNvPicPr>
          <p:nvPr/>
        </p:nvPicPr>
        <p:blipFill>
          <a:blip r:embed="rId1"/>
          <a:srcRect l="0" r="0" t="0" b="0"/>
          <a:stretch/>
        </p:blipFill>
        <p:spPr>
          <a:xfrm>
            <a:off x="3327400" y="2144961"/>
            <a:ext cx="127000" cy="101600"/>
          </a:xfrm>
          <a:prstGeom prst="rect">
            <a:avLst/>
          </a:prstGeom>
        </p:spPr>
      </p:pic>
      <p:sp>
        <p:nvSpPr>
          <p:cNvPr id="19" name="Text 16"/>
          <p:cNvSpPr/>
          <p:nvPr/>
        </p:nvSpPr>
        <p:spPr>
          <a:xfrm>
            <a:off x="1696492" y="2275136"/>
            <a:ext cx="3515767" cy="273050"/>
          </a:xfrm>
          <a:prstGeom prst="roundRect">
            <a:avLst>
              <a:gd name="adj" fmla="val 17442"/>
            </a:avLst>
          </a:prstGeom>
          <a:solidFill>
            <a:srgbClr val="FBE3D3"/>
          </a:solidFill>
          <a:ln w="6350">
            <a:solidFill>
              <a:srgbClr val="D9652B"/>
            </a:solidFill>
            <a:prstDash val="solid"/>
          </a:ln>
        </p:spPr>
        <p:txBody>
          <a:bodyPr wrap="square" lIns="1990" tIns="27326" rIns="1990" bIns="1926" rtlCol="0" anchor="t">
            <a:normAutofit/>
          </a:bodyPr>
          <a:lstStyle/>
          <a:p>
            <a:pPr algn="ctr" indent="0" marL="0">
              <a:lnSpc>
                <a:spcPts val="1500"/>
              </a:lnSpc>
              <a:buNone/>
            </a:pPr>
            <a:r>
              <a:rPr lang="en-US" sz="1200" dirty="0">
                <a:solidFill>
                  <a:srgbClr val="B8521E"/>
                </a:solidFill>
                <a:latin typeface="IBM Plex Sans KR" pitchFamily="34" charset="0"/>
                <a:ea typeface="IBM Plex Sans KR" pitchFamily="34" charset="-122"/>
                <a:cs typeface="IBM Plex Sans KR" pitchFamily="34" charset="-120"/>
              </a:rPr>
              <a:t>2</a:t>
            </a:r>
            <a:r>
              <a:rPr lang="en-US" sz="1200" dirty="0">
                <a:solidFill>
                  <a:srgbClr val="131A2A"/>
                </a:solidFill>
                <a:latin typeface="IBM Plex Sans KR" pitchFamily="34" charset="0"/>
                <a:ea typeface="IBM Plex Sans KR" pitchFamily="34" charset="-122"/>
                <a:cs typeface="IBM Plex Sans KR" pitchFamily="34" charset="-120"/>
              </a:rPr>
              <a:t> 설치 정책 · 권한 검사</a:t>
            </a:r>
            <a:endParaRPr lang="en-US" sz="1200" dirty="0"/>
          </a:p>
        </p:txBody>
      </p:sp>
      <p:sp>
        <p:nvSpPr>
          <p:cNvPr id="20" name="Text 17"/>
          <p:cNvSpPr/>
          <p:nvPr/>
        </p:nvSpPr>
        <p:spPr>
          <a:xfrm>
            <a:off x="3844528" y="2576761"/>
            <a:ext cx="980728"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B8521E"/>
                </a:solidFill>
                <a:latin typeface="IBM Plex Sans KR" pitchFamily="34" charset="0"/>
                <a:ea typeface="IBM Plex Sans KR" pitchFamily="34" charset="-122"/>
                <a:cs typeface="IBM Plex Sans KR" pitchFamily="34" charset="-120"/>
              </a:rPr>
              <a:t>3</a:t>
            </a:r>
            <a:r>
              <a:rPr lang="en-US" sz="1200" dirty="0">
                <a:solidFill>
                  <a:srgbClr val="131A2A"/>
                </a:solidFill>
                <a:latin typeface="IBM Plex Sans KR" pitchFamily="34" charset="0"/>
                <a:ea typeface="IBM Plex Sans KR" pitchFamily="34" charset="-122"/>
                <a:cs typeface="IBM Plex Sans KR" pitchFamily="34" charset="-120"/>
              </a:rPr>
              <a:t> 설치 행 저장</a:t>
            </a:r>
            <a:endParaRPr lang="en-US" sz="1200" dirty="0"/>
          </a:p>
        </p:txBody>
      </p:sp>
      <p:sp>
        <p:nvSpPr>
          <p:cNvPr id="21" name="Shape 18"/>
          <p:cNvSpPr/>
          <p:nvPr/>
        </p:nvSpPr>
        <p:spPr>
          <a:xfrm>
            <a:off x="3454400" y="2830761"/>
            <a:ext cx="1634034" cy="0"/>
          </a:xfrm>
          <a:prstGeom prst="line">
            <a:avLst/>
          </a:prstGeom>
          <a:noFill/>
          <a:ln w="19050">
            <a:solidFill>
              <a:srgbClr val="131A2A"/>
            </a:solidFill>
            <a:prstDash val="solid"/>
          </a:ln>
        </p:spPr>
      </p:sp>
      <p:pic>
        <p:nvPicPr>
          <p:cNvPr id="22" name="Image 1" descr="arrow-right">    </p:cNvPr>
          <p:cNvPicPr>
            <a:picLocks noChangeAspect="1"/>
          </p:cNvPicPr>
          <p:nvPr/>
        </p:nvPicPr>
        <p:blipFill>
          <a:blip r:embed="rId2"/>
          <a:srcRect l="0" r="0" t="0" b="0"/>
          <a:stretch/>
        </p:blipFill>
        <p:spPr>
          <a:xfrm>
            <a:off x="5088434" y="2779961"/>
            <a:ext cx="127000" cy="101600"/>
          </a:xfrm>
          <a:prstGeom prst="rect">
            <a:avLst/>
          </a:prstGeom>
        </p:spPr>
      </p:pic>
      <p:sp>
        <p:nvSpPr>
          <p:cNvPr id="23" name="Text 19"/>
          <p:cNvSpPr/>
          <p:nvPr/>
        </p:nvSpPr>
        <p:spPr>
          <a:xfrm>
            <a:off x="4179292" y="2906961"/>
            <a:ext cx="2072332"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B8521E"/>
                </a:solidFill>
                <a:latin typeface="IBM Plex Sans KR" pitchFamily="34" charset="0"/>
                <a:ea typeface="IBM Plex Sans KR" pitchFamily="34" charset="-122"/>
                <a:cs typeface="IBM Plex Sans KR" pitchFamily="34" charset="-120"/>
              </a:rPr>
              <a:t>4</a:t>
            </a:r>
            <a:r>
              <a:rPr lang="en-US" sz="1200" dirty="0">
                <a:solidFill>
                  <a:srgbClr val="131A2A"/>
                </a:solidFill>
                <a:latin typeface="IBM Plex Sans KR" pitchFamily="34" charset="0"/>
                <a:ea typeface="IBM Plex Sans KR" pitchFamily="34" charset="-122"/>
                <a:cs typeface="IBM Plex Sans KR" pitchFamily="34" charset="-120"/>
              </a:rPr>
              <a:t> startServer (클러스터 lease)</a:t>
            </a:r>
            <a:endParaRPr lang="en-US" sz="1200" dirty="0"/>
          </a:p>
        </p:txBody>
      </p:sp>
      <p:sp>
        <p:nvSpPr>
          <p:cNvPr id="24" name="Shape 20"/>
          <p:cNvSpPr/>
          <p:nvPr/>
        </p:nvSpPr>
        <p:spPr>
          <a:xfrm>
            <a:off x="3454400" y="3160961"/>
            <a:ext cx="3395117" cy="0"/>
          </a:xfrm>
          <a:prstGeom prst="line">
            <a:avLst/>
          </a:prstGeom>
          <a:noFill/>
          <a:ln w="19050">
            <a:solidFill>
              <a:srgbClr val="131A2A"/>
            </a:solidFill>
            <a:prstDash val="solid"/>
          </a:ln>
        </p:spPr>
      </p:sp>
      <p:pic>
        <p:nvPicPr>
          <p:cNvPr id="25" name="Image 2" descr="arrow-right">    </p:cNvPr>
          <p:cNvPicPr>
            <a:picLocks noChangeAspect="1"/>
          </p:cNvPicPr>
          <p:nvPr/>
        </p:nvPicPr>
        <p:blipFill>
          <a:blip r:embed="rId3"/>
          <a:srcRect l="0" r="0" t="0" b="0"/>
          <a:stretch/>
        </p:blipFill>
        <p:spPr>
          <a:xfrm>
            <a:off x="6849517" y="3110161"/>
            <a:ext cx="127000" cy="101600"/>
          </a:xfrm>
          <a:prstGeom prst="rect">
            <a:avLst/>
          </a:prstGeom>
        </p:spPr>
      </p:pic>
      <p:sp>
        <p:nvSpPr>
          <p:cNvPr id="26" name="Text 21"/>
          <p:cNvSpPr/>
          <p:nvPr/>
        </p:nvSpPr>
        <p:spPr>
          <a:xfrm>
            <a:off x="7367984" y="3237161"/>
            <a:ext cx="978098"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B8521E"/>
                </a:solidFill>
                <a:latin typeface="IBM Plex Sans KR" pitchFamily="34" charset="0"/>
                <a:ea typeface="IBM Plex Sans KR" pitchFamily="34" charset="-122"/>
                <a:cs typeface="IBM Plex Sans KR" pitchFamily="34" charset="-120"/>
              </a:rPr>
              <a:t>5</a:t>
            </a:r>
            <a:r>
              <a:rPr lang="en-US" sz="1200" dirty="0">
                <a:solidFill>
                  <a:srgbClr val="131A2A"/>
                </a:solidFill>
                <a:latin typeface="IBM Plex Sans KR" pitchFamily="34" charset="0"/>
                <a:ea typeface="IBM Plex Sans KR" pitchFamily="34" charset="-122"/>
                <a:cs typeface="IBM Plex Sans KR" pitchFamily="34" charset="-120"/>
              </a:rPr>
              <a:t> Secret 생성</a:t>
            </a:r>
            <a:endParaRPr lang="en-US" sz="1200" dirty="0"/>
          </a:p>
        </p:txBody>
      </p:sp>
      <p:sp>
        <p:nvSpPr>
          <p:cNvPr id="27" name="Shape 22"/>
          <p:cNvSpPr/>
          <p:nvPr/>
        </p:nvSpPr>
        <p:spPr>
          <a:xfrm>
            <a:off x="6976517" y="3491161"/>
            <a:ext cx="1634083" cy="0"/>
          </a:xfrm>
          <a:prstGeom prst="line">
            <a:avLst/>
          </a:prstGeom>
          <a:noFill/>
          <a:ln w="19050">
            <a:solidFill>
              <a:srgbClr val="131A2A"/>
            </a:solidFill>
            <a:prstDash val="solid"/>
          </a:ln>
        </p:spPr>
      </p:sp>
      <p:pic>
        <p:nvPicPr>
          <p:cNvPr id="28" name="Image 3" descr="arrow-right">    </p:cNvPr>
          <p:cNvPicPr>
            <a:picLocks noChangeAspect="1"/>
          </p:cNvPicPr>
          <p:nvPr/>
        </p:nvPicPr>
        <p:blipFill>
          <a:blip r:embed="rId4"/>
          <a:srcRect l="0" r="0" t="0" b="0"/>
          <a:stretch/>
        </p:blipFill>
        <p:spPr>
          <a:xfrm>
            <a:off x="8610600" y="3440361"/>
            <a:ext cx="127000" cy="101600"/>
          </a:xfrm>
          <a:prstGeom prst="rect">
            <a:avLst/>
          </a:prstGeom>
        </p:spPr>
      </p:pic>
      <p:sp>
        <p:nvSpPr>
          <p:cNvPr id="29" name="Text 23"/>
          <p:cNvSpPr/>
          <p:nvPr/>
        </p:nvSpPr>
        <p:spPr>
          <a:xfrm>
            <a:off x="7171978" y="3567361"/>
            <a:ext cx="1370112"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B8521E"/>
                </a:solidFill>
                <a:latin typeface="IBM Plex Sans KR" pitchFamily="34" charset="0"/>
                <a:ea typeface="IBM Plex Sans KR" pitchFamily="34" charset="-122"/>
                <a:cs typeface="IBM Plex Sans KR" pitchFamily="34" charset="-120"/>
              </a:rPr>
              <a:t>6</a:t>
            </a:r>
            <a:r>
              <a:rPr lang="en-US" sz="1200" dirty="0">
                <a:solidFill>
                  <a:srgbClr val="131A2A"/>
                </a:solidFill>
                <a:latin typeface="IBM Plex Sans KR" pitchFamily="34" charset="0"/>
                <a:ea typeface="IBM Plex Sans KR" pitchFamily="34" charset="-122"/>
                <a:cs typeface="IBM Plex Sans KR" pitchFamily="34" charset="-120"/>
              </a:rPr>
              <a:t> Deployment 생성</a:t>
            </a:r>
            <a:endParaRPr lang="en-US" sz="1200" dirty="0"/>
          </a:p>
        </p:txBody>
      </p:sp>
      <p:sp>
        <p:nvSpPr>
          <p:cNvPr id="30" name="Shape 24"/>
          <p:cNvSpPr/>
          <p:nvPr/>
        </p:nvSpPr>
        <p:spPr>
          <a:xfrm>
            <a:off x="6976517" y="3821361"/>
            <a:ext cx="1634083" cy="0"/>
          </a:xfrm>
          <a:prstGeom prst="line">
            <a:avLst/>
          </a:prstGeom>
          <a:noFill/>
          <a:ln w="19050">
            <a:solidFill>
              <a:srgbClr val="131A2A"/>
            </a:solidFill>
            <a:prstDash val="solid"/>
          </a:ln>
        </p:spPr>
      </p:sp>
      <p:pic>
        <p:nvPicPr>
          <p:cNvPr id="31" name="Image 4" descr="arrow-right">    </p:cNvPr>
          <p:cNvPicPr>
            <a:picLocks noChangeAspect="1"/>
          </p:cNvPicPr>
          <p:nvPr/>
        </p:nvPicPr>
        <p:blipFill>
          <a:blip r:embed="rId5"/>
          <a:srcRect l="0" r="0" t="0" b="0"/>
          <a:stretch/>
        </p:blipFill>
        <p:spPr>
          <a:xfrm>
            <a:off x="8610600" y="3770561"/>
            <a:ext cx="127000" cy="101600"/>
          </a:xfrm>
          <a:prstGeom prst="rect">
            <a:avLst/>
          </a:prstGeom>
        </p:spPr>
      </p:pic>
      <p:sp>
        <p:nvSpPr>
          <p:cNvPr id="32" name="Text 25"/>
          <p:cNvSpPr/>
          <p:nvPr/>
        </p:nvSpPr>
        <p:spPr>
          <a:xfrm>
            <a:off x="7247682" y="3897561"/>
            <a:ext cx="1218754"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B8521E"/>
                </a:solidFill>
                <a:latin typeface="IBM Plex Sans KR" pitchFamily="34" charset="0"/>
                <a:ea typeface="IBM Plex Sans KR" pitchFamily="34" charset="-122"/>
                <a:cs typeface="IBM Plex Sans KR" pitchFamily="34" charset="-120"/>
              </a:rPr>
              <a:t>7</a:t>
            </a:r>
            <a:r>
              <a:rPr lang="en-US" sz="1200" dirty="0">
                <a:solidFill>
                  <a:srgbClr val="131A2A"/>
                </a:solidFill>
                <a:latin typeface="IBM Plex Sans KR" pitchFamily="34" charset="0"/>
                <a:ea typeface="IBM Plex Sans KR" pitchFamily="34" charset="-122"/>
                <a:cs typeface="IBM Plex Sans KR" pitchFamily="34" charset="-120"/>
              </a:rPr>
              <a:t> NetworkPolicy</a:t>
            </a:r>
            <a:endParaRPr lang="en-US" sz="1200" dirty="0"/>
          </a:p>
        </p:txBody>
      </p:sp>
      <p:sp>
        <p:nvSpPr>
          <p:cNvPr id="33" name="Shape 26"/>
          <p:cNvSpPr/>
          <p:nvPr/>
        </p:nvSpPr>
        <p:spPr>
          <a:xfrm>
            <a:off x="6976517" y="4151561"/>
            <a:ext cx="1634083" cy="0"/>
          </a:xfrm>
          <a:prstGeom prst="line">
            <a:avLst/>
          </a:prstGeom>
          <a:noFill/>
          <a:ln w="19050">
            <a:solidFill>
              <a:srgbClr val="131A2A"/>
            </a:solidFill>
            <a:prstDash val="solid"/>
          </a:ln>
        </p:spPr>
      </p:sp>
      <p:pic>
        <p:nvPicPr>
          <p:cNvPr id="34" name="Image 5" descr="arrow-right">    </p:cNvPr>
          <p:cNvPicPr>
            <a:picLocks noChangeAspect="1"/>
          </p:cNvPicPr>
          <p:nvPr/>
        </p:nvPicPr>
        <p:blipFill>
          <a:blip r:embed="rId6"/>
          <a:srcRect l="0" r="0" t="0" b="0"/>
          <a:stretch/>
        </p:blipFill>
        <p:spPr>
          <a:xfrm>
            <a:off x="8610600" y="4100761"/>
            <a:ext cx="127000" cy="101600"/>
          </a:xfrm>
          <a:prstGeom prst="rect">
            <a:avLst/>
          </a:prstGeom>
        </p:spPr>
      </p:pic>
      <p:sp>
        <p:nvSpPr>
          <p:cNvPr id="35" name="Text 27"/>
          <p:cNvSpPr/>
          <p:nvPr/>
        </p:nvSpPr>
        <p:spPr>
          <a:xfrm>
            <a:off x="9213701" y="4227761"/>
            <a:ext cx="808782"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B8521E"/>
                </a:solidFill>
                <a:latin typeface="IBM Plex Sans KR" pitchFamily="34" charset="0"/>
                <a:ea typeface="IBM Plex Sans KR" pitchFamily="34" charset="-122"/>
                <a:cs typeface="IBM Plex Sans KR" pitchFamily="34" charset="-120"/>
              </a:rPr>
              <a:t>8</a:t>
            </a:r>
            <a:r>
              <a:rPr lang="en-US" sz="1200" dirty="0">
                <a:solidFill>
                  <a:srgbClr val="131A2A"/>
                </a:solidFill>
                <a:latin typeface="IBM Plex Sans KR" pitchFamily="34" charset="0"/>
                <a:ea typeface="IBM Plex Sans KR" pitchFamily="34" charset="-122"/>
                <a:cs typeface="IBM Plex Sans KR" pitchFamily="34" charset="-120"/>
              </a:rPr>
              <a:t> 파드 기동</a:t>
            </a:r>
            <a:endParaRPr lang="en-US" sz="1200" dirty="0"/>
          </a:p>
        </p:txBody>
      </p:sp>
      <p:sp>
        <p:nvSpPr>
          <p:cNvPr id="36" name="Shape 28"/>
          <p:cNvSpPr/>
          <p:nvPr/>
        </p:nvSpPr>
        <p:spPr>
          <a:xfrm>
            <a:off x="8737600" y="4481761"/>
            <a:ext cx="1634034" cy="0"/>
          </a:xfrm>
          <a:prstGeom prst="line">
            <a:avLst/>
          </a:prstGeom>
          <a:noFill/>
          <a:ln w="19050">
            <a:solidFill>
              <a:srgbClr val="131A2A"/>
            </a:solidFill>
            <a:prstDash val="solid"/>
          </a:ln>
        </p:spPr>
      </p:sp>
      <p:pic>
        <p:nvPicPr>
          <p:cNvPr id="37" name="Image 6" descr="arrow-right">    </p:cNvPr>
          <p:cNvPicPr>
            <a:picLocks noChangeAspect="1"/>
          </p:cNvPicPr>
          <p:nvPr/>
        </p:nvPicPr>
        <p:blipFill>
          <a:blip r:embed="rId7"/>
          <a:srcRect l="0" r="0" t="0" b="0"/>
          <a:stretch/>
        </p:blipFill>
        <p:spPr>
          <a:xfrm>
            <a:off x="10371634" y="4430961"/>
            <a:ext cx="127000" cy="101600"/>
          </a:xfrm>
          <a:prstGeom prst="rect">
            <a:avLst/>
          </a:prstGeom>
        </p:spPr>
      </p:pic>
      <p:sp>
        <p:nvSpPr>
          <p:cNvPr id="38" name="Text 29"/>
          <p:cNvSpPr/>
          <p:nvPr/>
        </p:nvSpPr>
        <p:spPr>
          <a:xfrm>
            <a:off x="8086725" y="4557961"/>
            <a:ext cx="1301651"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B8521E"/>
                </a:solidFill>
                <a:latin typeface="IBM Plex Sans KR" pitchFamily="34" charset="0"/>
                <a:ea typeface="IBM Plex Sans KR" pitchFamily="34" charset="-122"/>
                <a:cs typeface="IBM Plex Sans KR" pitchFamily="34" charset="-120"/>
              </a:rPr>
              <a:t>9</a:t>
            </a:r>
            <a:r>
              <a:rPr lang="en-US" sz="1200" dirty="0">
                <a:solidFill>
                  <a:srgbClr val="131A2A"/>
                </a:solidFill>
                <a:latin typeface="IBM Plex Sans KR" pitchFamily="34" charset="0"/>
                <a:ea typeface="IBM Plex Sans KR" pitchFamily="34" charset="-122"/>
                <a:cs typeface="IBM Plex Sans KR" pitchFamily="34" charset="-120"/>
              </a:rPr>
              <a:t> 연결 → tools/list</a:t>
            </a:r>
            <a:endParaRPr lang="en-US" sz="1200" dirty="0"/>
          </a:p>
        </p:txBody>
      </p:sp>
      <p:sp>
        <p:nvSpPr>
          <p:cNvPr id="39" name="Shape 30"/>
          <p:cNvSpPr/>
          <p:nvPr/>
        </p:nvSpPr>
        <p:spPr>
          <a:xfrm>
            <a:off x="6976517" y="4811961"/>
            <a:ext cx="3395117" cy="0"/>
          </a:xfrm>
          <a:prstGeom prst="line">
            <a:avLst/>
          </a:prstGeom>
          <a:noFill/>
          <a:ln w="19050">
            <a:solidFill>
              <a:srgbClr val="131A2A"/>
            </a:solidFill>
            <a:prstDash val="solid"/>
          </a:ln>
        </p:spPr>
      </p:sp>
      <p:pic>
        <p:nvPicPr>
          <p:cNvPr id="40" name="Image 7" descr="arrow-right">    </p:cNvPr>
          <p:cNvPicPr>
            <a:picLocks noChangeAspect="1"/>
          </p:cNvPicPr>
          <p:nvPr/>
        </p:nvPicPr>
        <p:blipFill>
          <a:blip r:embed="rId8"/>
          <a:srcRect l="0" r="0" t="0" b="0"/>
          <a:stretch/>
        </p:blipFill>
        <p:spPr>
          <a:xfrm>
            <a:off x="10371634" y="4761161"/>
            <a:ext cx="127000" cy="101600"/>
          </a:xfrm>
          <a:prstGeom prst="rect">
            <a:avLst/>
          </a:prstGeom>
        </p:spPr>
      </p:pic>
      <p:sp>
        <p:nvSpPr>
          <p:cNvPr id="41" name="Text 31"/>
          <p:cNvSpPr/>
          <p:nvPr/>
        </p:nvSpPr>
        <p:spPr>
          <a:xfrm>
            <a:off x="5612160" y="4888161"/>
            <a:ext cx="967581"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B8521E"/>
                </a:solidFill>
                <a:latin typeface="IBM Plex Sans KR" pitchFamily="34" charset="0"/>
                <a:ea typeface="IBM Plex Sans KR" pitchFamily="34" charset="-122"/>
                <a:cs typeface="IBM Plex Sans KR" pitchFamily="34" charset="-120"/>
              </a:rPr>
              <a:t>10</a:t>
            </a:r>
            <a:r>
              <a:rPr lang="en-US" sz="1200" dirty="0">
                <a:solidFill>
                  <a:srgbClr val="131A2A"/>
                </a:solidFill>
                <a:latin typeface="IBM Plex Sans KR" pitchFamily="34" charset="0"/>
                <a:ea typeface="IBM Plex Sans KR" pitchFamily="34" charset="-122"/>
                <a:cs typeface="IBM Plex Sans KR" pitchFamily="34" charset="-120"/>
              </a:rPr>
              <a:t> tools 저장</a:t>
            </a:r>
            <a:endParaRPr lang="en-US" sz="1200" dirty="0"/>
          </a:p>
        </p:txBody>
      </p:sp>
      <p:pic>
        <p:nvPicPr>
          <p:cNvPr id="42" name="Image 8" descr="arrow-left">    </p:cNvPr>
          <p:cNvPicPr>
            <a:picLocks noChangeAspect="1"/>
          </p:cNvPicPr>
          <p:nvPr/>
        </p:nvPicPr>
        <p:blipFill>
          <a:blip r:embed="rId9"/>
          <a:srcRect l="0" r="0" t="0" b="0"/>
          <a:stretch/>
        </p:blipFill>
        <p:spPr>
          <a:xfrm>
            <a:off x="5215434" y="5091361"/>
            <a:ext cx="127000" cy="101600"/>
          </a:xfrm>
          <a:prstGeom prst="rect">
            <a:avLst/>
          </a:prstGeom>
        </p:spPr>
      </p:pic>
      <p:sp>
        <p:nvSpPr>
          <p:cNvPr id="43" name="Shape 32"/>
          <p:cNvSpPr/>
          <p:nvPr/>
        </p:nvSpPr>
        <p:spPr>
          <a:xfrm>
            <a:off x="5342434" y="5142161"/>
            <a:ext cx="1634083" cy="0"/>
          </a:xfrm>
          <a:prstGeom prst="line">
            <a:avLst/>
          </a:prstGeom>
          <a:noFill/>
          <a:ln w="19050">
            <a:solidFill>
              <a:srgbClr val="131A2A"/>
            </a:solidFill>
            <a:prstDash val="solid"/>
          </a:ln>
        </p:spPr>
      </p:sp>
      <p:sp>
        <p:nvSpPr>
          <p:cNvPr id="44" name="Text 33"/>
          <p:cNvSpPr/>
          <p:nvPr/>
        </p:nvSpPr>
        <p:spPr>
          <a:xfrm>
            <a:off x="2123728" y="5218361"/>
            <a:ext cx="900212"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B8521E"/>
                </a:solidFill>
                <a:latin typeface="IBM Plex Sans KR" pitchFamily="34" charset="0"/>
                <a:ea typeface="IBM Plex Sans KR" pitchFamily="34" charset="-122"/>
                <a:cs typeface="IBM Plex Sans KR" pitchFamily="34" charset="-120"/>
              </a:rPr>
              <a:t>11</a:t>
            </a:r>
            <a:r>
              <a:rPr lang="en-US" sz="1200" dirty="0">
                <a:solidFill>
                  <a:srgbClr val="4A5263"/>
                </a:solidFill>
                <a:latin typeface="IBM Plex Sans KR" pitchFamily="34" charset="0"/>
                <a:ea typeface="IBM Plex Sans KR" pitchFamily="34" charset="-122"/>
                <a:cs typeface="IBM Plex Sans KR" pitchFamily="34" charset="-120"/>
              </a:rPr>
              <a:t> 설치 완료</a:t>
            </a:r>
            <a:endParaRPr lang="en-US" sz="1200" dirty="0"/>
          </a:p>
        </p:txBody>
      </p:sp>
      <p:pic>
        <p:nvPicPr>
          <p:cNvPr id="45" name="Image 9" descr="arrow-left">    </p:cNvPr>
          <p:cNvPicPr>
            <a:picLocks noChangeAspect="1"/>
          </p:cNvPicPr>
          <p:nvPr/>
        </p:nvPicPr>
        <p:blipFill>
          <a:blip r:embed="rId10"/>
          <a:srcRect l="0" r="0" t="0" b="0"/>
          <a:stretch/>
        </p:blipFill>
        <p:spPr>
          <a:xfrm>
            <a:off x="1693317" y="5421561"/>
            <a:ext cx="127000" cy="101600"/>
          </a:xfrm>
          <a:prstGeom prst="rect">
            <a:avLst/>
          </a:prstGeom>
        </p:spPr>
      </p:pic>
      <p:sp>
        <p:nvSpPr>
          <p:cNvPr id="46" name="Shape 34"/>
          <p:cNvSpPr/>
          <p:nvPr/>
        </p:nvSpPr>
        <p:spPr>
          <a:xfrm>
            <a:off x="1820317" y="5472361"/>
            <a:ext cx="1634083" cy="0"/>
          </a:xfrm>
          <a:prstGeom prst="line">
            <a:avLst/>
          </a:prstGeom>
          <a:noFill/>
          <a:ln w="19050">
            <a:solidFill>
              <a:srgbClr val="6B7385"/>
            </a:solidFill>
            <a:prstDash val="dash"/>
          </a:ln>
        </p:spPr>
      </p:sp>
      <p:sp>
        <p:nvSpPr>
          <p:cNvPr id="47" name="Text 3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KR" pitchFamily="34" charset="0"/>
                <a:ea typeface="IBM Plex Sans KR" pitchFamily="34" charset="-122"/>
                <a:cs typeface="IBM Plex Sans KR" pitchFamily="34" charset="-120"/>
              </a:rPr>
              <a:t>Archestra 아키텍처 · 23 · 출처: k8s/mcp-server-runtime/manager.ts, k8s-deployment.ts</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3EE"/>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B8521E"/>
                </a:solidFill>
                <a:latin typeface="JetBrains Mono" pitchFamily="49" charset="0"/>
                <a:ea typeface="JetBrains Mono" pitchFamily="49" charset="-122"/>
                <a:cs typeface="JetBrains Mono" pitchFamily="49" charset="-120"/>
              </a:rPr>
              <a:t>D1 · DATA DOMAINS</a:t>
            </a:r>
            <a:endParaRPr lang="en-US" sz="1200" dirty="0"/>
          </a:p>
        </p:txBody>
      </p:sp>
      <p:sp>
        <p:nvSpPr>
          <p:cNvPr id="3" name="Text 1"/>
          <p:cNvSpPr/>
          <p:nvPr>
            <p:ph type="title"/>
          </p:nvPr>
        </p:nvSpPr>
        <p:spPr>
          <a:xfrm>
            <a:off x="812800" y="10007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1A2A"/>
                </a:solidFill>
                <a:latin typeface="IBM Plex Sans KR" pitchFamily="34" charset="0"/>
                <a:ea typeface="IBM Plex Sans KR" pitchFamily="34" charset="-122"/>
                <a:cs typeface="IBM Plex Sans KR" pitchFamily="34" charset="-120"/>
              </a:rPr>
              <a:t>PostgreSQL 하나에 약 200개 테이블, 9개 도메인</a:t>
            </a:r>
            <a:endParaRPr lang="en-US" sz="3000" dirty="0"/>
          </a:p>
        </p:txBody>
      </p:sp>
      <p:sp>
        <p:nvSpPr>
          <p:cNvPr id="4" name="Shape 2"/>
          <p:cNvSpPr/>
          <p:nvPr/>
        </p:nvSpPr>
        <p:spPr>
          <a:xfrm>
            <a:off x="815975" y="1645245"/>
            <a:ext cx="3448050" cy="1141661"/>
          </a:xfrm>
          <a:prstGeom prst="roundRect">
            <a:avLst>
              <a:gd name="adj" fmla="val 6396"/>
            </a:avLst>
          </a:prstGeom>
          <a:solidFill>
            <a:srgbClr val="FBFAF7"/>
          </a:solidFill>
          <a:ln w="6350">
            <a:solidFill>
              <a:srgbClr val="DCD9CF"/>
            </a:solidFill>
            <a:prstDash val="solid"/>
          </a:ln>
        </p:spPr>
      </p:sp>
      <p:sp>
        <p:nvSpPr>
          <p:cNvPr id="5" name="Text 3"/>
          <p:cNvSpPr/>
          <p:nvPr/>
        </p:nvSpPr>
        <p:spPr>
          <a:xfrm>
            <a:off x="971550" y="1775420"/>
            <a:ext cx="323100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1A2A"/>
                </a:solidFill>
                <a:latin typeface="IBM Plex Sans KR" pitchFamily="34" charset="0"/>
                <a:ea typeface="IBM Plex Sans KR" pitchFamily="34" charset="-122"/>
                <a:cs typeface="IBM Plex Sans KR" pitchFamily="34" charset="-120"/>
              </a:rPr>
              <a:t>조직 · 신원</a:t>
            </a:r>
            <a:endParaRPr lang="en-US" sz="1400" dirty="0"/>
          </a:p>
        </p:txBody>
      </p:sp>
      <p:sp>
        <p:nvSpPr>
          <p:cNvPr id="6" name="Text 4"/>
          <p:cNvSpPr/>
          <p:nvPr/>
        </p:nvSpPr>
        <p:spPr>
          <a:xfrm>
            <a:off x="971550" y="2039541"/>
            <a:ext cx="3231007"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263"/>
                </a:solidFill>
                <a:latin typeface="IBM Plex Sans KR" pitchFamily="34" charset="0"/>
                <a:ea typeface="IBM Plex Sans KR" pitchFamily="34" charset="-122"/>
                <a:cs typeface="IBM Plex Sans KR" pitchFamily="34" charset="-120"/>
              </a:rPr>
              <a:t>organization · user · member · team · team_member · organization_role · service_accounts</a:t>
            </a:r>
            <a:endParaRPr lang="en-US" sz="1200" dirty="0"/>
          </a:p>
        </p:txBody>
      </p:sp>
      <p:sp>
        <p:nvSpPr>
          <p:cNvPr id="7" name="Shape 5"/>
          <p:cNvSpPr/>
          <p:nvPr/>
        </p:nvSpPr>
        <p:spPr>
          <a:xfrm>
            <a:off x="4368800" y="1642070"/>
            <a:ext cx="3454400" cy="1148011"/>
          </a:xfrm>
          <a:prstGeom prst="roundRect">
            <a:avLst>
              <a:gd name="adj" fmla="val 6638"/>
            </a:avLst>
          </a:prstGeom>
          <a:solidFill>
            <a:srgbClr val="131A2A"/>
          </a:solidFill>
          <a:ln/>
        </p:spPr>
      </p:sp>
      <p:sp>
        <p:nvSpPr>
          <p:cNvPr id="8" name="Text 6"/>
          <p:cNvSpPr/>
          <p:nvPr/>
        </p:nvSpPr>
        <p:spPr>
          <a:xfrm>
            <a:off x="4521200" y="1769070"/>
            <a:ext cx="324408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08A4B"/>
                </a:solidFill>
                <a:latin typeface="IBM Plex Sans KR" pitchFamily="34" charset="0"/>
                <a:ea typeface="IBM Plex Sans KR" pitchFamily="34" charset="-122"/>
                <a:cs typeface="IBM Plex Sans KR" pitchFamily="34" charset="-120"/>
              </a:rPr>
              <a:t>에이전트 (중심)</a:t>
            </a:r>
            <a:endParaRPr lang="en-US" sz="1400" dirty="0"/>
          </a:p>
        </p:txBody>
      </p:sp>
      <p:sp>
        <p:nvSpPr>
          <p:cNvPr id="9" name="Text 7"/>
          <p:cNvSpPr/>
          <p:nvPr/>
        </p:nvSpPr>
        <p:spPr>
          <a:xfrm>
            <a:off x="4521200" y="2033191"/>
            <a:ext cx="3244088"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9CEDA"/>
                </a:solidFill>
                <a:latin typeface="IBM Plex Sans KR" pitchFamily="34" charset="0"/>
                <a:ea typeface="IBM Plex Sans KR" pitchFamily="34" charset="-122"/>
                <a:cs typeface="IBM Plex Sans KR" pitchFamily="34" charset="-120"/>
              </a:rPr>
              <a:t>agents · agent_tools · agent_versions · agent_skills · agent_knowledge_base · agent_team</a:t>
            </a:r>
            <a:endParaRPr lang="en-US" sz="1200" dirty="0"/>
          </a:p>
        </p:txBody>
      </p:sp>
      <p:sp>
        <p:nvSpPr>
          <p:cNvPr id="10" name="Shape 8"/>
          <p:cNvSpPr/>
          <p:nvPr/>
        </p:nvSpPr>
        <p:spPr>
          <a:xfrm>
            <a:off x="7927975" y="1645245"/>
            <a:ext cx="3448050" cy="1141661"/>
          </a:xfrm>
          <a:prstGeom prst="roundRect">
            <a:avLst>
              <a:gd name="adj" fmla="val 6396"/>
            </a:avLst>
          </a:prstGeom>
          <a:solidFill>
            <a:srgbClr val="FBFAF7"/>
          </a:solidFill>
          <a:ln w="6350">
            <a:solidFill>
              <a:srgbClr val="DCD9CF"/>
            </a:solidFill>
            <a:prstDash val="solid"/>
          </a:ln>
        </p:spPr>
      </p:sp>
      <p:sp>
        <p:nvSpPr>
          <p:cNvPr id="11" name="Text 9"/>
          <p:cNvSpPr/>
          <p:nvPr/>
        </p:nvSpPr>
        <p:spPr>
          <a:xfrm>
            <a:off x="8083550" y="1775420"/>
            <a:ext cx="323100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1A2A"/>
                </a:solidFill>
                <a:latin typeface="IBM Plex Sans KR" pitchFamily="34" charset="0"/>
                <a:ea typeface="IBM Plex Sans KR" pitchFamily="34" charset="-122"/>
                <a:cs typeface="IBM Plex Sans KR" pitchFamily="34" charset="-120"/>
              </a:rPr>
              <a:t>MCP</a:t>
            </a:r>
            <a:endParaRPr lang="en-US" sz="1400" dirty="0"/>
          </a:p>
        </p:txBody>
      </p:sp>
      <p:sp>
        <p:nvSpPr>
          <p:cNvPr id="12" name="Text 10"/>
          <p:cNvSpPr/>
          <p:nvPr/>
        </p:nvSpPr>
        <p:spPr>
          <a:xfrm>
            <a:off x="8083550" y="2039541"/>
            <a:ext cx="3231007"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263"/>
                </a:solidFill>
                <a:latin typeface="IBM Plex Sans KR" pitchFamily="34" charset="0"/>
                <a:ea typeface="IBM Plex Sans KR" pitchFamily="34" charset="-122"/>
                <a:cs typeface="IBM Plex Sans KR" pitchFamily="34" charset="-120"/>
              </a:rPr>
              <a:t>internal_mcp_catalog · mcp_server · tools · mcp_tool_calls · mcp_server_user · mcp_deployment_leases</a:t>
            </a:r>
            <a:endParaRPr lang="en-US" sz="1200" dirty="0"/>
          </a:p>
        </p:txBody>
      </p:sp>
      <p:sp>
        <p:nvSpPr>
          <p:cNvPr id="13" name="Shape 11"/>
          <p:cNvSpPr/>
          <p:nvPr/>
        </p:nvSpPr>
        <p:spPr>
          <a:xfrm>
            <a:off x="815975" y="2894856"/>
            <a:ext cx="3448050" cy="1141661"/>
          </a:xfrm>
          <a:prstGeom prst="roundRect">
            <a:avLst>
              <a:gd name="adj" fmla="val 6396"/>
            </a:avLst>
          </a:prstGeom>
          <a:solidFill>
            <a:srgbClr val="FBFAF7"/>
          </a:solidFill>
          <a:ln w="6350">
            <a:solidFill>
              <a:srgbClr val="DCD9CF"/>
            </a:solidFill>
            <a:prstDash val="solid"/>
          </a:ln>
        </p:spPr>
      </p:sp>
      <p:sp>
        <p:nvSpPr>
          <p:cNvPr id="14" name="Text 12"/>
          <p:cNvSpPr/>
          <p:nvPr/>
        </p:nvSpPr>
        <p:spPr>
          <a:xfrm>
            <a:off x="971550" y="3025031"/>
            <a:ext cx="323100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1A2A"/>
                </a:solidFill>
                <a:latin typeface="IBM Plex Sans KR" pitchFamily="34" charset="0"/>
                <a:ea typeface="IBM Plex Sans KR" pitchFamily="34" charset="-122"/>
                <a:cs typeface="IBM Plex Sans KR" pitchFamily="34" charset="-120"/>
              </a:rPr>
              <a:t>LLM · 비용</a:t>
            </a:r>
            <a:endParaRPr lang="en-US" sz="1400" dirty="0"/>
          </a:p>
        </p:txBody>
      </p:sp>
      <p:sp>
        <p:nvSpPr>
          <p:cNvPr id="15" name="Text 13"/>
          <p:cNvSpPr/>
          <p:nvPr/>
        </p:nvSpPr>
        <p:spPr>
          <a:xfrm>
            <a:off x="971550" y="3289151"/>
            <a:ext cx="3231007"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263"/>
                </a:solidFill>
                <a:latin typeface="IBM Plex Sans KR" pitchFamily="34" charset="0"/>
                <a:ea typeface="IBM Plex Sans KR" pitchFamily="34" charset="-122"/>
                <a:cs typeface="IBM Plex Sans KR" pitchFamily="34" charset="-120"/>
              </a:rPr>
              <a:t>chat_api_keys · virtual_api_keys · models · interactions · limits · interaction_billing</a:t>
            </a:r>
            <a:endParaRPr lang="en-US" sz="1200" dirty="0"/>
          </a:p>
        </p:txBody>
      </p:sp>
      <p:sp>
        <p:nvSpPr>
          <p:cNvPr id="16" name="Shape 14"/>
          <p:cNvSpPr/>
          <p:nvPr/>
        </p:nvSpPr>
        <p:spPr>
          <a:xfrm>
            <a:off x="4371975" y="2894856"/>
            <a:ext cx="3448050" cy="1141661"/>
          </a:xfrm>
          <a:prstGeom prst="roundRect">
            <a:avLst>
              <a:gd name="adj" fmla="val 6396"/>
            </a:avLst>
          </a:prstGeom>
          <a:solidFill>
            <a:srgbClr val="FBFAF7"/>
          </a:solidFill>
          <a:ln w="6350">
            <a:solidFill>
              <a:srgbClr val="DCD9CF"/>
            </a:solidFill>
            <a:prstDash val="solid"/>
          </a:ln>
        </p:spPr>
      </p:sp>
      <p:sp>
        <p:nvSpPr>
          <p:cNvPr id="17" name="Text 15"/>
          <p:cNvSpPr/>
          <p:nvPr/>
        </p:nvSpPr>
        <p:spPr>
          <a:xfrm>
            <a:off x="4527550" y="3025031"/>
            <a:ext cx="323100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1A2A"/>
                </a:solidFill>
                <a:latin typeface="IBM Plex Sans KR" pitchFamily="34" charset="0"/>
                <a:ea typeface="IBM Plex Sans KR" pitchFamily="34" charset="-122"/>
                <a:cs typeface="IBM Plex Sans KR" pitchFamily="34" charset="-120"/>
              </a:rPr>
              <a:t>대화 · 앱</a:t>
            </a:r>
            <a:endParaRPr lang="en-US" sz="1400" dirty="0"/>
          </a:p>
        </p:txBody>
      </p:sp>
      <p:sp>
        <p:nvSpPr>
          <p:cNvPr id="18" name="Text 16"/>
          <p:cNvSpPr/>
          <p:nvPr/>
        </p:nvSpPr>
        <p:spPr>
          <a:xfrm>
            <a:off x="4527550" y="3289151"/>
            <a:ext cx="3231007"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263"/>
                </a:solidFill>
                <a:latin typeface="IBM Plex Sans KR" pitchFamily="34" charset="0"/>
                <a:ea typeface="IBM Plex Sans KR" pitchFamily="34" charset="-122"/>
                <a:cs typeface="IBM Plex Sans KR" pitchFamily="34" charset="-120"/>
              </a:rPr>
              <a:t>conversations · messages · projects · conversation_attachments · apps · app_versions</a:t>
            </a:r>
            <a:endParaRPr lang="en-US" sz="1200" dirty="0"/>
          </a:p>
        </p:txBody>
      </p:sp>
      <p:sp>
        <p:nvSpPr>
          <p:cNvPr id="19" name="Shape 17"/>
          <p:cNvSpPr/>
          <p:nvPr/>
        </p:nvSpPr>
        <p:spPr>
          <a:xfrm>
            <a:off x="7927975" y="2894856"/>
            <a:ext cx="3448050" cy="1141661"/>
          </a:xfrm>
          <a:prstGeom prst="roundRect">
            <a:avLst>
              <a:gd name="adj" fmla="val 6396"/>
            </a:avLst>
          </a:prstGeom>
          <a:solidFill>
            <a:srgbClr val="FBFAF7"/>
          </a:solidFill>
          <a:ln w="6350">
            <a:solidFill>
              <a:srgbClr val="DCD9CF"/>
            </a:solidFill>
            <a:prstDash val="solid"/>
          </a:ln>
        </p:spPr>
      </p:sp>
      <p:sp>
        <p:nvSpPr>
          <p:cNvPr id="20" name="Text 18"/>
          <p:cNvSpPr/>
          <p:nvPr/>
        </p:nvSpPr>
        <p:spPr>
          <a:xfrm>
            <a:off x="8083550" y="3025031"/>
            <a:ext cx="323100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1A2A"/>
                </a:solidFill>
                <a:latin typeface="IBM Plex Sans KR" pitchFamily="34" charset="0"/>
                <a:ea typeface="IBM Plex Sans KR" pitchFamily="34" charset="-122"/>
                <a:cs typeface="IBM Plex Sans KR" pitchFamily="34" charset="-120"/>
              </a:rPr>
              <a:t>지식</a:t>
            </a:r>
            <a:endParaRPr lang="en-US" sz="1400" dirty="0"/>
          </a:p>
        </p:txBody>
      </p:sp>
      <p:sp>
        <p:nvSpPr>
          <p:cNvPr id="21" name="Text 19"/>
          <p:cNvSpPr/>
          <p:nvPr/>
        </p:nvSpPr>
        <p:spPr>
          <a:xfrm>
            <a:off x="8083550" y="3289151"/>
            <a:ext cx="3231007"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263"/>
                </a:solidFill>
                <a:latin typeface="IBM Plex Sans KR" pitchFamily="34" charset="0"/>
                <a:ea typeface="IBM Plex Sans KR" pitchFamily="34" charset="-122"/>
                <a:cs typeface="IBM Plex Sans KR" pitchFamily="34" charset="-120"/>
              </a:rPr>
              <a:t>knowledge_bases · knowledge_base_connectors · kb_documents · kb_chunks · connector_runs</a:t>
            </a:r>
            <a:endParaRPr lang="en-US" sz="1200" dirty="0"/>
          </a:p>
        </p:txBody>
      </p:sp>
      <p:sp>
        <p:nvSpPr>
          <p:cNvPr id="22" name="Shape 20"/>
          <p:cNvSpPr/>
          <p:nvPr/>
        </p:nvSpPr>
        <p:spPr>
          <a:xfrm>
            <a:off x="815975" y="4144466"/>
            <a:ext cx="3448050" cy="1141661"/>
          </a:xfrm>
          <a:prstGeom prst="roundRect">
            <a:avLst>
              <a:gd name="adj" fmla="val 6396"/>
            </a:avLst>
          </a:prstGeom>
          <a:solidFill>
            <a:srgbClr val="FBFAF7"/>
          </a:solidFill>
          <a:ln w="6350">
            <a:solidFill>
              <a:srgbClr val="DCD9CF"/>
            </a:solidFill>
            <a:prstDash val="solid"/>
          </a:ln>
        </p:spPr>
      </p:sp>
      <p:sp>
        <p:nvSpPr>
          <p:cNvPr id="23" name="Text 21"/>
          <p:cNvSpPr/>
          <p:nvPr/>
        </p:nvSpPr>
        <p:spPr>
          <a:xfrm>
            <a:off x="971550" y="4274641"/>
            <a:ext cx="323100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1A2A"/>
                </a:solidFill>
                <a:latin typeface="IBM Plex Sans KR" pitchFamily="34" charset="0"/>
                <a:ea typeface="IBM Plex Sans KR" pitchFamily="34" charset="-122"/>
                <a:cs typeface="IBM Plex Sans KR" pitchFamily="34" charset="-120"/>
              </a:rPr>
              <a:t>실행 · 트리거</a:t>
            </a:r>
            <a:endParaRPr lang="en-US" sz="1400" dirty="0"/>
          </a:p>
        </p:txBody>
      </p:sp>
      <p:sp>
        <p:nvSpPr>
          <p:cNvPr id="24" name="Text 22"/>
          <p:cNvSpPr/>
          <p:nvPr/>
        </p:nvSpPr>
        <p:spPr>
          <a:xfrm>
            <a:off x="971550" y="4538762"/>
            <a:ext cx="3231007"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263"/>
                </a:solidFill>
                <a:latin typeface="IBM Plex Sans KR" pitchFamily="34" charset="0"/>
                <a:ea typeface="IBM Plex Sans KR" pitchFamily="34" charset="-122"/>
                <a:cs typeface="IBM Plex Sans KR" pitchFamily="34" charset="-120"/>
              </a:rPr>
              <a:t>tasks · agent_runs · schedule_triggers · schedule_trigger_runs · a2a_task · a2a_message</a:t>
            </a:r>
            <a:endParaRPr lang="en-US" sz="1200" dirty="0"/>
          </a:p>
        </p:txBody>
      </p:sp>
      <p:sp>
        <p:nvSpPr>
          <p:cNvPr id="25" name="Shape 23"/>
          <p:cNvSpPr/>
          <p:nvPr/>
        </p:nvSpPr>
        <p:spPr>
          <a:xfrm>
            <a:off x="4371975" y="4144466"/>
            <a:ext cx="3448050" cy="1141661"/>
          </a:xfrm>
          <a:prstGeom prst="roundRect">
            <a:avLst>
              <a:gd name="adj" fmla="val 6396"/>
            </a:avLst>
          </a:prstGeom>
          <a:solidFill>
            <a:srgbClr val="FBFAF7"/>
          </a:solidFill>
          <a:ln w="6350">
            <a:solidFill>
              <a:srgbClr val="DCD9CF"/>
            </a:solidFill>
            <a:prstDash val="solid"/>
          </a:ln>
        </p:spPr>
      </p:sp>
      <p:sp>
        <p:nvSpPr>
          <p:cNvPr id="26" name="Text 24"/>
          <p:cNvSpPr/>
          <p:nvPr/>
        </p:nvSpPr>
        <p:spPr>
          <a:xfrm>
            <a:off x="4527550" y="4274641"/>
            <a:ext cx="323100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1A2A"/>
                </a:solidFill>
                <a:latin typeface="IBM Plex Sans KR" pitchFamily="34" charset="0"/>
                <a:ea typeface="IBM Plex Sans KR" pitchFamily="34" charset="-122"/>
                <a:cs typeface="IBM Plex Sans KR" pitchFamily="34" charset="-120"/>
              </a:rPr>
              <a:t>스킬 · 플러그인</a:t>
            </a:r>
            <a:endParaRPr lang="en-US" sz="1400" dirty="0"/>
          </a:p>
        </p:txBody>
      </p:sp>
      <p:sp>
        <p:nvSpPr>
          <p:cNvPr id="27" name="Text 25"/>
          <p:cNvSpPr/>
          <p:nvPr/>
        </p:nvSpPr>
        <p:spPr>
          <a:xfrm>
            <a:off x="4527550" y="4538762"/>
            <a:ext cx="3231007"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263"/>
                </a:solidFill>
                <a:latin typeface="IBM Plex Sans KR" pitchFamily="34" charset="0"/>
                <a:ea typeface="IBM Plex Sans KR" pitchFamily="34" charset="-122"/>
                <a:cs typeface="IBM Plex Sans KR" pitchFamily="34" charset="-120"/>
              </a:rPr>
              <a:t>skills · skill_versions · skill_files · skill_sandboxes · plugins · plugin_files</a:t>
            </a:r>
            <a:endParaRPr lang="en-US" sz="1200" dirty="0"/>
          </a:p>
        </p:txBody>
      </p:sp>
      <p:sp>
        <p:nvSpPr>
          <p:cNvPr id="28" name="Shape 26"/>
          <p:cNvSpPr/>
          <p:nvPr/>
        </p:nvSpPr>
        <p:spPr>
          <a:xfrm>
            <a:off x="7927975" y="4144466"/>
            <a:ext cx="3448050" cy="1141661"/>
          </a:xfrm>
          <a:prstGeom prst="roundRect">
            <a:avLst>
              <a:gd name="adj" fmla="val 6396"/>
            </a:avLst>
          </a:prstGeom>
          <a:solidFill>
            <a:srgbClr val="FBFAF7"/>
          </a:solidFill>
          <a:ln w="6350">
            <a:solidFill>
              <a:srgbClr val="DCD9CF"/>
            </a:solidFill>
            <a:prstDash val="solid"/>
          </a:ln>
        </p:spPr>
      </p:sp>
      <p:sp>
        <p:nvSpPr>
          <p:cNvPr id="29" name="Text 27"/>
          <p:cNvSpPr/>
          <p:nvPr/>
        </p:nvSpPr>
        <p:spPr>
          <a:xfrm>
            <a:off x="8083550" y="4274641"/>
            <a:ext cx="323100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1A2A"/>
                </a:solidFill>
                <a:latin typeface="IBM Plex Sans KR" pitchFamily="34" charset="0"/>
                <a:ea typeface="IBM Plex Sans KR" pitchFamily="34" charset="-122"/>
                <a:cs typeface="IBM Plex Sans KR" pitchFamily="34" charset="-120"/>
              </a:rPr>
              <a:t>보안 · 정책</a:t>
            </a:r>
            <a:endParaRPr lang="en-US" sz="1400" dirty="0"/>
          </a:p>
        </p:txBody>
      </p:sp>
      <p:sp>
        <p:nvSpPr>
          <p:cNvPr id="30" name="Text 28"/>
          <p:cNvSpPr/>
          <p:nvPr/>
        </p:nvSpPr>
        <p:spPr>
          <a:xfrm>
            <a:off x="8083550" y="4538762"/>
            <a:ext cx="3231007"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263"/>
                </a:solidFill>
                <a:latin typeface="IBM Plex Sans KR" pitchFamily="34" charset="0"/>
                <a:ea typeface="IBM Plex Sans KR" pitchFamily="34" charset="-122"/>
                <a:cs typeface="IBM Plex Sans KR" pitchFamily="34" charset="-120"/>
              </a:rPr>
              <a:t>secret · environments · guardrails_policy_revisions · openappa_events · audit_logs</a:t>
            </a:r>
            <a:endParaRPr lang="en-US" sz="1200" dirty="0"/>
          </a:p>
        </p:txBody>
      </p:sp>
      <p:sp>
        <p:nvSpPr>
          <p:cNvPr id="31" name="Text 2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KR" pitchFamily="34" charset="0"/>
                <a:ea typeface="IBM Plex Sans KR" pitchFamily="34" charset="-122"/>
                <a:cs typeface="IBM Plex Sans KR" pitchFamily="34" charset="-120"/>
              </a:rPr>
              <a:t>Archestra 아키텍처 · 24 · 출처: backend/src/database/schemas (Drizzle ORM, 204개 스키마 파일)</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3EE"/>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B8521E"/>
                </a:solidFill>
                <a:latin typeface="JetBrains Mono" pitchFamily="49" charset="0"/>
                <a:ea typeface="JetBrains Mono" pitchFamily="49" charset="-122"/>
                <a:cs typeface="JetBrains Mono" pitchFamily="49" charset="-120"/>
              </a:rPr>
              <a:t>D2 · CORE ERD</a:t>
            </a:r>
            <a:endParaRPr lang="en-US" sz="1200" dirty="0"/>
          </a:p>
        </p:txBody>
      </p:sp>
      <p:sp>
        <p:nvSpPr>
          <p:cNvPr id="3" name="Text 1"/>
          <p:cNvSpPr/>
          <p:nvPr>
            <p:ph type="title"/>
          </p:nvPr>
        </p:nvSpPr>
        <p:spPr>
          <a:xfrm>
            <a:off x="812800" y="10007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1A2A"/>
                </a:solidFill>
                <a:latin typeface="IBM Plex Sans KR" pitchFamily="34" charset="0"/>
                <a:ea typeface="IBM Plex Sans KR" pitchFamily="34" charset="-122"/>
                <a:cs typeface="IBM Plex Sans KR" pitchFamily="34" charset="-120"/>
              </a:rPr>
              <a:t>핵심 ERD: agents가 대화·도구·로그를 잇는다</a:t>
            </a:r>
            <a:endParaRPr lang="en-US" sz="3000" dirty="0"/>
          </a:p>
        </p:txBody>
      </p:sp>
      <p:sp>
        <p:nvSpPr>
          <p:cNvPr id="4" name="Shape 2"/>
          <p:cNvSpPr/>
          <p:nvPr/>
        </p:nvSpPr>
        <p:spPr>
          <a:xfrm>
            <a:off x="815975" y="1590675"/>
            <a:ext cx="2406650" cy="1073150"/>
          </a:xfrm>
          <a:prstGeom prst="roundRect">
            <a:avLst>
              <a:gd name="adj" fmla="val 6805"/>
            </a:avLst>
          </a:prstGeom>
          <a:solidFill>
            <a:srgbClr val="FBFAF7"/>
          </a:solidFill>
          <a:ln w="6350">
            <a:solidFill>
              <a:srgbClr val="DCD9CF"/>
            </a:solidFill>
            <a:prstDash val="solid"/>
          </a:ln>
        </p:spPr>
      </p:sp>
      <p:sp>
        <p:nvSpPr>
          <p:cNvPr id="5" name="Text 3"/>
          <p:cNvSpPr/>
          <p:nvPr/>
        </p:nvSpPr>
        <p:spPr>
          <a:xfrm>
            <a:off x="933450" y="1695450"/>
            <a:ext cx="2236851" cy="250279"/>
          </a:xfrm>
          <a:prstGeom prst="rect">
            <a:avLst/>
          </a:prstGeom>
          <a:noFill/>
          <a:ln/>
        </p:spPr>
        <p:txBody>
          <a:bodyPr wrap="square" lIns="0" tIns="0" rIns="0" bIns="0" rtlCol="0" anchor="t">
            <a:normAutofit/>
          </a:bodyPr>
          <a:lstStyle/>
          <a:p>
            <a:pPr algn="l" indent="0" marL="0">
              <a:lnSpc>
                <a:spcPts val="1774"/>
              </a:lnSpc>
              <a:buNone/>
            </a:pPr>
            <a:r>
              <a:rPr lang="en-US" sz="1268" b="1" dirty="0">
                <a:solidFill>
                  <a:srgbClr val="2F5BB7"/>
                </a:solidFill>
                <a:latin typeface="JetBrains Mono" pitchFamily="49" charset="0"/>
                <a:ea typeface="JetBrains Mono" pitchFamily="49" charset="-122"/>
                <a:cs typeface="JetBrains Mono" pitchFamily="49" charset="-120"/>
              </a:rPr>
              <a:t>messages</a:t>
            </a:r>
            <a:endParaRPr lang="en-US" sz="1268" dirty="0"/>
          </a:p>
        </p:txBody>
      </p:sp>
      <p:sp>
        <p:nvSpPr>
          <p:cNvPr id="6" name="Text 4"/>
          <p:cNvSpPr/>
          <p:nvPr/>
        </p:nvSpPr>
        <p:spPr>
          <a:xfrm>
            <a:off x="933450" y="1958429"/>
            <a:ext cx="2236851" cy="626021"/>
          </a:xfrm>
          <a:prstGeom prst="rect">
            <a:avLst/>
          </a:prstGeom>
          <a:noFill/>
          <a:ln/>
        </p:spPr>
        <p:txBody>
          <a:bodyPr wrap="square" lIns="0" tIns="0" rIns="0" bIns="0" rtlCol="0" anchor="t">
            <a:normAutofit/>
          </a:bodyPr>
          <a:lstStyle/>
          <a:p>
            <a:pPr algn="l" indent="0" marL="0">
              <a:lnSpc>
                <a:spcPts val="1590"/>
              </a:lnSpc>
              <a:buNone/>
            </a:pPr>
            <a:r>
              <a:rPr lang="en-US" sz="1177" dirty="0">
                <a:solidFill>
                  <a:srgbClr val="4A5263"/>
                </a:solidFill>
                <a:latin typeface="IBM Plex Sans KR" pitchFamily="34" charset="0"/>
                <a:ea typeface="IBM Plex Sans KR" pitchFamily="34" charset="-122"/>
                <a:cs typeface="IBM Plex Sans KR" pitchFamily="34" charset="-120"/>
              </a:rPr>
              <a:t>conversation_id · role</a:t>
            </a:r>
            <a:endParaRPr lang="en-US" sz="1177" dirty="0"/>
          </a:p>
          <a:p>
            <a:pPr algn="l" indent="0" marL="0">
              <a:lnSpc>
                <a:spcPts val="1590"/>
              </a:lnSpc>
              <a:buNone/>
            </a:pPr>
            <a:r>
              <a:rPr lang="en-US" sz="1177" dirty="0">
                <a:solidFill>
                  <a:srgbClr val="4A5263"/>
                </a:solidFill>
                <a:latin typeface="IBM Plex Sans KR" pitchFamily="34" charset="0"/>
                <a:ea typeface="IBM Plex Sans KR" pitchFamily="34" charset="-122"/>
                <a:cs typeface="IBM Plex Sans KR" pitchFamily="34" charset="-120"/>
              </a:rPr>
              <a:t>content (jsonb)</a:t>
            </a:r>
            <a:endParaRPr lang="en-US" sz="1177" dirty="0"/>
          </a:p>
          <a:p>
            <a:pPr algn="l" indent="0" marL="0">
              <a:lnSpc>
                <a:spcPts val="1590"/>
              </a:lnSpc>
              <a:buNone/>
            </a:pPr>
            <a:r>
              <a:rPr lang="en-US" sz="1177" dirty="0">
                <a:solidFill>
                  <a:srgbClr val="4A5263"/>
                </a:solidFill>
                <a:latin typeface="IBM Plex Sans KR" pitchFamily="34" charset="0"/>
                <a:ea typeface="IBM Plex Sans KR" pitchFamily="34" charset="-122"/>
                <a:cs typeface="IBM Plex Sans KR" pitchFamily="34" charset="-120"/>
              </a:rPr>
              <a:t>feedback</a:t>
            </a:r>
            <a:endParaRPr lang="en-US" sz="1177" dirty="0"/>
          </a:p>
        </p:txBody>
      </p:sp>
      <p:sp>
        <p:nvSpPr>
          <p:cNvPr id="7" name="Shape 5"/>
          <p:cNvSpPr/>
          <p:nvPr/>
        </p:nvSpPr>
        <p:spPr>
          <a:xfrm>
            <a:off x="3533775" y="1590675"/>
            <a:ext cx="2406650" cy="1073150"/>
          </a:xfrm>
          <a:prstGeom prst="roundRect">
            <a:avLst>
              <a:gd name="adj" fmla="val 6805"/>
            </a:avLst>
          </a:prstGeom>
          <a:solidFill>
            <a:srgbClr val="FBFAF7"/>
          </a:solidFill>
          <a:ln w="6350">
            <a:solidFill>
              <a:srgbClr val="DCD9CF"/>
            </a:solidFill>
            <a:prstDash val="solid"/>
          </a:ln>
        </p:spPr>
      </p:sp>
      <p:sp>
        <p:nvSpPr>
          <p:cNvPr id="8" name="Text 6"/>
          <p:cNvSpPr/>
          <p:nvPr/>
        </p:nvSpPr>
        <p:spPr>
          <a:xfrm>
            <a:off x="3651250" y="1695450"/>
            <a:ext cx="2236851" cy="250279"/>
          </a:xfrm>
          <a:prstGeom prst="rect">
            <a:avLst/>
          </a:prstGeom>
          <a:noFill/>
          <a:ln/>
        </p:spPr>
        <p:txBody>
          <a:bodyPr wrap="square" lIns="0" tIns="0" rIns="0" bIns="0" rtlCol="0" anchor="t">
            <a:normAutofit/>
          </a:bodyPr>
          <a:lstStyle/>
          <a:p>
            <a:pPr algn="l" indent="0" marL="0">
              <a:lnSpc>
                <a:spcPts val="1774"/>
              </a:lnSpc>
              <a:buNone/>
            </a:pPr>
            <a:r>
              <a:rPr lang="en-US" sz="1268" b="1" dirty="0">
                <a:solidFill>
                  <a:srgbClr val="2F5BB7"/>
                </a:solidFill>
                <a:latin typeface="JetBrains Mono" pitchFamily="49" charset="0"/>
                <a:ea typeface="JetBrains Mono" pitchFamily="49" charset="-122"/>
                <a:cs typeface="JetBrains Mono" pitchFamily="49" charset="-120"/>
              </a:rPr>
              <a:t>conversations</a:t>
            </a:r>
            <a:endParaRPr lang="en-US" sz="1268" dirty="0"/>
          </a:p>
        </p:txBody>
      </p:sp>
      <p:sp>
        <p:nvSpPr>
          <p:cNvPr id="9" name="Text 7"/>
          <p:cNvSpPr/>
          <p:nvPr/>
        </p:nvSpPr>
        <p:spPr>
          <a:xfrm>
            <a:off x="3651250" y="1958429"/>
            <a:ext cx="2236851" cy="626021"/>
          </a:xfrm>
          <a:prstGeom prst="rect">
            <a:avLst/>
          </a:prstGeom>
          <a:noFill/>
          <a:ln/>
        </p:spPr>
        <p:txBody>
          <a:bodyPr wrap="square" lIns="0" tIns="0" rIns="0" bIns="0" rtlCol="0" anchor="t">
            <a:normAutofit/>
          </a:bodyPr>
          <a:lstStyle/>
          <a:p>
            <a:pPr algn="l" indent="0" marL="0">
              <a:lnSpc>
                <a:spcPts val="1590"/>
              </a:lnSpc>
              <a:buNone/>
            </a:pPr>
            <a:r>
              <a:rPr lang="en-US" sz="1177" dirty="0">
                <a:solidFill>
                  <a:srgbClr val="4A5263"/>
                </a:solidFill>
                <a:latin typeface="IBM Plex Sans KR" pitchFamily="34" charset="0"/>
                <a:ea typeface="IBM Plex Sans KR" pitchFamily="34" charset="-122"/>
                <a:cs typeface="IBM Plex Sans KR" pitchFamily="34" charset="-120"/>
              </a:rPr>
              <a:t>user_id · agent_id</a:t>
            </a:r>
            <a:endParaRPr lang="en-US" sz="1177" dirty="0"/>
          </a:p>
          <a:p>
            <a:pPr algn="l" indent="0" marL="0">
              <a:lnSpc>
                <a:spcPts val="1590"/>
              </a:lnSpc>
              <a:buNone/>
            </a:pPr>
            <a:r>
              <a:rPr lang="en-US" sz="1177" dirty="0">
                <a:solidFill>
                  <a:srgbClr val="4A5263"/>
                </a:solidFill>
                <a:latin typeface="IBM Plex Sans KR" pitchFamily="34" charset="0"/>
                <a:ea typeface="IBM Plex Sans KR" pitchFamily="34" charset="-122"/>
                <a:cs typeface="IBM Plex Sans KR" pitchFamily="34" charset="-120"/>
              </a:rPr>
              <a:t>selected_model · project_id</a:t>
            </a:r>
            <a:endParaRPr lang="en-US" sz="1177" dirty="0"/>
          </a:p>
          <a:p>
            <a:pPr algn="l" indent="0" marL="0">
              <a:lnSpc>
                <a:spcPts val="1590"/>
              </a:lnSpc>
              <a:buNone/>
            </a:pPr>
            <a:r>
              <a:rPr lang="en-US" sz="1177" dirty="0">
                <a:solidFill>
                  <a:srgbClr val="4A5263"/>
                </a:solidFill>
                <a:latin typeface="IBM Plex Sans KR" pitchFamily="34" charset="0"/>
                <a:ea typeface="IBM Plex Sans KR" pitchFamily="34" charset="-122"/>
                <a:cs typeface="IBM Plex Sans KR" pitchFamily="34" charset="-120"/>
              </a:rPr>
              <a:t>encrypted_chat</a:t>
            </a:r>
            <a:endParaRPr lang="en-US" sz="1177" dirty="0"/>
          </a:p>
        </p:txBody>
      </p:sp>
      <p:sp>
        <p:nvSpPr>
          <p:cNvPr id="10" name="Shape 8"/>
          <p:cNvSpPr/>
          <p:nvPr/>
        </p:nvSpPr>
        <p:spPr>
          <a:xfrm>
            <a:off x="6251575" y="1590675"/>
            <a:ext cx="2406650" cy="1073150"/>
          </a:xfrm>
          <a:prstGeom prst="roundRect">
            <a:avLst>
              <a:gd name="adj" fmla="val 6805"/>
            </a:avLst>
          </a:prstGeom>
          <a:solidFill>
            <a:srgbClr val="FBFAF7"/>
          </a:solidFill>
          <a:ln w="6350">
            <a:solidFill>
              <a:srgbClr val="DCD9CF"/>
            </a:solidFill>
            <a:prstDash val="solid"/>
          </a:ln>
        </p:spPr>
      </p:sp>
      <p:sp>
        <p:nvSpPr>
          <p:cNvPr id="11" name="Text 9"/>
          <p:cNvSpPr/>
          <p:nvPr/>
        </p:nvSpPr>
        <p:spPr>
          <a:xfrm>
            <a:off x="6369050" y="1695450"/>
            <a:ext cx="2236851" cy="250279"/>
          </a:xfrm>
          <a:prstGeom prst="rect">
            <a:avLst/>
          </a:prstGeom>
          <a:noFill/>
          <a:ln/>
        </p:spPr>
        <p:txBody>
          <a:bodyPr wrap="square" lIns="0" tIns="0" rIns="0" bIns="0" rtlCol="0" anchor="t">
            <a:normAutofit/>
          </a:bodyPr>
          <a:lstStyle/>
          <a:p>
            <a:pPr algn="l" indent="0" marL="0">
              <a:lnSpc>
                <a:spcPts val="1774"/>
              </a:lnSpc>
              <a:buNone/>
            </a:pPr>
            <a:r>
              <a:rPr lang="en-US" sz="1268" b="1" dirty="0">
                <a:solidFill>
                  <a:srgbClr val="2F5BB7"/>
                </a:solidFill>
                <a:latin typeface="JetBrains Mono" pitchFamily="49" charset="0"/>
                <a:ea typeface="JetBrains Mono" pitchFamily="49" charset="-122"/>
                <a:cs typeface="JetBrains Mono" pitchFamily="49" charset="-120"/>
              </a:rPr>
              <a:t>agent_tools</a:t>
            </a:r>
            <a:endParaRPr lang="en-US" sz="1268" dirty="0"/>
          </a:p>
        </p:txBody>
      </p:sp>
      <p:sp>
        <p:nvSpPr>
          <p:cNvPr id="12" name="Text 10"/>
          <p:cNvSpPr/>
          <p:nvPr/>
        </p:nvSpPr>
        <p:spPr>
          <a:xfrm>
            <a:off x="6369050" y="1958429"/>
            <a:ext cx="2236851" cy="626021"/>
          </a:xfrm>
          <a:prstGeom prst="rect">
            <a:avLst/>
          </a:prstGeom>
          <a:noFill/>
          <a:ln/>
        </p:spPr>
        <p:txBody>
          <a:bodyPr wrap="square" lIns="0" tIns="0" rIns="0" bIns="0" rtlCol="0" anchor="t">
            <a:normAutofit/>
          </a:bodyPr>
          <a:lstStyle/>
          <a:p>
            <a:pPr algn="l" indent="0" marL="0">
              <a:lnSpc>
                <a:spcPts val="1590"/>
              </a:lnSpc>
              <a:buNone/>
            </a:pPr>
            <a:r>
              <a:rPr lang="en-US" sz="1177" dirty="0">
                <a:solidFill>
                  <a:srgbClr val="4A5263"/>
                </a:solidFill>
                <a:latin typeface="IBM Plex Sans KR" pitchFamily="34" charset="0"/>
                <a:ea typeface="IBM Plex Sans KR" pitchFamily="34" charset="-122"/>
                <a:cs typeface="IBM Plex Sans KR" pitchFamily="34" charset="-120"/>
              </a:rPr>
              <a:t>agent_id · tool_id</a:t>
            </a:r>
            <a:endParaRPr lang="en-US" sz="1177" dirty="0"/>
          </a:p>
          <a:p>
            <a:pPr algn="l" indent="0" marL="0">
              <a:lnSpc>
                <a:spcPts val="1590"/>
              </a:lnSpc>
              <a:buNone/>
            </a:pPr>
            <a:r>
              <a:rPr lang="en-US" sz="1177" dirty="0">
                <a:solidFill>
                  <a:srgbClr val="4A5263"/>
                </a:solidFill>
                <a:latin typeface="IBM Plex Sans KR" pitchFamily="34" charset="0"/>
                <a:ea typeface="IBM Plex Sans KR" pitchFamily="34" charset="-122"/>
                <a:cs typeface="IBM Plex Sans KR" pitchFamily="34" charset="-120"/>
              </a:rPr>
              <a:t>mcp_server_id</a:t>
            </a:r>
            <a:endParaRPr lang="en-US" sz="1177" dirty="0"/>
          </a:p>
          <a:p>
            <a:pPr algn="l" indent="0" marL="0">
              <a:lnSpc>
                <a:spcPts val="1590"/>
              </a:lnSpc>
              <a:buNone/>
            </a:pPr>
            <a:r>
              <a:rPr lang="en-US" sz="1177" dirty="0">
                <a:solidFill>
                  <a:srgbClr val="4A5263"/>
                </a:solidFill>
                <a:latin typeface="IBM Plex Sans KR" pitchFamily="34" charset="0"/>
                <a:ea typeface="IBM Plex Sans KR" pitchFamily="34" charset="-122"/>
                <a:cs typeface="IBM Plex Sans KR" pitchFamily="34" charset="-120"/>
              </a:rPr>
              <a:t>credential_resolution_mode</a:t>
            </a:r>
            <a:endParaRPr lang="en-US" sz="1177" dirty="0"/>
          </a:p>
        </p:txBody>
      </p:sp>
      <p:sp>
        <p:nvSpPr>
          <p:cNvPr id="13" name="Shape 11"/>
          <p:cNvSpPr/>
          <p:nvPr/>
        </p:nvSpPr>
        <p:spPr>
          <a:xfrm>
            <a:off x="8969375" y="1590675"/>
            <a:ext cx="2406650" cy="1073150"/>
          </a:xfrm>
          <a:prstGeom prst="roundRect">
            <a:avLst>
              <a:gd name="adj" fmla="val 6805"/>
            </a:avLst>
          </a:prstGeom>
          <a:solidFill>
            <a:srgbClr val="FBFAF7"/>
          </a:solidFill>
          <a:ln w="6350">
            <a:solidFill>
              <a:srgbClr val="DCD9CF"/>
            </a:solidFill>
            <a:prstDash val="solid"/>
          </a:ln>
        </p:spPr>
      </p:sp>
      <p:sp>
        <p:nvSpPr>
          <p:cNvPr id="14" name="Text 12"/>
          <p:cNvSpPr/>
          <p:nvPr/>
        </p:nvSpPr>
        <p:spPr>
          <a:xfrm>
            <a:off x="9086850" y="1695450"/>
            <a:ext cx="2236851" cy="250279"/>
          </a:xfrm>
          <a:prstGeom prst="rect">
            <a:avLst/>
          </a:prstGeom>
          <a:noFill/>
          <a:ln/>
        </p:spPr>
        <p:txBody>
          <a:bodyPr wrap="square" lIns="0" tIns="0" rIns="0" bIns="0" rtlCol="0" anchor="t">
            <a:normAutofit/>
          </a:bodyPr>
          <a:lstStyle/>
          <a:p>
            <a:pPr algn="l" indent="0" marL="0">
              <a:lnSpc>
                <a:spcPts val="1774"/>
              </a:lnSpc>
              <a:buNone/>
            </a:pPr>
            <a:r>
              <a:rPr lang="en-US" sz="1268" b="1" dirty="0">
                <a:solidFill>
                  <a:srgbClr val="2F5BB7"/>
                </a:solidFill>
                <a:latin typeface="JetBrains Mono" pitchFamily="49" charset="0"/>
                <a:ea typeface="JetBrains Mono" pitchFamily="49" charset="-122"/>
                <a:cs typeface="JetBrains Mono" pitchFamily="49" charset="-120"/>
              </a:rPr>
              <a:t>tools</a:t>
            </a:r>
            <a:endParaRPr lang="en-US" sz="1268" dirty="0"/>
          </a:p>
        </p:txBody>
      </p:sp>
      <p:sp>
        <p:nvSpPr>
          <p:cNvPr id="15" name="Text 13"/>
          <p:cNvSpPr/>
          <p:nvPr/>
        </p:nvSpPr>
        <p:spPr>
          <a:xfrm>
            <a:off x="9086850" y="1958429"/>
            <a:ext cx="2236851" cy="626021"/>
          </a:xfrm>
          <a:prstGeom prst="rect">
            <a:avLst/>
          </a:prstGeom>
          <a:noFill/>
          <a:ln/>
        </p:spPr>
        <p:txBody>
          <a:bodyPr wrap="square" lIns="0" tIns="0" rIns="0" bIns="0" rtlCol="0" anchor="t">
            <a:normAutofit/>
          </a:bodyPr>
          <a:lstStyle/>
          <a:p>
            <a:pPr algn="l" indent="0" marL="0">
              <a:lnSpc>
                <a:spcPts val="1590"/>
              </a:lnSpc>
              <a:buNone/>
            </a:pPr>
            <a:r>
              <a:rPr lang="en-US" sz="1177" dirty="0">
                <a:solidFill>
                  <a:srgbClr val="4A5263"/>
                </a:solidFill>
                <a:latin typeface="IBM Plex Sans KR" pitchFamily="34" charset="0"/>
                <a:ea typeface="IBM Plex Sans KR" pitchFamily="34" charset="-122"/>
                <a:cs typeface="IBM Plex Sans KR" pitchFamily="34" charset="-120"/>
              </a:rPr>
              <a:t>catalog_id · agent_id</a:t>
            </a:r>
            <a:endParaRPr lang="en-US" sz="1177" dirty="0"/>
          </a:p>
          <a:p>
            <a:pPr algn="l" indent="0" marL="0">
              <a:lnSpc>
                <a:spcPts val="1590"/>
              </a:lnSpc>
              <a:buNone/>
            </a:pPr>
            <a:r>
              <a:rPr lang="en-US" sz="1177" dirty="0">
                <a:solidFill>
                  <a:srgbClr val="4A5263"/>
                </a:solidFill>
                <a:latin typeface="IBM Plex Sans KR" pitchFamily="34" charset="0"/>
                <a:ea typeface="IBM Plex Sans KR" pitchFamily="34" charset="-122"/>
                <a:cs typeface="IBM Plex Sans KR" pitchFamily="34" charset="-120"/>
              </a:rPr>
              <a:t>name · parameters (jsonb)</a:t>
            </a:r>
            <a:endParaRPr lang="en-US" sz="1177" dirty="0"/>
          </a:p>
          <a:p>
            <a:pPr algn="l" indent="0" marL="0">
              <a:lnSpc>
                <a:spcPts val="1590"/>
              </a:lnSpc>
              <a:buNone/>
            </a:pPr>
            <a:r>
              <a:rPr lang="en-US" sz="1177" dirty="0">
                <a:solidFill>
                  <a:srgbClr val="4A5263"/>
                </a:solidFill>
                <a:latin typeface="IBM Plex Sans KR" pitchFamily="34" charset="0"/>
                <a:ea typeface="IBM Plex Sans KR" pitchFamily="34" charset="-122"/>
                <a:cs typeface="IBM Plex Sans KR" pitchFamily="34" charset="-120"/>
              </a:rPr>
              <a:t>delegate_to_agent_id</a:t>
            </a:r>
            <a:endParaRPr lang="en-US" sz="1177" dirty="0"/>
          </a:p>
        </p:txBody>
      </p:sp>
      <p:sp>
        <p:nvSpPr>
          <p:cNvPr id="16" name="Shape 14"/>
          <p:cNvSpPr/>
          <p:nvPr/>
        </p:nvSpPr>
        <p:spPr>
          <a:xfrm>
            <a:off x="815975" y="2987675"/>
            <a:ext cx="2406650" cy="1073150"/>
          </a:xfrm>
          <a:prstGeom prst="roundRect">
            <a:avLst>
              <a:gd name="adj" fmla="val 6805"/>
            </a:avLst>
          </a:prstGeom>
          <a:solidFill>
            <a:srgbClr val="FBFAF7"/>
          </a:solidFill>
          <a:ln w="6350">
            <a:solidFill>
              <a:srgbClr val="DCD9CF"/>
            </a:solidFill>
            <a:prstDash val="solid"/>
          </a:ln>
        </p:spPr>
      </p:sp>
      <p:sp>
        <p:nvSpPr>
          <p:cNvPr id="17" name="Text 15"/>
          <p:cNvSpPr/>
          <p:nvPr/>
        </p:nvSpPr>
        <p:spPr>
          <a:xfrm>
            <a:off x="933450" y="3092450"/>
            <a:ext cx="2236851" cy="250279"/>
          </a:xfrm>
          <a:prstGeom prst="rect">
            <a:avLst/>
          </a:prstGeom>
          <a:noFill/>
          <a:ln/>
        </p:spPr>
        <p:txBody>
          <a:bodyPr wrap="square" lIns="0" tIns="0" rIns="0" bIns="0" rtlCol="0" anchor="t">
            <a:normAutofit/>
          </a:bodyPr>
          <a:lstStyle/>
          <a:p>
            <a:pPr algn="l" indent="0" marL="0">
              <a:lnSpc>
                <a:spcPts val="1774"/>
              </a:lnSpc>
              <a:buNone/>
            </a:pPr>
            <a:r>
              <a:rPr lang="en-US" sz="1268" b="1" dirty="0">
                <a:solidFill>
                  <a:srgbClr val="2F5BB7"/>
                </a:solidFill>
                <a:latin typeface="JetBrains Mono" pitchFamily="49" charset="0"/>
                <a:ea typeface="JetBrains Mono" pitchFamily="49" charset="-122"/>
                <a:cs typeface="JetBrains Mono" pitchFamily="49" charset="-120"/>
              </a:rPr>
              <a:t>interactions</a:t>
            </a:r>
            <a:endParaRPr lang="en-US" sz="1268" dirty="0"/>
          </a:p>
        </p:txBody>
      </p:sp>
      <p:sp>
        <p:nvSpPr>
          <p:cNvPr id="18" name="Text 16"/>
          <p:cNvSpPr/>
          <p:nvPr/>
        </p:nvSpPr>
        <p:spPr>
          <a:xfrm>
            <a:off x="933450" y="3355429"/>
            <a:ext cx="2236851" cy="626021"/>
          </a:xfrm>
          <a:prstGeom prst="rect">
            <a:avLst/>
          </a:prstGeom>
          <a:noFill/>
          <a:ln/>
        </p:spPr>
        <p:txBody>
          <a:bodyPr wrap="square" lIns="0" tIns="0" rIns="0" bIns="0" rtlCol="0" anchor="t">
            <a:normAutofit/>
          </a:bodyPr>
          <a:lstStyle/>
          <a:p>
            <a:pPr algn="l" indent="0" marL="0">
              <a:lnSpc>
                <a:spcPts val="1590"/>
              </a:lnSpc>
              <a:buNone/>
            </a:pPr>
            <a:r>
              <a:rPr lang="en-US" sz="1177" dirty="0">
                <a:solidFill>
                  <a:srgbClr val="4A5263"/>
                </a:solidFill>
                <a:latin typeface="IBM Plex Sans KR" pitchFamily="34" charset="0"/>
                <a:ea typeface="IBM Plex Sans KR" pitchFamily="34" charset="-122"/>
                <a:cs typeface="IBM Plex Sans KR" pitchFamily="34" charset="-120"/>
              </a:rPr>
              <a:t>profile_id · user_id</a:t>
            </a:r>
            <a:endParaRPr lang="en-US" sz="1177" dirty="0"/>
          </a:p>
          <a:p>
            <a:pPr algn="l" indent="0" marL="0">
              <a:lnSpc>
                <a:spcPts val="1590"/>
              </a:lnSpc>
              <a:buNone/>
            </a:pPr>
            <a:r>
              <a:rPr lang="en-US" sz="1177" dirty="0">
                <a:solidFill>
                  <a:srgbClr val="4A5263"/>
                </a:solidFill>
                <a:latin typeface="IBM Plex Sans KR" pitchFamily="34" charset="0"/>
                <a:ea typeface="IBM Plex Sans KR" pitchFamily="34" charset="-122"/>
                <a:cs typeface="IBM Plex Sans KR" pitchFamily="34" charset="-120"/>
              </a:rPr>
              <a:t>virtual_key_id · model</a:t>
            </a:r>
            <a:endParaRPr lang="en-US" sz="1177" dirty="0"/>
          </a:p>
          <a:p>
            <a:pPr algn="l" indent="0" marL="0">
              <a:lnSpc>
                <a:spcPts val="1590"/>
              </a:lnSpc>
              <a:buNone/>
            </a:pPr>
            <a:r>
              <a:rPr lang="en-US" sz="1177" dirty="0">
                <a:solidFill>
                  <a:srgbClr val="4A5263"/>
                </a:solidFill>
                <a:latin typeface="IBM Plex Sans KR" pitchFamily="34" charset="0"/>
                <a:ea typeface="IBM Plex Sans KR" pitchFamily="34" charset="-122"/>
                <a:cs typeface="IBM Plex Sans KR" pitchFamily="34" charset="-120"/>
              </a:rPr>
              <a:t>tokens · cost · request</a:t>
            </a:r>
            <a:endParaRPr lang="en-US" sz="1177" dirty="0"/>
          </a:p>
        </p:txBody>
      </p:sp>
      <p:sp>
        <p:nvSpPr>
          <p:cNvPr id="19" name="Shape 17"/>
          <p:cNvSpPr/>
          <p:nvPr/>
        </p:nvSpPr>
        <p:spPr>
          <a:xfrm>
            <a:off x="3530600" y="2984500"/>
            <a:ext cx="2413000" cy="1079500"/>
          </a:xfrm>
          <a:prstGeom prst="roundRect">
            <a:avLst>
              <a:gd name="adj" fmla="val 7059"/>
            </a:avLst>
          </a:prstGeom>
          <a:solidFill>
            <a:srgbClr val="131A2A"/>
          </a:solidFill>
          <a:ln/>
        </p:spPr>
      </p:sp>
      <p:sp>
        <p:nvSpPr>
          <p:cNvPr id="20" name="Text 18"/>
          <p:cNvSpPr/>
          <p:nvPr/>
        </p:nvSpPr>
        <p:spPr>
          <a:xfrm>
            <a:off x="3644900" y="3086100"/>
            <a:ext cx="2249932" cy="25380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08A4B"/>
                </a:solidFill>
                <a:latin typeface="JetBrains Mono" pitchFamily="49" charset="0"/>
                <a:ea typeface="JetBrains Mono" pitchFamily="49" charset="-122"/>
                <a:cs typeface="JetBrains Mono" pitchFamily="49" charset="-120"/>
              </a:rPr>
              <a:t>agents</a:t>
            </a:r>
            <a:endParaRPr lang="en-US" sz="1300" dirty="0"/>
          </a:p>
        </p:txBody>
      </p:sp>
      <p:sp>
        <p:nvSpPr>
          <p:cNvPr id="21" name="Text 19"/>
          <p:cNvSpPr/>
          <p:nvPr/>
        </p:nvSpPr>
        <p:spPr>
          <a:xfrm>
            <a:off x="3644900" y="3352602"/>
            <a:ext cx="2249932" cy="635198"/>
          </a:xfrm>
          <a:prstGeom prst="rect">
            <a:avLst/>
          </a:prstGeom>
          <a:noFill/>
          <a:ln/>
        </p:spPr>
        <p:txBody>
          <a:bodyPr wrap="square" lIns="0" tIns="0" rIns="0" bIns="0" rtlCol="0" anchor="t">
            <a:normAutofit/>
          </a:bodyPr>
          <a:lstStyle/>
          <a:p>
            <a:pPr algn="l" indent="0" marL="0">
              <a:lnSpc>
                <a:spcPts val="1605"/>
              </a:lnSpc>
              <a:buNone/>
            </a:pPr>
            <a:r>
              <a:rPr lang="en-US" sz="1189" dirty="0">
                <a:solidFill>
                  <a:srgbClr val="E3E6EC"/>
                </a:solidFill>
                <a:latin typeface="IBM Plex Sans KR" pitchFamily="34" charset="0"/>
                <a:ea typeface="IBM Plex Sans KR" pitchFamily="34" charset="-122"/>
                <a:cs typeface="IBM Plex Sans KR" pitchFamily="34" charset="-120"/>
              </a:rPr>
              <a:t>agent_type · scope</a:t>
            </a:r>
            <a:endParaRPr lang="en-US" sz="1189" dirty="0"/>
          </a:p>
          <a:p>
            <a:pPr algn="l" indent="0" marL="0">
              <a:lnSpc>
                <a:spcPts val="1605"/>
              </a:lnSpc>
              <a:buNone/>
            </a:pPr>
            <a:r>
              <a:rPr lang="en-US" sz="1189" dirty="0">
                <a:solidFill>
                  <a:srgbClr val="E3E6EC"/>
                </a:solidFill>
                <a:latin typeface="IBM Plex Sans KR" pitchFamily="34" charset="0"/>
                <a:ea typeface="IBM Plex Sans KR" pitchFamily="34" charset="-122"/>
                <a:cs typeface="IBM Plex Sans KR" pitchFamily="34" charset="-120"/>
              </a:rPr>
              <a:t>llm_model · environment_id</a:t>
            </a:r>
            <a:endParaRPr lang="en-US" sz="1189" dirty="0"/>
          </a:p>
          <a:p>
            <a:pPr algn="l" indent="0" marL="0">
              <a:lnSpc>
                <a:spcPts val="1605"/>
              </a:lnSpc>
              <a:buNone/>
            </a:pPr>
            <a:r>
              <a:rPr lang="en-US" sz="1189" dirty="0">
                <a:solidFill>
                  <a:srgbClr val="E3E6EC"/>
                </a:solidFill>
                <a:latin typeface="IBM Plex Sans KR" pitchFamily="34" charset="0"/>
                <a:ea typeface="IBM Plex Sans KR" pitchFamily="34" charset="-122"/>
                <a:cs typeface="IBM Plex Sans KR" pitchFamily="34" charset="-120"/>
              </a:rPr>
              <a:t>runtime (jsonb)</a:t>
            </a:r>
            <a:endParaRPr lang="en-US" sz="1189" dirty="0"/>
          </a:p>
        </p:txBody>
      </p:sp>
      <p:sp>
        <p:nvSpPr>
          <p:cNvPr id="22" name="Shape 20"/>
          <p:cNvSpPr/>
          <p:nvPr/>
        </p:nvSpPr>
        <p:spPr>
          <a:xfrm>
            <a:off x="6251575" y="2987675"/>
            <a:ext cx="2406650" cy="1073150"/>
          </a:xfrm>
          <a:prstGeom prst="roundRect">
            <a:avLst>
              <a:gd name="adj" fmla="val 6805"/>
            </a:avLst>
          </a:prstGeom>
          <a:solidFill>
            <a:srgbClr val="FBFAF7"/>
          </a:solidFill>
          <a:ln w="6350">
            <a:solidFill>
              <a:srgbClr val="DCD9CF"/>
            </a:solidFill>
            <a:prstDash val="solid"/>
          </a:ln>
        </p:spPr>
      </p:sp>
      <p:sp>
        <p:nvSpPr>
          <p:cNvPr id="23" name="Text 21"/>
          <p:cNvSpPr/>
          <p:nvPr/>
        </p:nvSpPr>
        <p:spPr>
          <a:xfrm>
            <a:off x="6369050" y="3092450"/>
            <a:ext cx="2236851" cy="250279"/>
          </a:xfrm>
          <a:prstGeom prst="rect">
            <a:avLst/>
          </a:prstGeom>
          <a:noFill/>
          <a:ln/>
        </p:spPr>
        <p:txBody>
          <a:bodyPr wrap="square" lIns="0" tIns="0" rIns="0" bIns="0" rtlCol="0" anchor="t">
            <a:normAutofit/>
          </a:bodyPr>
          <a:lstStyle/>
          <a:p>
            <a:pPr algn="l" indent="0" marL="0">
              <a:lnSpc>
                <a:spcPts val="1774"/>
              </a:lnSpc>
              <a:buNone/>
            </a:pPr>
            <a:r>
              <a:rPr lang="en-US" sz="1268" b="1" dirty="0">
                <a:solidFill>
                  <a:srgbClr val="2F5BB7"/>
                </a:solidFill>
                <a:latin typeface="JetBrains Mono" pitchFamily="49" charset="0"/>
                <a:ea typeface="JetBrains Mono" pitchFamily="49" charset="-122"/>
                <a:cs typeface="JetBrains Mono" pitchFamily="49" charset="-120"/>
              </a:rPr>
              <a:t>mcp_tool_calls</a:t>
            </a:r>
            <a:endParaRPr lang="en-US" sz="1268" dirty="0"/>
          </a:p>
        </p:txBody>
      </p:sp>
      <p:sp>
        <p:nvSpPr>
          <p:cNvPr id="24" name="Text 22"/>
          <p:cNvSpPr/>
          <p:nvPr/>
        </p:nvSpPr>
        <p:spPr>
          <a:xfrm>
            <a:off x="6369050" y="3355429"/>
            <a:ext cx="2236851" cy="626021"/>
          </a:xfrm>
          <a:prstGeom prst="rect">
            <a:avLst/>
          </a:prstGeom>
          <a:noFill/>
          <a:ln/>
        </p:spPr>
        <p:txBody>
          <a:bodyPr wrap="square" lIns="0" tIns="0" rIns="0" bIns="0" rtlCol="0" anchor="t">
            <a:normAutofit/>
          </a:bodyPr>
          <a:lstStyle/>
          <a:p>
            <a:pPr algn="l" indent="0" marL="0">
              <a:lnSpc>
                <a:spcPts val="1590"/>
              </a:lnSpc>
              <a:buNone/>
            </a:pPr>
            <a:r>
              <a:rPr lang="en-US" sz="1177" dirty="0">
                <a:solidFill>
                  <a:srgbClr val="4A5263"/>
                </a:solidFill>
                <a:latin typeface="IBM Plex Sans KR" pitchFamily="34" charset="0"/>
                <a:ea typeface="IBM Plex Sans KR" pitchFamily="34" charset="-122"/>
                <a:cs typeface="IBM Plex Sans KR" pitchFamily="34" charset="-120"/>
              </a:rPr>
              <a:t>agent_id · user_id</a:t>
            </a:r>
            <a:endParaRPr lang="en-US" sz="1177" dirty="0"/>
          </a:p>
          <a:p>
            <a:pPr algn="l" indent="0" marL="0">
              <a:lnSpc>
                <a:spcPts val="1590"/>
              </a:lnSpc>
              <a:buNone/>
            </a:pPr>
            <a:r>
              <a:rPr lang="en-US" sz="1177" dirty="0">
                <a:solidFill>
                  <a:srgbClr val="4A5263"/>
                </a:solidFill>
                <a:latin typeface="IBM Plex Sans KR" pitchFamily="34" charset="0"/>
                <a:ea typeface="IBM Plex Sans KR" pitchFamily="34" charset="-122"/>
                <a:cs typeface="IBM Plex Sans KR" pitchFamily="34" charset="-120"/>
              </a:rPr>
              <a:t>mcp_server_name</a:t>
            </a:r>
            <a:endParaRPr lang="en-US" sz="1177" dirty="0"/>
          </a:p>
          <a:p>
            <a:pPr algn="l" indent="0" marL="0">
              <a:lnSpc>
                <a:spcPts val="1590"/>
              </a:lnSpc>
              <a:buNone/>
            </a:pPr>
            <a:r>
              <a:rPr lang="en-US" sz="1177" dirty="0">
                <a:solidFill>
                  <a:srgbClr val="4A5263"/>
                </a:solidFill>
                <a:latin typeface="IBM Plex Sans KR" pitchFamily="34" charset="0"/>
                <a:ea typeface="IBM Plex Sans KR" pitchFamily="34" charset="-122"/>
                <a:cs typeface="IBM Plex Sans KR" pitchFamily="34" charset="-120"/>
              </a:rPr>
              <a:t>tool_name · tool_result</a:t>
            </a:r>
            <a:endParaRPr lang="en-US" sz="1177" dirty="0"/>
          </a:p>
        </p:txBody>
      </p:sp>
      <p:sp>
        <p:nvSpPr>
          <p:cNvPr id="25" name="Shape 23"/>
          <p:cNvSpPr/>
          <p:nvPr/>
        </p:nvSpPr>
        <p:spPr>
          <a:xfrm>
            <a:off x="8969375" y="2987675"/>
            <a:ext cx="2406650" cy="1073150"/>
          </a:xfrm>
          <a:prstGeom prst="roundRect">
            <a:avLst>
              <a:gd name="adj" fmla="val 6805"/>
            </a:avLst>
          </a:prstGeom>
          <a:solidFill>
            <a:srgbClr val="FBFAF7"/>
          </a:solidFill>
          <a:ln w="6350">
            <a:solidFill>
              <a:srgbClr val="DCD9CF"/>
            </a:solidFill>
            <a:prstDash val="solid"/>
          </a:ln>
        </p:spPr>
      </p:sp>
      <p:sp>
        <p:nvSpPr>
          <p:cNvPr id="26" name="Text 24"/>
          <p:cNvSpPr/>
          <p:nvPr/>
        </p:nvSpPr>
        <p:spPr>
          <a:xfrm>
            <a:off x="9086850" y="3092450"/>
            <a:ext cx="2236851" cy="250279"/>
          </a:xfrm>
          <a:prstGeom prst="rect">
            <a:avLst/>
          </a:prstGeom>
          <a:noFill/>
          <a:ln/>
        </p:spPr>
        <p:txBody>
          <a:bodyPr wrap="square" lIns="0" tIns="0" rIns="0" bIns="0" rtlCol="0" anchor="t">
            <a:normAutofit/>
          </a:bodyPr>
          <a:lstStyle/>
          <a:p>
            <a:pPr algn="l" indent="0" marL="0">
              <a:lnSpc>
                <a:spcPts val="1774"/>
              </a:lnSpc>
              <a:buNone/>
            </a:pPr>
            <a:r>
              <a:rPr lang="en-US" sz="1268" b="1" dirty="0">
                <a:solidFill>
                  <a:srgbClr val="2F5BB7"/>
                </a:solidFill>
                <a:latin typeface="JetBrains Mono" pitchFamily="49" charset="0"/>
                <a:ea typeface="JetBrains Mono" pitchFamily="49" charset="-122"/>
                <a:cs typeface="JetBrains Mono" pitchFamily="49" charset="-120"/>
              </a:rPr>
              <a:t>internal_mcp_catalog</a:t>
            </a:r>
            <a:endParaRPr lang="en-US" sz="1268" dirty="0"/>
          </a:p>
        </p:txBody>
      </p:sp>
      <p:sp>
        <p:nvSpPr>
          <p:cNvPr id="27" name="Text 25"/>
          <p:cNvSpPr/>
          <p:nvPr/>
        </p:nvSpPr>
        <p:spPr>
          <a:xfrm>
            <a:off x="9086850" y="3355429"/>
            <a:ext cx="2236851" cy="626021"/>
          </a:xfrm>
          <a:prstGeom prst="rect">
            <a:avLst/>
          </a:prstGeom>
          <a:noFill/>
          <a:ln/>
        </p:spPr>
        <p:txBody>
          <a:bodyPr wrap="square" lIns="0" tIns="0" rIns="0" bIns="0" rtlCol="0" anchor="t">
            <a:normAutofit/>
          </a:bodyPr>
          <a:lstStyle/>
          <a:p>
            <a:pPr algn="l" indent="0" marL="0">
              <a:lnSpc>
                <a:spcPts val="1590"/>
              </a:lnSpc>
              <a:buNone/>
            </a:pPr>
            <a:r>
              <a:rPr lang="en-US" sz="1177" dirty="0">
                <a:solidFill>
                  <a:srgbClr val="4A5263"/>
                </a:solidFill>
                <a:latin typeface="IBM Plex Sans KR" pitchFamily="34" charset="0"/>
                <a:ea typeface="IBM Plex Sans KR" pitchFamily="34" charset="-122"/>
                <a:cs typeface="IBM Plex Sans KR" pitchFamily="34" charset="-120"/>
              </a:rPr>
              <a:t>server_type · server_url</a:t>
            </a:r>
            <a:endParaRPr lang="en-US" sz="1177" dirty="0"/>
          </a:p>
          <a:p>
            <a:pPr algn="l" indent="0" marL="0">
              <a:lnSpc>
                <a:spcPts val="1590"/>
              </a:lnSpc>
              <a:buNone/>
            </a:pPr>
            <a:r>
              <a:rPr lang="en-US" sz="1177" dirty="0">
                <a:solidFill>
                  <a:srgbClr val="4A5263"/>
                </a:solidFill>
                <a:latin typeface="IBM Plex Sans KR" pitchFamily="34" charset="0"/>
                <a:ea typeface="IBM Plex Sans KR" pitchFamily="34" charset="-122"/>
                <a:cs typeface="IBM Plex Sans KR" pitchFamily="34" charset="-120"/>
              </a:rPr>
              <a:t>local_config (jsonb)</a:t>
            </a:r>
            <a:endParaRPr lang="en-US" sz="1177" dirty="0"/>
          </a:p>
          <a:p>
            <a:pPr algn="l" indent="0" marL="0">
              <a:lnSpc>
                <a:spcPts val="1590"/>
              </a:lnSpc>
              <a:buNone/>
            </a:pPr>
            <a:r>
              <a:rPr lang="en-US" sz="1177" dirty="0">
                <a:solidFill>
                  <a:srgbClr val="4A5263"/>
                </a:solidFill>
                <a:latin typeface="IBM Plex Sans KR" pitchFamily="34" charset="0"/>
                <a:ea typeface="IBM Plex Sans KR" pitchFamily="34" charset="-122"/>
                <a:cs typeface="IBM Plex Sans KR" pitchFamily="34" charset="-120"/>
              </a:rPr>
              <a:t>oauth_config · scope</a:t>
            </a:r>
            <a:endParaRPr lang="en-US" sz="1177" dirty="0"/>
          </a:p>
        </p:txBody>
      </p:sp>
      <p:sp>
        <p:nvSpPr>
          <p:cNvPr id="28" name="Shape 26"/>
          <p:cNvSpPr/>
          <p:nvPr/>
        </p:nvSpPr>
        <p:spPr>
          <a:xfrm>
            <a:off x="815975" y="4384675"/>
            <a:ext cx="2406650" cy="1073150"/>
          </a:xfrm>
          <a:prstGeom prst="roundRect">
            <a:avLst>
              <a:gd name="adj" fmla="val 6805"/>
            </a:avLst>
          </a:prstGeom>
          <a:solidFill>
            <a:srgbClr val="FBFAF7"/>
          </a:solidFill>
          <a:ln w="6350">
            <a:solidFill>
              <a:srgbClr val="DCD9CF"/>
            </a:solidFill>
            <a:prstDash val="solid"/>
          </a:ln>
        </p:spPr>
      </p:sp>
      <p:sp>
        <p:nvSpPr>
          <p:cNvPr id="29" name="Text 27"/>
          <p:cNvSpPr/>
          <p:nvPr/>
        </p:nvSpPr>
        <p:spPr>
          <a:xfrm>
            <a:off x="933450" y="4489450"/>
            <a:ext cx="2236851" cy="250279"/>
          </a:xfrm>
          <a:prstGeom prst="rect">
            <a:avLst/>
          </a:prstGeom>
          <a:noFill/>
          <a:ln/>
        </p:spPr>
        <p:txBody>
          <a:bodyPr wrap="square" lIns="0" tIns="0" rIns="0" bIns="0" rtlCol="0" anchor="t">
            <a:normAutofit/>
          </a:bodyPr>
          <a:lstStyle/>
          <a:p>
            <a:pPr algn="l" indent="0" marL="0">
              <a:lnSpc>
                <a:spcPts val="1774"/>
              </a:lnSpc>
              <a:buNone/>
            </a:pPr>
            <a:r>
              <a:rPr lang="en-US" sz="1268" b="1" dirty="0">
                <a:solidFill>
                  <a:srgbClr val="2F5BB7"/>
                </a:solidFill>
                <a:latin typeface="JetBrains Mono" pitchFamily="49" charset="0"/>
                <a:ea typeface="JetBrains Mono" pitchFamily="49" charset="-122"/>
                <a:cs typeface="JetBrains Mono" pitchFamily="49" charset="-120"/>
              </a:rPr>
              <a:t>virtual_api_keys</a:t>
            </a:r>
            <a:endParaRPr lang="en-US" sz="1268" dirty="0"/>
          </a:p>
        </p:txBody>
      </p:sp>
      <p:sp>
        <p:nvSpPr>
          <p:cNvPr id="30" name="Text 28"/>
          <p:cNvSpPr/>
          <p:nvPr/>
        </p:nvSpPr>
        <p:spPr>
          <a:xfrm>
            <a:off x="933450" y="4752429"/>
            <a:ext cx="2236851" cy="626021"/>
          </a:xfrm>
          <a:prstGeom prst="rect">
            <a:avLst/>
          </a:prstGeom>
          <a:noFill/>
          <a:ln/>
        </p:spPr>
        <p:txBody>
          <a:bodyPr wrap="square" lIns="0" tIns="0" rIns="0" bIns="0" rtlCol="0" anchor="t">
            <a:normAutofit/>
          </a:bodyPr>
          <a:lstStyle/>
          <a:p>
            <a:pPr algn="l" indent="0" marL="0">
              <a:lnSpc>
                <a:spcPts val="1590"/>
              </a:lnSpc>
              <a:buNone/>
            </a:pPr>
            <a:r>
              <a:rPr lang="en-US" sz="1177" dirty="0">
                <a:solidFill>
                  <a:srgbClr val="4A5263"/>
                </a:solidFill>
                <a:latin typeface="IBM Plex Sans KR" pitchFamily="34" charset="0"/>
                <a:ea typeface="IBM Plex Sans KR" pitchFamily="34" charset="-122"/>
                <a:cs typeface="IBM Plex Sans KR" pitchFamily="34" charset="-120"/>
              </a:rPr>
              <a:t>secret_id · token_start</a:t>
            </a:r>
            <a:endParaRPr lang="en-US" sz="1177" dirty="0"/>
          </a:p>
          <a:p>
            <a:pPr algn="l" indent="0" marL="0">
              <a:lnSpc>
                <a:spcPts val="1590"/>
              </a:lnSpc>
              <a:buNone/>
            </a:pPr>
            <a:r>
              <a:rPr lang="en-US" sz="1177" dirty="0">
                <a:solidFill>
                  <a:srgbClr val="4A5263"/>
                </a:solidFill>
                <a:latin typeface="IBM Plex Sans KR" pitchFamily="34" charset="0"/>
                <a:ea typeface="IBM Plex Sans KR" pitchFamily="34" charset="-122"/>
                <a:cs typeface="IBM Plex Sans KR" pitchFamily="34" charset="-120"/>
              </a:rPr>
              <a:t>scope · billing_team_id</a:t>
            </a:r>
            <a:endParaRPr lang="en-US" sz="1177" dirty="0"/>
          </a:p>
          <a:p>
            <a:pPr algn="l" indent="0" marL="0">
              <a:lnSpc>
                <a:spcPts val="1590"/>
              </a:lnSpc>
              <a:buNone/>
            </a:pPr>
            <a:r>
              <a:rPr lang="en-US" sz="1177" dirty="0">
                <a:solidFill>
                  <a:srgbClr val="4A5263"/>
                </a:solidFill>
                <a:latin typeface="IBM Plex Sans KR" pitchFamily="34" charset="0"/>
                <a:ea typeface="IBM Plex Sans KR" pitchFamily="34" charset="-122"/>
                <a:cs typeface="IBM Plex Sans KR" pitchFamily="34" charset="-120"/>
              </a:rPr>
              <a:t>expires_at</a:t>
            </a:r>
            <a:endParaRPr lang="en-US" sz="1177" dirty="0"/>
          </a:p>
        </p:txBody>
      </p:sp>
      <p:sp>
        <p:nvSpPr>
          <p:cNvPr id="31" name="Shape 29"/>
          <p:cNvSpPr/>
          <p:nvPr/>
        </p:nvSpPr>
        <p:spPr>
          <a:xfrm>
            <a:off x="3533775" y="4384675"/>
            <a:ext cx="2406650" cy="1073150"/>
          </a:xfrm>
          <a:prstGeom prst="roundRect">
            <a:avLst>
              <a:gd name="adj" fmla="val 6805"/>
            </a:avLst>
          </a:prstGeom>
          <a:solidFill>
            <a:srgbClr val="FBFAF7"/>
          </a:solidFill>
          <a:ln w="6350">
            <a:solidFill>
              <a:srgbClr val="DCD9CF"/>
            </a:solidFill>
            <a:prstDash val="solid"/>
          </a:ln>
        </p:spPr>
      </p:sp>
      <p:sp>
        <p:nvSpPr>
          <p:cNvPr id="32" name="Text 30"/>
          <p:cNvSpPr/>
          <p:nvPr/>
        </p:nvSpPr>
        <p:spPr>
          <a:xfrm>
            <a:off x="3651250" y="4489450"/>
            <a:ext cx="2236851" cy="250279"/>
          </a:xfrm>
          <a:prstGeom prst="rect">
            <a:avLst/>
          </a:prstGeom>
          <a:noFill/>
          <a:ln/>
        </p:spPr>
        <p:txBody>
          <a:bodyPr wrap="square" lIns="0" tIns="0" rIns="0" bIns="0" rtlCol="0" anchor="t">
            <a:normAutofit/>
          </a:bodyPr>
          <a:lstStyle/>
          <a:p>
            <a:pPr algn="l" indent="0" marL="0">
              <a:lnSpc>
                <a:spcPts val="1774"/>
              </a:lnSpc>
              <a:buNone/>
            </a:pPr>
            <a:r>
              <a:rPr lang="en-US" sz="1268" b="1" dirty="0">
                <a:solidFill>
                  <a:srgbClr val="2F5BB7"/>
                </a:solidFill>
                <a:latin typeface="JetBrains Mono" pitchFamily="49" charset="0"/>
                <a:ea typeface="JetBrains Mono" pitchFamily="49" charset="-122"/>
                <a:cs typeface="JetBrains Mono" pitchFamily="49" charset="-120"/>
              </a:rPr>
              <a:t>chat_api_keys</a:t>
            </a:r>
            <a:endParaRPr lang="en-US" sz="1268" dirty="0"/>
          </a:p>
        </p:txBody>
      </p:sp>
      <p:sp>
        <p:nvSpPr>
          <p:cNvPr id="33" name="Text 31"/>
          <p:cNvSpPr/>
          <p:nvPr/>
        </p:nvSpPr>
        <p:spPr>
          <a:xfrm>
            <a:off x="3651250" y="4752429"/>
            <a:ext cx="2236851" cy="626021"/>
          </a:xfrm>
          <a:prstGeom prst="rect">
            <a:avLst/>
          </a:prstGeom>
          <a:noFill/>
          <a:ln/>
        </p:spPr>
        <p:txBody>
          <a:bodyPr wrap="square" lIns="0" tIns="0" rIns="0" bIns="0" rtlCol="0" anchor="t">
            <a:normAutofit/>
          </a:bodyPr>
          <a:lstStyle/>
          <a:p>
            <a:pPr algn="l" indent="0" marL="0">
              <a:lnSpc>
                <a:spcPts val="1590"/>
              </a:lnSpc>
              <a:buNone/>
            </a:pPr>
            <a:r>
              <a:rPr lang="en-US" sz="1177" dirty="0">
                <a:solidFill>
                  <a:srgbClr val="4A5263"/>
                </a:solidFill>
                <a:latin typeface="IBM Plex Sans KR" pitchFamily="34" charset="0"/>
                <a:ea typeface="IBM Plex Sans KR" pitchFamily="34" charset="-122"/>
                <a:cs typeface="IBM Plex Sans KR" pitchFamily="34" charset="-120"/>
              </a:rPr>
              <a:t>provider · secret_id</a:t>
            </a:r>
            <a:endParaRPr lang="en-US" sz="1177" dirty="0"/>
          </a:p>
          <a:p>
            <a:pPr algn="l" indent="0" marL="0">
              <a:lnSpc>
                <a:spcPts val="1590"/>
              </a:lnSpc>
              <a:buNone/>
            </a:pPr>
            <a:r>
              <a:rPr lang="en-US" sz="1177" dirty="0">
                <a:solidFill>
                  <a:srgbClr val="4A5263"/>
                </a:solidFill>
                <a:latin typeface="IBM Plex Sans KR" pitchFamily="34" charset="0"/>
                <a:ea typeface="IBM Plex Sans KR" pitchFamily="34" charset="-122"/>
                <a:cs typeface="IBM Plex Sans KR" pitchFamily="34" charset="-120"/>
              </a:rPr>
              <a:t>scope · user_id · team_id</a:t>
            </a:r>
            <a:endParaRPr lang="en-US" sz="1177" dirty="0"/>
          </a:p>
          <a:p>
            <a:pPr algn="l" indent="0" marL="0">
              <a:lnSpc>
                <a:spcPts val="1590"/>
              </a:lnSpc>
              <a:buNone/>
            </a:pPr>
            <a:r>
              <a:rPr lang="en-US" sz="1177" dirty="0">
                <a:solidFill>
                  <a:srgbClr val="4A5263"/>
                </a:solidFill>
                <a:latin typeface="IBM Plex Sans KR" pitchFamily="34" charset="0"/>
                <a:ea typeface="IBM Plex Sans KR" pitchFamily="34" charset="-122"/>
                <a:cs typeface="IBM Plex Sans KR" pitchFamily="34" charset="-120"/>
              </a:rPr>
              <a:t>base_url · is_primary</a:t>
            </a:r>
            <a:endParaRPr lang="en-US" sz="1177" dirty="0"/>
          </a:p>
        </p:txBody>
      </p:sp>
      <p:sp>
        <p:nvSpPr>
          <p:cNvPr id="34" name="Shape 32"/>
          <p:cNvSpPr/>
          <p:nvPr/>
        </p:nvSpPr>
        <p:spPr>
          <a:xfrm>
            <a:off x="6251575" y="4384675"/>
            <a:ext cx="2406650" cy="1073150"/>
          </a:xfrm>
          <a:prstGeom prst="roundRect">
            <a:avLst>
              <a:gd name="adj" fmla="val 6805"/>
            </a:avLst>
          </a:prstGeom>
          <a:solidFill>
            <a:srgbClr val="FBE3D3"/>
          </a:solidFill>
          <a:ln w="6350">
            <a:solidFill>
              <a:srgbClr val="D9652B"/>
            </a:solidFill>
            <a:prstDash val="solid"/>
          </a:ln>
        </p:spPr>
      </p:sp>
      <p:sp>
        <p:nvSpPr>
          <p:cNvPr id="35" name="Text 33"/>
          <p:cNvSpPr/>
          <p:nvPr/>
        </p:nvSpPr>
        <p:spPr>
          <a:xfrm>
            <a:off x="6369050" y="4489450"/>
            <a:ext cx="2236851" cy="250279"/>
          </a:xfrm>
          <a:prstGeom prst="rect">
            <a:avLst/>
          </a:prstGeom>
          <a:noFill/>
          <a:ln/>
        </p:spPr>
        <p:txBody>
          <a:bodyPr wrap="square" lIns="0" tIns="0" rIns="0" bIns="0" rtlCol="0" anchor="t">
            <a:normAutofit/>
          </a:bodyPr>
          <a:lstStyle/>
          <a:p>
            <a:pPr algn="l" indent="0" marL="0">
              <a:lnSpc>
                <a:spcPts val="1774"/>
              </a:lnSpc>
              <a:buNone/>
            </a:pPr>
            <a:r>
              <a:rPr lang="en-US" sz="1268" b="1" dirty="0">
                <a:solidFill>
                  <a:srgbClr val="B8521E"/>
                </a:solidFill>
                <a:latin typeface="JetBrains Mono" pitchFamily="49" charset="0"/>
                <a:ea typeface="JetBrains Mono" pitchFamily="49" charset="-122"/>
                <a:cs typeface="JetBrains Mono" pitchFamily="49" charset="-120"/>
              </a:rPr>
              <a:t>secret</a:t>
            </a:r>
            <a:endParaRPr lang="en-US" sz="1268" dirty="0"/>
          </a:p>
        </p:txBody>
      </p:sp>
      <p:sp>
        <p:nvSpPr>
          <p:cNvPr id="36" name="Text 34"/>
          <p:cNvSpPr/>
          <p:nvPr/>
        </p:nvSpPr>
        <p:spPr>
          <a:xfrm>
            <a:off x="6369050" y="4752429"/>
            <a:ext cx="2236851" cy="626021"/>
          </a:xfrm>
          <a:prstGeom prst="rect">
            <a:avLst/>
          </a:prstGeom>
          <a:noFill/>
          <a:ln/>
        </p:spPr>
        <p:txBody>
          <a:bodyPr wrap="square" lIns="0" tIns="0" rIns="0" bIns="0" rtlCol="0" anchor="t">
            <a:normAutofit/>
          </a:bodyPr>
          <a:lstStyle/>
          <a:p>
            <a:pPr algn="l" indent="0" marL="0">
              <a:lnSpc>
                <a:spcPts val="1590"/>
              </a:lnSpc>
              <a:buNone/>
            </a:pPr>
            <a:r>
              <a:rPr lang="en-US" sz="1177" dirty="0">
                <a:solidFill>
                  <a:srgbClr val="4A5263"/>
                </a:solidFill>
                <a:latin typeface="IBM Plex Sans KR" pitchFamily="34" charset="0"/>
                <a:ea typeface="IBM Plex Sans KR" pitchFamily="34" charset="-122"/>
                <a:cs typeface="IBM Plex Sans KR" pitchFamily="34" charset="-120"/>
              </a:rPr>
              <a:t>secret (jsonb, 암호화)</a:t>
            </a:r>
            <a:endParaRPr lang="en-US" sz="1177" dirty="0"/>
          </a:p>
          <a:p>
            <a:pPr algn="l" indent="0" marL="0">
              <a:lnSpc>
                <a:spcPts val="1590"/>
              </a:lnSpc>
              <a:buNone/>
            </a:pPr>
            <a:r>
              <a:rPr lang="en-US" sz="1177" dirty="0">
                <a:solidFill>
                  <a:srgbClr val="4A5263"/>
                </a:solidFill>
                <a:latin typeface="IBM Plex Sans KR" pitchFamily="34" charset="0"/>
                <a:ea typeface="IBM Plex Sans KR" pitchFamily="34" charset="-122"/>
                <a:cs typeface="IBM Plex Sans KR" pitchFamily="34" charset="-120"/>
              </a:rPr>
              <a:t>is_vault · is_byos_vault</a:t>
            </a:r>
            <a:endParaRPr lang="en-US" sz="1177" dirty="0"/>
          </a:p>
          <a:p>
            <a:pPr algn="l" indent="0" marL="0">
              <a:lnSpc>
                <a:spcPts val="1590"/>
              </a:lnSpc>
              <a:buNone/>
            </a:pPr>
            <a:r>
              <a:rPr lang="en-US" sz="1177" dirty="0">
                <a:solidFill>
                  <a:srgbClr val="4A5263"/>
                </a:solidFill>
                <a:latin typeface="IBM Plex Sans KR" pitchFamily="34" charset="0"/>
                <a:ea typeface="IBM Plex Sans KR" pitchFamily="34" charset="-122"/>
                <a:cs typeface="IBM Plex Sans KR" pitchFamily="34" charset="-120"/>
              </a:rPr>
              <a:t>Vault 경로 참조 가능</a:t>
            </a:r>
            <a:endParaRPr lang="en-US" sz="1177" dirty="0"/>
          </a:p>
        </p:txBody>
      </p:sp>
      <p:sp>
        <p:nvSpPr>
          <p:cNvPr id="37" name="Shape 35"/>
          <p:cNvSpPr/>
          <p:nvPr/>
        </p:nvSpPr>
        <p:spPr>
          <a:xfrm>
            <a:off x="8969375" y="4384675"/>
            <a:ext cx="2406650" cy="1073150"/>
          </a:xfrm>
          <a:prstGeom prst="roundRect">
            <a:avLst>
              <a:gd name="adj" fmla="val 6805"/>
            </a:avLst>
          </a:prstGeom>
          <a:solidFill>
            <a:srgbClr val="FBFAF7"/>
          </a:solidFill>
          <a:ln w="6350">
            <a:solidFill>
              <a:srgbClr val="DCD9CF"/>
            </a:solidFill>
            <a:prstDash val="solid"/>
          </a:ln>
        </p:spPr>
      </p:sp>
      <p:sp>
        <p:nvSpPr>
          <p:cNvPr id="38" name="Text 36"/>
          <p:cNvSpPr/>
          <p:nvPr/>
        </p:nvSpPr>
        <p:spPr>
          <a:xfrm>
            <a:off x="9086850" y="4489450"/>
            <a:ext cx="2236851" cy="250279"/>
          </a:xfrm>
          <a:prstGeom prst="rect">
            <a:avLst/>
          </a:prstGeom>
          <a:noFill/>
          <a:ln/>
        </p:spPr>
        <p:txBody>
          <a:bodyPr wrap="square" lIns="0" tIns="0" rIns="0" bIns="0" rtlCol="0" anchor="t">
            <a:normAutofit/>
          </a:bodyPr>
          <a:lstStyle/>
          <a:p>
            <a:pPr algn="l" indent="0" marL="0">
              <a:lnSpc>
                <a:spcPts val="1774"/>
              </a:lnSpc>
              <a:buNone/>
            </a:pPr>
            <a:r>
              <a:rPr lang="en-US" sz="1268" b="1" dirty="0">
                <a:solidFill>
                  <a:srgbClr val="2F5BB7"/>
                </a:solidFill>
                <a:latin typeface="JetBrains Mono" pitchFamily="49" charset="0"/>
                <a:ea typeface="JetBrains Mono" pitchFamily="49" charset="-122"/>
                <a:cs typeface="JetBrains Mono" pitchFamily="49" charset="-120"/>
              </a:rPr>
              <a:t>mcp_server</a:t>
            </a:r>
            <a:endParaRPr lang="en-US" sz="1268" dirty="0"/>
          </a:p>
        </p:txBody>
      </p:sp>
      <p:sp>
        <p:nvSpPr>
          <p:cNvPr id="39" name="Text 37"/>
          <p:cNvSpPr/>
          <p:nvPr/>
        </p:nvSpPr>
        <p:spPr>
          <a:xfrm>
            <a:off x="9086850" y="4752429"/>
            <a:ext cx="2236851" cy="626021"/>
          </a:xfrm>
          <a:prstGeom prst="rect">
            <a:avLst/>
          </a:prstGeom>
          <a:noFill/>
          <a:ln/>
        </p:spPr>
        <p:txBody>
          <a:bodyPr wrap="square" lIns="0" tIns="0" rIns="0" bIns="0" rtlCol="0" anchor="t">
            <a:normAutofit/>
          </a:bodyPr>
          <a:lstStyle/>
          <a:p>
            <a:pPr algn="l" indent="0" marL="0">
              <a:lnSpc>
                <a:spcPts val="1590"/>
              </a:lnSpc>
              <a:buNone/>
            </a:pPr>
            <a:r>
              <a:rPr lang="en-US" sz="1177" dirty="0">
                <a:solidFill>
                  <a:srgbClr val="4A5263"/>
                </a:solidFill>
                <a:latin typeface="IBM Plex Sans KR" pitchFamily="34" charset="0"/>
                <a:ea typeface="IBM Plex Sans KR" pitchFamily="34" charset="-122"/>
                <a:cs typeface="IBM Plex Sans KR" pitchFamily="34" charset="-120"/>
              </a:rPr>
              <a:t>catalog_id · secret_id</a:t>
            </a:r>
            <a:endParaRPr lang="en-US" sz="1177" dirty="0"/>
          </a:p>
          <a:p>
            <a:pPr algn="l" indent="0" marL="0">
              <a:lnSpc>
                <a:spcPts val="1590"/>
              </a:lnSpc>
              <a:buNone/>
            </a:pPr>
            <a:r>
              <a:rPr lang="en-US" sz="1177" dirty="0">
                <a:solidFill>
                  <a:srgbClr val="4A5263"/>
                </a:solidFill>
                <a:latin typeface="IBM Plex Sans KR" pitchFamily="34" charset="0"/>
                <a:ea typeface="IBM Plex Sans KR" pitchFamily="34" charset="-122"/>
                <a:cs typeface="IBM Plex Sans KR" pitchFamily="34" charset="-120"/>
              </a:rPr>
              <a:t>owner_id · team_id · scope</a:t>
            </a:r>
            <a:endParaRPr lang="en-US" sz="1177" dirty="0"/>
          </a:p>
          <a:p>
            <a:pPr algn="l" indent="0" marL="0">
              <a:lnSpc>
                <a:spcPts val="1590"/>
              </a:lnSpc>
              <a:buNone/>
            </a:pPr>
            <a:r>
              <a:rPr lang="en-US" sz="1177" dirty="0">
                <a:solidFill>
                  <a:srgbClr val="4A5263"/>
                </a:solidFill>
                <a:latin typeface="IBM Plex Sans KR" pitchFamily="34" charset="0"/>
                <a:ea typeface="IBM Plex Sans KR" pitchFamily="34" charset="-122"/>
                <a:cs typeface="IBM Plex Sans KR" pitchFamily="34" charset="-120"/>
              </a:rPr>
              <a:t>hibernation_mode</a:t>
            </a:r>
            <a:endParaRPr lang="en-US" sz="1177" dirty="0"/>
          </a:p>
        </p:txBody>
      </p:sp>
      <p:pic>
        <p:nvPicPr>
          <p:cNvPr id="40" name="Image 0" descr="connector">    </p:cNvPr>
          <p:cNvPicPr>
            <a:picLocks noChangeAspect="1"/>
          </p:cNvPicPr>
          <p:nvPr/>
        </p:nvPicPr>
        <p:blipFill>
          <a:blip r:embed="rId1"/>
          <a:srcRect l="0" r="0" t="0" b="0"/>
          <a:stretch/>
        </p:blipFill>
        <p:spPr>
          <a:xfrm>
            <a:off x="3175000" y="2076450"/>
            <a:ext cx="406400" cy="101600"/>
          </a:xfrm>
          <a:prstGeom prst="rect">
            <a:avLst/>
          </a:prstGeom>
        </p:spPr>
      </p:pic>
      <p:pic>
        <p:nvPicPr>
          <p:cNvPr id="41" name="Image 1" descr="connector">    </p:cNvPr>
          <p:cNvPicPr>
            <a:picLocks noChangeAspect="1"/>
          </p:cNvPicPr>
          <p:nvPr/>
        </p:nvPicPr>
        <p:blipFill>
          <a:blip r:embed="rId2"/>
          <a:srcRect l="0" r="0" t="0" b="0"/>
          <a:stretch/>
        </p:blipFill>
        <p:spPr>
          <a:xfrm>
            <a:off x="4686300" y="2616200"/>
            <a:ext cx="101600" cy="419100"/>
          </a:xfrm>
          <a:prstGeom prst="rect">
            <a:avLst/>
          </a:prstGeom>
        </p:spPr>
      </p:pic>
      <p:pic>
        <p:nvPicPr>
          <p:cNvPr id="42" name="Image 2" descr="connector">    </p:cNvPr>
          <p:cNvPicPr>
            <a:picLocks noChangeAspect="1"/>
          </p:cNvPicPr>
          <p:nvPr/>
        </p:nvPicPr>
        <p:blipFill>
          <a:blip r:embed="rId3"/>
          <a:srcRect l="0" r="0" t="0" b="0"/>
          <a:stretch/>
        </p:blipFill>
        <p:spPr>
          <a:xfrm>
            <a:off x="5892800" y="2616200"/>
            <a:ext cx="406400" cy="419100"/>
          </a:xfrm>
          <a:prstGeom prst="rect">
            <a:avLst/>
          </a:prstGeom>
        </p:spPr>
      </p:pic>
      <p:pic>
        <p:nvPicPr>
          <p:cNvPr id="43" name="Image 3" descr="connector">    </p:cNvPr>
          <p:cNvPicPr>
            <a:picLocks noChangeAspect="1"/>
          </p:cNvPicPr>
          <p:nvPr/>
        </p:nvPicPr>
        <p:blipFill>
          <a:blip r:embed="rId4"/>
          <a:srcRect l="0" r="0" t="0" b="0"/>
          <a:stretch/>
        </p:blipFill>
        <p:spPr>
          <a:xfrm>
            <a:off x="8610600" y="2076450"/>
            <a:ext cx="406400" cy="101600"/>
          </a:xfrm>
          <a:prstGeom prst="rect">
            <a:avLst/>
          </a:prstGeom>
        </p:spPr>
      </p:pic>
      <p:pic>
        <p:nvPicPr>
          <p:cNvPr id="44" name="Image 4" descr="connector">    </p:cNvPr>
          <p:cNvPicPr>
            <a:picLocks noChangeAspect="1"/>
          </p:cNvPicPr>
          <p:nvPr/>
        </p:nvPicPr>
        <p:blipFill>
          <a:blip r:embed="rId5"/>
          <a:srcRect l="0" r="0" t="0" b="0"/>
          <a:stretch/>
        </p:blipFill>
        <p:spPr>
          <a:xfrm>
            <a:off x="10121900" y="2616200"/>
            <a:ext cx="101600" cy="419100"/>
          </a:xfrm>
          <a:prstGeom prst="rect">
            <a:avLst/>
          </a:prstGeom>
        </p:spPr>
      </p:pic>
      <p:pic>
        <p:nvPicPr>
          <p:cNvPr id="45" name="Image 5" descr="connector">    </p:cNvPr>
          <p:cNvPicPr>
            <a:picLocks noChangeAspect="1"/>
          </p:cNvPicPr>
          <p:nvPr/>
        </p:nvPicPr>
        <p:blipFill>
          <a:blip r:embed="rId6"/>
          <a:srcRect l="0" r="0" t="0" b="0"/>
          <a:stretch/>
        </p:blipFill>
        <p:spPr>
          <a:xfrm>
            <a:off x="10121900" y="4013200"/>
            <a:ext cx="101600" cy="419100"/>
          </a:xfrm>
          <a:prstGeom prst="rect">
            <a:avLst/>
          </a:prstGeom>
        </p:spPr>
      </p:pic>
      <p:pic>
        <p:nvPicPr>
          <p:cNvPr id="46" name="Image 6" descr="connector">    </p:cNvPr>
          <p:cNvPicPr>
            <a:picLocks noChangeAspect="1"/>
          </p:cNvPicPr>
          <p:nvPr/>
        </p:nvPicPr>
        <p:blipFill>
          <a:blip r:embed="rId7"/>
          <a:srcRect l="0" r="0" t="0" b="0"/>
          <a:stretch/>
        </p:blipFill>
        <p:spPr>
          <a:xfrm>
            <a:off x="8610600" y="4870450"/>
            <a:ext cx="406400" cy="101600"/>
          </a:xfrm>
          <a:prstGeom prst="rect">
            <a:avLst/>
          </a:prstGeom>
        </p:spPr>
      </p:pic>
      <p:pic>
        <p:nvPicPr>
          <p:cNvPr id="47" name="Image 7" descr="connector">    </p:cNvPr>
          <p:cNvPicPr>
            <a:picLocks noChangeAspect="1"/>
          </p:cNvPicPr>
          <p:nvPr/>
        </p:nvPicPr>
        <p:blipFill>
          <a:blip r:embed="rId8"/>
          <a:srcRect l="0" r="0" t="0" b="0"/>
          <a:stretch/>
        </p:blipFill>
        <p:spPr>
          <a:xfrm>
            <a:off x="5892800" y="3473450"/>
            <a:ext cx="406400" cy="101600"/>
          </a:xfrm>
          <a:prstGeom prst="rect">
            <a:avLst/>
          </a:prstGeom>
        </p:spPr>
      </p:pic>
      <p:pic>
        <p:nvPicPr>
          <p:cNvPr id="48" name="Image 8" descr="connector">    </p:cNvPr>
          <p:cNvPicPr>
            <a:picLocks noChangeAspect="1"/>
          </p:cNvPicPr>
          <p:nvPr/>
        </p:nvPicPr>
        <p:blipFill>
          <a:blip r:embed="rId9"/>
          <a:srcRect l="0" r="0" t="0" b="0"/>
          <a:stretch/>
        </p:blipFill>
        <p:spPr>
          <a:xfrm>
            <a:off x="3175000" y="3473450"/>
            <a:ext cx="406400" cy="101600"/>
          </a:xfrm>
          <a:prstGeom prst="rect">
            <a:avLst/>
          </a:prstGeom>
        </p:spPr>
      </p:pic>
      <p:pic>
        <p:nvPicPr>
          <p:cNvPr id="49" name="Image 9" descr="connector">    </p:cNvPr>
          <p:cNvPicPr>
            <a:picLocks noChangeAspect="1"/>
          </p:cNvPicPr>
          <p:nvPr/>
        </p:nvPicPr>
        <p:blipFill>
          <a:blip r:embed="rId10"/>
          <a:srcRect l="0" r="0" t="0" b="0"/>
          <a:stretch/>
        </p:blipFill>
        <p:spPr>
          <a:xfrm>
            <a:off x="1968500" y="4013200"/>
            <a:ext cx="101600" cy="419100"/>
          </a:xfrm>
          <a:prstGeom prst="rect">
            <a:avLst/>
          </a:prstGeom>
        </p:spPr>
      </p:pic>
      <p:pic>
        <p:nvPicPr>
          <p:cNvPr id="50" name="Image 10" descr="connector">    </p:cNvPr>
          <p:cNvPicPr>
            <a:picLocks noChangeAspect="1"/>
          </p:cNvPicPr>
          <p:nvPr/>
        </p:nvPicPr>
        <p:blipFill>
          <a:blip r:embed="rId11"/>
          <a:srcRect l="0" r="0" t="0" b="0"/>
          <a:stretch/>
        </p:blipFill>
        <p:spPr>
          <a:xfrm>
            <a:off x="3175000" y="4870450"/>
            <a:ext cx="406400" cy="101600"/>
          </a:xfrm>
          <a:prstGeom prst="rect">
            <a:avLst/>
          </a:prstGeom>
        </p:spPr>
      </p:pic>
      <p:pic>
        <p:nvPicPr>
          <p:cNvPr id="51" name="Image 11" descr="connector">    </p:cNvPr>
          <p:cNvPicPr>
            <a:picLocks noChangeAspect="1"/>
          </p:cNvPicPr>
          <p:nvPr/>
        </p:nvPicPr>
        <p:blipFill>
          <a:blip r:embed="rId12"/>
          <a:srcRect l="0" r="0" t="0" b="0"/>
          <a:stretch/>
        </p:blipFill>
        <p:spPr>
          <a:xfrm>
            <a:off x="5892800" y="4870450"/>
            <a:ext cx="406400" cy="101600"/>
          </a:xfrm>
          <a:prstGeom prst="rect">
            <a:avLst/>
          </a:prstGeom>
        </p:spPr>
      </p:pic>
      <p:sp>
        <p:nvSpPr>
          <p:cNvPr id="52" name="Text 3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KR" pitchFamily="34" charset="0"/>
                <a:ea typeface="IBM Plex Sans KR" pitchFamily="34" charset="-122"/>
                <a:cs typeface="IBM Plex Sans KR" pitchFamily="34" charset="-120"/>
              </a:rPr>
              <a:t>Archestra 아키텍처 · 25 · 화살표 = FK 참조 방향, 점선 = N:M (virtual_api_key_provider_api_key)</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3EE"/>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B8521E"/>
                </a:solidFill>
                <a:latin typeface="JetBrains Mono" pitchFamily="49" charset="0"/>
                <a:ea typeface="JetBrains Mono" pitchFamily="49" charset="-122"/>
                <a:cs typeface="JetBrains Mono" pitchFamily="49" charset="-120"/>
              </a:rPr>
              <a:t>D3 · KNOWLEDGE TABLES</a:t>
            </a:r>
            <a:endParaRPr lang="en-US" sz="1200" dirty="0"/>
          </a:p>
        </p:txBody>
      </p:sp>
      <p:sp>
        <p:nvSpPr>
          <p:cNvPr id="3" name="Text 1"/>
          <p:cNvSpPr/>
          <p:nvPr>
            <p:ph type="title"/>
          </p:nvPr>
        </p:nvSpPr>
        <p:spPr>
          <a:xfrm>
            <a:off x="812800" y="10007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1A2A"/>
                </a:solidFill>
                <a:latin typeface="IBM Plex Sans KR" pitchFamily="34" charset="0"/>
                <a:ea typeface="IBM Plex Sans KR" pitchFamily="34" charset="-122"/>
                <a:cs typeface="IBM Plex Sans KR" pitchFamily="34" charset="-120"/>
              </a:rPr>
              <a:t>지식 테이블: 커넥터 → 문서 → 청크</a:t>
            </a:r>
            <a:endParaRPr lang="en-US" sz="3000" dirty="0"/>
          </a:p>
        </p:txBody>
      </p:sp>
      <p:sp>
        <p:nvSpPr>
          <p:cNvPr id="4" name="Shape 2"/>
          <p:cNvSpPr/>
          <p:nvPr/>
        </p:nvSpPr>
        <p:spPr>
          <a:xfrm>
            <a:off x="815975" y="1619845"/>
            <a:ext cx="5213350" cy="1395561"/>
          </a:xfrm>
          <a:prstGeom prst="roundRect">
            <a:avLst>
              <a:gd name="adj" fmla="val 5233"/>
            </a:avLst>
          </a:prstGeom>
          <a:solidFill>
            <a:srgbClr val="FBFAF7"/>
          </a:solidFill>
          <a:ln w="6350">
            <a:solidFill>
              <a:srgbClr val="DCD9CF"/>
            </a:solidFill>
            <a:prstDash val="solid"/>
          </a:ln>
        </p:spPr>
      </p:sp>
      <p:sp>
        <p:nvSpPr>
          <p:cNvPr id="5" name="Text 3"/>
          <p:cNvSpPr/>
          <p:nvPr/>
        </p:nvSpPr>
        <p:spPr>
          <a:xfrm>
            <a:off x="971550" y="1750020"/>
            <a:ext cx="5049266"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5BB7"/>
                </a:solidFill>
                <a:latin typeface="JetBrains Mono" pitchFamily="49" charset="0"/>
                <a:ea typeface="JetBrains Mono" pitchFamily="49" charset="-122"/>
                <a:cs typeface="JetBrains Mono" pitchFamily="49" charset="-120"/>
              </a:rPr>
              <a:t>knowledge_base_connectors</a:t>
            </a:r>
            <a:endParaRPr lang="en-US" sz="1300" dirty="0"/>
          </a:p>
        </p:txBody>
      </p:sp>
      <p:sp>
        <p:nvSpPr>
          <p:cNvPr id="6" name="Text 4"/>
          <p:cNvSpPr/>
          <p:nvPr/>
        </p:nvSpPr>
        <p:spPr>
          <a:xfrm>
            <a:off x="971550" y="2031950"/>
            <a:ext cx="5049266"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connector_type · config (jsonb) · secret_id</a:t>
            </a:r>
            <a:endParaRPr lang="en-US" sz="1200" dirty="0"/>
          </a:p>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schedule (기본 0 */6 * * *) · checkpoint</a:t>
            </a:r>
            <a:endParaRPr lang="en-US" sz="1200" dirty="0"/>
          </a:p>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sync_permissions_from_source · acl_config_epoch</a:t>
            </a:r>
            <a:endParaRPr lang="en-US" sz="1200" dirty="0"/>
          </a:p>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last_sync_status · environment_id</a:t>
            </a:r>
            <a:endParaRPr lang="en-US" sz="1200" dirty="0"/>
          </a:p>
        </p:txBody>
      </p:sp>
      <p:sp>
        <p:nvSpPr>
          <p:cNvPr id="7" name="Shape 5"/>
          <p:cNvSpPr/>
          <p:nvPr/>
        </p:nvSpPr>
        <p:spPr>
          <a:xfrm>
            <a:off x="6162675" y="1619845"/>
            <a:ext cx="5213350" cy="1395561"/>
          </a:xfrm>
          <a:prstGeom prst="roundRect">
            <a:avLst>
              <a:gd name="adj" fmla="val 5233"/>
            </a:avLst>
          </a:prstGeom>
          <a:solidFill>
            <a:srgbClr val="FBFAF7"/>
          </a:solidFill>
          <a:ln w="6350">
            <a:solidFill>
              <a:srgbClr val="DCD9CF"/>
            </a:solidFill>
            <a:prstDash val="solid"/>
          </a:ln>
        </p:spPr>
      </p:sp>
      <p:sp>
        <p:nvSpPr>
          <p:cNvPr id="8" name="Text 6"/>
          <p:cNvSpPr/>
          <p:nvPr/>
        </p:nvSpPr>
        <p:spPr>
          <a:xfrm>
            <a:off x="6318250" y="1750020"/>
            <a:ext cx="5049266"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5BB7"/>
                </a:solidFill>
                <a:latin typeface="JetBrains Mono" pitchFamily="49" charset="0"/>
                <a:ea typeface="JetBrains Mono" pitchFamily="49" charset="-122"/>
                <a:cs typeface="JetBrains Mono" pitchFamily="49" charset="-120"/>
              </a:rPr>
              <a:t>kb_documents</a:t>
            </a:r>
            <a:endParaRPr lang="en-US" sz="1300" dirty="0"/>
          </a:p>
        </p:txBody>
      </p:sp>
      <p:sp>
        <p:nvSpPr>
          <p:cNvPr id="9" name="Text 7"/>
          <p:cNvSpPr/>
          <p:nvPr/>
        </p:nvSpPr>
        <p:spPr>
          <a:xfrm>
            <a:off x="6318250" y="2031950"/>
            <a:ext cx="5049266"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connector_id · source_id · source_url</a:t>
            </a:r>
            <a:endParaRPr lang="en-US" sz="1200" dirty="0"/>
          </a:p>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content · content_hash (변경 감지)</a:t>
            </a:r>
            <a:endParaRPr lang="en-US" sz="1200" dirty="0"/>
          </a:p>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acl (jsonb) · container_key</a:t>
            </a:r>
            <a:endParaRPr lang="en-US" sz="1200" dirty="0"/>
          </a:p>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embedding_status · chunk_count</a:t>
            </a:r>
            <a:endParaRPr lang="en-US" sz="1200" dirty="0"/>
          </a:p>
        </p:txBody>
      </p:sp>
      <p:sp>
        <p:nvSpPr>
          <p:cNvPr id="10" name="Shape 8"/>
          <p:cNvSpPr/>
          <p:nvPr/>
        </p:nvSpPr>
        <p:spPr>
          <a:xfrm>
            <a:off x="812800" y="3145582"/>
            <a:ext cx="5219700" cy="1401911"/>
          </a:xfrm>
          <a:prstGeom prst="roundRect">
            <a:avLst>
              <a:gd name="adj" fmla="val 5435"/>
            </a:avLst>
          </a:prstGeom>
          <a:solidFill>
            <a:srgbClr val="131A2A"/>
          </a:solidFill>
          <a:ln/>
        </p:spPr>
      </p:sp>
      <p:sp>
        <p:nvSpPr>
          <p:cNvPr id="11" name="Text 9"/>
          <p:cNvSpPr/>
          <p:nvPr/>
        </p:nvSpPr>
        <p:spPr>
          <a:xfrm>
            <a:off x="965200" y="3272582"/>
            <a:ext cx="5062347"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08A4B"/>
                </a:solidFill>
                <a:latin typeface="JetBrains Mono" pitchFamily="49" charset="0"/>
                <a:ea typeface="JetBrains Mono" pitchFamily="49" charset="-122"/>
                <a:cs typeface="JetBrains Mono" pitchFamily="49" charset="-120"/>
              </a:rPr>
              <a:t>kb_chunks</a:t>
            </a:r>
            <a:endParaRPr lang="en-US" sz="1300" dirty="0"/>
          </a:p>
        </p:txBody>
      </p:sp>
      <p:sp>
        <p:nvSpPr>
          <p:cNvPr id="12" name="Text 10"/>
          <p:cNvSpPr/>
          <p:nvPr/>
        </p:nvSpPr>
        <p:spPr>
          <a:xfrm>
            <a:off x="965200" y="3554512"/>
            <a:ext cx="5062347"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3E6EC"/>
                </a:solidFill>
                <a:latin typeface="IBM Plex Sans KR" pitchFamily="34" charset="0"/>
                <a:ea typeface="IBM Plex Sans KR" pitchFamily="34" charset="-122"/>
                <a:cs typeface="IBM Plex Sans KR" pitchFamily="34" charset="-120"/>
              </a:rPr>
              <a:t>document_id · chunk_index · parent_index</a:t>
            </a:r>
            <a:endParaRPr lang="en-US" sz="1200" dirty="0"/>
          </a:p>
          <a:p>
            <a:pPr algn="l" indent="0" marL="0">
              <a:lnSpc>
                <a:spcPts val="1680"/>
              </a:lnSpc>
              <a:buNone/>
            </a:pPr>
            <a:r>
              <a:rPr lang="en-US" sz="1200" dirty="0">
                <a:solidFill>
                  <a:srgbClr val="E3E6EC"/>
                </a:solidFill>
                <a:latin typeface="IBM Plex Sans KR" pitchFamily="34" charset="0"/>
                <a:ea typeface="IBM Plex Sans KR" pitchFamily="34" charset="-122"/>
                <a:cs typeface="IBM Plex Sans KR" pitchFamily="34" charset="-120"/>
              </a:rPr>
              <a:t>embedding_384 / 768 / 1024 / 1408 / 1536 / 3072</a:t>
            </a:r>
            <a:endParaRPr lang="en-US" sz="1200" dirty="0"/>
          </a:p>
          <a:p>
            <a:pPr algn="l" indent="0" marL="0">
              <a:lnSpc>
                <a:spcPts val="1680"/>
              </a:lnSpc>
              <a:buNone/>
            </a:pPr>
            <a:r>
              <a:rPr lang="en-US" sz="1200" dirty="0">
                <a:solidFill>
                  <a:srgbClr val="E3E6EC"/>
                </a:solidFill>
                <a:latin typeface="IBM Plex Sans KR" pitchFamily="34" charset="0"/>
                <a:ea typeface="IBM Plex Sans KR" pitchFamily="34" charset="-122"/>
                <a:cs typeface="IBM Plex Sans KR" pitchFamily="34" charset="-120"/>
              </a:rPr>
              <a:t>search_vector (tsvector) · tok_len</a:t>
            </a:r>
            <a:endParaRPr lang="en-US" sz="1200" dirty="0"/>
          </a:p>
          <a:p>
            <a:pPr algn="l" indent="0" marL="0">
              <a:lnSpc>
                <a:spcPts val="1680"/>
              </a:lnSpc>
              <a:buNone/>
            </a:pPr>
            <a:r>
              <a:rPr lang="en-US" sz="1200" dirty="0">
                <a:solidFill>
                  <a:srgbClr val="E3E6EC"/>
                </a:solidFill>
                <a:latin typeface="IBM Plex Sans KR" pitchFamily="34" charset="0"/>
                <a:ea typeface="IBM Plex Sans KR" pitchFamily="34" charset="-122"/>
                <a:cs typeface="IBM Plex Sans KR" pitchFamily="34" charset="-120"/>
              </a:rPr>
              <a:t>acl · contextual_header</a:t>
            </a:r>
            <a:endParaRPr lang="en-US" sz="1200" dirty="0"/>
          </a:p>
        </p:txBody>
      </p:sp>
      <p:sp>
        <p:nvSpPr>
          <p:cNvPr id="13" name="Shape 11"/>
          <p:cNvSpPr/>
          <p:nvPr/>
        </p:nvSpPr>
        <p:spPr>
          <a:xfrm>
            <a:off x="6162675" y="3148757"/>
            <a:ext cx="5213350" cy="1395561"/>
          </a:xfrm>
          <a:prstGeom prst="roundRect">
            <a:avLst>
              <a:gd name="adj" fmla="val 5233"/>
            </a:avLst>
          </a:prstGeom>
          <a:solidFill>
            <a:srgbClr val="FBFAF7"/>
          </a:solidFill>
          <a:ln w="6350">
            <a:solidFill>
              <a:srgbClr val="DCD9CF"/>
            </a:solidFill>
            <a:prstDash val="solid"/>
          </a:ln>
        </p:spPr>
      </p:sp>
      <p:sp>
        <p:nvSpPr>
          <p:cNvPr id="14" name="Text 12"/>
          <p:cNvSpPr/>
          <p:nvPr/>
        </p:nvSpPr>
        <p:spPr>
          <a:xfrm>
            <a:off x="6318250" y="3278932"/>
            <a:ext cx="5049266"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5BB7"/>
                </a:solidFill>
                <a:latin typeface="JetBrains Mono" pitchFamily="49" charset="0"/>
                <a:ea typeface="JetBrains Mono" pitchFamily="49" charset="-122"/>
                <a:cs typeface="JetBrains Mono" pitchFamily="49" charset="-120"/>
              </a:rPr>
              <a:t>connector_runs</a:t>
            </a:r>
            <a:endParaRPr lang="en-US" sz="1300" dirty="0"/>
          </a:p>
        </p:txBody>
      </p:sp>
      <p:sp>
        <p:nvSpPr>
          <p:cNvPr id="15" name="Text 13"/>
          <p:cNvSpPr/>
          <p:nvPr/>
        </p:nvSpPr>
        <p:spPr>
          <a:xfrm>
            <a:off x="6318250" y="3560862"/>
            <a:ext cx="5049266"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status · run_type · checkpoint</a:t>
            </a:r>
            <a:endParaRPr lang="en-US" sz="1200" dirty="0"/>
          </a:p>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lease_owner · lease_expires_at · lease_epoch</a:t>
            </a:r>
            <a:endParaRPr lang="en-US" sz="1200" dirty="0"/>
          </a:p>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documents_processed · item_errors</a:t>
            </a:r>
            <a:endParaRPr lang="en-US" sz="1200" dirty="0"/>
          </a:p>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stats · logs</a:t>
            </a:r>
            <a:endParaRPr lang="en-US" sz="1200" dirty="0"/>
          </a:p>
        </p:txBody>
      </p:sp>
      <p:sp>
        <p:nvSpPr>
          <p:cNvPr id="16" name="Shape 14"/>
          <p:cNvSpPr/>
          <p:nvPr/>
        </p:nvSpPr>
        <p:spPr>
          <a:xfrm>
            <a:off x="812800" y="4734818"/>
            <a:ext cx="5207000" cy="0"/>
          </a:xfrm>
          <a:prstGeom prst="line">
            <a:avLst/>
          </a:prstGeom>
          <a:noFill/>
          <a:ln w="19050">
            <a:solidFill>
              <a:srgbClr val="131A2A"/>
            </a:solidFill>
            <a:prstDash val="solid"/>
          </a:ln>
        </p:spPr>
      </p:sp>
      <p:sp>
        <p:nvSpPr>
          <p:cNvPr id="17" name="Text 15"/>
          <p:cNvSpPr/>
          <p:nvPr/>
        </p:nvSpPr>
        <p:spPr>
          <a:xfrm>
            <a:off x="812800" y="4845943"/>
            <a:ext cx="5363210" cy="482600"/>
          </a:xfrm>
          <a:prstGeom prst="rect">
            <a:avLst/>
          </a:prstGeom>
          <a:noFill/>
          <a:ln/>
        </p:spPr>
        <p:txBody>
          <a:bodyPr wrap="square" lIns="0" tIns="0" rIns="0" bIns="0" rtlCol="0" anchor="t">
            <a:normAutofit/>
          </a:bodyPr>
          <a:lstStyle/>
          <a:p>
            <a:pPr algn="l" indent="0" marL="0">
              <a:lnSpc>
                <a:spcPts val="1800"/>
              </a:lnSpc>
              <a:buNone/>
            </a:pPr>
            <a:r>
              <a:rPr lang="en-US" sz="1200" b="1" dirty="0">
                <a:solidFill>
                  <a:srgbClr val="131A2A"/>
                </a:solidFill>
                <a:latin typeface="IBM Plex Sans KR" pitchFamily="34" charset="0"/>
                <a:ea typeface="IBM Plex Sans KR" pitchFamily="34" charset="-122"/>
                <a:cs typeface="IBM Plex Sans KR" pitchFamily="34" charset="-120"/>
              </a:rPr>
              <a:t>차원별 vector 컬럼 + HNSW(cosine)</a:t>
            </a:r>
            <a:r>
              <a:rPr lang="en-US" sz="1200" dirty="0">
                <a:solidFill>
                  <a:srgbClr val="4A5263"/>
                </a:solidFill>
                <a:latin typeface="IBM Plex Sans KR" pitchFamily="34" charset="0"/>
                <a:ea typeface="IBM Plex Sans KR" pitchFamily="34" charset="-122"/>
                <a:cs typeface="IBM Plex Sans KR" pitchFamily="34" charset="-120"/>
              </a:rPr>
              <a:t> — 임베딩 모델을 바꿔도 스키마 변경 없이 맞는 차원 컬럼을 사용. 조직 설정 embedding_model · embedding_dimensions</a:t>
            </a:r>
            <a:endParaRPr lang="en-US" sz="1200" dirty="0"/>
          </a:p>
        </p:txBody>
      </p:sp>
      <p:sp>
        <p:nvSpPr>
          <p:cNvPr id="18" name="Shape 16"/>
          <p:cNvSpPr/>
          <p:nvPr/>
        </p:nvSpPr>
        <p:spPr>
          <a:xfrm>
            <a:off x="6172200" y="4734818"/>
            <a:ext cx="5207000" cy="0"/>
          </a:xfrm>
          <a:prstGeom prst="line">
            <a:avLst/>
          </a:prstGeom>
          <a:noFill/>
          <a:ln w="19050">
            <a:solidFill>
              <a:srgbClr val="131A2A"/>
            </a:solidFill>
            <a:prstDash val="solid"/>
          </a:ln>
        </p:spPr>
      </p:sp>
      <p:sp>
        <p:nvSpPr>
          <p:cNvPr id="19" name="Text 17"/>
          <p:cNvSpPr/>
          <p:nvPr/>
        </p:nvSpPr>
        <p:spPr>
          <a:xfrm>
            <a:off x="6172200" y="4845943"/>
            <a:ext cx="5363210" cy="482600"/>
          </a:xfrm>
          <a:prstGeom prst="rect">
            <a:avLst/>
          </a:prstGeom>
          <a:noFill/>
          <a:ln/>
        </p:spPr>
        <p:txBody>
          <a:bodyPr wrap="square" lIns="0" tIns="0" rIns="0" bIns="0" rtlCol="0" anchor="t">
            <a:normAutofit/>
          </a:bodyPr>
          <a:lstStyle/>
          <a:p>
            <a:pPr algn="l" indent="0" marL="0">
              <a:lnSpc>
                <a:spcPts val="1800"/>
              </a:lnSpc>
              <a:buNone/>
            </a:pPr>
            <a:r>
              <a:rPr lang="en-US" sz="1200" b="1" dirty="0">
                <a:solidFill>
                  <a:srgbClr val="131A2A"/>
                </a:solidFill>
                <a:latin typeface="IBM Plex Sans KR" pitchFamily="34" charset="0"/>
                <a:ea typeface="IBM Plex Sans KR" pitchFamily="34" charset="-122"/>
                <a:cs typeface="IBM Plex Sans KR" pitchFamily="34" charset="-120"/>
              </a:rPr>
              <a:t>ACL을 청크까지 비정규화</a:t>
            </a:r>
            <a:r>
              <a:rPr lang="en-US" sz="1200" dirty="0">
                <a:solidFill>
                  <a:srgbClr val="4A5263"/>
                </a:solidFill>
                <a:latin typeface="IBM Plex Sans KR" pitchFamily="34" charset="0"/>
                <a:ea typeface="IBM Plex Sans KR" pitchFamily="34" charset="-122"/>
                <a:cs typeface="IBM Plex Sans KR" pitchFamily="34" charset="-120"/>
              </a:rPr>
              <a:t> — 검색 쿼리 한 번에 권한 필터. 원본 그룹은 kb_external_groups · kb_external_user_groups로 동기화</a:t>
            </a:r>
            <a:endParaRPr lang="en-US" sz="1200" dirty="0"/>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KR" pitchFamily="34" charset="0"/>
                <a:ea typeface="IBM Plex Sans KR" pitchFamily="34" charset="-122"/>
                <a:cs typeface="IBM Plex Sans KR" pitchFamily="34" charset="-120"/>
              </a:rPr>
              <a:t>Archestra 아키텍처 · 26 · 출처: database/schemas/kb-*.ts, knowledge-base-connector.ts, migrations (HNSW 인덱스)</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3EE"/>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B8521E"/>
                </a:solidFill>
                <a:latin typeface="JetBrains Mono" pitchFamily="49" charset="0"/>
                <a:ea typeface="JetBrains Mono" pitchFamily="49" charset="-122"/>
                <a:cs typeface="JetBrains Mono" pitchFamily="49" charset="-120"/>
              </a:rPr>
              <a:t>D4 · EXECUTION &amp; POLICY TABLES</a:t>
            </a:r>
            <a:endParaRPr lang="en-US" sz="1200" dirty="0"/>
          </a:p>
        </p:txBody>
      </p:sp>
      <p:sp>
        <p:nvSpPr>
          <p:cNvPr id="3" name="Text 1"/>
          <p:cNvSpPr/>
          <p:nvPr>
            <p:ph type="title"/>
          </p:nvPr>
        </p:nvSpPr>
        <p:spPr>
          <a:xfrm>
            <a:off x="812800" y="10007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1A2A"/>
                </a:solidFill>
                <a:latin typeface="IBM Plex Sans KR" pitchFamily="34" charset="0"/>
                <a:ea typeface="IBM Plex Sans KR" pitchFamily="34" charset="-122"/>
                <a:cs typeface="IBM Plex Sans KR" pitchFamily="34" charset="-120"/>
              </a:rPr>
              <a:t>실행·정책 테이블: 큐, 실행 이력, 정책 원장</a:t>
            </a:r>
            <a:endParaRPr lang="en-US" sz="3000" dirty="0"/>
          </a:p>
        </p:txBody>
      </p:sp>
      <p:sp>
        <p:nvSpPr>
          <p:cNvPr id="4" name="Shape 2"/>
          <p:cNvSpPr/>
          <p:nvPr/>
        </p:nvSpPr>
        <p:spPr>
          <a:xfrm>
            <a:off x="812800" y="1616670"/>
            <a:ext cx="3454400" cy="1401911"/>
          </a:xfrm>
          <a:prstGeom prst="roundRect">
            <a:avLst>
              <a:gd name="adj" fmla="val 5435"/>
            </a:avLst>
          </a:prstGeom>
          <a:solidFill>
            <a:srgbClr val="131A2A"/>
          </a:solidFill>
          <a:ln/>
        </p:spPr>
      </p:sp>
      <p:sp>
        <p:nvSpPr>
          <p:cNvPr id="5" name="Text 3"/>
          <p:cNvSpPr/>
          <p:nvPr/>
        </p:nvSpPr>
        <p:spPr>
          <a:xfrm>
            <a:off x="952500" y="1743670"/>
            <a:ext cx="327025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08A4B"/>
                </a:solidFill>
                <a:latin typeface="JetBrains Mono" pitchFamily="49" charset="0"/>
                <a:ea typeface="JetBrains Mono" pitchFamily="49" charset="-122"/>
                <a:cs typeface="JetBrains Mono" pitchFamily="49" charset="-120"/>
              </a:rPr>
              <a:t>tasks</a:t>
            </a:r>
            <a:endParaRPr lang="en-US" sz="1300" dirty="0"/>
          </a:p>
        </p:txBody>
      </p:sp>
      <p:sp>
        <p:nvSpPr>
          <p:cNvPr id="6" name="Text 4"/>
          <p:cNvSpPr/>
          <p:nvPr/>
        </p:nvSpPr>
        <p:spPr>
          <a:xfrm>
            <a:off x="952500" y="2025600"/>
            <a:ext cx="327025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3E6EC"/>
                </a:solidFill>
                <a:latin typeface="IBM Plex Sans KR" pitchFamily="34" charset="0"/>
                <a:ea typeface="IBM Plex Sans KR" pitchFamily="34" charset="-122"/>
                <a:cs typeface="IBM Plex Sans KR" pitchFamily="34" charset="-120"/>
              </a:rPr>
              <a:t>task_type · payload (jsonb)</a:t>
            </a:r>
            <a:endParaRPr lang="en-US" sz="1200" dirty="0"/>
          </a:p>
          <a:p>
            <a:pPr algn="l" indent="0" marL="0">
              <a:lnSpc>
                <a:spcPts val="1680"/>
              </a:lnSpc>
              <a:buNone/>
            </a:pPr>
            <a:r>
              <a:rPr lang="en-US" sz="1200" dirty="0">
                <a:solidFill>
                  <a:srgbClr val="E3E6EC"/>
                </a:solidFill>
                <a:latin typeface="IBM Plex Sans KR" pitchFamily="34" charset="0"/>
                <a:ea typeface="IBM Plex Sans KR" pitchFamily="34" charset="-122"/>
                <a:cs typeface="IBM Plex Sans KR" pitchFamily="34" charset="-120"/>
              </a:rPr>
              <a:t>status · attempt · max_attempts</a:t>
            </a:r>
            <a:endParaRPr lang="en-US" sz="1200" dirty="0"/>
          </a:p>
          <a:p>
            <a:pPr algn="l" indent="0" marL="0">
              <a:lnSpc>
                <a:spcPts val="1680"/>
              </a:lnSpc>
              <a:buNone/>
            </a:pPr>
            <a:r>
              <a:rPr lang="en-US" sz="1200" dirty="0">
                <a:solidFill>
                  <a:srgbClr val="E3E6EC"/>
                </a:solidFill>
                <a:latin typeface="IBM Plex Sans KR" pitchFamily="34" charset="0"/>
                <a:ea typeface="IBM Plex Sans KR" pitchFamily="34" charset="-122"/>
                <a:cs typeface="IBM Plex Sans KR" pitchFamily="34" charset="-120"/>
              </a:rPr>
              <a:t>scheduled_for · heartbeat_at</a:t>
            </a:r>
            <a:endParaRPr lang="en-US" sz="1200" dirty="0"/>
          </a:p>
          <a:p>
            <a:pPr algn="l" indent="0" marL="0">
              <a:lnSpc>
                <a:spcPts val="1680"/>
              </a:lnSpc>
              <a:buNone/>
            </a:pPr>
            <a:r>
              <a:rPr lang="en-US" sz="1200" dirty="0">
                <a:solidFill>
                  <a:srgbClr val="E3E6EC"/>
                </a:solidFill>
                <a:latin typeface="IBM Plex Sans KR" pitchFamily="34" charset="0"/>
                <a:ea typeface="IBM Plex Sans KR" pitchFamily="34" charset="-122"/>
                <a:cs typeface="IBM Plex Sans KR" pitchFamily="34" charset="-120"/>
              </a:rPr>
              <a:t>periodic · 레인 3개</a:t>
            </a:r>
            <a:endParaRPr lang="en-US" sz="1200" dirty="0"/>
          </a:p>
        </p:txBody>
      </p:sp>
      <p:sp>
        <p:nvSpPr>
          <p:cNvPr id="7" name="Shape 5"/>
          <p:cNvSpPr/>
          <p:nvPr/>
        </p:nvSpPr>
        <p:spPr>
          <a:xfrm>
            <a:off x="4371975" y="1619845"/>
            <a:ext cx="3448050" cy="1395561"/>
          </a:xfrm>
          <a:prstGeom prst="roundRect">
            <a:avLst>
              <a:gd name="adj" fmla="val 5233"/>
            </a:avLst>
          </a:prstGeom>
          <a:solidFill>
            <a:srgbClr val="FBFAF7"/>
          </a:solidFill>
          <a:ln w="6350">
            <a:solidFill>
              <a:srgbClr val="DCD9CF"/>
            </a:solidFill>
            <a:prstDash val="solid"/>
          </a:ln>
        </p:spPr>
      </p:sp>
      <p:sp>
        <p:nvSpPr>
          <p:cNvPr id="8" name="Text 6"/>
          <p:cNvSpPr/>
          <p:nvPr/>
        </p:nvSpPr>
        <p:spPr>
          <a:xfrm>
            <a:off x="4514850" y="1750020"/>
            <a:ext cx="3257169"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5BB7"/>
                </a:solidFill>
                <a:latin typeface="JetBrains Mono" pitchFamily="49" charset="0"/>
                <a:ea typeface="JetBrains Mono" pitchFamily="49" charset="-122"/>
                <a:cs typeface="JetBrains Mono" pitchFamily="49" charset="-120"/>
              </a:rPr>
              <a:t>agent_runs</a:t>
            </a:r>
            <a:endParaRPr lang="en-US" sz="1300" dirty="0"/>
          </a:p>
        </p:txBody>
      </p:sp>
      <p:sp>
        <p:nvSpPr>
          <p:cNvPr id="9" name="Text 7"/>
          <p:cNvSpPr/>
          <p:nvPr/>
        </p:nvSpPr>
        <p:spPr>
          <a:xfrm>
            <a:off x="4514850" y="2031950"/>
            <a:ext cx="3257169"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agent_id · task_id</a:t>
            </a:r>
            <a:endParaRPr lang="en-US" sz="1200" dirty="0"/>
          </a:p>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actor_kind · actor_id</a:t>
            </a:r>
            <a:endParaRPr lang="en-US" sz="1200" dirty="0"/>
          </a:p>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backend · workload_name</a:t>
            </a:r>
            <a:endParaRPr lang="en-US" sz="1200" dirty="0"/>
          </a:p>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virtual_api_key_id · gateway_token_id</a:t>
            </a:r>
            <a:endParaRPr lang="en-US" sz="1200" dirty="0"/>
          </a:p>
        </p:txBody>
      </p:sp>
      <p:sp>
        <p:nvSpPr>
          <p:cNvPr id="10" name="Shape 8"/>
          <p:cNvSpPr/>
          <p:nvPr/>
        </p:nvSpPr>
        <p:spPr>
          <a:xfrm>
            <a:off x="7927975" y="1619845"/>
            <a:ext cx="3448050" cy="1395561"/>
          </a:xfrm>
          <a:prstGeom prst="roundRect">
            <a:avLst>
              <a:gd name="adj" fmla="val 5233"/>
            </a:avLst>
          </a:prstGeom>
          <a:solidFill>
            <a:srgbClr val="FBFAF7"/>
          </a:solidFill>
          <a:ln w="6350">
            <a:solidFill>
              <a:srgbClr val="DCD9CF"/>
            </a:solidFill>
            <a:prstDash val="solid"/>
          </a:ln>
        </p:spPr>
      </p:sp>
      <p:sp>
        <p:nvSpPr>
          <p:cNvPr id="11" name="Text 9"/>
          <p:cNvSpPr/>
          <p:nvPr/>
        </p:nvSpPr>
        <p:spPr>
          <a:xfrm>
            <a:off x="8070850" y="1750020"/>
            <a:ext cx="3257169"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5BB7"/>
                </a:solidFill>
                <a:latin typeface="JetBrains Mono" pitchFamily="49" charset="0"/>
                <a:ea typeface="JetBrains Mono" pitchFamily="49" charset="-122"/>
                <a:cs typeface="JetBrains Mono" pitchFamily="49" charset="-120"/>
              </a:rPr>
              <a:t>schedule_triggers</a:t>
            </a:r>
            <a:endParaRPr lang="en-US" sz="1300" dirty="0"/>
          </a:p>
        </p:txBody>
      </p:sp>
      <p:sp>
        <p:nvSpPr>
          <p:cNvPr id="12" name="Text 10"/>
          <p:cNvSpPr/>
          <p:nvPr/>
        </p:nvSpPr>
        <p:spPr>
          <a:xfrm>
            <a:off x="8070850" y="2031950"/>
            <a:ext cx="3257169"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agent_id · cron_expression</a:t>
            </a:r>
            <a:endParaRPr lang="en-US" sz="1200" dirty="0"/>
          </a:p>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timezone · message_template</a:t>
            </a:r>
            <a:endParaRPr lang="en-US" sz="1200" dirty="0"/>
          </a:p>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actor_user_id · enabled</a:t>
            </a:r>
            <a:endParaRPr lang="en-US" sz="1200" dirty="0"/>
          </a:p>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 schedule_trigger_runs</a:t>
            </a:r>
            <a:endParaRPr lang="en-US" sz="1200" dirty="0"/>
          </a:p>
        </p:txBody>
      </p:sp>
      <p:sp>
        <p:nvSpPr>
          <p:cNvPr id="13" name="Shape 11"/>
          <p:cNvSpPr/>
          <p:nvPr/>
        </p:nvSpPr>
        <p:spPr>
          <a:xfrm>
            <a:off x="815975" y="3123357"/>
            <a:ext cx="3448050" cy="1395561"/>
          </a:xfrm>
          <a:prstGeom prst="roundRect">
            <a:avLst>
              <a:gd name="adj" fmla="val 5233"/>
            </a:avLst>
          </a:prstGeom>
          <a:solidFill>
            <a:srgbClr val="FBFAF7"/>
          </a:solidFill>
          <a:ln w="6350">
            <a:solidFill>
              <a:srgbClr val="DCD9CF"/>
            </a:solidFill>
            <a:prstDash val="solid"/>
          </a:ln>
        </p:spPr>
      </p:sp>
      <p:sp>
        <p:nvSpPr>
          <p:cNvPr id="14" name="Text 12"/>
          <p:cNvSpPr/>
          <p:nvPr/>
        </p:nvSpPr>
        <p:spPr>
          <a:xfrm>
            <a:off x="958850" y="3253532"/>
            <a:ext cx="3257169"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5BB7"/>
                </a:solidFill>
                <a:latin typeface="JetBrains Mono" pitchFamily="49" charset="0"/>
                <a:ea typeface="JetBrains Mono" pitchFamily="49" charset="-122"/>
                <a:cs typeface="JetBrains Mono" pitchFamily="49" charset="-120"/>
              </a:rPr>
              <a:t>a2a_task</a:t>
            </a:r>
            <a:endParaRPr lang="en-US" sz="1300" dirty="0"/>
          </a:p>
        </p:txBody>
      </p:sp>
      <p:sp>
        <p:nvSpPr>
          <p:cNvPr id="15" name="Text 13"/>
          <p:cNvSpPr/>
          <p:nvPr/>
        </p:nvSpPr>
        <p:spPr>
          <a:xfrm>
            <a:off x="958850" y="3535462"/>
            <a:ext cx="3257169"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context_id · agent_id</a:t>
            </a:r>
            <a:endParaRPr lang="en-US" sz="1200" dirty="0"/>
          </a:p>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state (A2A 표준 상태)</a:t>
            </a:r>
            <a:endParaRPr lang="en-US" sz="1200" dirty="0"/>
          </a:p>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last_heartbeat_at</a:t>
            </a:r>
            <a:endParaRPr lang="en-US" sz="1200" dirty="0"/>
          </a:p>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next_event_seq → a2a_task_event</a:t>
            </a:r>
            <a:endParaRPr lang="en-US" sz="1200" dirty="0"/>
          </a:p>
        </p:txBody>
      </p:sp>
      <p:sp>
        <p:nvSpPr>
          <p:cNvPr id="16" name="Shape 14"/>
          <p:cNvSpPr/>
          <p:nvPr/>
        </p:nvSpPr>
        <p:spPr>
          <a:xfrm>
            <a:off x="4371975" y="3123357"/>
            <a:ext cx="3448050" cy="1395561"/>
          </a:xfrm>
          <a:prstGeom prst="roundRect">
            <a:avLst>
              <a:gd name="adj" fmla="val 5233"/>
            </a:avLst>
          </a:prstGeom>
          <a:solidFill>
            <a:srgbClr val="FBFAF7"/>
          </a:solidFill>
          <a:ln w="6350">
            <a:solidFill>
              <a:srgbClr val="DCD9CF"/>
            </a:solidFill>
            <a:prstDash val="solid"/>
          </a:ln>
        </p:spPr>
      </p:sp>
      <p:sp>
        <p:nvSpPr>
          <p:cNvPr id="17" name="Text 15"/>
          <p:cNvSpPr/>
          <p:nvPr/>
        </p:nvSpPr>
        <p:spPr>
          <a:xfrm>
            <a:off x="4514850" y="3253532"/>
            <a:ext cx="3257169"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5BB7"/>
                </a:solidFill>
                <a:latin typeface="JetBrains Mono" pitchFamily="49" charset="0"/>
                <a:ea typeface="JetBrains Mono" pitchFamily="49" charset="-122"/>
                <a:cs typeface="JetBrains Mono" pitchFamily="49" charset="-120"/>
              </a:rPr>
              <a:t>guardrails_policy_revisions</a:t>
            </a:r>
            <a:endParaRPr lang="en-US" sz="1300" dirty="0"/>
          </a:p>
        </p:txBody>
      </p:sp>
      <p:sp>
        <p:nvSpPr>
          <p:cNvPr id="18" name="Text 16"/>
          <p:cNvSpPr/>
          <p:nvPr/>
        </p:nvSpPr>
        <p:spPr>
          <a:xfrm>
            <a:off x="4514850" y="3535462"/>
            <a:ext cx="3257169"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organization_id · revision</a:t>
            </a:r>
            <a:endParaRPr lang="en-US" sz="1200" dirty="0"/>
          </a:p>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content (TOML 정책)</a:t>
            </a:r>
            <a:endParaRPr lang="en-US" sz="1200" dirty="0"/>
          </a:p>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content_hash · updated_by</a:t>
            </a:r>
            <a:endParaRPr lang="en-US" sz="1200" dirty="0"/>
          </a:p>
        </p:txBody>
      </p:sp>
      <p:sp>
        <p:nvSpPr>
          <p:cNvPr id="19" name="Shape 17"/>
          <p:cNvSpPr/>
          <p:nvPr/>
        </p:nvSpPr>
        <p:spPr>
          <a:xfrm>
            <a:off x="7927975" y="3123357"/>
            <a:ext cx="3448050" cy="1395561"/>
          </a:xfrm>
          <a:prstGeom prst="roundRect">
            <a:avLst>
              <a:gd name="adj" fmla="val 5233"/>
            </a:avLst>
          </a:prstGeom>
          <a:solidFill>
            <a:srgbClr val="FBE3D3"/>
          </a:solidFill>
          <a:ln w="6350">
            <a:solidFill>
              <a:srgbClr val="D9652B"/>
            </a:solidFill>
            <a:prstDash val="solid"/>
          </a:ln>
        </p:spPr>
      </p:sp>
      <p:sp>
        <p:nvSpPr>
          <p:cNvPr id="20" name="Text 18"/>
          <p:cNvSpPr/>
          <p:nvPr/>
        </p:nvSpPr>
        <p:spPr>
          <a:xfrm>
            <a:off x="8070850" y="3253532"/>
            <a:ext cx="3257169"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521E"/>
                </a:solidFill>
                <a:latin typeface="JetBrains Mono" pitchFamily="49" charset="0"/>
                <a:ea typeface="JetBrains Mono" pitchFamily="49" charset="-122"/>
                <a:cs typeface="JetBrains Mono" pitchFamily="49" charset="-120"/>
              </a:rPr>
              <a:t>openappa_* (26개)</a:t>
            </a:r>
            <a:endParaRPr lang="en-US" sz="1300" dirty="0"/>
          </a:p>
        </p:txBody>
      </p:sp>
      <p:sp>
        <p:nvSpPr>
          <p:cNvPr id="21" name="Text 19"/>
          <p:cNvSpPr/>
          <p:nvPr/>
        </p:nvSpPr>
        <p:spPr>
          <a:xfrm>
            <a:off x="8070850" y="3535462"/>
            <a:ext cx="3257169"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events: root · seq · payload (bytea)</a:t>
            </a:r>
            <a:endParaRPr lang="en-US" sz="1200" dirty="0"/>
          </a:p>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sessions · label_changes</a:t>
            </a:r>
            <a:endParaRPr lang="en-US" sz="1200" dirty="0"/>
          </a:p>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policy_files · yells</a:t>
            </a:r>
            <a:endParaRPr lang="en-US" sz="1200" dirty="0"/>
          </a:p>
        </p:txBody>
      </p:sp>
      <p:sp>
        <p:nvSpPr>
          <p:cNvPr id="22" name="Text 20"/>
          <p:cNvSpPr/>
          <p:nvPr/>
        </p:nvSpPr>
        <p:spPr>
          <a:xfrm>
            <a:off x="812800" y="4699893"/>
            <a:ext cx="10883392"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263"/>
                </a:solidFill>
                <a:latin typeface="IBM Plex Sans KR" pitchFamily="34" charset="0"/>
                <a:ea typeface="IBM Plex Sans KR" pitchFamily="34" charset="-122"/>
                <a:cs typeface="IBM Plex Sans KR" pitchFamily="34" charset="-120"/>
              </a:rPr>
              <a:t>핵심: 별도 메시지 브로커 없이 </a:t>
            </a:r>
            <a:r>
              <a:rPr lang="en-US" sz="1300" b="1" dirty="0">
                <a:solidFill>
                  <a:srgbClr val="131A2A"/>
                </a:solidFill>
                <a:latin typeface="IBM Plex Sans KR" pitchFamily="34" charset="0"/>
                <a:ea typeface="IBM Plex Sans KR" pitchFamily="34" charset="-122"/>
                <a:cs typeface="IBM Plex Sans KR" pitchFamily="34" charset="-120"/>
              </a:rPr>
              <a:t>tasks 테이블 + FOR UPDATE SKIP LOCKED</a:t>
            </a:r>
            <a:r>
              <a:rPr lang="en-US" sz="1300" dirty="0">
                <a:solidFill>
                  <a:srgbClr val="4A5263"/>
                </a:solidFill>
                <a:latin typeface="IBM Plex Sans KR" pitchFamily="34" charset="0"/>
                <a:ea typeface="IBM Plex Sans KR" pitchFamily="34" charset="-122"/>
                <a:cs typeface="IBM Plex Sans KR" pitchFamily="34" charset="-120"/>
              </a:rPr>
              <a:t>로 큐를 구현하고, 정책 판정 이력은 Rust 런타임이 </a:t>
            </a:r>
            <a:r>
              <a:rPr lang="en-US" sz="1300" b="1" dirty="0">
                <a:solidFill>
                  <a:srgbClr val="131A2A"/>
                </a:solidFill>
                <a:latin typeface="IBM Plex Sans KR" pitchFamily="34" charset="0"/>
                <a:ea typeface="IBM Plex Sans KR" pitchFamily="34" charset="-122"/>
                <a:cs typeface="IBM Plex Sans KR" pitchFamily="34" charset="-120"/>
              </a:rPr>
              <a:t>append-only 이벤트 원장</a:t>
            </a:r>
            <a:r>
              <a:rPr lang="en-US" sz="1300" dirty="0">
                <a:solidFill>
                  <a:srgbClr val="4A5263"/>
                </a:solidFill>
                <a:latin typeface="IBM Plex Sans KR" pitchFamily="34" charset="0"/>
                <a:ea typeface="IBM Plex Sans KR" pitchFamily="34" charset="-122"/>
                <a:cs typeface="IBM Plex Sans KR" pitchFamily="34" charset="-120"/>
              </a:rPr>
              <a:t>으로 남긴다.</a:t>
            </a:r>
            <a:endParaRPr lang="en-US" sz="1300" dirty="0"/>
          </a:p>
        </p:txBody>
      </p:sp>
      <p:sp>
        <p:nvSpPr>
          <p:cNvPr id="23" name="Text 2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KR" pitchFamily="34" charset="0"/>
                <a:ea typeface="IBM Plex Sans KR" pitchFamily="34" charset="-122"/>
                <a:cs typeface="IBM Plex Sans KR" pitchFamily="34" charset="-120"/>
              </a:rPr>
              <a:t>Archestra 아키텍처 · 27 · 출처: database/schemas/task.ts, agent-run.ts, schedule-trigger.ts, a2a-task.ts, openappa.ts</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31A2A"/>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F08A4B"/>
                </a:solidFill>
                <a:latin typeface="JetBrains Mono" pitchFamily="49" charset="0"/>
                <a:ea typeface="JetBrains Mono" pitchFamily="49" charset="-122"/>
                <a:cs typeface="JetBrains Mono" pitchFamily="49" charset="-120"/>
              </a:rPr>
              <a:t>D5 · DESIGN PATTERNS</a:t>
            </a:r>
            <a:endParaRPr lang="en-US" sz="1200" dirty="0"/>
          </a:p>
        </p:txBody>
      </p:sp>
      <p:sp>
        <p:nvSpPr>
          <p:cNvPr id="3" name="Text 1"/>
          <p:cNvSpPr/>
          <p:nvPr>
            <p:ph type="title"/>
          </p:nvPr>
        </p:nvSpPr>
        <p:spPr>
          <a:xfrm>
            <a:off x="812800" y="10007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F4F3EE"/>
                </a:solidFill>
                <a:latin typeface="IBM Plex Sans KR" pitchFamily="34" charset="0"/>
                <a:ea typeface="IBM Plex Sans KR" pitchFamily="34" charset="-122"/>
                <a:cs typeface="IBM Plex Sans KR" pitchFamily="34" charset="-120"/>
              </a:rPr>
              <a:t>데이터 설계에서 가져올 6가지 패턴</a:t>
            </a:r>
            <a:endParaRPr lang="en-US" sz="3000" dirty="0"/>
          </a:p>
        </p:txBody>
      </p:sp>
      <p:sp>
        <p:nvSpPr>
          <p:cNvPr id="4" name="Shape 2"/>
          <p:cNvSpPr/>
          <p:nvPr/>
        </p:nvSpPr>
        <p:spPr>
          <a:xfrm>
            <a:off x="812800" y="1667470"/>
            <a:ext cx="3437434" cy="1244501"/>
          </a:xfrm>
          <a:prstGeom prst="roundRect">
            <a:avLst>
              <a:gd name="adj" fmla="val 7143"/>
            </a:avLst>
          </a:prstGeom>
          <a:solidFill>
            <a:srgbClr val="1E2638"/>
          </a:solidFill>
          <a:ln/>
        </p:spPr>
      </p:sp>
      <p:sp>
        <p:nvSpPr>
          <p:cNvPr id="5" name="Text 3"/>
          <p:cNvSpPr/>
          <p:nvPr/>
        </p:nvSpPr>
        <p:spPr>
          <a:xfrm>
            <a:off x="965200" y="1819870"/>
            <a:ext cx="322661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08A4B"/>
                </a:solidFill>
                <a:latin typeface="IBM Plex Sans KR" pitchFamily="34" charset="0"/>
                <a:ea typeface="IBM Plex Sans KR" pitchFamily="34" charset="-122"/>
                <a:cs typeface="IBM Plex Sans KR" pitchFamily="34" charset="-120"/>
              </a:rPr>
              <a:t>1</a:t>
            </a:r>
            <a:r>
              <a:rPr lang="en-US" sz="1400" b="1" dirty="0">
                <a:solidFill>
                  <a:srgbClr val="F4F3EE"/>
                </a:solidFill>
                <a:latin typeface="IBM Plex Sans KR" pitchFamily="34" charset="0"/>
                <a:ea typeface="IBM Plex Sans KR" pitchFamily="34" charset="-122"/>
                <a:cs typeface="IBM Plex Sans KR" pitchFamily="34" charset="-120"/>
              </a:rPr>
              <a:t> 단일 agents 테이블</a:t>
            </a:r>
            <a:endParaRPr lang="en-US" sz="1400" dirty="0"/>
          </a:p>
        </p:txBody>
      </p:sp>
      <p:sp>
        <p:nvSpPr>
          <p:cNvPr id="6" name="Text 4"/>
          <p:cNvSpPr/>
          <p:nvPr/>
        </p:nvSpPr>
        <p:spPr>
          <a:xfrm>
            <a:off x="965200" y="2096691"/>
            <a:ext cx="3226613"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C9CEDA"/>
                </a:solidFill>
                <a:latin typeface="IBM Plex Sans KR" pitchFamily="34" charset="0"/>
                <a:ea typeface="IBM Plex Sans KR" pitchFamily="34" charset="-122"/>
                <a:cs typeface="IBM Plex Sans KR" pitchFamily="34" charset="-120"/>
              </a:rPr>
              <a:t>agent_type = profile · mcp_gateway · llm_proxy · agent. 게이트웨이도 에이전트로 저장해 도구 할당·권한·로그를 공유</a:t>
            </a:r>
            <a:endParaRPr lang="en-US" sz="1200" dirty="0"/>
          </a:p>
        </p:txBody>
      </p:sp>
      <p:sp>
        <p:nvSpPr>
          <p:cNvPr id="7" name="Shape 5"/>
          <p:cNvSpPr/>
          <p:nvPr/>
        </p:nvSpPr>
        <p:spPr>
          <a:xfrm>
            <a:off x="4377234" y="1667470"/>
            <a:ext cx="3437483" cy="1244501"/>
          </a:xfrm>
          <a:prstGeom prst="roundRect">
            <a:avLst>
              <a:gd name="adj" fmla="val 7143"/>
            </a:avLst>
          </a:prstGeom>
          <a:solidFill>
            <a:srgbClr val="1E2638"/>
          </a:solidFill>
          <a:ln/>
        </p:spPr>
      </p:sp>
      <p:sp>
        <p:nvSpPr>
          <p:cNvPr id="8" name="Text 6"/>
          <p:cNvSpPr/>
          <p:nvPr/>
        </p:nvSpPr>
        <p:spPr>
          <a:xfrm>
            <a:off x="4529634" y="1819870"/>
            <a:ext cx="322666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08A4B"/>
                </a:solidFill>
                <a:latin typeface="IBM Plex Sans KR" pitchFamily="34" charset="0"/>
                <a:ea typeface="IBM Plex Sans KR" pitchFamily="34" charset="-122"/>
                <a:cs typeface="IBM Plex Sans KR" pitchFamily="34" charset="-120"/>
              </a:rPr>
              <a:t>2</a:t>
            </a:r>
            <a:r>
              <a:rPr lang="en-US" sz="1400" b="1" dirty="0">
                <a:solidFill>
                  <a:srgbClr val="F4F3EE"/>
                </a:solidFill>
                <a:latin typeface="IBM Plex Sans KR" pitchFamily="34" charset="0"/>
                <a:ea typeface="IBM Plex Sans KR" pitchFamily="34" charset="-122"/>
                <a:cs typeface="IBM Plex Sans KR" pitchFamily="34" charset="-120"/>
              </a:rPr>
              <a:t> 3단계 scope + 공유 조인</a:t>
            </a:r>
            <a:endParaRPr lang="en-US" sz="1400" dirty="0"/>
          </a:p>
        </p:txBody>
      </p:sp>
      <p:sp>
        <p:nvSpPr>
          <p:cNvPr id="9" name="Text 7"/>
          <p:cNvSpPr/>
          <p:nvPr/>
        </p:nvSpPr>
        <p:spPr>
          <a:xfrm>
            <a:off x="4529634" y="2096691"/>
            <a:ext cx="3226664"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C9CEDA"/>
                </a:solidFill>
                <a:latin typeface="IBM Plex Sans KR" pitchFamily="34" charset="0"/>
                <a:ea typeface="IBM Plex Sans KR" pitchFamily="34" charset="-122"/>
                <a:cs typeface="IBM Plex Sans KR" pitchFamily="34" charset="-120"/>
              </a:rPr>
              <a:t>personal · team · org. *_team · *_user 조인과 resource_permission_policies로 리소스별 공유</a:t>
            </a:r>
            <a:endParaRPr lang="en-US" sz="1200" dirty="0"/>
          </a:p>
        </p:txBody>
      </p:sp>
      <p:sp>
        <p:nvSpPr>
          <p:cNvPr id="10" name="Shape 8"/>
          <p:cNvSpPr/>
          <p:nvPr/>
        </p:nvSpPr>
        <p:spPr>
          <a:xfrm>
            <a:off x="7941717" y="1667470"/>
            <a:ext cx="3437434" cy="1244501"/>
          </a:xfrm>
          <a:prstGeom prst="roundRect">
            <a:avLst>
              <a:gd name="adj" fmla="val 7143"/>
            </a:avLst>
          </a:prstGeom>
          <a:solidFill>
            <a:srgbClr val="1E2638"/>
          </a:solidFill>
          <a:ln/>
        </p:spPr>
      </p:sp>
      <p:sp>
        <p:nvSpPr>
          <p:cNvPr id="11" name="Text 9"/>
          <p:cNvSpPr/>
          <p:nvPr/>
        </p:nvSpPr>
        <p:spPr>
          <a:xfrm>
            <a:off x="8094117" y="1819870"/>
            <a:ext cx="322661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08A4B"/>
                </a:solidFill>
                <a:latin typeface="IBM Plex Sans KR" pitchFamily="34" charset="0"/>
                <a:ea typeface="IBM Plex Sans KR" pitchFamily="34" charset="-122"/>
                <a:cs typeface="IBM Plex Sans KR" pitchFamily="34" charset="-120"/>
              </a:rPr>
              <a:t>3</a:t>
            </a:r>
            <a:r>
              <a:rPr lang="en-US" sz="1400" b="1" dirty="0">
                <a:solidFill>
                  <a:srgbClr val="F4F3EE"/>
                </a:solidFill>
                <a:latin typeface="IBM Plex Sans KR" pitchFamily="34" charset="0"/>
                <a:ea typeface="IBM Plex Sans KR" pitchFamily="34" charset="-122"/>
                <a:cs typeface="IBM Plex Sans KR" pitchFamily="34" charset="-120"/>
              </a:rPr>
              <a:t> 비밀은 간접 참조만</a:t>
            </a:r>
            <a:endParaRPr lang="en-US" sz="1400" dirty="0"/>
          </a:p>
        </p:txBody>
      </p:sp>
      <p:sp>
        <p:nvSpPr>
          <p:cNvPr id="12" name="Text 10"/>
          <p:cNvSpPr/>
          <p:nvPr/>
        </p:nvSpPr>
        <p:spPr>
          <a:xfrm>
            <a:off x="8094117" y="2096691"/>
            <a:ext cx="3226613"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C9CEDA"/>
                </a:solidFill>
                <a:latin typeface="IBM Plex Sans KR" pitchFamily="34" charset="0"/>
                <a:ea typeface="IBM Plex Sans KR" pitchFamily="34" charset="-122"/>
                <a:cs typeface="IBM Plex Sans KR" pitchFamily="34" charset="-120"/>
              </a:rPr>
              <a:t>업무 테이블엔 secret_id만. secret은 DB 암호화 저장 또는 Vault 경로, 키 교체 재암호화 지원</a:t>
            </a:r>
            <a:endParaRPr lang="en-US" sz="1200" dirty="0"/>
          </a:p>
        </p:txBody>
      </p:sp>
      <p:sp>
        <p:nvSpPr>
          <p:cNvPr id="13" name="Shape 11"/>
          <p:cNvSpPr/>
          <p:nvPr/>
        </p:nvSpPr>
        <p:spPr>
          <a:xfrm>
            <a:off x="812800" y="3038971"/>
            <a:ext cx="3437434" cy="1023541"/>
          </a:xfrm>
          <a:prstGeom prst="roundRect">
            <a:avLst>
              <a:gd name="adj" fmla="val 8686"/>
            </a:avLst>
          </a:prstGeom>
          <a:solidFill>
            <a:srgbClr val="1E2638"/>
          </a:solidFill>
          <a:ln/>
        </p:spPr>
      </p:sp>
      <p:sp>
        <p:nvSpPr>
          <p:cNvPr id="14" name="Text 12"/>
          <p:cNvSpPr/>
          <p:nvPr/>
        </p:nvSpPr>
        <p:spPr>
          <a:xfrm>
            <a:off x="965200" y="3191371"/>
            <a:ext cx="322661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08A4B"/>
                </a:solidFill>
                <a:latin typeface="IBM Plex Sans KR" pitchFamily="34" charset="0"/>
                <a:ea typeface="IBM Plex Sans KR" pitchFamily="34" charset="-122"/>
                <a:cs typeface="IBM Plex Sans KR" pitchFamily="34" charset="-120"/>
              </a:rPr>
              <a:t>4</a:t>
            </a:r>
            <a:r>
              <a:rPr lang="en-US" sz="1400" b="1" dirty="0">
                <a:solidFill>
                  <a:srgbClr val="F4F3EE"/>
                </a:solidFill>
                <a:latin typeface="IBM Plex Sans KR" pitchFamily="34" charset="0"/>
                <a:ea typeface="IBM Plex Sans KR" pitchFamily="34" charset="-122"/>
                <a:cs typeface="IBM Plex Sans KR" pitchFamily="34" charset="-120"/>
              </a:rPr>
              <a:t> 이질성은 jsonb로</a:t>
            </a:r>
            <a:endParaRPr lang="en-US" sz="1400" dirty="0"/>
          </a:p>
        </p:txBody>
      </p:sp>
      <p:sp>
        <p:nvSpPr>
          <p:cNvPr id="15" name="Text 13"/>
          <p:cNvSpPr/>
          <p:nvPr/>
        </p:nvSpPr>
        <p:spPr>
          <a:xfrm>
            <a:off x="965200" y="3468191"/>
            <a:ext cx="3226613"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C9CEDA"/>
                </a:solidFill>
                <a:latin typeface="IBM Plex Sans KR" pitchFamily="34" charset="0"/>
                <a:ea typeface="IBM Plex Sans KR" pitchFamily="34" charset="-122"/>
                <a:cs typeface="IBM Plex Sans KR" pitchFamily="34" charset="-120"/>
              </a:rPr>
              <a:t>프로바이더별 request·response, 카탈로그 local_config·oauth_config, agents.runtime</a:t>
            </a:r>
            <a:endParaRPr lang="en-US" sz="1200" dirty="0"/>
          </a:p>
        </p:txBody>
      </p:sp>
      <p:sp>
        <p:nvSpPr>
          <p:cNvPr id="16" name="Shape 14"/>
          <p:cNvSpPr/>
          <p:nvPr/>
        </p:nvSpPr>
        <p:spPr>
          <a:xfrm>
            <a:off x="4377234" y="3038971"/>
            <a:ext cx="3437483" cy="1023541"/>
          </a:xfrm>
          <a:prstGeom prst="roundRect">
            <a:avLst>
              <a:gd name="adj" fmla="val 8686"/>
            </a:avLst>
          </a:prstGeom>
          <a:solidFill>
            <a:srgbClr val="1E2638"/>
          </a:solidFill>
          <a:ln/>
        </p:spPr>
      </p:sp>
      <p:sp>
        <p:nvSpPr>
          <p:cNvPr id="17" name="Text 15"/>
          <p:cNvSpPr/>
          <p:nvPr/>
        </p:nvSpPr>
        <p:spPr>
          <a:xfrm>
            <a:off x="4529634" y="3191371"/>
            <a:ext cx="322666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08A4B"/>
                </a:solidFill>
                <a:latin typeface="IBM Plex Sans KR" pitchFamily="34" charset="0"/>
                <a:ea typeface="IBM Plex Sans KR" pitchFamily="34" charset="-122"/>
                <a:cs typeface="IBM Plex Sans KR" pitchFamily="34" charset="-120"/>
              </a:rPr>
              <a:t>5</a:t>
            </a:r>
            <a:r>
              <a:rPr lang="en-US" sz="1400" b="1" dirty="0">
                <a:solidFill>
                  <a:srgbClr val="F4F3EE"/>
                </a:solidFill>
                <a:latin typeface="IBM Plex Sans KR" pitchFamily="34" charset="0"/>
                <a:ea typeface="IBM Plex Sans KR" pitchFamily="34" charset="-122"/>
                <a:cs typeface="IBM Plex Sans KR" pitchFamily="34" charset="-120"/>
              </a:rPr>
              <a:t> Postgres 다목적 사용</a:t>
            </a:r>
            <a:endParaRPr lang="en-US" sz="1400" dirty="0"/>
          </a:p>
        </p:txBody>
      </p:sp>
      <p:sp>
        <p:nvSpPr>
          <p:cNvPr id="18" name="Text 16"/>
          <p:cNvSpPr/>
          <p:nvPr/>
        </p:nvSpPr>
        <p:spPr>
          <a:xfrm>
            <a:off x="4529634" y="3468191"/>
            <a:ext cx="3226664"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C9CEDA"/>
                </a:solidFill>
                <a:latin typeface="IBM Plex Sans KR" pitchFamily="34" charset="0"/>
                <a:ea typeface="IBM Plex Sans KR" pitchFamily="34" charset="-122"/>
                <a:cs typeface="IBM Plex Sans KR" pitchFamily="34" charset="-120"/>
              </a:rPr>
              <a:t>큐(SKIP LOCKED), 분산 lease·epoch, pgvector HNSW + tsvector BM25를 한 DB에서</a:t>
            </a:r>
            <a:endParaRPr lang="en-US" sz="1200" dirty="0"/>
          </a:p>
        </p:txBody>
      </p:sp>
      <p:sp>
        <p:nvSpPr>
          <p:cNvPr id="19" name="Shape 17"/>
          <p:cNvSpPr/>
          <p:nvPr/>
        </p:nvSpPr>
        <p:spPr>
          <a:xfrm>
            <a:off x="7941717" y="3038971"/>
            <a:ext cx="3437434" cy="1023541"/>
          </a:xfrm>
          <a:prstGeom prst="roundRect">
            <a:avLst>
              <a:gd name="adj" fmla="val 8686"/>
            </a:avLst>
          </a:prstGeom>
          <a:solidFill>
            <a:srgbClr val="1E2638"/>
          </a:solidFill>
          <a:ln/>
        </p:spPr>
      </p:sp>
      <p:sp>
        <p:nvSpPr>
          <p:cNvPr id="20" name="Text 18"/>
          <p:cNvSpPr/>
          <p:nvPr/>
        </p:nvSpPr>
        <p:spPr>
          <a:xfrm>
            <a:off x="8094117" y="3191371"/>
            <a:ext cx="322661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08A4B"/>
                </a:solidFill>
                <a:latin typeface="IBM Plex Sans KR" pitchFamily="34" charset="0"/>
                <a:ea typeface="IBM Plex Sans KR" pitchFamily="34" charset="-122"/>
                <a:cs typeface="IBM Plex Sans KR" pitchFamily="34" charset="-120"/>
              </a:rPr>
              <a:t>6</a:t>
            </a:r>
            <a:r>
              <a:rPr lang="en-US" sz="1400" b="1" dirty="0">
                <a:solidFill>
                  <a:srgbClr val="F4F3EE"/>
                </a:solidFill>
                <a:latin typeface="IBM Plex Sans KR" pitchFamily="34" charset="0"/>
                <a:ea typeface="IBM Plex Sans KR" pitchFamily="34" charset="-122"/>
                <a:cs typeface="IBM Plex Sans KR" pitchFamily="34" charset="-120"/>
              </a:rPr>
              <a:t> 감사·프라이버시 내장</a:t>
            </a:r>
            <a:endParaRPr lang="en-US" sz="1400" dirty="0"/>
          </a:p>
        </p:txBody>
      </p:sp>
      <p:sp>
        <p:nvSpPr>
          <p:cNvPr id="21" name="Text 19"/>
          <p:cNvSpPr/>
          <p:nvPr/>
        </p:nvSpPr>
        <p:spPr>
          <a:xfrm>
            <a:off x="8094117" y="3468191"/>
            <a:ext cx="3226613"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C9CEDA"/>
                </a:solidFill>
                <a:latin typeface="IBM Plex Sans KR" pitchFamily="34" charset="0"/>
                <a:ea typeface="IBM Plex Sans KR" pitchFamily="34" charset="-122"/>
                <a:cs typeface="IBM Plex Sans KR" pitchFamily="34" charset="-120"/>
              </a:rPr>
              <a:t>soft delete(deleted_at), 대화 본문 별도 키 암호화, 보존 기간 정리 태스크, *_labels 분류</a:t>
            </a:r>
            <a:endParaRPr lang="en-US" sz="1200" dirty="0"/>
          </a:p>
        </p:txBody>
      </p:sp>
      <p:sp>
        <p:nvSpPr>
          <p:cNvPr id="22" name="Text 20"/>
          <p:cNvSpPr/>
          <p:nvPr/>
        </p:nvSpPr>
        <p:spPr>
          <a:xfrm>
            <a:off x="812800" y="4291112"/>
            <a:ext cx="10883392"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9AA3B5"/>
                </a:solidFill>
                <a:latin typeface="IBM Plex Sans KR" pitchFamily="34" charset="0"/>
                <a:ea typeface="IBM Plex Sans KR" pitchFamily="34" charset="-122"/>
                <a:cs typeface="IBM Plex Sans KR" pitchFamily="34" charset="-120"/>
              </a:rPr>
              <a:t>AI Agent Builder Platform에 적용한다면: 1·3·5번은 초기 스키마부터 채택할 가치가 크고, 2번은 멀티테넌시(Kamaji 테넌트) 경계와 맞춰 재설계가 필요합니다.</a:t>
            </a:r>
            <a:endParaRPr lang="en-US" sz="1300" dirty="0"/>
          </a:p>
        </p:txBody>
      </p:sp>
      <p:sp>
        <p:nvSpPr>
          <p:cNvPr id="23" name="Text 2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3B5"/>
                </a:solidFill>
                <a:latin typeface="IBM Plex Sans KR" pitchFamily="34" charset="0"/>
                <a:ea typeface="IBM Plex Sans KR" pitchFamily="34" charset="-122"/>
                <a:cs typeface="IBM Plex Sans KR" pitchFamily="34" charset="-120"/>
              </a:rPr>
              <a:t>Archestra 아키텍처 · 28 · 출처: database/schemas, secrets-manager, shared/visibility.ts</a:t>
            </a:r>
            <a:endParaRPr lang="en-US" sz="1200" dirty="0"/>
          </a:p>
        </p:txBody>
      </p:sp>
    </p:spTree>
  </p:cSld>
  <p:clrMapOvr>
    <a:masterClrMapping/>
  </p:clrMapOvr>
</p:sld>
</file>

<file path=ppt/theme/theme1.xml><?xml version="1.0" encoding="utf-8"?>
<a:theme xmlns:a="http://schemas.openxmlformats.org/drawingml/2006/main" name="Archestra 아키텍처">
  <a:themeElements>
    <a:clrScheme name="Archestra 아키텍처">
      <a:dk1>
        <a:srgbClr val="131A2A"/>
      </a:dk1>
      <a:lt1>
        <a:srgbClr val="F4F3EE"/>
      </a:lt1>
      <a:dk2>
        <a:srgbClr val="4B505B"/>
      </a:dk2>
      <a:lt2>
        <a:srgbClr val="DEDDDA"/>
      </a:lt2>
      <a:accent1>
        <a:srgbClr val="2F5BB7"/>
      </a:accent1>
      <a:accent2>
        <a:srgbClr val="B8521E"/>
      </a:accent2>
      <a:accent3>
        <a:srgbClr val="F08A4B"/>
      </a:accent3>
      <a:accent4>
        <a:srgbClr val="D9652B"/>
      </a:accent4>
      <a:accent5>
        <a:srgbClr val="FBE3D3"/>
      </a:accent5>
      <a:accent6>
        <a:srgbClr val="9DB8F0"/>
      </a:accent6>
      <a:hlink>
        <a:srgbClr val="0563C1"/>
      </a:hlink>
      <a:folHlink>
        <a:srgbClr val="954F72"/>
      </a:folHlink>
    </a:clrScheme>
    <a:fontScheme name="Archestra 아키텍처">
      <a:majorFont>
        <a:latin typeface="IBM Plex Sans K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Archestra 아키텍처</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2026-10-22T12:23:17Z</dcterms:created>
  <dcterms:modified xsi:type="dcterms:W3CDTF">2026-10-22T12:23:17Z</dcterms:modified>
</cp:coreProperties>
</file>